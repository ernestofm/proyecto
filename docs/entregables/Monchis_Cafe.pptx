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Líder de Proyecto / Scrum Master</c:v>
                </c:pt>
              </c:strCache>
            </c:strRef>
          </c:tx>
          <c:spPr>
            <a:solidFill>
              <a:srgbClr val="34241C"/>
            </a:solidFill>
            <a:ln w="6350" cap="flat">
              <a:solidFill>
                <a:srgbClr val="FBF1E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Sem 1-4</c:v>
                  </c:pt>
                  <c:pt idx="1">
                    <c:v>Sem 5-8</c:v>
                  </c:pt>
                  <c:pt idx="2">
                    <c:v>Sem 9-12</c:v>
                  </c:pt>
                  <c:pt idx="3">
                    <c:v>Sem 13-16</c:v>
                  </c:pt>
                </c:lvl>
              </c:multiLvlStrCache>
            </c:multiLvlStrRef>
          </c:cat>
          <c:val>
            <c:numRef>
              <c:f>Sheet1!$B$2:$B$5</c:f>
              <c:numCache>
                <c:formatCode>General</c:formatCode>
                <c:ptCount val="4"/>
                <c:pt idx="0">
                  <c:v>80</c:v>
                </c:pt>
                <c:pt idx="1">
                  <c:v>80</c:v>
                </c:pt>
                <c:pt idx="2">
                  <c:v>80</c:v>
                </c:pt>
                <c:pt idx="3">
                  <c:v>80</c:v>
                </c:pt>
              </c:numCache>
            </c:numRef>
          </c:val>
        </c:ser>
        <c:ser>
          <c:idx val="1"/>
          <c:order val="1"/>
          <c:tx>
            <c:strRef>
              <c:f>Sheet1!$C$1</c:f>
              <c:strCache>
                <c:ptCount val="1"/>
                <c:pt idx="0">
                  <c:v>Arquitecto de Software &amp; DevOps</c:v>
                </c:pt>
              </c:strCache>
            </c:strRef>
          </c:tx>
          <c:spPr>
            <a:solidFill>
              <a:srgbClr val="C97567"/>
            </a:solidFill>
            <a:ln w="6350" cap="flat">
              <a:solidFill>
                <a:srgbClr val="FBF1E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Sem 1-4</c:v>
                  </c:pt>
                  <c:pt idx="1">
                    <c:v>Sem 5-8</c:v>
                  </c:pt>
                  <c:pt idx="2">
                    <c:v>Sem 9-12</c:v>
                  </c:pt>
                  <c:pt idx="3">
                    <c:v>Sem 13-16</c:v>
                  </c:pt>
                </c:lvl>
              </c:multiLvlStrCache>
            </c:multiLvlStrRef>
          </c:cat>
          <c:val>
            <c:numRef>
              <c:f>Sheet1!$C$2:$C$5</c:f>
              <c:numCache>
                <c:formatCode>General</c:formatCode>
                <c:ptCount val="4"/>
                <c:pt idx="0">
                  <c:v>160</c:v>
                </c:pt>
                <c:pt idx="1">
                  <c:v>160</c:v>
                </c:pt>
                <c:pt idx="2">
                  <c:v>160</c:v>
                </c:pt>
                <c:pt idx="3">
                  <c:v>160</c:v>
                </c:pt>
              </c:numCache>
            </c:numRef>
          </c:val>
        </c:ser>
        <c:ser>
          <c:idx val="2"/>
          <c:order val="2"/>
          <c:tx>
            <c:strRef>
              <c:f>Sheet1!$D$1</c:f>
              <c:strCache>
                <c:ptCount val="1"/>
                <c:pt idx="0">
                  <c:v>Desarrollador Full-Stack Backend</c:v>
                </c:pt>
              </c:strCache>
            </c:strRef>
          </c:tx>
          <c:spPr>
            <a:solidFill>
              <a:srgbClr val="E08D80"/>
            </a:solidFill>
            <a:ln w="6350" cap="flat">
              <a:solidFill>
                <a:srgbClr val="FBF1E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Sem 1-4</c:v>
                  </c:pt>
                  <c:pt idx="1">
                    <c:v>Sem 5-8</c:v>
                  </c:pt>
                  <c:pt idx="2">
                    <c:v>Sem 9-12</c:v>
                  </c:pt>
                  <c:pt idx="3">
                    <c:v>Sem 13-16</c:v>
                  </c:pt>
                </c:lvl>
              </c:multiLvlStrCache>
            </c:multiLvlStrRef>
          </c:cat>
          <c:val>
            <c:numRef>
              <c:f>Sheet1!$D$2:$D$5</c:f>
              <c:numCache>
                <c:formatCode>General</c:formatCode>
                <c:ptCount val="4"/>
                <c:pt idx="0">
                  <c:v>160</c:v>
                </c:pt>
                <c:pt idx="1">
                  <c:v>160</c:v>
                </c:pt>
                <c:pt idx="2">
                  <c:v>160</c:v>
                </c:pt>
                <c:pt idx="3">
                  <c:v>160</c:v>
                </c:pt>
              </c:numCache>
            </c:numRef>
          </c:val>
        </c:ser>
        <c:ser>
          <c:idx val="3"/>
          <c:order val="3"/>
          <c:tx>
            <c:strRef>
              <c:f>Sheet1!$E$1</c:f>
              <c:strCache>
                <c:ptCount val="1"/>
                <c:pt idx="0">
                  <c:v>Desarrollador Full-Stack Frontend</c:v>
                </c:pt>
              </c:strCache>
            </c:strRef>
          </c:tx>
          <c:spPr>
            <a:solidFill>
              <a:srgbClr val="7C9473"/>
            </a:solidFill>
            <a:ln w="6350" cap="flat">
              <a:solidFill>
                <a:srgbClr val="FBF1E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Sem 1-4</c:v>
                  </c:pt>
                  <c:pt idx="1">
                    <c:v>Sem 5-8</c:v>
                  </c:pt>
                  <c:pt idx="2">
                    <c:v>Sem 9-12</c:v>
                  </c:pt>
                  <c:pt idx="3">
                    <c:v>Sem 13-16</c:v>
                  </c:pt>
                </c:lvl>
              </c:multiLvlStrCache>
            </c:multiLvlStrRef>
          </c:cat>
          <c:val>
            <c:numRef>
              <c:f>Sheet1!$E$2:$E$5</c:f>
              <c:numCache>
                <c:formatCode>General</c:formatCode>
                <c:ptCount val="4"/>
                <c:pt idx="0">
                  <c:v>160</c:v>
                </c:pt>
                <c:pt idx="1">
                  <c:v>160</c:v>
                </c:pt>
                <c:pt idx="2">
                  <c:v>160</c:v>
                </c:pt>
                <c:pt idx="3">
                  <c:v>160</c:v>
                </c:pt>
              </c:numCache>
            </c:numRef>
          </c:val>
        </c:ser>
        <c:ser>
          <c:idx val="4"/>
          <c:order val="4"/>
          <c:tx>
            <c:strRef>
              <c:f>Sheet1!$F$1</c:f>
              <c:strCache>
                <c:ptCount val="1"/>
                <c:pt idx="0">
                  <c:v>Especialista en QA &amp; Seguridad</c:v>
                </c:pt>
              </c:strCache>
            </c:strRef>
          </c:tx>
          <c:spPr>
            <a:solidFill>
              <a:srgbClr val="5F7355"/>
            </a:solidFill>
            <a:ln w="6350" cap="flat">
              <a:solidFill>
                <a:srgbClr val="FBF1E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Sem 1-4</c:v>
                  </c:pt>
                  <c:pt idx="1">
                    <c:v>Sem 5-8</c:v>
                  </c:pt>
                  <c:pt idx="2">
                    <c:v>Sem 9-12</c:v>
                  </c:pt>
                  <c:pt idx="3">
                    <c:v>Sem 13-16</c:v>
                  </c:pt>
                </c:lvl>
              </c:multiLvlStrCache>
            </c:multiLvlStrRef>
          </c:cat>
          <c:val>
            <c:numRef>
              <c:f>Sheet1!$F$2:$F$5</c:f>
              <c:numCache>
                <c:formatCode>General</c:formatCode>
                <c:ptCount val="4"/>
                <c:pt idx="0">
                  <c:v>40</c:v>
                </c:pt>
                <c:pt idx="1">
                  <c:v>120</c:v>
                </c:pt>
                <c:pt idx="2">
                  <c:v>160</c:v>
                </c:pt>
                <c:pt idx="3">
                  <c:v>160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8DCD4"/>
            </a:solidFill>
            <a:prstDash val="solid"/>
            <a:round/>
          </a:ln>
        </c:spPr>
        <c:txPr>
          <a:bodyPr/>
          <a:lstStyle/>
          <a:p>
            <a:pPr>
              <a:defRPr sz="1000" b="0" i="0" u="none" strike="noStrike">
                <a:solidFill>
                  <a:srgbClr val="8A776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FE3DC"/>
              </a:solidFill>
              <a:prstDash val="solid"/>
              <a:round/>
            </a:ln>
          </c:spPr>
        </c:majorGridlines>
        <c:title>
          <c:tx>
            <c:rich>
              <a:bodyPr/>
              <a:lstStyle/>
              <a:p>
                <a:pPr>
                  <a:defRPr sz="1000" b="0" i="0" u="none" strike="noStrike">
                    <a:solidFill>
                      <a:srgbClr val="8A776D"/>
                    </a:solidFill>
                    <a:latin typeface="Arial"/>
                  </a:defRPr>
                </a:pPr>
                <a:r>
                  <a:rPr sz="1000" b="0" i="0" u="none" strike="noStrike">
                    <a:solidFill>
                      <a:srgbClr val="8A776D"/>
                    </a:solidFill>
                    <a:latin typeface="Arial"/>
                  </a:rPr>
                  <a:t>Horas</a:t>
                </a:r>
              </a:p>
            </c:rich>
          </c:tx>
          <c:layout/>
          <c:overlay val="0"/>
        </c:title>
        <c:numFmt formatCode="General" sourceLinked="0"/>
        <c:majorTickMark val="out"/>
        <c:minorTickMark val="none"/>
        <c:tickLblPos val="nextTo"/>
        <c:spPr>
          <a:ln w="12700" cap="flat">
            <a:solidFill>
              <a:srgbClr val="E8DCD4"/>
            </a:solidFill>
            <a:prstDash val="solid"/>
            <a:round/>
          </a:ln>
        </c:spPr>
        <c:txPr>
          <a:bodyPr/>
          <a:lstStyle/>
          <a:p>
            <a:pPr>
              <a:defRPr sz="900" b="0" i="0" u="none" strike="noStrike">
                <a:solidFill>
                  <a:srgbClr val="8A776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0:00 - 0:45):
Buenos días, profesor Gabriel Navarro y compañeros. Presento el avance del Producto Integrador titulado: 'Monchis Café: Plataforma Web Segura para Cafetería Orgánica y Comercial'. En este proyecto abordamos la ingeniería de software no solo como una solución técnica, sino como un proyecto integral de gestión, aplicando rigurosamente los marcos estratégicos, operativos, estimación formal por COCOMO y metodologías ágiles SCRUM, alineados a la Agenda 2030 de la ONU.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0:45 - 1:30):
El propósito de Monchis Café es conectar la rentabilidad de una cafetería artesanal con la sustentabilidad real. No seleccionamos los ODS al azar; cada uno impacta la arquitectura: el ODS 8 agiliza el POS y formaliza el comercio justo; el ODS 9 introduce ingeniería de software verde; el ODS 12 ataca directamente el desperdicio; y el ODS 16 garantiza transparencia contable y ciberseguridad.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1:30 - 2:15):
Para garantizar el éxito de un proyecto de 16 semanas, delimitamos estrictamente las fronteras del sistema bajo la técnica MoSCoW. En el alcance obligatorio incluimos el POS táctil, pagos mixtos, el patrón Saga y la trazabilidad de lotes. Dejamos formalmente fuera de esta fase elementos como la facturación CFDI o apps móviles nativas.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2:15 - 3:00):
En el posicionamiento observamos una realidad crítica: las cafeterías artesanales sufren lentitud en el cobro, descuadres contables y mermas por café vencido. Monchis Café capitaliza la oportunidad: un nicho de clientes eco-conscientes que valoran el comercio justo.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3:00 - 3:45):
El plan estratégico se diseñó bajo el Cuadro de Mando Integral. Alineamos causa y efecto: capacitamos al equipo en procesos internos robustos, lo que optimiza los tiempos y la experiencia del cliente, traduciéndose en rentabilidad y menor huella ecológica.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3:45 - 4:10):
En la matriz DOFA identificamos con realismo los 4 cuadrantes. Internamente nos fortalecen la arquitectura monorepo resiliente y la seguridad stateless. Externamente aprovechamos la creciente conciencia de consumo responsable. Esto nos lleva a los 4 cruces estratégicos que veremos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4:10 - 4:40):
Aquí presentamos los 4 cruces estratégicos formalizados: en FO usamos la trazabilidad y SEO para captar clientes desde Google Maps e Instagram; en DO compensamos la falta de experiencia del personal con una UI intuitiva; en FA protegemos la plataforma con seguridad stateless; y en DA implementamos persistencia offline en el 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4:20 - 5:00):
El plan operativo aterriza la estrategia en 8 sprints quincenales a lo largo de 16 semanas. Cada sprint tiene un entregable verificable con criterios de aceptación cuantificables. Desde la base de datos en el Sprint 1 hasta el despliegue serverless en el Sprint 8, garantizamos un desarrollo disciplinado.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5:00 - 5:40):
La metodología SCRUM organiza el flujo de trabajo en ciclos cortos de entrega continua. En mi rol de Scrum Master me aseguro de que el backlog esté priorizado bajo criterios ODS y técnicos, con ceremonias formales de planificación, seguimiento diario y retrospectivas.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5:40 - 6:10):
El Gantt aterriza las 16 semanas del proyecto en 10 actividades. Las barras en terracota marcan la ruta crítica; las de salvia, como el Frontend público y el Dashboard, cuentan con holgura positiva que absorbe contingencias sin mover la fecha de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6:10 - 6:30):
Para la programación formal aplicamos el Método de la Ruta Crítica mediante el grafo PERT. La ruta crítica pasa obligatoriamente por el Backend Core, RabbitMQ, el módulo POS y QA. El Frontend público y el Dashboard tienen holgura positiva que permite absorber contingencias.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6:30 - 7:05):
El histograma de recursos asegura que no existan picos de sobreasignación que pongan en riesgo al equipo ni la calidad del software. Las áreas de arquitectura y desarrollo mantienen una carga regular constante de 40 horas semanales, mientras que QA incrementa su dedicación de manera progresiva conforme el software madura, alcanzando el 100% de dedicación en las fases finales.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7:05 - 7:50):
Aplicamos formalmente el modelo COCOMO 81. Estimamos un tamaño de 22.5 KLOC. En modo Semiacoplado, el modelo básico arroja 97.5 personas-mes y un tiempo de desarrollo teórico de 5 meses. El modelo básico ignora multiplicadores de productividad modernos, por eso procedemos a refinarlo con el Modelo Intermedio.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7:50 - 8:30):
Evaluamos con rigor los 15 conductores de costo de Boehm. Aunque la confiabilidad financiera y la complejidad distribuida demandan más esfuerzo, la alta capacidad del equipo y las prácticas modernas reducen el esfuerzo en un 20.5%, arrojando un EAF de 0.795 y un tiempo realista de 4.5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8:30 - 9:00):
El presupuesto integral asciende a $418,275 pesos mexicanos. El 85% corresponde a mano de obra especializada. Aprovechamos servicios administrados en la nube para reducir costos fijos, e incorporamos un 10% de contingencia para amortiguar imprevistos técnicos o de volatilidad cambiaria.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9:00 - 9:15):
En el modelado de casos de uso separamos de forma estricta los privilegios: el cajero sólo opera transacciones de mostrador, mientras que el administrador audita mermas y canales de tráfico UTM, y el cliente final interactúa con el programa de fidelidad y el catálogo público.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9:15 - 9:30):
En el modelado UML destacamos la cohesión del dominio: la entidad Product se vincula a CoffeeBatch para trazar altitud, finca y fecha de tueste, cumpliendo con la política PEPS, y cada Order se compone de múltiples OrderItem con su respectivo bono ecológico.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9:30 - 10:00):
Este diagrama de secuencia es el corazón de la resiliencia del software. Al procesar una venta, el orquestador Saga coordina la reserva de inventario y el cobro. Si la transacción financiera falla, RabbitMQ emite de inmediato un evento compensatorio que libera el lote de café y avisa a la pantalla del barista. Así cumplimos con el ODS 16, garantizando total transparencia financiera.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10:00 - 10:20):
En el diseño visual del POS priorizamos la ergonomía y la velocidad. El barista puede seleccionar productos, aplicar el bono ecológico de termo en un clic y registrar pagos mixtos con cálculo automático de cambio en menos de 15 segundos. Cumplimos además con accesibilidad universal WCAG 2.1 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DEFENSA ORAL (Minuto 10:20 - 10:45):
En conclusión, Monchis Café es un proyecto donde la ingeniería de software, la gestión rigurosa de proyectos y la sustentabilidad convergen armónicamente. El modelo COCOMO valida nuestra productividad, la planificación PERT blinda los tiempos de entrega y los principios ODS dotan al software de un propósito ético y rentable. Quedo atento a las preguntas del profesor Gabriel Navarro.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1.png"/><Relationship Id="rId4" Type="http://schemas.openxmlformats.org/officeDocument/2006/relationships/image" Target="../media/image-3-1.png"/><Relationship Id="rId5" Type="http://schemas.openxmlformats.org/officeDocument/2006/relationships/image" Target="../media/image-3-1.png"/><Relationship Id="rId6" Type="http://schemas.openxmlformats.org/officeDocument/2006/relationships/image" Target="../media/image-3-1.png"/><Relationship Id="rId7" Type="http://schemas.openxmlformats.org/officeDocument/2006/relationships/image" Target="../media/image-3-1.png"/><Relationship Id="rId8" Type="http://schemas.openxmlformats.org/officeDocument/2006/relationships/image" Target="../media/image-3-1.png"/><Relationship Id="rId9" Type="http://schemas.openxmlformats.org/officeDocument/2006/relationships/image" Target="../media/image-3-9.png"/><Relationship Id="rId10" Type="http://schemas.openxmlformats.org/officeDocument/2006/relationships/image" Target="../media/image-3-9.png"/><Relationship Id="rId11" Type="http://schemas.openxmlformats.org/officeDocument/2006/relationships/image" Target="../media/image-3-9.png"/><Relationship Id="rId12" Type="http://schemas.openxmlformats.org/officeDocument/2006/relationships/image" Target="../media/image-3-9.png"/><Relationship Id="rId13" Type="http://schemas.openxmlformats.org/officeDocument/2006/relationships/image" Target="../media/image-3-9.png"/><Relationship Id="rId14" Type="http://schemas.openxmlformats.org/officeDocument/2006/relationships/image" Target="../media/image-3-9.png"/><Relationship Id="rId15" Type="http://schemas.openxmlformats.org/officeDocument/2006/relationships/slideLayout" Target="../slideLayouts/slideLayout1.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4241C"/>
        </a:solidFill>
      </p:bgPr>
    </p:bg>
    <p:spTree>
      <p:nvGrpSpPr>
        <p:cNvPr id="1" name=""/>
        <p:cNvGrpSpPr/>
        <p:nvPr/>
      </p:nvGrpSpPr>
      <p:grpSpPr>
        <a:xfrm>
          <a:off x="0" y="0"/>
          <a:ext cx="0" cy="0"/>
          <a:chOff x="0" y="0"/>
          <a:chExt cx="0" cy="0"/>
        </a:xfrm>
      </p:grpSpPr>
      <p:sp>
        <p:nvSpPr>
          <p:cNvPr id="2" name="Shape 0"/>
          <p:cNvSpPr/>
          <p:nvPr/>
        </p:nvSpPr>
        <p:spPr>
          <a:xfrm>
            <a:off x="9052560" y="274320"/>
            <a:ext cx="3291840" cy="3291840"/>
          </a:xfrm>
          <a:prstGeom prst="ellipse">
            <a:avLst/>
          </a:prstGeom>
          <a:noFill/>
          <a:ln>
            <a:noFill/>
          </a:ln>
        </p:spPr>
      </p:sp>
      <p:sp>
        <p:nvSpPr>
          <p:cNvPr id="3" name="Shape 1"/>
          <p:cNvSpPr/>
          <p:nvPr/>
        </p:nvSpPr>
        <p:spPr>
          <a:xfrm>
            <a:off x="9601200" y="822960"/>
            <a:ext cx="2194560" cy="2194560"/>
          </a:xfrm>
          <a:prstGeom prst="ellipse">
            <a:avLst/>
          </a:prstGeom>
          <a:noFill/>
          <a:ln>
            <a:noFill/>
          </a:ln>
        </p:spPr>
      </p:sp>
      <p:pic>
        <p:nvPicPr>
          <p:cNvPr id="4" name="Image 0" descr="/home/claude/monchis2/icons/mughot.png">    </p:cNvPr>
          <p:cNvPicPr>
            <a:picLocks noChangeAspect="1"/>
          </p:cNvPicPr>
          <p:nvPr/>
        </p:nvPicPr>
        <p:blipFill>
          <a:blip r:embed="rId1"/>
          <a:stretch>
            <a:fillRect/>
          </a:stretch>
        </p:blipFill>
        <p:spPr>
          <a:xfrm>
            <a:off x="9052560" y="274320"/>
            <a:ext cx="3291840" cy="3291840"/>
          </a:xfrm>
          <a:prstGeom prst="rect">
            <a:avLst/>
          </a:prstGeom>
        </p:spPr>
      </p:pic>
      <p:sp>
        <p:nvSpPr>
          <p:cNvPr id="5" name="Text 2"/>
          <p:cNvSpPr txBox="1"/>
          <p:nvPr/>
        </p:nvSpPr>
        <p:spPr>
          <a:xfrm>
            <a:off x="822960" y="1371600"/>
            <a:ext cx="7772400" cy="320040"/>
          </a:xfrm>
          <a:prstGeom prst="rect">
            <a:avLst/>
          </a:prstGeom>
          <a:noFill/>
          <a:ln/>
        </p:spPr>
        <p:txBody>
          <a:bodyPr wrap="square" lIns="0" tIns="0" rIns="0" bIns="0" rtlCol="0" anchor="ctr"/>
          <a:lstStyle/>
          <a:p>
            <a:pPr indent="0" marL="0">
              <a:buNone/>
            </a:pPr>
            <a:r>
              <a:rPr lang="en-US" sz="1200" b="1" spc="200" kern="0" dirty="0">
                <a:solidFill>
                  <a:srgbClr val="E08D80"/>
                </a:solidFill>
                <a:latin typeface="Calibri" pitchFamily="34" charset="0"/>
                <a:ea typeface="Calibri" pitchFamily="34" charset="-122"/>
                <a:cs typeface="Calibri" pitchFamily="34" charset="-120"/>
              </a:rPr>
              <a:t>PRODUCTO INTEGRADOR: AVANCE DE PROYECTO</a:t>
            </a:r>
            <a:endParaRPr lang="en-US" sz="1200" dirty="0"/>
          </a:p>
        </p:txBody>
      </p:sp>
      <p:sp>
        <p:nvSpPr>
          <p:cNvPr id="6" name="Shape 3"/>
          <p:cNvSpPr/>
          <p:nvPr/>
        </p:nvSpPr>
        <p:spPr>
          <a:xfrm>
            <a:off x="822960" y="1828800"/>
            <a:ext cx="1645920" cy="41148"/>
          </a:xfrm>
          <a:prstGeom prst="rect">
            <a:avLst/>
          </a:prstGeom>
          <a:solidFill>
            <a:srgbClr val="C97567"/>
          </a:solidFill>
          <a:ln/>
        </p:spPr>
      </p:sp>
      <p:sp>
        <p:nvSpPr>
          <p:cNvPr id="7" name="Text 4"/>
          <p:cNvSpPr txBox="1"/>
          <p:nvPr/>
        </p:nvSpPr>
        <p:spPr>
          <a:xfrm>
            <a:off x="777240" y="2011680"/>
            <a:ext cx="8686800" cy="914400"/>
          </a:xfrm>
          <a:prstGeom prst="rect">
            <a:avLst/>
          </a:prstGeom>
          <a:noFill/>
          <a:ln/>
        </p:spPr>
        <p:txBody>
          <a:bodyPr wrap="square" lIns="0" tIns="0" rIns="0" bIns="0" rtlCol="0" anchor="ctr"/>
          <a:lstStyle/>
          <a:p>
            <a:pPr indent="0" marL="0">
              <a:buNone/>
            </a:pPr>
            <a:r>
              <a:rPr lang="en-US" sz="5200" b="1" dirty="0">
                <a:solidFill>
                  <a:srgbClr val="F3E9E3"/>
                </a:solidFill>
                <a:latin typeface="Cambria" pitchFamily="34" charset="0"/>
                <a:ea typeface="Cambria" pitchFamily="34" charset="-122"/>
                <a:cs typeface="Cambria" pitchFamily="34" charset="-120"/>
              </a:rPr>
              <a:t>Monchis </a:t>
            </a:r>
            <a:pPr indent="0" marL="0">
              <a:buNone/>
            </a:pPr>
            <a:r>
              <a:rPr lang="en-US" sz="5200" b="1" dirty="0">
                <a:solidFill>
                  <a:srgbClr val="E08D80"/>
                </a:solidFill>
                <a:latin typeface="Cambria" pitchFamily="34" charset="0"/>
                <a:ea typeface="Cambria" pitchFamily="34" charset="-122"/>
                <a:cs typeface="Cambria" pitchFamily="34" charset="-120"/>
              </a:rPr>
              <a:t>Café</a:t>
            </a:r>
            <a:endParaRPr lang="en-US" sz="5200" dirty="0"/>
          </a:p>
        </p:txBody>
      </p:sp>
      <p:sp>
        <p:nvSpPr>
          <p:cNvPr id="8" name="Text 5"/>
          <p:cNvSpPr txBox="1"/>
          <p:nvPr/>
        </p:nvSpPr>
        <p:spPr>
          <a:xfrm>
            <a:off x="822960" y="2880360"/>
            <a:ext cx="8778240" cy="457200"/>
          </a:xfrm>
          <a:prstGeom prst="rect">
            <a:avLst/>
          </a:prstGeom>
          <a:noFill/>
          <a:ln/>
        </p:spPr>
        <p:txBody>
          <a:bodyPr wrap="square" lIns="0" tIns="0" rIns="0" bIns="0" rtlCol="0" anchor="ctr"/>
          <a:lstStyle/>
          <a:p>
            <a:pPr indent="0" marL="0">
              <a:buNone/>
            </a:pPr>
            <a:r>
              <a:rPr lang="en-US" sz="1900" i="1" dirty="0">
                <a:solidFill>
                  <a:srgbClr val="D8C4B8"/>
                </a:solidFill>
                <a:latin typeface="Cambria" pitchFamily="34" charset="0"/>
                <a:ea typeface="Cambria" pitchFamily="34" charset="-122"/>
                <a:cs typeface="Cambria" pitchFamily="34" charset="-120"/>
              </a:rPr>
              <a:t>Plataforma Web Segura para Cafetería Orgánica y Comercial</a:t>
            </a:r>
            <a:endParaRPr lang="en-US" sz="1900" dirty="0"/>
          </a:p>
        </p:txBody>
      </p:sp>
      <p:sp>
        <p:nvSpPr>
          <p:cNvPr id="9" name="Text 6"/>
          <p:cNvSpPr txBox="1"/>
          <p:nvPr/>
        </p:nvSpPr>
        <p:spPr>
          <a:xfrm>
            <a:off x="822960" y="3383280"/>
            <a:ext cx="8412480" cy="457200"/>
          </a:xfrm>
          <a:prstGeom prst="rect">
            <a:avLst/>
          </a:prstGeom>
          <a:noFill/>
          <a:ln/>
        </p:spPr>
        <p:txBody>
          <a:bodyPr wrap="square" lIns="0" tIns="0" rIns="0" bIns="0" rtlCol="0" anchor="ctr"/>
          <a:lstStyle/>
          <a:p>
            <a:pPr indent="0" marL="0">
              <a:buNone/>
            </a:pPr>
            <a:r>
              <a:rPr lang="en-US" sz="1300" dirty="0">
                <a:solidFill>
                  <a:srgbClr val="B9A99C"/>
                </a:solidFill>
                <a:latin typeface="Calibri" pitchFamily="34" charset="0"/>
                <a:ea typeface="Calibri" pitchFamily="34" charset="-122"/>
                <a:cs typeface="Calibri" pitchFamily="34" charset="-120"/>
              </a:rPr>
              <a:t>Planificación Estratégica, Plan Operativo, Estimación COCOMO y Arquitectura de Software Alineada a los ODS</a:t>
            </a:r>
            <a:endParaRPr lang="en-US" sz="1300" dirty="0"/>
          </a:p>
        </p:txBody>
      </p:sp>
      <p:sp>
        <p:nvSpPr>
          <p:cNvPr id="10" name="Shape 7"/>
          <p:cNvSpPr/>
          <p:nvPr/>
        </p:nvSpPr>
        <p:spPr>
          <a:xfrm>
            <a:off x="822960" y="4160520"/>
            <a:ext cx="8778240" cy="10973"/>
          </a:xfrm>
          <a:prstGeom prst="rect">
            <a:avLst/>
          </a:prstGeom>
          <a:solidFill>
            <a:srgbClr val="4A382E"/>
          </a:solidFill>
          <a:ln/>
        </p:spPr>
      </p:sp>
      <p:sp>
        <p:nvSpPr>
          <p:cNvPr id="11" name="Text 8"/>
          <p:cNvSpPr txBox="1"/>
          <p:nvPr/>
        </p:nvSpPr>
        <p:spPr>
          <a:xfrm>
            <a:off x="822960" y="4389120"/>
            <a:ext cx="4206240" cy="228600"/>
          </a:xfrm>
          <a:prstGeom prst="rect">
            <a:avLst/>
          </a:prstGeom>
          <a:noFill/>
          <a:ln/>
        </p:spPr>
        <p:txBody>
          <a:bodyPr wrap="square" lIns="0" tIns="0" rIns="0" bIns="0" rtlCol="0" anchor="ctr"/>
          <a:lstStyle/>
          <a:p>
            <a:pPr indent="0" marL="0">
              <a:buNone/>
            </a:pPr>
            <a:r>
              <a:rPr lang="en-US" sz="900" b="1" spc="150" kern="0" dirty="0">
                <a:solidFill>
                  <a:srgbClr val="C97567"/>
                </a:solidFill>
                <a:latin typeface="Calibri" pitchFamily="34" charset="0"/>
                <a:ea typeface="Calibri" pitchFamily="34" charset="-122"/>
                <a:cs typeface="Calibri" pitchFamily="34" charset="-120"/>
              </a:rPr>
              <a:t>MATERIA</a:t>
            </a:r>
            <a:endParaRPr lang="en-US" sz="900" dirty="0"/>
          </a:p>
        </p:txBody>
      </p:sp>
      <p:sp>
        <p:nvSpPr>
          <p:cNvPr id="12" name="Text 9"/>
          <p:cNvSpPr txBox="1"/>
          <p:nvPr/>
        </p:nvSpPr>
        <p:spPr>
          <a:xfrm>
            <a:off x="822960" y="4626864"/>
            <a:ext cx="4206240" cy="365760"/>
          </a:xfrm>
          <a:prstGeom prst="rect">
            <a:avLst/>
          </a:prstGeom>
          <a:noFill/>
          <a:ln/>
        </p:spPr>
        <p:txBody>
          <a:bodyPr wrap="square" lIns="0" tIns="0" rIns="0" bIns="0" rtlCol="0" anchor="ctr"/>
          <a:lstStyle/>
          <a:p>
            <a:pPr indent="0" marL="0">
              <a:buNone/>
            </a:pPr>
            <a:r>
              <a:rPr lang="en-US" sz="1300" dirty="0">
                <a:solidFill>
                  <a:srgbClr val="F3E9E3"/>
                </a:solidFill>
                <a:latin typeface="Calibri" pitchFamily="34" charset="0"/>
                <a:ea typeface="Calibri" pitchFamily="34" charset="-122"/>
                <a:cs typeface="Calibri" pitchFamily="34" charset="-120"/>
              </a:rPr>
              <a:t>Unidad 1. Administración de Proyectos</a:t>
            </a:r>
            <a:endParaRPr lang="en-US" sz="1300" dirty="0"/>
          </a:p>
        </p:txBody>
      </p:sp>
      <p:sp>
        <p:nvSpPr>
          <p:cNvPr id="13" name="Text 10"/>
          <p:cNvSpPr txBox="1"/>
          <p:nvPr/>
        </p:nvSpPr>
        <p:spPr>
          <a:xfrm>
            <a:off x="822960" y="5074920"/>
            <a:ext cx="4206240" cy="228600"/>
          </a:xfrm>
          <a:prstGeom prst="rect">
            <a:avLst/>
          </a:prstGeom>
          <a:noFill/>
          <a:ln/>
        </p:spPr>
        <p:txBody>
          <a:bodyPr wrap="square" lIns="0" tIns="0" rIns="0" bIns="0" rtlCol="0" anchor="ctr"/>
          <a:lstStyle/>
          <a:p>
            <a:pPr indent="0" marL="0">
              <a:buNone/>
            </a:pPr>
            <a:r>
              <a:rPr lang="en-US" sz="900" b="1" spc="150" kern="0" dirty="0">
                <a:solidFill>
                  <a:srgbClr val="C97567"/>
                </a:solidFill>
                <a:latin typeface="Calibri" pitchFamily="34" charset="0"/>
                <a:ea typeface="Calibri" pitchFamily="34" charset="-122"/>
                <a:cs typeface="Calibri" pitchFamily="34" charset="-120"/>
              </a:rPr>
              <a:t>DOCENTE</a:t>
            </a:r>
            <a:endParaRPr lang="en-US" sz="900" dirty="0"/>
          </a:p>
        </p:txBody>
      </p:sp>
      <p:sp>
        <p:nvSpPr>
          <p:cNvPr id="14" name="Text 11"/>
          <p:cNvSpPr txBox="1"/>
          <p:nvPr/>
        </p:nvSpPr>
        <p:spPr>
          <a:xfrm>
            <a:off x="822960" y="5312664"/>
            <a:ext cx="4206240" cy="365760"/>
          </a:xfrm>
          <a:prstGeom prst="rect">
            <a:avLst/>
          </a:prstGeom>
          <a:noFill/>
          <a:ln/>
        </p:spPr>
        <p:txBody>
          <a:bodyPr wrap="square" lIns="0" tIns="0" rIns="0" bIns="0" rtlCol="0" anchor="ctr"/>
          <a:lstStyle/>
          <a:p>
            <a:pPr indent="0" marL="0">
              <a:buNone/>
            </a:pPr>
            <a:r>
              <a:rPr lang="en-US" sz="1300" dirty="0">
                <a:solidFill>
                  <a:srgbClr val="F3E9E3"/>
                </a:solidFill>
                <a:latin typeface="Calibri" pitchFamily="34" charset="0"/>
                <a:ea typeface="Calibri" pitchFamily="34" charset="-122"/>
                <a:cs typeface="Calibri" pitchFamily="34" charset="-120"/>
              </a:rPr>
              <a:t>Dr. Gabriel Navarro Salcedo</a:t>
            </a:r>
            <a:endParaRPr lang="en-US" sz="1300" dirty="0"/>
          </a:p>
        </p:txBody>
      </p:sp>
      <p:sp>
        <p:nvSpPr>
          <p:cNvPr id="15" name="Text 12"/>
          <p:cNvSpPr txBox="1"/>
          <p:nvPr/>
        </p:nvSpPr>
        <p:spPr>
          <a:xfrm>
            <a:off x="5120640" y="4389120"/>
            <a:ext cx="4206240" cy="228600"/>
          </a:xfrm>
          <a:prstGeom prst="rect">
            <a:avLst/>
          </a:prstGeom>
          <a:noFill/>
          <a:ln/>
        </p:spPr>
        <p:txBody>
          <a:bodyPr wrap="square" lIns="0" tIns="0" rIns="0" bIns="0" rtlCol="0" anchor="ctr"/>
          <a:lstStyle/>
          <a:p>
            <a:pPr indent="0" marL="0">
              <a:buNone/>
            </a:pPr>
            <a:r>
              <a:rPr lang="en-US" sz="900" b="1" spc="150" kern="0" dirty="0">
                <a:solidFill>
                  <a:srgbClr val="C97567"/>
                </a:solidFill>
                <a:latin typeface="Calibri" pitchFamily="34" charset="0"/>
                <a:ea typeface="Calibri" pitchFamily="34" charset="-122"/>
                <a:cs typeface="Calibri" pitchFamily="34" charset="-120"/>
              </a:rPr>
              <a:t>AUTOR Y LÍDER DE PROYECTO</a:t>
            </a:r>
            <a:endParaRPr lang="en-US" sz="900" dirty="0"/>
          </a:p>
        </p:txBody>
      </p:sp>
      <p:sp>
        <p:nvSpPr>
          <p:cNvPr id="16" name="Text 13"/>
          <p:cNvSpPr txBox="1"/>
          <p:nvPr/>
        </p:nvSpPr>
        <p:spPr>
          <a:xfrm>
            <a:off x="5120640" y="4626864"/>
            <a:ext cx="4206240" cy="365760"/>
          </a:xfrm>
          <a:prstGeom prst="rect">
            <a:avLst/>
          </a:prstGeom>
          <a:noFill/>
          <a:ln/>
        </p:spPr>
        <p:txBody>
          <a:bodyPr wrap="square" lIns="0" tIns="0" rIns="0" bIns="0" rtlCol="0" anchor="ctr"/>
          <a:lstStyle/>
          <a:p>
            <a:pPr indent="0" marL="0">
              <a:buNone/>
            </a:pPr>
            <a:r>
              <a:rPr lang="en-US" sz="1300" dirty="0">
                <a:solidFill>
                  <a:srgbClr val="F3E9E3"/>
                </a:solidFill>
                <a:latin typeface="Calibri" pitchFamily="34" charset="0"/>
                <a:ea typeface="Calibri" pitchFamily="34" charset="-122"/>
                <a:cs typeface="Calibri" pitchFamily="34" charset="-120"/>
              </a:rPr>
              <a:t>Ernesto Fierro</a:t>
            </a:r>
            <a:endParaRPr lang="en-US" sz="1300" dirty="0"/>
          </a:p>
        </p:txBody>
      </p:sp>
      <p:sp>
        <p:nvSpPr>
          <p:cNvPr id="17" name="Text 14"/>
          <p:cNvSpPr txBox="1"/>
          <p:nvPr/>
        </p:nvSpPr>
        <p:spPr>
          <a:xfrm>
            <a:off x="5120640" y="5074920"/>
            <a:ext cx="4206240" cy="228600"/>
          </a:xfrm>
          <a:prstGeom prst="rect">
            <a:avLst/>
          </a:prstGeom>
          <a:noFill/>
          <a:ln/>
        </p:spPr>
        <p:txBody>
          <a:bodyPr wrap="square" lIns="0" tIns="0" rIns="0" bIns="0" rtlCol="0" anchor="ctr"/>
          <a:lstStyle/>
          <a:p>
            <a:pPr indent="0" marL="0">
              <a:buNone/>
            </a:pPr>
            <a:r>
              <a:rPr lang="en-US" sz="900" b="1" spc="150" kern="0" dirty="0">
                <a:solidFill>
                  <a:srgbClr val="C97567"/>
                </a:solidFill>
                <a:latin typeface="Calibri" pitchFamily="34" charset="0"/>
                <a:ea typeface="Calibri" pitchFamily="34" charset="-122"/>
                <a:cs typeface="Calibri" pitchFamily="34" charset="-120"/>
              </a:rPr>
              <a:t>FECHA</a:t>
            </a:r>
            <a:endParaRPr lang="en-US" sz="900" dirty="0"/>
          </a:p>
        </p:txBody>
      </p:sp>
      <p:sp>
        <p:nvSpPr>
          <p:cNvPr id="18" name="Text 15"/>
          <p:cNvSpPr txBox="1"/>
          <p:nvPr/>
        </p:nvSpPr>
        <p:spPr>
          <a:xfrm>
            <a:off x="5120640" y="5312664"/>
            <a:ext cx="4206240" cy="365760"/>
          </a:xfrm>
          <a:prstGeom prst="rect">
            <a:avLst/>
          </a:prstGeom>
          <a:noFill/>
          <a:ln/>
        </p:spPr>
        <p:txBody>
          <a:bodyPr wrap="square" lIns="0" tIns="0" rIns="0" bIns="0" rtlCol="0" anchor="ctr"/>
          <a:lstStyle/>
          <a:p>
            <a:pPr indent="0" marL="0">
              <a:buNone/>
            </a:pPr>
            <a:r>
              <a:rPr lang="en-US" sz="1300" dirty="0">
                <a:solidFill>
                  <a:srgbClr val="F3E9E3"/>
                </a:solidFill>
                <a:latin typeface="Calibri" pitchFamily="34" charset="0"/>
                <a:ea typeface="Calibri" pitchFamily="34" charset="-122"/>
                <a:cs typeface="Calibri" pitchFamily="34" charset="-120"/>
              </a:rPr>
              <a:t>Septiembre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1. Introducción: Propósito del Sistema y Marco ODS (Agenda 2030)</a:t>
            </a:r>
            <a:endParaRPr lang="en-US" sz="2500" dirty="0"/>
          </a:p>
        </p:txBody>
      </p:sp>
      <p:sp>
        <p:nvSpPr>
          <p:cNvPr id="4" name="Shape 2"/>
          <p:cNvSpPr/>
          <p:nvPr/>
        </p:nvSpPr>
        <p:spPr>
          <a:xfrm>
            <a:off x="548640" y="1463040"/>
            <a:ext cx="11091672" cy="896112"/>
          </a:xfrm>
          <a:prstGeom prst="roundRect">
            <a:avLst>
              <a:gd name="adj" fmla="val 7143"/>
            </a:avLst>
          </a:prstGeom>
          <a:solidFill>
            <a:srgbClr val="F3D9D3"/>
          </a:solidFill>
          <a:ln w="12700"/>
        </p:spPr>
      </p:sp>
      <p:sp>
        <p:nvSpPr>
          <p:cNvPr id="5" name="Shape 3"/>
          <p:cNvSpPr/>
          <p:nvPr/>
        </p:nvSpPr>
        <p:spPr>
          <a:xfrm>
            <a:off x="548640" y="1463040"/>
            <a:ext cx="54864" cy="896112"/>
          </a:xfrm>
          <a:prstGeom prst="rect">
            <a:avLst/>
          </a:prstGeom>
          <a:solidFill>
            <a:srgbClr val="C97567"/>
          </a:solidFill>
          <a:ln/>
        </p:spPr>
      </p:sp>
      <p:sp>
        <p:nvSpPr>
          <p:cNvPr id="6" name="Text 4"/>
          <p:cNvSpPr txBox="1"/>
          <p:nvPr/>
        </p:nvSpPr>
        <p:spPr>
          <a:xfrm>
            <a:off x="777240" y="1536192"/>
            <a:ext cx="10607040" cy="777240"/>
          </a:xfrm>
          <a:prstGeom prst="rect">
            <a:avLst/>
          </a:prstGeom>
          <a:noFill/>
          <a:ln/>
        </p:spPr>
        <p:txBody>
          <a:bodyPr wrap="square" lIns="0" tIns="0" rIns="0" bIns="0" rtlCol="0" anchor="ctr"/>
          <a:lstStyle/>
          <a:p>
            <a:pPr indent="0" marL="0">
              <a:lnSpc>
                <a:spcPts val="1650"/>
              </a:lnSpc>
              <a:buNone/>
            </a:pPr>
            <a:r>
              <a:rPr lang="en-US" sz="1250" b="1" dirty="0">
                <a:solidFill>
                  <a:srgbClr val="4B3B33"/>
                </a:solidFill>
                <a:latin typeface="Calibri" pitchFamily="34" charset="0"/>
                <a:ea typeface="Calibri" pitchFamily="34" charset="-122"/>
                <a:cs typeface="Calibri" pitchFamily="34" charset="-120"/>
              </a:rPr>
              <a:t>Propósito Central del Software:  </a:t>
            </a:r>
            <a:pPr indent="0" marL="0">
              <a:lnSpc>
                <a:spcPts val="1650"/>
              </a:lnSpc>
              <a:buNone/>
            </a:pPr>
            <a:r>
              <a:rPr lang="en-US" sz="1250" dirty="0">
                <a:solidFill>
                  <a:srgbClr val="5B4A41"/>
                </a:solidFill>
                <a:latin typeface="Calibri" pitchFamily="34" charset="0"/>
                <a:ea typeface="Calibri" pitchFamily="34" charset="-122"/>
                <a:cs typeface="Calibri" pitchFamily="34" charset="-120"/>
              </a:rPr>
              <a:t>Desarrollar una plataforma integral y resiliente que resuelva los cuellos de botella operativos en mostrador (POS), garantice la trazabilidad del café orgánico de especialidad y fidelice a los clientes mediante incentivos ecológicos.</a:t>
            </a:r>
            <a:endParaRPr lang="en-US" sz="1250" dirty="0"/>
          </a:p>
        </p:txBody>
      </p:sp>
      <p:sp>
        <p:nvSpPr>
          <p:cNvPr id="7" name="Shape 5"/>
          <p:cNvSpPr/>
          <p:nvPr/>
        </p:nvSpPr>
        <p:spPr>
          <a:xfrm>
            <a:off x="548640" y="2743200"/>
            <a:ext cx="566928" cy="566928"/>
          </a:xfrm>
          <a:prstGeom prst="ellipse">
            <a:avLst/>
          </a:prstGeom>
          <a:solidFill>
            <a:srgbClr val="C97567"/>
          </a:solidFill>
          <a:ln/>
        </p:spPr>
      </p:sp>
      <p:pic>
        <p:nvPicPr>
          <p:cNvPr id="8" name="Image 0" descr="/home/claude/monchis2/icons/handshake.png">    </p:cNvPr>
          <p:cNvPicPr>
            <a:picLocks noChangeAspect="1"/>
          </p:cNvPicPr>
          <p:nvPr/>
        </p:nvPicPr>
        <p:blipFill>
          <a:blip r:embed="rId1"/>
          <a:stretch>
            <a:fillRect/>
          </a:stretch>
        </p:blipFill>
        <p:spPr>
          <a:xfrm>
            <a:off x="625175" y="2819735"/>
            <a:ext cx="413857" cy="413857"/>
          </a:xfrm>
          <a:prstGeom prst="rect">
            <a:avLst/>
          </a:prstGeom>
        </p:spPr>
      </p:pic>
      <p:sp>
        <p:nvSpPr>
          <p:cNvPr id="9" name="Text 6"/>
          <p:cNvSpPr txBox="1"/>
          <p:nvPr/>
        </p:nvSpPr>
        <p:spPr>
          <a:xfrm>
            <a:off x="1344168" y="2606040"/>
            <a:ext cx="10296144" cy="292608"/>
          </a:xfrm>
          <a:prstGeom prst="rect">
            <a:avLst/>
          </a:prstGeom>
          <a:noFill/>
          <a:ln/>
        </p:spPr>
        <p:txBody>
          <a:bodyPr wrap="square" lIns="0" tIns="0" rIns="0" bIns="0" rtlCol="0" anchor="ctr"/>
          <a:lstStyle/>
          <a:p>
            <a:pPr indent="0" marL="0">
              <a:buNone/>
            </a:pPr>
            <a:r>
              <a:rPr lang="en-US" sz="1250" b="1" dirty="0">
                <a:solidFill>
                  <a:srgbClr val="4B3B33"/>
                </a:solidFill>
                <a:latin typeface="Cambria" pitchFamily="34" charset="0"/>
                <a:ea typeface="Cambria" pitchFamily="34" charset="-122"/>
                <a:cs typeface="Cambria" pitchFamily="34" charset="-120"/>
              </a:rPr>
              <a:t>ODS 8 — Trabajo Decente y Crecimiento Económico (Metas 8.2 y 8.3)</a:t>
            </a:r>
            <a:endParaRPr lang="en-US" sz="1250" dirty="0"/>
          </a:p>
        </p:txBody>
      </p:sp>
      <p:sp>
        <p:nvSpPr>
          <p:cNvPr id="10" name="Text 7"/>
          <p:cNvSpPr txBox="1"/>
          <p:nvPr/>
        </p:nvSpPr>
        <p:spPr>
          <a:xfrm>
            <a:off x="1344168" y="2898648"/>
            <a:ext cx="10296144" cy="603504"/>
          </a:xfrm>
          <a:prstGeom prst="rect">
            <a:avLst/>
          </a:prstGeom>
          <a:noFill/>
          <a:ln/>
        </p:spPr>
        <p:txBody>
          <a:bodyPr wrap="square" lIns="0" tIns="0" rIns="0" bIns="0" rtlCol="0" anchor="ctr"/>
          <a:lstStyle/>
          <a:p>
            <a:pPr indent="0" marL="0">
              <a:lnSpc>
                <a:spcPts val="1450"/>
              </a:lnSpc>
              <a:buNone/>
            </a:pPr>
            <a:r>
              <a:rPr lang="en-US" sz="1050" dirty="0">
                <a:solidFill>
                  <a:srgbClr val="5B4A41"/>
                </a:solidFill>
                <a:latin typeface="Calibri" pitchFamily="34" charset="0"/>
                <a:ea typeface="Calibri" pitchFamily="34" charset="-122"/>
                <a:cs typeface="Calibri" pitchFamily="34" charset="-120"/>
              </a:rPr>
              <a:t>Formaliza las operaciones de la cafetería y cooperativas cafetaleras de Chiapas/Oaxaca, agiliza los cobros en barra reduciendo el estrés laboral del barista y elimina pérdidas por errores de caja.</a:t>
            </a:r>
            <a:endParaRPr lang="en-US" sz="1050" dirty="0"/>
          </a:p>
        </p:txBody>
      </p:sp>
      <p:sp>
        <p:nvSpPr>
          <p:cNvPr id="11" name="Shape 8"/>
          <p:cNvSpPr/>
          <p:nvPr/>
        </p:nvSpPr>
        <p:spPr>
          <a:xfrm>
            <a:off x="548640" y="3429000"/>
            <a:ext cx="11091672" cy="9144"/>
          </a:xfrm>
          <a:prstGeom prst="rect">
            <a:avLst/>
          </a:prstGeom>
          <a:solidFill>
            <a:srgbClr val="E8DCD4"/>
          </a:solidFill>
          <a:ln/>
        </p:spPr>
      </p:sp>
      <p:sp>
        <p:nvSpPr>
          <p:cNvPr id="12" name="Shape 9"/>
          <p:cNvSpPr/>
          <p:nvPr/>
        </p:nvSpPr>
        <p:spPr>
          <a:xfrm>
            <a:off x="548640" y="3675888"/>
            <a:ext cx="566928" cy="566928"/>
          </a:xfrm>
          <a:prstGeom prst="ellipse">
            <a:avLst/>
          </a:prstGeom>
          <a:solidFill>
            <a:srgbClr val="E08D80"/>
          </a:solidFill>
          <a:ln/>
        </p:spPr>
      </p:sp>
      <p:pic>
        <p:nvPicPr>
          <p:cNvPr id="13" name="Image 1" descr="/home/claude/monchis2/icons/industry.png">    </p:cNvPr>
          <p:cNvPicPr>
            <a:picLocks noChangeAspect="1"/>
          </p:cNvPicPr>
          <p:nvPr/>
        </p:nvPicPr>
        <p:blipFill>
          <a:blip r:embed="rId2"/>
          <a:stretch>
            <a:fillRect/>
          </a:stretch>
        </p:blipFill>
        <p:spPr>
          <a:xfrm>
            <a:off x="625175" y="3752423"/>
            <a:ext cx="413857" cy="413857"/>
          </a:xfrm>
          <a:prstGeom prst="rect">
            <a:avLst/>
          </a:prstGeom>
        </p:spPr>
      </p:pic>
      <p:sp>
        <p:nvSpPr>
          <p:cNvPr id="14" name="Text 10"/>
          <p:cNvSpPr txBox="1"/>
          <p:nvPr/>
        </p:nvSpPr>
        <p:spPr>
          <a:xfrm>
            <a:off x="1344168" y="3538728"/>
            <a:ext cx="10296144" cy="292608"/>
          </a:xfrm>
          <a:prstGeom prst="rect">
            <a:avLst/>
          </a:prstGeom>
          <a:noFill/>
          <a:ln/>
        </p:spPr>
        <p:txBody>
          <a:bodyPr wrap="square" lIns="0" tIns="0" rIns="0" bIns="0" rtlCol="0" anchor="ctr"/>
          <a:lstStyle/>
          <a:p>
            <a:pPr indent="0" marL="0">
              <a:buNone/>
            </a:pPr>
            <a:r>
              <a:rPr lang="en-US" sz="1250" b="1" dirty="0">
                <a:solidFill>
                  <a:srgbClr val="4B3B33"/>
                </a:solidFill>
                <a:latin typeface="Cambria" pitchFamily="34" charset="0"/>
                <a:ea typeface="Cambria" pitchFamily="34" charset="-122"/>
                <a:cs typeface="Cambria" pitchFamily="34" charset="-120"/>
              </a:rPr>
              <a:t>ODS 9 — Industria, Innovación e Infraestructura (Metas 9.4 y 9.c)</a:t>
            </a:r>
            <a:endParaRPr lang="en-US" sz="1250" dirty="0"/>
          </a:p>
        </p:txBody>
      </p:sp>
      <p:sp>
        <p:nvSpPr>
          <p:cNvPr id="15" name="Text 11"/>
          <p:cNvSpPr txBox="1"/>
          <p:nvPr/>
        </p:nvSpPr>
        <p:spPr>
          <a:xfrm>
            <a:off x="1344168" y="3831336"/>
            <a:ext cx="10296144" cy="603504"/>
          </a:xfrm>
          <a:prstGeom prst="rect">
            <a:avLst/>
          </a:prstGeom>
          <a:noFill/>
          <a:ln/>
        </p:spPr>
        <p:txBody>
          <a:bodyPr wrap="square" lIns="0" tIns="0" rIns="0" bIns="0" rtlCol="0" anchor="ctr"/>
          <a:lstStyle/>
          <a:p>
            <a:pPr indent="0" marL="0">
              <a:lnSpc>
                <a:spcPts val="1450"/>
              </a:lnSpc>
              <a:buNone/>
            </a:pPr>
            <a:r>
              <a:rPr lang="en-US" sz="1050" dirty="0">
                <a:solidFill>
                  <a:srgbClr val="5B4A41"/>
                </a:solidFill>
                <a:latin typeface="Calibri" pitchFamily="34" charset="0"/>
                <a:ea typeface="Calibri" pitchFamily="34" charset="-122"/>
                <a:cs typeface="Calibri" pitchFamily="34" charset="-120"/>
              </a:rPr>
              <a:t>Infraestructura cloud basada en monorepo de alto rendimiento (Turborepo), colas RabbitMQ con patrón Saga y principios de Green Software Engineering (menor consumo de CPU/servidores con SSG).</a:t>
            </a:r>
            <a:endParaRPr lang="en-US" sz="1050" dirty="0"/>
          </a:p>
        </p:txBody>
      </p:sp>
      <p:sp>
        <p:nvSpPr>
          <p:cNvPr id="16" name="Shape 12"/>
          <p:cNvSpPr/>
          <p:nvPr/>
        </p:nvSpPr>
        <p:spPr>
          <a:xfrm>
            <a:off x="548640" y="4361688"/>
            <a:ext cx="11091672" cy="9144"/>
          </a:xfrm>
          <a:prstGeom prst="rect">
            <a:avLst/>
          </a:prstGeom>
          <a:solidFill>
            <a:srgbClr val="E8DCD4"/>
          </a:solidFill>
          <a:ln/>
        </p:spPr>
      </p:sp>
      <p:sp>
        <p:nvSpPr>
          <p:cNvPr id="17" name="Shape 13"/>
          <p:cNvSpPr/>
          <p:nvPr/>
        </p:nvSpPr>
        <p:spPr>
          <a:xfrm>
            <a:off x="548640" y="4608576"/>
            <a:ext cx="566928" cy="566928"/>
          </a:xfrm>
          <a:prstGeom prst="ellipse">
            <a:avLst/>
          </a:prstGeom>
          <a:solidFill>
            <a:srgbClr val="7C9473"/>
          </a:solidFill>
          <a:ln/>
        </p:spPr>
      </p:sp>
      <p:pic>
        <p:nvPicPr>
          <p:cNvPr id="18" name="Image 2" descr="/home/claude/monchis2/icons/recycle.png">    </p:cNvPr>
          <p:cNvPicPr>
            <a:picLocks noChangeAspect="1"/>
          </p:cNvPicPr>
          <p:nvPr/>
        </p:nvPicPr>
        <p:blipFill>
          <a:blip r:embed="rId3"/>
          <a:stretch>
            <a:fillRect/>
          </a:stretch>
        </p:blipFill>
        <p:spPr>
          <a:xfrm>
            <a:off x="625175" y="4685111"/>
            <a:ext cx="413857" cy="413857"/>
          </a:xfrm>
          <a:prstGeom prst="rect">
            <a:avLst/>
          </a:prstGeom>
        </p:spPr>
      </p:pic>
      <p:sp>
        <p:nvSpPr>
          <p:cNvPr id="19" name="Text 14"/>
          <p:cNvSpPr txBox="1"/>
          <p:nvPr/>
        </p:nvSpPr>
        <p:spPr>
          <a:xfrm>
            <a:off x="1344168" y="4471416"/>
            <a:ext cx="10296144" cy="292608"/>
          </a:xfrm>
          <a:prstGeom prst="rect">
            <a:avLst/>
          </a:prstGeom>
          <a:noFill/>
          <a:ln/>
        </p:spPr>
        <p:txBody>
          <a:bodyPr wrap="square" lIns="0" tIns="0" rIns="0" bIns="0" rtlCol="0" anchor="ctr"/>
          <a:lstStyle/>
          <a:p>
            <a:pPr indent="0" marL="0">
              <a:buNone/>
            </a:pPr>
            <a:r>
              <a:rPr lang="en-US" sz="1250" b="1" dirty="0">
                <a:solidFill>
                  <a:srgbClr val="4B3B33"/>
                </a:solidFill>
                <a:latin typeface="Cambria" pitchFamily="34" charset="0"/>
                <a:ea typeface="Cambria" pitchFamily="34" charset="-122"/>
                <a:cs typeface="Cambria" pitchFamily="34" charset="-120"/>
              </a:rPr>
              <a:t>ODS 12 — Producción y Consumo Responsables (Metas 12.2, 12.5 y 12.8)</a:t>
            </a:r>
            <a:endParaRPr lang="en-US" sz="1250" dirty="0"/>
          </a:p>
        </p:txBody>
      </p:sp>
      <p:sp>
        <p:nvSpPr>
          <p:cNvPr id="20" name="Text 15"/>
          <p:cNvSpPr txBox="1"/>
          <p:nvPr/>
        </p:nvSpPr>
        <p:spPr>
          <a:xfrm>
            <a:off x="1344168" y="4764024"/>
            <a:ext cx="10296144" cy="603504"/>
          </a:xfrm>
          <a:prstGeom prst="rect">
            <a:avLst/>
          </a:prstGeom>
          <a:noFill/>
          <a:ln/>
        </p:spPr>
        <p:txBody>
          <a:bodyPr wrap="square" lIns="0" tIns="0" rIns="0" bIns="0" rtlCol="0" anchor="ctr"/>
          <a:lstStyle/>
          <a:p>
            <a:pPr indent="0" marL="0">
              <a:lnSpc>
                <a:spcPts val="1450"/>
              </a:lnSpc>
              <a:buNone/>
            </a:pPr>
            <a:r>
              <a:rPr lang="en-US" sz="1050" dirty="0">
                <a:solidFill>
                  <a:srgbClr val="5B4A41"/>
                </a:solidFill>
                <a:latin typeface="Calibri" pitchFamily="34" charset="0"/>
                <a:ea typeface="Calibri" pitchFamily="34" charset="-122"/>
                <a:cs typeface="Calibri" pitchFamily="34" charset="-120"/>
              </a:rPr>
              <a:t>Sistema 'Monchis Rewards' que bonifica el uso de termos reutilizables (reduciendo más de 4,500 vasos desechables semestrales) y control PEPS de caducidades.</a:t>
            </a:r>
            <a:endParaRPr lang="en-US" sz="1050" dirty="0"/>
          </a:p>
        </p:txBody>
      </p:sp>
      <p:sp>
        <p:nvSpPr>
          <p:cNvPr id="21" name="Shape 16"/>
          <p:cNvSpPr/>
          <p:nvPr/>
        </p:nvSpPr>
        <p:spPr>
          <a:xfrm>
            <a:off x="548640" y="5294376"/>
            <a:ext cx="11091672" cy="9144"/>
          </a:xfrm>
          <a:prstGeom prst="rect">
            <a:avLst/>
          </a:prstGeom>
          <a:solidFill>
            <a:srgbClr val="E8DCD4"/>
          </a:solidFill>
          <a:ln/>
        </p:spPr>
      </p:sp>
      <p:sp>
        <p:nvSpPr>
          <p:cNvPr id="22" name="Shape 17"/>
          <p:cNvSpPr/>
          <p:nvPr/>
        </p:nvSpPr>
        <p:spPr>
          <a:xfrm>
            <a:off x="548640" y="5541264"/>
            <a:ext cx="566928" cy="566928"/>
          </a:xfrm>
          <a:prstGeom prst="ellipse">
            <a:avLst/>
          </a:prstGeom>
          <a:solidFill>
            <a:srgbClr val="5F7355"/>
          </a:solidFill>
          <a:ln/>
        </p:spPr>
      </p:sp>
      <p:pic>
        <p:nvPicPr>
          <p:cNvPr id="23" name="Image 3" descr="/home/claude/monchis2/icons/balance.png">    </p:cNvPr>
          <p:cNvPicPr>
            <a:picLocks noChangeAspect="1"/>
          </p:cNvPicPr>
          <p:nvPr/>
        </p:nvPicPr>
        <p:blipFill>
          <a:blip r:embed="rId4"/>
          <a:stretch>
            <a:fillRect/>
          </a:stretch>
        </p:blipFill>
        <p:spPr>
          <a:xfrm>
            <a:off x="625175" y="5617799"/>
            <a:ext cx="413857" cy="413857"/>
          </a:xfrm>
          <a:prstGeom prst="rect">
            <a:avLst/>
          </a:prstGeom>
        </p:spPr>
      </p:pic>
      <p:sp>
        <p:nvSpPr>
          <p:cNvPr id="24" name="Text 18"/>
          <p:cNvSpPr txBox="1"/>
          <p:nvPr/>
        </p:nvSpPr>
        <p:spPr>
          <a:xfrm>
            <a:off x="1344168" y="5404104"/>
            <a:ext cx="10296144" cy="292608"/>
          </a:xfrm>
          <a:prstGeom prst="rect">
            <a:avLst/>
          </a:prstGeom>
          <a:noFill/>
          <a:ln/>
        </p:spPr>
        <p:txBody>
          <a:bodyPr wrap="square" lIns="0" tIns="0" rIns="0" bIns="0" rtlCol="0" anchor="ctr"/>
          <a:lstStyle/>
          <a:p>
            <a:pPr indent="0" marL="0">
              <a:buNone/>
            </a:pPr>
            <a:r>
              <a:rPr lang="en-US" sz="1250" b="1" dirty="0">
                <a:solidFill>
                  <a:srgbClr val="4B3B33"/>
                </a:solidFill>
                <a:latin typeface="Cambria" pitchFamily="34" charset="0"/>
                <a:ea typeface="Cambria" pitchFamily="34" charset="-122"/>
                <a:cs typeface="Cambria" pitchFamily="34" charset="-120"/>
              </a:rPr>
              <a:t>ODS 16 — Paz, Justicia e Instituciones Sólidas (Metas 16.5 y 16.6)</a:t>
            </a:r>
            <a:endParaRPr lang="en-US" sz="1250" dirty="0"/>
          </a:p>
        </p:txBody>
      </p:sp>
      <p:sp>
        <p:nvSpPr>
          <p:cNvPr id="25" name="Text 19"/>
          <p:cNvSpPr txBox="1"/>
          <p:nvPr/>
        </p:nvSpPr>
        <p:spPr>
          <a:xfrm>
            <a:off x="1344168" y="5696712"/>
            <a:ext cx="10296144" cy="603504"/>
          </a:xfrm>
          <a:prstGeom prst="rect">
            <a:avLst/>
          </a:prstGeom>
          <a:noFill/>
          <a:ln/>
        </p:spPr>
        <p:txBody>
          <a:bodyPr wrap="square" lIns="0" tIns="0" rIns="0" bIns="0" rtlCol="0" anchor="ctr"/>
          <a:lstStyle/>
          <a:p>
            <a:pPr indent="0" marL="0">
              <a:lnSpc>
                <a:spcPts val="1450"/>
              </a:lnSpc>
              <a:buNone/>
            </a:pPr>
            <a:r>
              <a:rPr lang="en-US" sz="1050" dirty="0">
                <a:solidFill>
                  <a:srgbClr val="5B4A41"/>
                </a:solidFill>
                <a:latin typeface="Calibri" pitchFamily="34" charset="0"/>
                <a:ea typeface="Calibri" pitchFamily="34" charset="-122"/>
                <a:cs typeface="Calibri" pitchFamily="34" charset="-120"/>
              </a:rPr>
              <a:t>Transparencia transaccional absoluta, auditoría inmutable en base de datos y seguridad estricta stateless (JWT + reCAPTCHA) protegiendo la privacidad ciudadana.</a:t>
            </a:r>
            <a:endParaRPr lang="en-US" sz="1050" dirty="0"/>
          </a:p>
        </p:txBody>
      </p:sp>
      <p:sp>
        <p:nvSpPr>
          <p:cNvPr id="26" name="Text 20"/>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27" name="Text 21"/>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2. Introducción: Alcance del Sistema y Priorización MoSCoW</a:t>
            </a:r>
            <a:endParaRPr lang="en-US" sz="2500" dirty="0"/>
          </a:p>
        </p:txBody>
      </p:sp>
      <p:sp>
        <p:nvSpPr>
          <p:cNvPr id="4" name="Shape 2"/>
          <p:cNvSpPr/>
          <p:nvPr/>
        </p:nvSpPr>
        <p:spPr>
          <a:xfrm>
            <a:off x="548640" y="1600200"/>
            <a:ext cx="5349240" cy="4617720"/>
          </a:xfrm>
          <a:prstGeom prst="roundRect">
            <a:avLst>
              <a:gd name="adj" fmla="val 1386"/>
            </a:avLst>
          </a:prstGeom>
          <a:solidFill>
            <a:srgbClr val="FDF3EE"/>
          </a:solidFill>
          <a:ln w="12700"/>
        </p:spPr>
      </p:sp>
      <p:sp>
        <p:nvSpPr>
          <p:cNvPr id="5" name="Shape 3"/>
          <p:cNvSpPr/>
          <p:nvPr/>
        </p:nvSpPr>
        <p:spPr>
          <a:xfrm>
            <a:off x="548640" y="1600200"/>
            <a:ext cx="5349240" cy="457200"/>
          </a:xfrm>
          <a:prstGeom prst="roundRect">
            <a:avLst>
              <a:gd name="adj" fmla="val 12000"/>
            </a:avLst>
          </a:prstGeom>
          <a:solidFill>
            <a:srgbClr val="7C9473"/>
          </a:solidFill>
          <a:ln/>
        </p:spPr>
      </p:sp>
      <p:sp>
        <p:nvSpPr>
          <p:cNvPr id="6" name="Shape 4"/>
          <p:cNvSpPr/>
          <p:nvPr/>
        </p:nvSpPr>
        <p:spPr>
          <a:xfrm>
            <a:off x="548640" y="1828800"/>
            <a:ext cx="5349240" cy="228600"/>
          </a:xfrm>
          <a:prstGeom prst="rect">
            <a:avLst/>
          </a:prstGeom>
          <a:solidFill>
            <a:srgbClr val="7C9473"/>
          </a:solidFill>
          <a:ln/>
        </p:spPr>
      </p:sp>
      <p:sp>
        <p:nvSpPr>
          <p:cNvPr id="7" name="Text 5"/>
          <p:cNvSpPr txBox="1"/>
          <p:nvPr/>
        </p:nvSpPr>
        <p:spPr>
          <a:xfrm>
            <a:off x="777240" y="1600200"/>
            <a:ext cx="4892040" cy="45720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DENTRO DEL ALCANCE (IN-SCOPE) — FASE 1</a:t>
            </a:r>
            <a:endParaRPr lang="en-US" sz="1350" dirty="0"/>
          </a:p>
        </p:txBody>
      </p:sp>
      <p:pic>
        <p:nvPicPr>
          <p:cNvPr id="8" name="Image 0" descr="/home/claude/icons/check.png">    </p:cNvPr>
          <p:cNvPicPr>
            <a:picLocks noChangeAspect="1"/>
          </p:cNvPicPr>
          <p:nvPr/>
        </p:nvPicPr>
        <p:blipFill>
          <a:blip r:embed="rId1"/>
          <a:stretch>
            <a:fillRect/>
          </a:stretch>
        </p:blipFill>
        <p:spPr>
          <a:xfrm>
            <a:off x="749808" y="2212848"/>
            <a:ext cx="201168" cy="201168"/>
          </a:xfrm>
          <a:prstGeom prst="rect">
            <a:avLst/>
          </a:prstGeom>
        </p:spPr>
      </p:pic>
      <p:sp>
        <p:nvSpPr>
          <p:cNvPr id="9" name="Text 6"/>
          <p:cNvSpPr txBox="1"/>
          <p:nvPr/>
        </p:nvSpPr>
        <p:spPr>
          <a:xfrm>
            <a:off x="1051560" y="2148840"/>
            <a:ext cx="4617720" cy="457200"/>
          </a:xfrm>
          <a:prstGeom prst="rect">
            <a:avLst/>
          </a:prstGeom>
          <a:noFill/>
          <a:ln/>
        </p:spPr>
        <p:txBody>
          <a:bodyPr wrap="square" lIns="0" tIns="0" rIns="0" bIns="0" rtlCol="0" anchor="ctr"/>
          <a:lstStyle/>
          <a:p>
            <a:pPr indent="0" marL="0">
              <a:lnSpc>
                <a:spcPts val="1350"/>
              </a:lnSpc>
              <a:buNone/>
            </a:pPr>
            <a:r>
              <a:rPr lang="en-US" sz="1100" dirty="0">
                <a:solidFill>
                  <a:srgbClr val="5B4A41"/>
                </a:solidFill>
                <a:latin typeface="Calibri" pitchFamily="34" charset="0"/>
                <a:ea typeface="Calibri" pitchFamily="34" charset="-122"/>
                <a:cs typeface="Calibri" pitchFamily="34" charset="-120"/>
              </a:rPr>
              <a:t>Arquitectura Monorepo modular (Vue 3 + Next.js API + Prisma).</a:t>
            </a:r>
            <a:endParaRPr lang="en-US" sz="1100" dirty="0"/>
          </a:p>
        </p:txBody>
      </p:sp>
      <p:pic>
        <p:nvPicPr>
          <p:cNvPr id="10" name="Image 1" descr="/home/claude/icons/check.png">    </p:cNvPr>
          <p:cNvPicPr>
            <a:picLocks noChangeAspect="1"/>
          </p:cNvPicPr>
          <p:nvPr/>
        </p:nvPicPr>
        <p:blipFill>
          <a:blip r:embed="rId2"/>
          <a:stretch>
            <a:fillRect/>
          </a:stretch>
        </p:blipFill>
        <p:spPr>
          <a:xfrm>
            <a:off x="749808" y="2697480"/>
            <a:ext cx="201168" cy="201168"/>
          </a:xfrm>
          <a:prstGeom prst="rect">
            <a:avLst/>
          </a:prstGeom>
        </p:spPr>
      </p:pic>
      <p:sp>
        <p:nvSpPr>
          <p:cNvPr id="11" name="Text 7"/>
          <p:cNvSpPr txBox="1"/>
          <p:nvPr/>
        </p:nvSpPr>
        <p:spPr>
          <a:xfrm>
            <a:off x="1051560" y="2633472"/>
            <a:ext cx="4617720" cy="457200"/>
          </a:xfrm>
          <a:prstGeom prst="rect">
            <a:avLst/>
          </a:prstGeom>
          <a:noFill/>
          <a:ln/>
        </p:spPr>
        <p:txBody>
          <a:bodyPr wrap="square" lIns="0" tIns="0" rIns="0" bIns="0" rtlCol="0" anchor="ctr"/>
          <a:lstStyle/>
          <a:p>
            <a:pPr indent="0" marL="0">
              <a:lnSpc>
                <a:spcPts val="1350"/>
              </a:lnSpc>
              <a:buNone/>
            </a:pPr>
            <a:r>
              <a:rPr lang="en-US" sz="1100" dirty="0">
                <a:solidFill>
                  <a:srgbClr val="5B4A41"/>
                </a:solidFill>
                <a:latin typeface="Calibri" pitchFamily="34" charset="0"/>
                <a:ea typeface="Calibri" pitchFamily="34" charset="-122"/>
                <a:cs typeface="Calibri" pitchFamily="34" charset="-120"/>
              </a:rPr>
              <a:t>Punto de Venta (POS) web táctil optimizado para barra.</a:t>
            </a:r>
            <a:endParaRPr lang="en-US" sz="1100" dirty="0"/>
          </a:p>
        </p:txBody>
      </p:sp>
      <p:pic>
        <p:nvPicPr>
          <p:cNvPr id="12" name="Image 2" descr="/home/claude/icons/check.png">    </p:cNvPr>
          <p:cNvPicPr>
            <a:picLocks noChangeAspect="1"/>
          </p:cNvPicPr>
          <p:nvPr/>
        </p:nvPicPr>
        <p:blipFill>
          <a:blip r:embed="rId3"/>
          <a:stretch>
            <a:fillRect/>
          </a:stretch>
        </p:blipFill>
        <p:spPr>
          <a:xfrm>
            <a:off x="749808" y="3182112"/>
            <a:ext cx="201168" cy="201168"/>
          </a:xfrm>
          <a:prstGeom prst="rect">
            <a:avLst/>
          </a:prstGeom>
        </p:spPr>
      </p:pic>
      <p:sp>
        <p:nvSpPr>
          <p:cNvPr id="13" name="Text 8"/>
          <p:cNvSpPr txBox="1"/>
          <p:nvPr/>
        </p:nvSpPr>
        <p:spPr>
          <a:xfrm>
            <a:off x="1051560" y="3118104"/>
            <a:ext cx="4617720" cy="457200"/>
          </a:xfrm>
          <a:prstGeom prst="rect">
            <a:avLst/>
          </a:prstGeom>
          <a:noFill/>
          <a:ln/>
        </p:spPr>
        <p:txBody>
          <a:bodyPr wrap="square" lIns="0" tIns="0" rIns="0" bIns="0" rtlCol="0" anchor="ctr"/>
          <a:lstStyle/>
          <a:p>
            <a:pPr indent="0" marL="0">
              <a:lnSpc>
                <a:spcPts val="1350"/>
              </a:lnSpc>
              <a:buNone/>
            </a:pPr>
            <a:r>
              <a:rPr lang="en-US" sz="1100" dirty="0">
                <a:solidFill>
                  <a:srgbClr val="5B4A41"/>
                </a:solidFill>
                <a:latin typeface="Calibri" pitchFamily="34" charset="0"/>
                <a:ea typeface="Calibri" pitchFamily="34" charset="-122"/>
                <a:cs typeface="Calibri" pitchFamily="34" charset="-120"/>
              </a:rPr>
              <a:t>Módulo de cobro mixto: Efectivo (cálculo de cambio), tarjeta, SPEI y puntos.</a:t>
            </a:r>
            <a:endParaRPr lang="en-US" sz="1100" dirty="0"/>
          </a:p>
        </p:txBody>
      </p:sp>
      <p:pic>
        <p:nvPicPr>
          <p:cNvPr id="14" name="Image 3" descr="/home/claude/icons/check.png">    </p:cNvPr>
          <p:cNvPicPr>
            <a:picLocks noChangeAspect="1"/>
          </p:cNvPicPr>
          <p:nvPr/>
        </p:nvPicPr>
        <p:blipFill>
          <a:blip r:embed="rId4"/>
          <a:stretch>
            <a:fillRect/>
          </a:stretch>
        </p:blipFill>
        <p:spPr>
          <a:xfrm>
            <a:off x="749808" y="3666744"/>
            <a:ext cx="201168" cy="201168"/>
          </a:xfrm>
          <a:prstGeom prst="rect">
            <a:avLst/>
          </a:prstGeom>
        </p:spPr>
      </p:pic>
      <p:sp>
        <p:nvSpPr>
          <p:cNvPr id="15" name="Text 9"/>
          <p:cNvSpPr txBox="1"/>
          <p:nvPr/>
        </p:nvSpPr>
        <p:spPr>
          <a:xfrm>
            <a:off x="1051560" y="3602736"/>
            <a:ext cx="4617720" cy="457200"/>
          </a:xfrm>
          <a:prstGeom prst="rect">
            <a:avLst/>
          </a:prstGeom>
          <a:noFill/>
          <a:ln/>
        </p:spPr>
        <p:txBody>
          <a:bodyPr wrap="square" lIns="0" tIns="0" rIns="0" bIns="0" rtlCol="0" anchor="ctr"/>
          <a:lstStyle/>
          <a:p>
            <a:pPr indent="0" marL="0">
              <a:lnSpc>
                <a:spcPts val="1350"/>
              </a:lnSpc>
              <a:buNone/>
            </a:pPr>
            <a:r>
              <a:rPr lang="en-US" sz="1100" dirty="0">
                <a:solidFill>
                  <a:srgbClr val="5B4A41"/>
                </a:solidFill>
                <a:latin typeface="Calibri" pitchFamily="34" charset="0"/>
                <a:ea typeface="Calibri" pitchFamily="34" charset="-122"/>
                <a:cs typeface="Calibri" pitchFamily="34" charset="-120"/>
              </a:rPr>
              <a:t>Resiliencia de transacciones: Patrón Saga con colas RabbitMQ y reversas automáticas.</a:t>
            </a:r>
            <a:endParaRPr lang="en-US" sz="1100" dirty="0"/>
          </a:p>
        </p:txBody>
      </p:sp>
      <p:pic>
        <p:nvPicPr>
          <p:cNvPr id="16" name="Image 4" descr="/home/claude/icons/check.png">    </p:cNvPr>
          <p:cNvPicPr>
            <a:picLocks noChangeAspect="1"/>
          </p:cNvPicPr>
          <p:nvPr/>
        </p:nvPicPr>
        <p:blipFill>
          <a:blip r:embed="rId5"/>
          <a:stretch>
            <a:fillRect/>
          </a:stretch>
        </p:blipFill>
        <p:spPr>
          <a:xfrm>
            <a:off x="749808" y="4151376"/>
            <a:ext cx="201168" cy="201168"/>
          </a:xfrm>
          <a:prstGeom prst="rect">
            <a:avLst/>
          </a:prstGeom>
        </p:spPr>
      </p:pic>
      <p:sp>
        <p:nvSpPr>
          <p:cNvPr id="17" name="Text 10"/>
          <p:cNvSpPr txBox="1"/>
          <p:nvPr/>
        </p:nvSpPr>
        <p:spPr>
          <a:xfrm>
            <a:off x="1051560" y="4087368"/>
            <a:ext cx="4617720" cy="457200"/>
          </a:xfrm>
          <a:prstGeom prst="rect">
            <a:avLst/>
          </a:prstGeom>
          <a:noFill/>
          <a:ln/>
        </p:spPr>
        <p:txBody>
          <a:bodyPr wrap="square" lIns="0" tIns="0" rIns="0" bIns="0" rtlCol="0" anchor="ctr"/>
          <a:lstStyle/>
          <a:p>
            <a:pPr indent="0" marL="0">
              <a:lnSpc>
                <a:spcPts val="1350"/>
              </a:lnSpc>
              <a:buNone/>
            </a:pPr>
            <a:r>
              <a:rPr lang="en-US" sz="1100" dirty="0">
                <a:solidFill>
                  <a:srgbClr val="5B4A41"/>
                </a:solidFill>
                <a:latin typeface="Calibri" pitchFamily="34" charset="0"/>
                <a:ea typeface="Calibri" pitchFamily="34" charset="-122"/>
                <a:cs typeface="Calibri" pitchFamily="34" charset="-120"/>
              </a:rPr>
              <a:t>Módulo 'Monchis Rewards' con sellos digitales y bono ecológico por termo.</a:t>
            </a:r>
            <a:endParaRPr lang="en-US" sz="1100" dirty="0"/>
          </a:p>
        </p:txBody>
      </p:sp>
      <p:pic>
        <p:nvPicPr>
          <p:cNvPr id="18" name="Image 5" descr="/home/claude/icons/check.png">    </p:cNvPr>
          <p:cNvPicPr>
            <a:picLocks noChangeAspect="1"/>
          </p:cNvPicPr>
          <p:nvPr/>
        </p:nvPicPr>
        <p:blipFill>
          <a:blip r:embed="rId6"/>
          <a:stretch>
            <a:fillRect/>
          </a:stretch>
        </p:blipFill>
        <p:spPr>
          <a:xfrm>
            <a:off x="749808" y="4636008"/>
            <a:ext cx="201168" cy="201168"/>
          </a:xfrm>
          <a:prstGeom prst="rect">
            <a:avLst/>
          </a:prstGeom>
        </p:spPr>
      </p:pic>
      <p:sp>
        <p:nvSpPr>
          <p:cNvPr id="19" name="Text 11"/>
          <p:cNvSpPr txBox="1"/>
          <p:nvPr/>
        </p:nvSpPr>
        <p:spPr>
          <a:xfrm>
            <a:off x="1051560" y="4572000"/>
            <a:ext cx="4617720" cy="457200"/>
          </a:xfrm>
          <a:prstGeom prst="rect">
            <a:avLst/>
          </a:prstGeom>
          <a:noFill/>
          <a:ln/>
        </p:spPr>
        <p:txBody>
          <a:bodyPr wrap="square" lIns="0" tIns="0" rIns="0" bIns="0" rtlCol="0" anchor="ctr"/>
          <a:lstStyle/>
          <a:p>
            <a:pPr indent="0" marL="0">
              <a:lnSpc>
                <a:spcPts val="1350"/>
              </a:lnSpc>
              <a:buNone/>
            </a:pPr>
            <a:r>
              <a:rPr lang="en-US" sz="1100" dirty="0">
                <a:solidFill>
                  <a:srgbClr val="5B4A41"/>
                </a:solidFill>
                <a:latin typeface="Calibri" pitchFamily="34" charset="0"/>
                <a:ea typeface="Calibri" pitchFamily="34" charset="-122"/>
                <a:cs typeface="Calibri" pitchFamily="34" charset="-120"/>
              </a:rPr>
              <a:t>Trazabilidad de lotes orgánicos (finca, altura, tueste y caducidad PEPS).</a:t>
            </a:r>
            <a:endParaRPr lang="en-US" sz="1100" dirty="0"/>
          </a:p>
        </p:txBody>
      </p:sp>
      <p:pic>
        <p:nvPicPr>
          <p:cNvPr id="20" name="Image 6" descr="/home/claude/icons/check.png">    </p:cNvPr>
          <p:cNvPicPr>
            <a:picLocks noChangeAspect="1"/>
          </p:cNvPicPr>
          <p:nvPr/>
        </p:nvPicPr>
        <p:blipFill>
          <a:blip r:embed="rId7"/>
          <a:stretch>
            <a:fillRect/>
          </a:stretch>
        </p:blipFill>
        <p:spPr>
          <a:xfrm>
            <a:off x="749808" y="5120640"/>
            <a:ext cx="201168" cy="201168"/>
          </a:xfrm>
          <a:prstGeom prst="rect">
            <a:avLst/>
          </a:prstGeom>
        </p:spPr>
      </p:pic>
      <p:sp>
        <p:nvSpPr>
          <p:cNvPr id="21" name="Text 12"/>
          <p:cNvSpPr txBox="1"/>
          <p:nvPr/>
        </p:nvSpPr>
        <p:spPr>
          <a:xfrm>
            <a:off x="1051560" y="5056632"/>
            <a:ext cx="4617720" cy="457200"/>
          </a:xfrm>
          <a:prstGeom prst="rect">
            <a:avLst/>
          </a:prstGeom>
          <a:noFill/>
          <a:ln/>
        </p:spPr>
        <p:txBody>
          <a:bodyPr wrap="square" lIns="0" tIns="0" rIns="0" bIns="0" rtlCol="0" anchor="ctr"/>
          <a:lstStyle/>
          <a:p>
            <a:pPr indent="0" marL="0">
              <a:lnSpc>
                <a:spcPts val="1350"/>
              </a:lnSpc>
              <a:buNone/>
            </a:pPr>
            <a:r>
              <a:rPr lang="en-US" sz="1100" dirty="0">
                <a:solidFill>
                  <a:srgbClr val="5B4A41"/>
                </a:solidFill>
                <a:latin typeface="Calibri" pitchFamily="34" charset="0"/>
                <a:ea typeface="Calibri" pitchFamily="34" charset="-122"/>
                <a:cs typeface="Calibri" pitchFamily="34" charset="-120"/>
              </a:rPr>
              <a:t>Panel de administración con atribución de marketing UTM (Google Maps vs Instagram).</a:t>
            </a:r>
            <a:endParaRPr lang="en-US" sz="1100" dirty="0"/>
          </a:p>
        </p:txBody>
      </p:sp>
      <p:pic>
        <p:nvPicPr>
          <p:cNvPr id="22" name="Image 7" descr="/home/claude/icons/check.png">    </p:cNvPr>
          <p:cNvPicPr>
            <a:picLocks noChangeAspect="1"/>
          </p:cNvPicPr>
          <p:nvPr/>
        </p:nvPicPr>
        <p:blipFill>
          <a:blip r:embed="rId8"/>
          <a:stretch>
            <a:fillRect/>
          </a:stretch>
        </p:blipFill>
        <p:spPr>
          <a:xfrm>
            <a:off x="749808" y="5605272"/>
            <a:ext cx="201168" cy="201168"/>
          </a:xfrm>
          <a:prstGeom prst="rect">
            <a:avLst/>
          </a:prstGeom>
        </p:spPr>
      </p:pic>
      <p:sp>
        <p:nvSpPr>
          <p:cNvPr id="23" name="Text 13"/>
          <p:cNvSpPr txBox="1"/>
          <p:nvPr/>
        </p:nvSpPr>
        <p:spPr>
          <a:xfrm>
            <a:off x="1051560" y="5541264"/>
            <a:ext cx="4617720" cy="457200"/>
          </a:xfrm>
          <a:prstGeom prst="rect">
            <a:avLst/>
          </a:prstGeom>
          <a:noFill/>
          <a:ln/>
        </p:spPr>
        <p:txBody>
          <a:bodyPr wrap="square" lIns="0" tIns="0" rIns="0" bIns="0" rtlCol="0" anchor="ctr"/>
          <a:lstStyle/>
          <a:p>
            <a:pPr indent="0" marL="0">
              <a:lnSpc>
                <a:spcPts val="1350"/>
              </a:lnSpc>
              <a:buNone/>
            </a:pPr>
            <a:r>
              <a:rPr lang="en-US" sz="1100" dirty="0">
                <a:solidFill>
                  <a:srgbClr val="5B4A41"/>
                </a:solidFill>
                <a:latin typeface="Calibri" pitchFamily="34" charset="0"/>
                <a:ea typeface="Calibri" pitchFamily="34" charset="-122"/>
                <a:cs typeface="Calibri" pitchFamily="34" charset="-120"/>
              </a:rPr>
              <a:t>Prerenderizado SEO con vite-ssg y esquemas estructurados Schema.org.</a:t>
            </a:r>
            <a:endParaRPr lang="en-US" sz="1100" dirty="0"/>
          </a:p>
        </p:txBody>
      </p:sp>
      <p:sp>
        <p:nvSpPr>
          <p:cNvPr id="24" name="Shape 14"/>
          <p:cNvSpPr/>
          <p:nvPr/>
        </p:nvSpPr>
        <p:spPr>
          <a:xfrm>
            <a:off x="6263640" y="1600200"/>
            <a:ext cx="5349240" cy="4617720"/>
          </a:xfrm>
          <a:prstGeom prst="roundRect">
            <a:avLst>
              <a:gd name="adj" fmla="val 1386"/>
            </a:avLst>
          </a:prstGeom>
          <a:solidFill>
            <a:srgbClr val="F1ECE8"/>
          </a:solidFill>
          <a:ln w="12700"/>
        </p:spPr>
      </p:sp>
      <p:sp>
        <p:nvSpPr>
          <p:cNvPr id="25" name="Shape 15"/>
          <p:cNvSpPr/>
          <p:nvPr/>
        </p:nvSpPr>
        <p:spPr>
          <a:xfrm>
            <a:off x="6263640" y="1600200"/>
            <a:ext cx="5349240" cy="457200"/>
          </a:xfrm>
          <a:prstGeom prst="roundRect">
            <a:avLst>
              <a:gd name="adj" fmla="val 12000"/>
            </a:avLst>
          </a:prstGeom>
          <a:solidFill>
            <a:srgbClr val="8A776D"/>
          </a:solidFill>
          <a:ln/>
        </p:spPr>
      </p:sp>
      <p:sp>
        <p:nvSpPr>
          <p:cNvPr id="26" name="Shape 16"/>
          <p:cNvSpPr/>
          <p:nvPr/>
        </p:nvSpPr>
        <p:spPr>
          <a:xfrm>
            <a:off x="6263640" y="1828800"/>
            <a:ext cx="5349240" cy="228600"/>
          </a:xfrm>
          <a:prstGeom prst="rect">
            <a:avLst/>
          </a:prstGeom>
          <a:solidFill>
            <a:srgbClr val="8A776D"/>
          </a:solidFill>
          <a:ln/>
        </p:spPr>
      </p:sp>
      <p:sp>
        <p:nvSpPr>
          <p:cNvPr id="27" name="Text 17"/>
          <p:cNvSpPr txBox="1"/>
          <p:nvPr/>
        </p:nvSpPr>
        <p:spPr>
          <a:xfrm>
            <a:off x="6492240" y="1600200"/>
            <a:ext cx="4892040" cy="45720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FUERA DEL ALCANCE (OUT-OF-SCOPE) — POSTERGADO</a:t>
            </a:r>
            <a:endParaRPr lang="en-US" sz="1350" dirty="0"/>
          </a:p>
        </p:txBody>
      </p:sp>
      <p:pic>
        <p:nvPicPr>
          <p:cNvPr id="28" name="Image 8" descr="/home/claude/icons/times.png">    </p:cNvPr>
          <p:cNvPicPr>
            <a:picLocks noChangeAspect="1"/>
          </p:cNvPicPr>
          <p:nvPr/>
        </p:nvPicPr>
        <p:blipFill>
          <a:blip r:embed="rId9"/>
          <a:stretch>
            <a:fillRect/>
          </a:stretch>
        </p:blipFill>
        <p:spPr>
          <a:xfrm>
            <a:off x="6464808" y="2212848"/>
            <a:ext cx="201168" cy="201168"/>
          </a:xfrm>
          <a:prstGeom prst="rect">
            <a:avLst/>
          </a:prstGeom>
        </p:spPr>
      </p:pic>
      <p:sp>
        <p:nvSpPr>
          <p:cNvPr id="29" name="Text 18"/>
          <p:cNvSpPr txBox="1"/>
          <p:nvPr/>
        </p:nvSpPr>
        <p:spPr>
          <a:xfrm>
            <a:off x="6766560" y="2148840"/>
            <a:ext cx="4617720" cy="548640"/>
          </a:xfrm>
          <a:prstGeom prst="rect">
            <a:avLst/>
          </a:prstGeom>
          <a:noFill/>
          <a:ln/>
        </p:spPr>
        <p:txBody>
          <a:bodyPr wrap="square" lIns="0" tIns="0" rIns="0" bIns="0" rtlCol="0" anchor="ctr"/>
          <a:lstStyle/>
          <a:p>
            <a:pPr indent="0" marL="0">
              <a:lnSpc>
                <a:spcPts val="1350"/>
              </a:lnSpc>
              <a:buNone/>
            </a:pPr>
            <a:r>
              <a:rPr lang="en-US" sz="1100" dirty="0">
                <a:solidFill>
                  <a:srgbClr val="8A776D"/>
                </a:solidFill>
                <a:latin typeface="Calibri" pitchFamily="34" charset="0"/>
                <a:ea typeface="Calibri" pitchFamily="34" charset="-122"/>
                <a:cs typeface="Calibri" pitchFamily="34" charset="-120"/>
              </a:rPr>
              <a:t>Facturación electrónica oficial ante el SAT (CFDI 4.0) — Planificada para Fase 2.</a:t>
            </a:r>
            <a:endParaRPr lang="en-US" sz="1100" dirty="0"/>
          </a:p>
        </p:txBody>
      </p:sp>
      <p:pic>
        <p:nvPicPr>
          <p:cNvPr id="30" name="Image 9" descr="/home/claude/icons/times.png">    </p:cNvPr>
          <p:cNvPicPr>
            <a:picLocks noChangeAspect="1"/>
          </p:cNvPicPr>
          <p:nvPr/>
        </p:nvPicPr>
        <p:blipFill>
          <a:blip r:embed="rId10"/>
          <a:stretch>
            <a:fillRect/>
          </a:stretch>
        </p:blipFill>
        <p:spPr>
          <a:xfrm>
            <a:off x="6464808" y="2834640"/>
            <a:ext cx="201168" cy="201168"/>
          </a:xfrm>
          <a:prstGeom prst="rect">
            <a:avLst/>
          </a:prstGeom>
        </p:spPr>
      </p:pic>
      <p:sp>
        <p:nvSpPr>
          <p:cNvPr id="31" name="Text 19"/>
          <p:cNvSpPr txBox="1"/>
          <p:nvPr/>
        </p:nvSpPr>
        <p:spPr>
          <a:xfrm>
            <a:off x="6766560" y="2770632"/>
            <a:ext cx="4617720" cy="548640"/>
          </a:xfrm>
          <a:prstGeom prst="rect">
            <a:avLst/>
          </a:prstGeom>
          <a:noFill/>
          <a:ln/>
        </p:spPr>
        <p:txBody>
          <a:bodyPr wrap="square" lIns="0" tIns="0" rIns="0" bIns="0" rtlCol="0" anchor="ctr"/>
          <a:lstStyle/>
          <a:p>
            <a:pPr indent="0" marL="0">
              <a:lnSpc>
                <a:spcPts val="1350"/>
              </a:lnSpc>
              <a:buNone/>
            </a:pPr>
            <a:r>
              <a:rPr lang="en-US" sz="1100" dirty="0">
                <a:solidFill>
                  <a:srgbClr val="8A776D"/>
                </a:solidFill>
                <a:latin typeface="Calibri" pitchFamily="34" charset="0"/>
                <a:ea typeface="Calibri" pitchFamily="34" charset="-122"/>
                <a:cs typeface="Calibri" pitchFamily="34" charset="-120"/>
              </a:rPr>
              <a:t>Desarrollo de aplicaciones móviles nativas iOS/Android (se opera como PWA/Web responsive).</a:t>
            </a:r>
            <a:endParaRPr lang="en-US" sz="1100" dirty="0"/>
          </a:p>
        </p:txBody>
      </p:sp>
      <p:pic>
        <p:nvPicPr>
          <p:cNvPr id="32" name="Image 10" descr="/home/claude/icons/times.png">    </p:cNvPr>
          <p:cNvPicPr>
            <a:picLocks noChangeAspect="1"/>
          </p:cNvPicPr>
          <p:nvPr/>
        </p:nvPicPr>
        <p:blipFill>
          <a:blip r:embed="rId11"/>
          <a:stretch>
            <a:fillRect/>
          </a:stretch>
        </p:blipFill>
        <p:spPr>
          <a:xfrm>
            <a:off x="6464808" y="3456432"/>
            <a:ext cx="201168" cy="201168"/>
          </a:xfrm>
          <a:prstGeom prst="rect">
            <a:avLst/>
          </a:prstGeom>
        </p:spPr>
      </p:pic>
      <p:sp>
        <p:nvSpPr>
          <p:cNvPr id="33" name="Text 20"/>
          <p:cNvSpPr txBox="1"/>
          <p:nvPr/>
        </p:nvSpPr>
        <p:spPr>
          <a:xfrm>
            <a:off x="6766560" y="3392424"/>
            <a:ext cx="4617720" cy="548640"/>
          </a:xfrm>
          <a:prstGeom prst="rect">
            <a:avLst/>
          </a:prstGeom>
          <a:noFill/>
          <a:ln/>
        </p:spPr>
        <p:txBody>
          <a:bodyPr wrap="square" lIns="0" tIns="0" rIns="0" bIns="0" rtlCol="0" anchor="ctr"/>
          <a:lstStyle/>
          <a:p>
            <a:pPr indent="0" marL="0">
              <a:lnSpc>
                <a:spcPts val="1350"/>
              </a:lnSpc>
              <a:buNone/>
            </a:pPr>
            <a:r>
              <a:rPr lang="en-US" sz="1100" dirty="0">
                <a:solidFill>
                  <a:srgbClr val="8A776D"/>
                </a:solidFill>
                <a:latin typeface="Calibri" pitchFamily="34" charset="0"/>
                <a:ea typeface="Calibri" pitchFamily="34" charset="-122"/>
                <a:cs typeface="Calibri" pitchFamily="34" charset="-120"/>
              </a:rPr>
              <a:t>Integración con flotillas de reparto de terceros tipo Uber Eats / Rappi.</a:t>
            </a:r>
            <a:endParaRPr lang="en-US" sz="1100" dirty="0"/>
          </a:p>
        </p:txBody>
      </p:sp>
      <p:pic>
        <p:nvPicPr>
          <p:cNvPr id="34" name="Image 11" descr="/home/claude/icons/times.png">    </p:cNvPr>
          <p:cNvPicPr>
            <a:picLocks noChangeAspect="1"/>
          </p:cNvPicPr>
          <p:nvPr/>
        </p:nvPicPr>
        <p:blipFill>
          <a:blip r:embed="rId12"/>
          <a:stretch>
            <a:fillRect/>
          </a:stretch>
        </p:blipFill>
        <p:spPr>
          <a:xfrm>
            <a:off x="6464808" y="4078224"/>
            <a:ext cx="201168" cy="201168"/>
          </a:xfrm>
          <a:prstGeom prst="rect">
            <a:avLst/>
          </a:prstGeom>
        </p:spPr>
      </p:pic>
      <p:sp>
        <p:nvSpPr>
          <p:cNvPr id="35" name="Text 21"/>
          <p:cNvSpPr txBox="1"/>
          <p:nvPr/>
        </p:nvSpPr>
        <p:spPr>
          <a:xfrm>
            <a:off x="6766560" y="4014216"/>
            <a:ext cx="4617720" cy="548640"/>
          </a:xfrm>
          <a:prstGeom prst="rect">
            <a:avLst/>
          </a:prstGeom>
          <a:noFill/>
          <a:ln/>
        </p:spPr>
        <p:txBody>
          <a:bodyPr wrap="square" lIns="0" tIns="0" rIns="0" bIns="0" rtlCol="0" anchor="ctr"/>
          <a:lstStyle/>
          <a:p>
            <a:pPr indent="0" marL="0">
              <a:lnSpc>
                <a:spcPts val="1350"/>
              </a:lnSpc>
              <a:buNone/>
            </a:pPr>
            <a:r>
              <a:rPr lang="en-US" sz="1100" dirty="0">
                <a:solidFill>
                  <a:srgbClr val="8A776D"/>
                </a:solidFill>
                <a:latin typeface="Calibri" pitchFamily="34" charset="0"/>
                <a:ea typeface="Calibri" pitchFamily="34" charset="-122"/>
                <a:cs typeface="Calibri" pitchFamily="34" charset="-120"/>
              </a:rPr>
              <a:t>Hardware POS propietario bespoke (se utiliza tablet comercial estándar de 10.5").</a:t>
            </a:r>
            <a:endParaRPr lang="en-US" sz="1100" dirty="0"/>
          </a:p>
        </p:txBody>
      </p:sp>
      <p:pic>
        <p:nvPicPr>
          <p:cNvPr id="36" name="Image 12" descr="/home/claude/icons/times.png">    </p:cNvPr>
          <p:cNvPicPr>
            <a:picLocks noChangeAspect="1"/>
          </p:cNvPicPr>
          <p:nvPr/>
        </p:nvPicPr>
        <p:blipFill>
          <a:blip r:embed="rId13"/>
          <a:stretch>
            <a:fillRect/>
          </a:stretch>
        </p:blipFill>
        <p:spPr>
          <a:xfrm>
            <a:off x="6464808" y="4700016"/>
            <a:ext cx="201168" cy="201168"/>
          </a:xfrm>
          <a:prstGeom prst="rect">
            <a:avLst/>
          </a:prstGeom>
        </p:spPr>
      </p:pic>
      <p:sp>
        <p:nvSpPr>
          <p:cNvPr id="37" name="Text 22"/>
          <p:cNvSpPr txBox="1"/>
          <p:nvPr/>
        </p:nvSpPr>
        <p:spPr>
          <a:xfrm>
            <a:off x="6766560" y="4636008"/>
            <a:ext cx="4617720" cy="548640"/>
          </a:xfrm>
          <a:prstGeom prst="rect">
            <a:avLst/>
          </a:prstGeom>
          <a:noFill/>
          <a:ln/>
        </p:spPr>
        <p:txBody>
          <a:bodyPr wrap="square" lIns="0" tIns="0" rIns="0" bIns="0" rtlCol="0" anchor="ctr"/>
          <a:lstStyle/>
          <a:p>
            <a:pPr indent="0" marL="0">
              <a:lnSpc>
                <a:spcPts val="1350"/>
              </a:lnSpc>
              <a:buNone/>
            </a:pPr>
            <a:r>
              <a:rPr lang="en-US" sz="1100" dirty="0">
                <a:solidFill>
                  <a:srgbClr val="8A776D"/>
                </a:solidFill>
                <a:latin typeface="Calibri" pitchFamily="34" charset="0"/>
                <a:ea typeface="Calibri" pitchFamily="34" charset="-122"/>
                <a:cs typeface="Calibri" pitchFamily="34" charset="-120"/>
              </a:rPr>
              <a:t>Sensores IoT integrados en tolvas de molienda en tiempo real.</a:t>
            </a:r>
            <a:endParaRPr lang="en-US" sz="1100" dirty="0"/>
          </a:p>
        </p:txBody>
      </p:sp>
      <p:pic>
        <p:nvPicPr>
          <p:cNvPr id="38" name="Image 13" descr="/home/claude/icons/times.png">    </p:cNvPr>
          <p:cNvPicPr>
            <a:picLocks noChangeAspect="1"/>
          </p:cNvPicPr>
          <p:nvPr/>
        </p:nvPicPr>
        <p:blipFill>
          <a:blip r:embed="rId14"/>
          <a:stretch>
            <a:fillRect/>
          </a:stretch>
        </p:blipFill>
        <p:spPr>
          <a:xfrm>
            <a:off x="6464808" y="5321808"/>
            <a:ext cx="201168" cy="201168"/>
          </a:xfrm>
          <a:prstGeom prst="rect">
            <a:avLst/>
          </a:prstGeom>
        </p:spPr>
      </p:pic>
      <p:sp>
        <p:nvSpPr>
          <p:cNvPr id="39" name="Text 23"/>
          <p:cNvSpPr txBox="1"/>
          <p:nvPr/>
        </p:nvSpPr>
        <p:spPr>
          <a:xfrm>
            <a:off x="6766560" y="5257800"/>
            <a:ext cx="4617720" cy="548640"/>
          </a:xfrm>
          <a:prstGeom prst="rect">
            <a:avLst/>
          </a:prstGeom>
          <a:noFill/>
          <a:ln/>
        </p:spPr>
        <p:txBody>
          <a:bodyPr wrap="square" lIns="0" tIns="0" rIns="0" bIns="0" rtlCol="0" anchor="ctr"/>
          <a:lstStyle/>
          <a:p>
            <a:pPr indent="0" marL="0">
              <a:lnSpc>
                <a:spcPts val="1350"/>
              </a:lnSpc>
              <a:buNone/>
            </a:pPr>
            <a:r>
              <a:rPr lang="en-US" sz="1100" dirty="0">
                <a:solidFill>
                  <a:srgbClr val="8A776D"/>
                </a:solidFill>
                <a:latin typeface="Calibri" pitchFamily="34" charset="0"/>
                <a:ea typeface="Calibri" pitchFamily="34" charset="-122"/>
                <a:cs typeface="Calibri" pitchFamily="34" charset="-120"/>
              </a:rPr>
              <a:t>Pasarelas de cobro con criptoactivos.</a:t>
            </a:r>
            <a:endParaRPr lang="en-US" sz="1100" dirty="0"/>
          </a:p>
        </p:txBody>
      </p:sp>
      <p:sp>
        <p:nvSpPr>
          <p:cNvPr id="40" name="Text 24"/>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41" name="Text 25"/>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t>3. Posicionamiento: Problema, Oportunidad y Objetivo de Software</a:t>
            </a:r>
            <a:endParaRPr lang="en-US" sz="2500" dirty="0"/>
          </a:p>
        </p:txBody>
      </p:sp>
      <p:sp>
        <p:nvSpPr>
          <p:cNvPr id="4" name="Shape 2"/>
          <p:cNvSpPr/>
          <p:nvPr/>
        </p:nvSpPr>
        <p:spPr>
          <a:xfrm>
            <a:off x="548640" y="1600200"/>
            <a:ext cx="5349240" cy="4617720"/>
          </a:xfrm>
          <a:prstGeom prst="roundRect">
            <a:avLst>
              <a:gd name="adj" fmla="val 1386"/>
            </a:avLst>
          </a:prstGeom>
          <a:solidFill>
            <a:srgbClr val="FDF3EE"/>
          </a:solidFill>
          <a:ln w="12700"/>
        </p:spPr>
      </p:sp>
      <p:sp>
        <p:nvSpPr>
          <p:cNvPr id="5" name="Shape 3"/>
          <p:cNvSpPr/>
          <p:nvPr/>
        </p:nvSpPr>
        <p:spPr>
          <a:xfrm>
            <a:off x="868680" y="1892808"/>
            <a:ext cx="594360" cy="594360"/>
          </a:xfrm>
          <a:prstGeom prst="ellipse">
            <a:avLst/>
          </a:prstGeom>
          <a:solidFill>
            <a:srgbClr val="C97567"/>
          </a:solidFill>
          <a:ln/>
        </p:spPr>
      </p:sp>
      <p:pic>
        <p:nvPicPr>
          <p:cNvPr id="6" name="Image 0" descr="/home/claude/monchis2/icons/warntriangle.png">    </p:cNvPr>
          <p:cNvPicPr>
            <a:picLocks noChangeAspect="1"/>
          </p:cNvPicPr>
          <p:nvPr/>
        </p:nvPicPr>
        <p:blipFill>
          <a:blip r:embed="rId1"/>
          <a:stretch>
            <a:fillRect/>
          </a:stretch>
        </p:blipFill>
        <p:spPr>
          <a:xfrm>
            <a:off x="948919" y="1973047"/>
            <a:ext cx="433883" cy="433883"/>
          </a:xfrm>
          <a:prstGeom prst="rect">
            <a:avLst/>
          </a:prstGeom>
        </p:spPr>
      </p:pic>
      <p:sp>
        <p:nvSpPr>
          <p:cNvPr id="7" name="Text 4"/>
          <p:cNvSpPr txBox="1"/>
          <p:nvPr/>
        </p:nvSpPr>
        <p:spPr>
          <a:xfrm>
            <a:off x="1600200" y="1965960"/>
            <a:ext cx="4069080" cy="457200"/>
          </a:xfrm>
          <a:prstGeom prst="rect">
            <a:avLst/>
          </a:prstGeom>
          <a:noFill/>
          <a:ln/>
        </p:spPr>
        <p:txBody>
          <a:bodyPr wrap="square" lIns="0" tIns="0" rIns="0" bIns="0" rtlCol="0" anchor="ctr"/>
          <a:lstStyle/>
          <a:p>
            <a:pPr indent="0" marL="0">
              <a:buNone/>
            </a:pPr>
            <a:r>
              <a:rPr lang="en-US" sz="1600" b="1" dirty="0">
                <a:solidFill>
                  <a:srgbClr val="4B3B33"/>
                </a:solidFill>
                <a:latin typeface="Cambria" pitchFamily="34" charset="0"/>
                <a:ea typeface="Cambria" pitchFamily="34" charset="-122"/>
                <a:cs typeface="Cambria" pitchFamily="34" charset="-120"/>
              </a:rPr>
              <a:t>Planteamiento del Problema</a:t>
            </a:r>
            <a:endParaRPr lang="en-US" sz="1600" dirty="0"/>
          </a:p>
        </p:txBody>
      </p:sp>
      <p:sp>
        <p:nvSpPr>
          <p:cNvPr id="8" name="Text 5"/>
          <p:cNvSpPr txBox="1"/>
          <p:nvPr/>
        </p:nvSpPr>
        <p:spPr>
          <a:xfrm>
            <a:off x="822960" y="2651760"/>
            <a:ext cx="4800600" cy="822960"/>
          </a:xfrm>
          <a:prstGeom prst="rect">
            <a:avLst/>
          </a:prstGeom>
          <a:noFill/>
          <a:ln/>
        </p:spPr>
        <p:txBody>
          <a:bodyPr wrap="square" lIns="0" tIns="0" rIns="0" bIns="0" rtlCol="0" anchor="ctr"/>
          <a:lstStyle/>
          <a:p>
            <a:pPr indent="0" marL="0">
              <a:lnSpc>
                <a:spcPts val="1450"/>
              </a:lnSpc>
              <a:buNone/>
            </a:pPr>
            <a:r>
              <a:rPr lang="en-US" sz="1100" b="1" dirty="0">
                <a:solidFill>
                  <a:srgbClr val="C97567"/>
                </a:solidFill>
                <a:latin typeface="Calibri" pitchFamily="34" charset="0"/>
                <a:ea typeface="Calibri" pitchFamily="34" charset="-122"/>
                <a:cs typeface="Calibri" pitchFamily="34" charset="-120"/>
              </a:rPr>
              <a:t>●  </a:t>
            </a:r>
            <a:pPr indent="0" marL="0">
              <a:lnSpc>
                <a:spcPts val="1450"/>
              </a:lnSpc>
              <a:buNone/>
            </a:pPr>
            <a:r>
              <a:rPr lang="en-US" sz="1100" b="1" dirty="0">
                <a:solidFill>
                  <a:srgbClr val="4B3B33"/>
                </a:solidFill>
                <a:latin typeface="Calibri" pitchFamily="34" charset="0"/>
                <a:ea typeface="Calibri" pitchFamily="34" charset="-122"/>
                <a:cs typeface="Calibri" pitchFamily="34" charset="-120"/>
              </a:rPr>
              <a:t>Ineficiencia y Errores en Barra: </a:t>
            </a:r>
            <a:pPr indent="0" marL="0">
              <a:lnSpc>
                <a:spcPts val="1450"/>
              </a:lnSpc>
              <a:buNone/>
            </a:pPr>
            <a:r>
              <a:rPr lang="en-US" sz="1100" dirty="0">
                <a:solidFill>
                  <a:srgbClr val="5B4A41"/>
                </a:solidFill>
                <a:latin typeface="Calibri" pitchFamily="34" charset="0"/>
                <a:ea typeface="Calibri" pitchFamily="34" charset="-122"/>
                <a:cs typeface="Calibri" pitchFamily="34" charset="-120"/>
              </a:rPr>
              <a:t>Tiempos de cobro superiores a 2.5 minutos en horas pico y descuadres continuos en arqueo de caja por falta de control de pagos mixtos.</a:t>
            </a:r>
            <a:endParaRPr lang="en-US" sz="1100" dirty="0"/>
          </a:p>
        </p:txBody>
      </p:sp>
      <p:sp>
        <p:nvSpPr>
          <p:cNvPr id="9" name="Text 6"/>
          <p:cNvSpPr txBox="1"/>
          <p:nvPr/>
        </p:nvSpPr>
        <p:spPr>
          <a:xfrm>
            <a:off x="822960" y="3520440"/>
            <a:ext cx="4800600" cy="822960"/>
          </a:xfrm>
          <a:prstGeom prst="rect">
            <a:avLst/>
          </a:prstGeom>
          <a:noFill/>
          <a:ln/>
        </p:spPr>
        <p:txBody>
          <a:bodyPr wrap="square" lIns="0" tIns="0" rIns="0" bIns="0" rtlCol="0" anchor="ctr"/>
          <a:lstStyle/>
          <a:p>
            <a:pPr indent="0" marL="0">
              <a:lnSpc>
                <a:spcPts val="1450"/>
              </a:lnSpc>
              <a:buNone/>
            </a:pPr>
            <a:r>
              <a:rPr lang="en-US" sz="1100" b="1" dirty="0">
                <a:solidFill>
                  <a:srgbClr val="C97567"/>
                </a:solidFill>
                <a:latin typeface="Calibri" pitchFamily="34" charset="0"/>
                <a:ea typeface="Calibri" pitchFamily="34" charset="-122"/>
                <a:cs typeface="Calibri" pitchFamily="34" charset="-120"/>
              </a:rPr>
              <a:t>●  </a:t>
            </a:r>
            <a:pPr indent="0" marL="0">
              <a:lnSpc>
                <a:spcPts val="1450"/>
              </a:lnSpc>
              <a:buNone/>
            </a:pPr>
            <a:r>
              <a:rPr lang="en-US" sz="1100" b="1" dirty="0">
                <a:solidFill>
                  <a:srgbClr val="4B3B33"/>
                </a:solidFill>
                <a:latin typeface="Calibri" pitchFamily="34" charset="0"/>
                <a:ea typeface="Calibri" pitchFamily="34" charset="-122"/>
                <a:cs typeface="Calibri" pitchFamily="34" charset="-120"/>
              </a:rPr>
              <a:t>Pérdida Económica por Mermas: </a:t>
            </a:r>
            <a:pPr indent="0" marL="0">
              <a:lnSpc>
                <a:spcPts val="1450"/>
              </a:lnSpc>
              <a:buNone/>
            </a:pPr>
            <a:r>
              <a:rPr lang="en-US" sz="1100" dirty="0">
                <a:solidFill>
                  <a:srgbClr val="5B4A41"/>
                </a:solidFill>
                <a:latin typeface="Calibri" pitchFamily="34" charset="0"/>
                <a:ea typeface="Calibri" pitchFamily="34" charset="-122"/>
                <a:cs typeface="Calibri" pitchFamily="34" charset="-120"/>
              </a:rPr>
              <a:t>El café de especialidad pierde frescura a los 21-30 días; sin trazabilidad PEPS automatizada, se generan mermas de insumos de alto costo.</a:t>
            </a:r>
            <a:endParaRPr lang="en-US" sz="1100" dirty="0"/>
          </a:p>
        </p:txBody>
      </p:sp>
      <p:sp>
        <p:nvSpPr>
          <p:cNvPr id="10" name="Text 7"/>
          <p:cNvSpPr txBox="1"/>
          <p:nvPr/>
        </p:nvSpPr>
        <p:spPr>
          <a:xfrm>
            <a:off x="822960" y="4389120"/>
            <a:ext cx="4800600" cy="822960"/>
          </a:xfrm>
          <a:prstGeom prst="rect">
            <a:avLst/>
          </a:prstGeom>
          <a:noFill/>
          <a:ln/>
        </p:spPr>
        <p:txBody>
          <a:bodyPr wrap="square" lIns="0" tIns="0" rIns="0" bIns="0" rtlCol="0" anchor="ctr"/>
          <a:lstStyle/>
          <a:p>
            <a:pPr indent="0" marL="0">
              <a:lnSpc>
                <a:spcPts val="1450"/>
              </a:lnSpc>
              <a:buNone/>
            </a:pPr>
            <a:r>
              <a:rPr lang="en-US" sz="1100" b="1" dirty="0">
                <a:solidFill>
                  <a:srgbClr val="C97567"/>
                </a:solidFill>
                <a:latin typeface="Calibri" pitchFamily="34" charset="0"/>
                <a:ea typeface="Calibri" pitchFamily="34" charset="-122"/>
                <a:cs typeface="Calibri" pitchFamily="34" charset="-120"/>
              </a:rPr>
              <a:t>●  </a:t>
            </a:r>
            <a:pPr indent="0" marL="0">
              <a:lnSpc>
                <a:spcPts val="1450"/>
              </a:lnSpc>
              <a:buNone/>
            </a:pPr>
            <a:r>
              <a:rPr lang="en-US" sz="1100" b="1" dirty="0">
                <a:solidFill>
                  <a:srgbClr val="4B3B33"/>
                </a:solidFill>
                <a:latin typeface="Calibri" pitchFamily="34" charset="0"/>
                <a:ea typeface="Calibri" pitchFamily="34" charset="-122"/>
                <a:cs typeface="Calibri" pitchFamily="34" charset="-120"/>
              </a:rPr>
              <a:t>Impacto Ambiental No Mitigado: </a:t>
            </a:r>
            <a:pPr indent="0" marL="0">
              <a:lnSpc>
                <a:spcPts val="1450"/>
              </a:lnSpc>
              <a:buNone/>
            </a:pPr>
            <a:r>
              <a:rPr lang="en-US" sz="1100" dirty="0">
                <a:solidFill>
                  <a:srgbClr val="5B4A41"/>
                </a:solidFill>
                <a:latin typeface="Calibri" pitchFamily="34" charset="0"/>
                <a:ea typeface="Calibri" pitchFamily="34" charset="-122"/>
                <a:cs typeface="Calibri" pitchFamily="34" charset="-120"/>
              </a:rPr>
              <a:t>Uso desmedido de vasos plásticos y cartón plastificado de un solo uso por falta de un sistema digital de incentivos al cliente.</a:t>
            </a:r>
            <a:endParaRPr lang="en-US" sz="1100" dirty="0"/>
          </a:p>
        </p:txBody>
      </p:sp>
      <p:sp>
        <p:nvSpPr>
          <p:cNvPr id="11" name="Text 8"/>
          <p:cNvSpPr txBox="1"/>
          <p:nvPr/>
        </p:nvSpPr>
        <p:spPr>
          <a:xfrm>
            <a:off x="822960" y="5257800"/>
            <a:ext cx="4800600" cy="822960"/>
          </a:xfrm>
          <a:prstGeom prst="rect">
            <a:avLst/>
          </a:prstGeom>
          <a:noFill/>
          <a:ln/>
        </p:spPr>
        <p:txBody>
          <a:bodyPr wrap="square" lIns="0" tIns="0" rIns="0" bIns="0" rtlCol="0" anchor="ctr"/>
          <a:lstStyle/>
          <a:p>
            <a:pPr indent="0" marL="0">
              <a:lnSpc>
                <a:spcPts val="1450"/>
              </a:lnSpc>
              <a:buNone/>
            </a:pPr>
            <a:pPr indent="0" marL="0">
              <a:lnSpc>
                <a:spcPts val="1450"/>
              </a:lnSpc>
              <a:buNone/>
            </a:pPr>
            <a:pPr indent="0" marL="0">
              <a:lnSpc>
                <a:spcPts val="1450"/>
              </a:lnSpc>
              <a:buNone/>
            </a:pPr>
            <a:r>
              <a:rPr b="1" sz="1100">
                <a:solidFill>
                  <a:srgbClr val="C97567"/>
                </a:solidFill>
              </a:rPr>
              <a:t>●  </a:t>
            </a:r>
            <a:r>
              <a:rPr b="1" sz="1100">
                <a:solidFill>
                  <a:srgbClr val="4B3B33"/>
                </a:solidFill>
              </a:rPr>
              <a:t>Opacidad y Desconexión con Productores: </a:t>
            </a:r>
            <a:r>
              <a:rPr b="0" sz="1100">
                <a:solidFill>
                  <a:srgbClr val="5B4A41"/>
                </a:solidFill>
              </a:rPr>
              <a:t>Carencia de herramientas que certifiquen el origen regional de especialidad (Chiapas/Oaxaca) y garanticen comercio justo en cada taza servida.</a:t>
            </a:r>
            <a:endParaRPr lang="en-US" sz="1100" dirty="0"/>
          </a:p>
        </p:txBody>
      </p:sp>
      <p:sp>
        <p:nvSpPr>
          <p:cNvPr id="12" name="Shape 9"/>
          <p:cNvSpPr/>
          <p:nvPr/>
        </p:nvSpPr>
        <p:spPr>
          <a:xfrm>
            <a:off x="6263640" y="1600200"/>
            <a:ext cx="5349240" cy="4617720"/>
          </a:xfrm>
          <a:prstGeom prst="roundRect">
            <a:avLst>
              <a:gd name="adj" fmla="val 1386"/>
            </a:avLst>
          </a:prstGeom>
          <a:solidFill>
            <a:srgbClr val="EEF1E9"/>
          </a:solidFill>
          <a:ln w="12700"/>
        </p:spPr>
      </p:sp>
      <p:sp>
        <p:nvSpPr>
          <p:cNvPr id="13" name="Shape 10"/>
          <p:cNvSpPr/>
          <p:nvPr/>
        </p:nvSpPr>
        <p:spPr>
          <a:xfrm>
            <a:off x="6583680" y="1892808"/>
            <a:ext cx="594360" cy="594360"/>
          </a:xfrm>
          <a:prstGeom prst="ellipse">
            <a:avLst/>
          </a:prstGeom>
          <a:solidFill>
            <a:srgbClr val="7C9473"/>
          </a:solidFill>
          <a:ln/>
        </p:spPr>
      </p:sp>
      <p:pic>
        <p:nvPicPr>
          <p:cNvPr id="14" name="Image 1" descr="/home/claude/monchis2/icons/lightbulb.png">    </p:cNvPr>
          <p:cNvPicPr>
            <a:picLocks noChangeAspect="1"/>
          </p:cNvPicPr>
          <p:nvPr/>
        </p:nvPicPr>
        <p:blipFill>
          <a:blip r:embed="rId2"/>
          <a:stretch>
            <a:fillRect/>
          </a:stretch>
        </p:blipFill>
        <p:spPr>
          <a:xfrm>
            <a:off x="6663919" y="1973047"/>
            <a:ext cx="433883" cy="433883"/>
          </a:xfrm>
          <a:prstGeom prst="rect">
            <a:avLst/>
          </a:prstGeom>
        </p:spPr>
      </p:pic>
      <p:sp>
        <p:nvSpPr>
          <p:cNvPr id="15" name="Text 11"/>
          <p:cNvSpPr txBox="1"/>
          <p:nvPr/>
        </p:nvSpPr>
        <p:spPr>
          <a:xfrm>
            <a:off x="7315200" y="1965960"/>
            <a:ext cx="4069080" cy="457200"/>
          </a:xfrm>
          <a:prstGeom prst="rect">
            <a:avLst/>
          </a:prstGeom>
          <a:noFill/>
          <a:ln/>
        </p:spPr>
        <p:txBody>
          <a:bodyPr wrap="square" lIns="0" tIns="0" rIns="0" bIns="0" rtlCol="0" anchor="ctr"/>
          <a:lstStyle/>
          <a:p>
            <a:pPr indent="0" marL="0">
              <a:buNone/>
            </a:pPr>
            <a:r>
              <a:rPr lang="en-US" sz="1600" b="1" dirty="0">
                <a:solidFill>
                  <a:srgbClr val="4B3B33"/>
                </a:solidFill>
                <a:latin typeface="Cambria" pitchFamily="34" charset="0"/>
                <a:ea typeface="Cambria" pitchFamily="34" charset="-122"/>
                <a:cs typeface="Cambria" pitchFamily="34" charset="-120"/>
              </a:rPr>
              <a:t>Oportunidad de Negocio y Propuesta de Valor</a:t>
            </a:r>
            <a:endParaRPr lang="en-US" sz="1600" dirty="0"/>
          </a:p>
        </p:txBody>
      </p:sp>
      <p:sp>
        <p:nvSpPr>
          <p:cNvPr id="16" name="Text 12"/>
          <p:cNvSpPr txBox="1"/>
          <p:nvPr/>
        </p:nvSpPr>
        <p:spPr>
          <a:xfrm>
            <a:off x="6537960" y="2651760"/>
            <a:ext cx="4800600" cy="822960"/>
          </a:xfrm>
          <a:prstGeom prst="rect">
            <a:avLst/>
          </a:prstGeom>
          <a:noFill/>
          <a:ln/>
        </p:spPr>
        <p:txBody>
          <a:bodyPr wrap="square" lIns="0" tIns="0" rIns="0" bIns="0" rtlCol="0" anchor="ctr"/>
          <a:lstStyle/>
          <a:p>
            <a:pPr indent="0" marL="0">
              <a:lnSpc>
                <a:spcPts val="1450"/>
              </a:lnSpc>
              <a:buNone/>
            </a:pPr>
            <a:r>
              <a:rPr lang="en-US" sz="1100" b="1" dirty="0">
                <a:solidFill>
                  <a:srgbClr val="5F7355"/>
                </a:solidFill>
                <a:latin typeface="Calibri" pitchFamily="34" charset="0"/>
                <a:ea typeface="Calibri" pitchFamily="34" charset="-122"/>
                <a:cs typeface="Calibri" pitchFamily="34" charset="-120"/>
              </a:rPr>
              <a:t>●  </a:t>
            </a:r>
            <a:pPr indent="0" marL="0">
              <a:lnSpc>
                <a:spcPts val="1450"/>
              </a:lnSpc>
              <a:buNone/>
            </a:pPr>
            <a:r>
              <a:rPr lang="en-US" sz="1100" b="1" dirty="0">
                <a:solidFill>
                  <a:srgbClr val="4B3B33"/>
                </a:solidFill>
                <a:latin typeface="Calibri" pitchFamily="34" charset="0"/>
                <a:ea typeface="Calibri" pitchFamily="34" charset="-122"/>
                <a:cs typeface="Calibri" pitchFamily="34" charset="-120"/>
              </a:rPr>
              <a:t>Mercado de Café Consciente en Auge: </a:t>
            </a:r>
            <a:pPr indent="0" marL="0">
              <a:lnSpc>
                <a:spcPts val="1450"/>
              </a:lnSpc>
              <a:buNone/>
            </a:pPr>
            <a:r>
              <a:rPr lang="en-US" sz="1100" dirty="0">
                <a:solidFill>
                  <a:srgbClr val="5B4A41"/>
                </a:solidFill>
                <a:latin typeface="Calibri" pitchFamily="34" charset="0"/>
                <a:ea typeface="Calibri" pitchFamily="34" charset="-122"/>
                <a:cs typeface="Calibri" pitchFamily="34" charset="-120"/>
              </a:rPr>
              <a:t>Incremento anual del 18% en la preferencia de consumidores por cafeterías con trazabilidad ética y prácticas ecológicas verificables.</a:t>
            </a:r>
            <a:endParaRPr lang="en-US" sz="1100" dirty="0"/>
          </a:p>
        </p:txBody>
      </p:sp>
      <p:sp>
        <p:nvSpPr>
          <p:cNvPr id="17" name="Text 13"/>
          <p:cNvSpPr txBox="1"/>
          <p:nvPr/>
        </p:nvSpPr>
        <p:spPr>
          <a:xfrm>
            <a:off x="6537960" y="3520440"/>
            <a:ext cx="4800600" cy="822960"/>
          </a:xfrm>
          <a:prstGeom prst="rect">
            <a:avLst/>
          </a:prstGeom>
          <a:noFill/>
          <a:ln/>
        </p:spPr>
        <p:txBody>
          <a:bodyPr wrap="square" lIns="0" tIns="0" rIns="0" bIns="0" rtlCol="0" anchor="ctr"/>
          <a:lstStyle/>
          <a:p>
            <a:pPr indent="0" marL="0">
              <a:lnSpc>
                <a:spcPts val="1450"/>
              </a:lnSpc>
              <a:buNone/>
            </a:pPr>
            <a:r>
              <a:rPr lang="en-US" sz="1100" b="1" dirty="0">
                <a:solidFill>
                  <a:srgbClr val="5F7355"/>
                </a:solidFill>
                <a:latin typeface="Calibri" pitchFamily="34" charset="0"/>
                <a:ea typeface="Calibri" pitchFamily="34" charset="-122"/>
                <a:cs typeface="Calibri" pitchFamily="34" charset="-120"/>
              </a:rPr>
              <a:t>●  </a:t>
            </a:r>
            <a:pPr indent="0" marL="0">
              <a:lnSpc>
                <a:spcPts val="1450"/>
              </a:lnSpc>
              <a:buNone/>
            </a:pPr>
            <a:r>
              <a:rPr lang="en-US" sz="1100" b="1" dirty="0">
                <a:solidFill>
                  <a:srgbClr val="4B3B33"/>
                </a:solidFill>
                <a:latin typeface="Calibri" pitchFamily="34" charset="0"/>
                <a:ea typeface="Calibri" pitchFamily="34" charset="-122"/>
                <a:cs typeface="Calibri" pitchFamily="34" charset="-120"/>
              </a:rPr>
              <a:t>Digitalización Ágil y de Bajo Costo: </a:t>
            </a:r>
            <a:pPr indent="0" marL="0">
              <a:lnSpc>
                <a:spcPts val="1450"/>
              </a:lnSpc>
              <a:buNone/>
            </a:pPr>
            <a:r>
              <a:rPr lang="en-US" sz="1100" dirty="0">
                <a:solidFill>
                  <a:srgbClr val="5B4A41"/>
                </a:solidFill>
                <a:latin typeface="Calibri" pitchFamily="34" charset="0"/>
                <a:ea typeface="Calibri" pitchFamily="34" charset="-122"/>
                <a:cs typeface="Calibri" pitchFamily="34" charset="-120"/>
              </a:rPr>
              <a:t>Sustitución de costosos sistemas POS tradicionales de renta mensual por una solución web moderna, rápida y personalizada.</a:t>
            </a:r>
            <a:endParaRPr lang="en-US" sz="1100" dirty="0"/>
          </a:p>
        </p:txBody>
      </p:sp>
      <p:sp>
        <p:nvSpPr>
          <p:cNvPr id="18" name="Text 14"/>
          <p:cNvSpPr txBox="1"/>
          <p:nvPr/>
        </p:nvSpPr>
        <p:spPr>
          <a:xfrm>
            <a:off x="6537960" y="4389120"/>
            <a:ext cx="4800600" cy="822960"/>
          </a:xfrm>
          <a:prstGeom prst="rect">
            <a:avLst/>
          </a:prstGeom>
          <a:noFill/>
          <a:ln/>
        </p:spPr>
        <p:txBody>
          <a:bodyPr wrap="square" lIns="0" tIns="0" rIns="0" bIns="0" rtlCol="0" anchor="ctr"/>
          <a:lstStyle/>
          <a:p>
            <a:pPr indent="0" marL="0">
              <a:lnSpc>
                <a:spcPts val="1450"/>
              </a:lnSpc>
              <a:buNone/>
            </a:pPr>
            <a:r>
              <a:rPr lang="en-US" sz="1100" b="1" dirty="0">
                <a:solidFill>
                  <a:srgbClr val="5F7355"/>
                </a:solidFill>
                <a:latin typeface="Calibri" pitchFamily="34" charset="0"/>
                <a:ea typeface="Calibri" pitchFamily="34" charset="-122"/>
                <a:cs typeface="Calibri" pitchFamily="34" charset="-120"/>
              </a:rPr>
              <a:t>●  </a:t>
            </a:r>
            <a:pPr indent="0" marL="0">
              <a:lnSpc>
                <a:spcPts val="1450"/>
              </a:lnSpc>
              <a:buNone/>
            </a:pPr>
            <a:r>
              <a:rPr lang="en-US" sz="1100" b="1" dirty="0">
                <a:solidFill>
                  <a:srgbClr val="4B3B33"/>
                </a:solidFill>
                <a:latin typeface="Calibri" pitchFamily="34" charset="0"/>
                <a:ea typeface="Calibri" pitchFamily="34" charset="-122"/>
                <a:cs typeface="Calibri" pitchFamily="34" charset="-120"/>
              </a:rPr>
              <a:t>Fidelización Directa 'Eco-Friendly': </a:t>
            </a:r>
            <a:pPr indent="0" marL="0">
              <a:lnSpc>
                <a:spcPts val="1450"/>
              </a:lnSpc>
              <a:buNone/>
            </a:pPr>
            <a:r>
              <a:rPr lang="en-US" sz="1100" dirty="0">
                <a:solidFill>
                  <a:srgbClr val="5B4A41"/>
                </a:solidFill>
                <a:latin typeface="Calibri" pitchFamily="34" charset="0"/>
                <a:ea typeface="Calibri" pitchFamily="34" charset="-122"/>
                <a:cs typeface="Calibri" pitchFamily="34" charset="-120"/>
              </a:rPr>
              <a:t>Monchis Rewards convierte el hábito de llevar termo en descuentos automáticos y cashback digital, reteniendo al cliente local.</a:t>
            </a:r>
            <a:endParaRPr lang="en-US" sz="1100" dirty="0"/>
          </a:p>
        </p:txBody>
      </p:sp>
      <p:sp>
        <p:nvSpPr>
          <p:cNvPr id="19" name="Text 15"/>
          <p:cNvSpPr txBox="1"/>
          <p:nvPr/>
        </p:nvSpPr>
        <p:spPr>
          <a:xfrm>
            <a:off x="6537960" y="5257800"/>
            <a:ext cx="4800600" cy="822960"/>
          </a:xfrm>
          <a:prstGeom prst="rect">
            <a:avLst/>
          </a:prstGeom>
          <a:noFill/>
          <a:ln/>
        </p:spPr>
        <p:txBody>
          <a:bodyPr wrap="square" lIns="0" tIns="0" rIns="0" bIns="0" rtlCol="0" anchor="ctr"/>
          <a:lstStyle/>
          <a:p>
            <a:pPr indent="0" marL="0">
              <a:lnSpc>
                <a:spcPts val="1450"/>
              </a:lnSpc>
              <a:buNone/>
            </a:pPr>
            <a:pPr indent="0" marL="0">
              <a:lnSpc>
                <a:spcPts val="1450"/>
              </a:lnSpc>
              <a:buNone/>
            </a:pPr>
            <a:pPr indent="0" marL="0">
              <a:lnSpc>
                <a:spcPts val="1450"/>
              </a:lnSpc>
              <a:buNone/>
            </a:pPr>
            <a:r>
              <a:rPr b="1" sz="1100">
                <a:solidFill>
                  <a:srgbClr val="5F7355"/>
                </a:solidFill>
              </a:rPr>
              <a:t>★  </a:t>
            </a:r>
            <a:r>
              <a:rPr b="1" sz="1100">
                <a:solidFill>
                  <a:srgbClr val="4B3B33"/>
                </a:solidFill>
              </a:rPr>
              <a:t>Objetivo Central del Software: </a:t>
            </a:r>
            <a:r>
              <a:rPr b="0" sz="1050">
                <a:solidFill>
                  <a:srgbClr val="5B4A41"/>
                </a:solidFill>
              </a:rPr>
              <a:t>Desarrollar una plataforma resiliente (Vue 3, Next.js, RabbitMQ Saga) que digitalice el POS en &lt;15s, controle PEPS/mermas y conecte al cliente con las fincas de café.</a:t>
            </a:r>
            <a:endParaRPr lang="en-US" sz="1100" dirty="0"/>
          </a:p>
        </p:txBody>
      </p:sp>
      <p:sp>
        <p:nvSpPr>
          <p:cNvPr id="20" name="Text 16"/>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21" name="Text 17"/>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4. Planeación Estratégica: Identidad y Balanced Scorecard</a:t>
            </a:r>
            <a:endParaRPr lang="en-US" sz="2500" dirty="0"/>
          </a:p>
        </p:txBody>
      </p:sp>
      <p:sp>
        <p:nvSpPr>
          <p:cNvPr id="4" name="Shape 2"/>
          <p:cNvSpPr/>
          <p:nvPr/>
        </p:nvSpPr>
        <p:spPr>
          <a:xfrm>
            <a:off x="548640" y="1508760"/>
            <a:ext cx="11091672" cy="1234440"/>
          </a:xfrm>
          <a:prstGeom prst="roundRect">
            <a:avLst>
              <a:gd name="adj" fmla="val 5185"/>
            </a:avLst>
          </a:prstGeom>
          <a:solidFill>
            <a:srgbClr val="FDF3EE"/>
          </a:solidFill>
          <a:ln w="12700"/>
        </p:spPr>
      </p:sp>
      <p:sp>
        <p:nvSpPr>
          <p:cNvPr id="5" name="Shape 3"/>
          <p:cNvSpPr/>
          <p:nvPr/>
        </p:nvSpPr>
        <p:spPr>
          <a:xfrm>
            <a:off x="548640" y="1508760"/>
            <a:ext cx="54864" cy="1234440"/>
          </a:xfrm>
          <a:prstGeom prst="rect">
            <a:avLst/>
          </a:prstGeom>
          <a:solidFill>
            <a:srgbClr val="C97567"/>
          </a:solidFill>
          <a:ln/>
        </p:spPr>
      </p:sp>
      <p:sp>
        <p:nvSpPr>
          <p:cNvPr id="6" name="Text 4"/>
          <p:cNvSpPr txBox="1"/>
          <p:nvPr/>
        </p:nvSpPr>
        <p:spPr>
          <a:xfrm>
            <a:off x="777240" y="1600200"/>
            <a:ext cx="10607040" cy="1051560"/>
          </a:xfrm>
          <a:prstGeom prst="rect">
            <a:avLst/>
          </a:prstGeom>
          <a:noFill/>
          <a:ln/>
        </p:spPr>
        <p:txBody>
          <a:bodyPr wrap="square" lIns="0" tIns="0" rIns="0" bIns="0" rtlCol="0" anchor="ctr"/>
          <a:lstStyle/>
          <a:p>
            <a:pPr indent="0" marL="0">
              <a:lnSpc>
                <a:spcPts val="1600"/>
              </a:lnSpc>
              <a:buNone/>
            </a:pPr>
            <a:r>
              <a:rPr lang="en-US" sz="1200" b="1" i="1" dirty="0">
                <a:solidFill>
                  <a:srgbClr val="4B3B33"/>
                </a:solidFill>
                <a:latin typeface="Calibri" pitchFamily="34" charset="0"/>
                <a:ea typeface="Calibri" pitchFamily="34" charset="-122"/>
                <a:cs typeface="Calibri" pitchFamily="34" charset="-120"/>
              </a:rPr>
              <a:t>Misión:  </a:t>
            </a:r>
            <a:pPr indent="0" marL="0">
              <a:lnSpc>
                <a:spcPts val="1600"/>
              </a:lnSpc>
              <a:buNone/>
            </a:pPr>
            <a:r>
              <a:rPr lang="en-US" sz="1200" i="1" dirty="0">
                <a:solidFill>
                  <a:srgbClr val="5B4A41"/>
                </a:solidFill>
                <a:latin typeface="Calibri" pitchFamily="34" charset="0"/>
                <a:ea typeface="Calibri" pitchFamily="34" charset="-122"/>
                <a:cs typeface="Calibri" pitchFamily="34" charset="-120"/>
              </a:rPr>
              <a:t>Brindar una experiencia gastronómica de café de especialidad superior, apalancada en tecnología limpia que certifique el origen ético del grano y erradique el desperdicio de insumos en beneficio de nuestra comunidad y el medio ambiente.
</a:t>
            </a:r>
            <a:pPr indent="0" marL="0">
              <a:lnSpc>
                <a:spcPts val="1600"/>
              </a:lnSpc>
              <a:buNone/>
            </a:pPr>
            <a:r>
              <a:rPr lang="en-US" sz="1200" b="1" i="1" dirty="0">
                <a:solidFill>
                  <a:srgbClr val="4B3B33"/>
                </a:solidFill>
                <a:latin typeface="Calibri" pitchFamily="34" charset="0"/>
                <a:ea typeface="Calibri" pitchFamily="34" charset="-122"/>
                <a:cs typeface="Calibri" pitchFamily="34" charset="-120"/>
              </a:rPr>
              <a:t>Visión:  </a:t>
            </a:r>
            <a:pPr indent="0" marL="0">
              <a:lnSpc>
                <a:spcPts val="1600"/>
              </a:lnSpc>
              <a:buNone/>
            </a:pPr>
            <a:r>
              <a:rPr lang="en-US" sz="1200" i="1" dirty="0">
                <a:solidFill>
                  <a:srgbClr val="5B4A41"/>
                </a:solidFill>
                <a:latin typeface="Calibri" pitchFamily="34" charset="0"/>
                <a:ea typeface="Calibri" pitchFamily="34" charset="-122"/>
                <a:cs typeface="Calibri" pitchFamily="34" charset="-120"/>
              </a:rPr>
              <a:t>Convertirnos para 2028 en la cadena de cafeterías artesanales líder regional en transformación digital sostenible, siendo un modelo replicable de economía circular y Green IT en el sector restaurantero.</a:t>
            </a:r>
            <a:endParaRPr lang="en-US" sz="1200" dirty="0"/>
          </a:p>
        </p:txBody>
      </p:sp>
      <p:sp>
        <p:nvSpPr>
          <p:cNvPr id="7" name="Text 5"/>
          <p:cNvSpPr txBox="1"/>
          <p:nvPr/>
        </p:nvSpPr>
        <p:spPr>
          <a:xfrm>
            <a:off x="548640" y="2926080"/>
            <a:ext cx="10058400" cy="274320"/>
          </a:xfrm>
          <a:prstGeom prst="rect">
            <a:avLst/>
          </a:prstGeom>
          <a:noFill/>
          <a:ln/>
        </p:spPr>
        <p:txBody>
          <a:bodyPr wrap="square" lIns="0" tIns="0" rIns="0" bIns="0" rtlCol="0" anchor="ctr"/>
          <a:lstStyle/>
          <a:p>
            <a:pPr indent="0" marL="0">
              <a:buNone/>
            </a:pPr>
            <a:r>
              <a:rPr lang="en-US" sz="1100" b="1" spc="100" kern="0" dirty="0">
                <a:solidFill>
                  <a:srgbClr val="C97567"/>
                </a:solidFill>
                <a:latin typeface="Calibri" pitchFamily="34" charset="0"/>
                <a:ea typeface="Calibri" pitchFamily="34" charset="-122"/>
                <a:cs typeface="Calibri" pitchFamily="34" charset="-120"/>
              </a:rPr>
              <a:t>MAPA ESTRATÉGICO DE CUATRO PERSPECTIVAS (BALANCED SCORECARD)</a:t>
            </a:r>
            <a:endParaRPr lang="en-US" sz="1100" dirty="0"/>
          </a:p>
        </p:txBody>
      </p:sp>
      <p:sp>
        <p:nvSpPr>
          <p:cNvPr id="8" name="Shape 6"/>
          <p:cNvSpPr/>
          <p:nvPr/>
        </p:nvSpPr>
        <p:spPr>
          <a:xfrm>
            <a:off x="548640" y="3291840"/>
            <a:ext cx="2651760" cy="2788920"/>
          </a:xfrm>
          <a:prstGeom prst="roundRect">
            <a:avLst>
              <a:gd name="adj" fmla="val 2414"/>
            </a:avLst>
          </a:prstGeom>
          <a:solidFill>
            <a:srgbClr val="FFFFFF"/>
          </a:solidFill>
          <a:ln w="12700"/>
        </p:spPr>
      </p:sp>
      <p:sp>
        <p:nvSpPr>
          <p:cNvPr id="9" name="Shape 7"/>
          <p:cNvSpPr/>
          <p:nvPr/>
        </p:nvSpPr>
        <p:spPr>
          <a:xfrm>
            <a:off x="1554480" y="3520440"/>
            <a:ext cx="640080" cy="640080"/>
          </a:xfrm>
          <a:prstGeom prst="ellipse">
            <a:avLst/>
          </a:prstGeom>
          <a:solidFill>
            <a:srgbClr val="C97567"/>
          </a:solidFill>
          <a:ln/>
        </p:spPr>
      </p:sp>
      <p:pic>
        <p:nvPicPr>
          <p:cNvPr id="10" name="Image 0" descr="/home/claude/icons/chart.png">    </p:cNvPr>
          <p:cNvPicPr>
            <a:picLocks noChangeAspect="1"/>
          </p:cNvPicPr>
          <p:nvPr/>
        </p:nvPicPr>
        <p:blipFill>
          <a:blip r:embed="rId1"/>
          <a:stretch>
            <a:fillRect/>
          </a:stretch>
        </p:blipFill>
        <p:spPr>
          <a:xfrm>
            <a:off x="1640891" y="3606851"/>
            <a:ext cx="467258" cy="467258"/>
          </a:xfrm>
          <a:prstGeom prst="rect">
            <a:avLst/>
          </a:prstGeom>
        </p:spPr>
      </p:pic>
      <p:sp>
        <p:nvSpPr>
          <p:cNvPr id="11" name="Text 8"/>
          <p:cNvSpPr txBox="1"/>
          <p:nvPr/>
        </p:nvSpPr>
        <p:spPr>
          <a:xfrm>
            <a:off x="685800" y="4297680"/>
            <a:ext cx="2377440" cy="502920"/>
          </a:xfrm>
          <a:prstGeom prst="rect">
            <a:avLst/>
          </a:prstGeom>
          <a:noFill/>
          <a:ln/>
        </p:spPr>
        <p:txBody>
          <a:bodyPr wrap="square" lIns="0" tIns="0" rIns="0" bIns="0" rtlCol="0" anchor="ctr"/>
          <a:lstStyle/>
          <a:p>
            <a:pPr algn="ctr" indent="0" marL="0">
              <a:lnSpc>
                <a:spcPts val="1500"/>
              </a:lnSpc>
              <a:buNone/>
            </a:pPr>
            <a:r>
              <a:rPr lang="en-US" sz="1300" b="1" dirty="0">
                <a:solidFill>
                  <a:srgbClr val="4B3B33"/>
                </a:solidFill>
                <a:latin typeface="Cambria" pitchFamily="34" charset="0"/>
                <a:ea typeface="Cambria" pitchFamily="34" charset="-122"/>
                <a:cs typeface="Cambria" pitchFamily="34" charset="-120"/>
              </a:rPr>
              <a:t>Financiera &amp; Sostenible</a:t>
            </a:r>
            <a:endParaRPr lang="en-US" sz="1300" dirty="0"/>
          </a:p>
        </p:txBody>
      </p:sp>
      <p:sp>
        <p:nvSpPr>
          <p:cNvPr id="12" name="Text 9"/>
          <p:cNvSpPr txBox="1"/>
          <p:nvPr/>
        </p:nvSpPr>
        <p:spPr>
          <a:xfrm>
            <a:off x="685800" y="4773168"/>
            <a:ext cx="2377440" cy="228600"/>
          </a:xfrm>
          <a:prstGeom prst="rect">
            <a:avLst/>
          </a:prstGeom>
          <a:noFill/>
          <a:ln/>
        </p:spPr>
        <p:txBody>
          <a:bodyPr wrap="square" lIns="0" tIns="0" rIns="0" bIns="0" rtlCol="0" anchor="ctr"/>
          <a:lstStyle/>
          <a:p>
            <a:pPr algn="ctr" indent="0" marL="0">
              <a:buNone/>
            </a:pPr>
            <a:r>
              <a:rPr lang="en-US" sz="950" i="1" dirty="0">
                <a:solidFill>
                  <a:srgbClr val="C97567"/>
                </a:solidFill>
                <a:latin typeface="Calibri" pitchFamily="34" charset="0"/>
                <a:ea typeface="Calibri" pitchFamily="34" charset="-122"/>
                <a:cs typeface="Calibri" pitchFamily="34" charset="-120"/>
              </a:rPr>
              <a:t>ODS 8 y 12</a:t>
            </a:r>
            <a:endParaRPr lang="en-US" sz="950" dirty="0"/>
          </a:p>
        </p:txBody>
      </p:sp>
      <p:sp>
        <p:nvSpPr>
          <p:cNvPr id="13" name="Text 10"/>
          <p:cNvSpPr txBox="1"/>
          <p:nvPr/>
        </p:nvSpPr>
        <p:spPr>
          <a:xfrm>
            <a:off x="731520" y="5074920"/>
            <a:ext cx="2286000" cy="914400"/>
          </a:xfrm>
          <a:prstGeom prst="rect">
            <a:avLst/>
          </a:prstGeom>
          <a:noFill/>
          <a:ln/>
        </p:spPr>
        <p:txBody>
          <a:bodyPr wrap="square" lIns="0" tIns="0" rIns="0" bIns="0" rtlCol="0" anchor="ctr"/>
          <a:lstStyle/>
          <a:p>
            <a:pPr algn="ctr" indent="0" marL="0">
              <a:lnSpc>
                <a:spcPts val="1250"/>
              </a:lnSpc>
              <a:buNone/>
            </a:pPr>
            <a:r>
              <a:rPr lang="en-US" sz="980" dirty="0">
                <a:solidFill>
                  <a:srgbClr val="5B4A41"/>
                </a:solidFill>
                <a:latin typeface="Calibri" pitchFamily="34" charset="0"/>
                <a:ea typeface="Calibri" pitchFamily="34" charset="-122"/>
                <a:cs typeface="Calibri" pitchFamily="34" charset="-120"/>
              </a:rPr>
              <a:t>Maximizar el margen bruto reduciendo mermas a &lt;1.5% y disminuyendo el costo operativo de empaques desechables.</a:t>
            </a:r>
            <a:endParaRPr lang="en-US" sz="980" dirty="0"/>
          </a:p>
        </p:txBody>
      </p:sp>
      <p:sp>
        <p:nvSpPr>
          <p:cNvPr id="14" name="Shape 11"/>
          <p:cNvSpPr/>
          <p:nvPr/>
        </p:nvSpPr>
        <p:spPr>
          <a:xfrm>
            <a:off x="3364992" y="3291840"/>
            <a:ext cx="2651760" cy="2788920"/>
          </a:xfrm>
          <a:prstGeom prst="roundRect">
            <a:avLst>
              <a:gd name="adj" fmla="val 2414"/>
            </a:avLst>
          </a:prstGeom>
          <a:solidFill>
            <a:srgbClr val="FFFFFF"/>
          </a:solidFill>
          <a:ln w="12700"/>
        </p:spPr>
      </p:sp>
      <p:sp>
        <p:nvSpPr>
          <p:cNvPr id="15" name="Shape 12"/>
          <p:cNvSpPr/>
          <p:nvPr/>
        </p:nvSpPr>
        <p:spPr>
          <a:xfrm>
            <a:off x="4370832" y="3520440"/>
            <a:ext cx="640080" cy="640080"/>
          </a:xfrm>
          <a:prstGeom prst="ellipse">
            <a:avLst/>
          </a:prstGeom>
          <a:solidFill>
            <a:srgbClr val="E08D80"/>
          </a:solidFill>
          <a:ln/>
        </p:spPr>
      </p:sp>
      <p:pic>
        <p:nvPicPr>
          <p:cNvPr id="16" name="Image 1" descr="/home/claude/monchis2/icons/users.png">    </p:cNvPr>
          <p:cNvPicPr>
            <a:picLocks noChangeAspect="1"/>
          </p:cNvPicPr>
          <p:nvPr/>
        </p:nvPicPr>
        <p:blipFill>
          <a:blip r:embed="rId2"/>
          <a:stretch>
            <a:fillRect/>
          </a:stretch>
        </p:blipFill>
        <p:spPr>
          <a:xfrm>
            <a:off x="4457243" y="3606851"/>
            <a:ext cx="467258" cy="467258"/>
          </a:xfrm>
          <a:prstGeom prst="rect">
            <a:avLst/>
          </a:prstGeom>
        </p:spPr>
      </p:pic>
      <p:sp>
        <p:nvSpPr>
          <p:cNvPr id="17" name="Text 13"/>
          <p:cNvSpPr txBox="1"/>
          <p:nvPr/>
        </p:nvSpPr>
        <p:spPr>
          <a:xfrm>
            <a:off x="3502152" y="4297680"/>
            <a:ext cx="2377440" cy="502920"/>
          </a:xfrm>
          <a:prstGeom prst="rect">
            <a:avLst/>
          </a:prstGeom>
          <a:noFill/>
          <a:ln/>
        </p:spPr>
        <p:txBody>
          <a:bodyPr wrap="square" lIns="0" tIns="0" rIns="0" bIns="0" rtlCol="0" anchor="ctr"/>
          <a:lstStyle/>
          <a:p>
            <a:pPr algn="ctr" indent="0" marL="0">
              <a:lnSpc>
                <a:spcPts val="1500"/>
              </a:lnSpc>
              <a:buNone/>
            </a:pPr>
            <a:r>
              <a:rPr lang="en-US" sz="1300" b="1" dirty="0">
                <a:solidFill>
                  <a:srgbClr val="4B3B33"/>
                </a:solidFill>
                <a:latin typeface="Cambria" pitchFamily="34" charset="0"/>
                <a:ea typeface="Cambria" pitchFamily="34" charset="-122"/>
                <a:cs typeface="Cambria" pitchFamily="34" charset="-120"/>
              </a:rPr>
              <a:t>Del Cliente</a:t>
            </a:r>
            <a:endParaRPr lang="en-US" sz="1300" dirty="0"/>
          </a:p>
        </p:txBody>
      </p:sp>
      <p:sp>
        <p:nvSpPr>
          <p:cNvPr id="18" name="Text 14"/>
          <p:cNvSpPr txBox="1"/>
          <p:nvPr/>
        </p:nvSpPr>
        <p:spPr>
          <a:xfrm>
            <a:off x="3502152" y="4773168"/>
            <a:ext cx="2377440" cy="228600"/>
          </a:xfrm>
          <a:prstGeom prst="rect">
            <a:avLst/>
          </a:prstGeom>
          <a:noFill/>
          <a:ln/>
        </p:spPr>
        <p:txBody>
          <a:bodyPr wrap="square" lIns="0" tIns="0" rIns="0" bIns="0" rtlCol="0" anchor="ctr"/>
          <a:lstStyle/>
          <a:p>
            <a:pPr algn="ctr" indent="0" marL="0">
              <a:buNone/>
            </a:pPr>
            <a:r>
              <a:rPr lang="en-US" sz="950" i="1" dirty="0">
                <a:solidFill>
                  <a:srgbClr val="E08D80"/>
                </a:solidFill>
                <a:latin typeface="Calibri" pitchFamily="34" charset="0"/>
                <a:ea typeface="Calibri" pitchFamily="34" charset="-122"/>
                <a:cs typeface="Calibri" pitchFamily="34" charset="-120"/>
              </a:rPr>
              <a:t>ODS 12 y 16</a:t>
            </a:r>
            <a:endParaRPr lang="en-US" sz="950" dirty="0"/>
          </a:p>
        </p:txBody>
      </p:sp>
      <p:sp>
        <p:nvSpPr>
          <p:cNvPr id="19" name="Text 15"/>
          <p:cNvSpPr txBox="1"/>
          <p:nvPr/>
        </p:nvSpPr>
        <p:spPr>
          <a:xfrm>
            <a:off x="3547872" y="5074920"/>
            <a:ext cx="2286000" cy="914400"/>
          </a:xfrm>
          <a:prstGeom prst="rect">
            <a:avLst/>
          </a:prstGeom>
          <a:noFill/>
          <a:ln/>
        </p:spPr>
        <p:txBody>
          <a:bodyPr wrap="square" lIns="0" tIns="0" rIns="0" bIns="0" rtlCol="0" anchor="ctr"/>
          <a:lstStyle/>
          <a:p>
            <a:pPr algn="ctr" indent="0" marL="0">
              <a:lnSpc>
                <a:spcPts val="1250"/>
              </a:lnSpc>
              <a:buNone/>
            </a:pPr>
            <a:r>
              <a:rPr lang="en-US" sz="980" dirty="0">
                <a:solidFill>
                  <a:srgbClr val="5B4A41"/>
                </a:solidFill>
                <a:latin typeface="Calibri" pitchFamily="34" charset="0"/>
                <a:ea typeface="Calibri" pitchFamily="34" charset="-122"/>
                <a:cs typeface="Calibri" pitchFamily="34" charset="-120"/>
              </a:rPr>
              <a:t>Reducir el tiempo de espera en mostrador a &lt;30 segundos y visibilizar la historia de los productores en cada ticket digital.</a:t>
            </a:r>
            <a:endParaRPr lang="en-US" sz="980" dirty="0"/>
          </a:p>
        </p:txBody>
      </p:sp>
      <p:sp>
        <p:nvSpPr>
          <p:cNvPr id="20" name="Shape 16"/>
          <p:cNvSpPr/>
          <p:nvPr/>
        </p:nvSpPr>
        <p:spPr>
          <a:xfrm>
            <a:off x="6181344" y="3291840"/>
            <a:ext cx="2651760" cy="2788920"/>
          </a:xfrm>
          <a:prstGeom prst="roundRect">
            <a:avLst>
              <a:gd name="adj" fmla="val 2414"/>
            </a:avLst>
          </a:prstGeom>
          <a:solidFill>
            <a:srgbClr val="FFFFFF"/>
          </a:solidFill>
          <a:ln w="12700"/>
        </p:spPr>
      </p:sp>
      <p:sp>
        <p:nvSpPr>
          <p:cNvPr id="21" name="Shape 17"/>
          <p:cNvSpPr/>
          <p:nvPr/>
        </p:nvSpPr>
        <p:spPr>
          <a:xfrm>
            <a:off x="7187184" y="3520440"/>
            <a:ext cx="640080" cy="640080"/>
          </a:xfrm>
          <a:prstGeom prst="ellipse">
            <a:avLst/>
          </a:prstGeom>
          <a:solidFill>
            <a:srgbClr val="7C9473"/>
          </a:solidFill>
          <a:ln/>
        </p:spPr>
      </p:sp>
      <p:pic>
        <p:nvPicPr>
          <p:cNvPr id="22" name="Image 2" descr="/home/claude/icons/cogs.png">    </p:cNvPr>
          <p:cNvPicPr>
            <a:picLocks noChangeAspect="1"/>
          </p:cNvPicPr>
          <p:nvPr/>
        </p:nvPicPr>
        <p:blipFill>
          <a:blip r:embed="rId3"/>
          <a:stretch>
            <a:fillRect/>
          </a:stretch>
        </p:blipFill>
        <p:spPr>
          <a:xfrm>
            <a:off x="7273595" y="3606851"/>
            <a:ext cx="467258" cy="467258"/>
          </a:xfrm>
          <a:prstGeom prst="rect">
            <a:avLst/>
          </a:prstGeom>
        </p:spPr>
      </p:pic>
      <p:sp>
        <p:nvSpPr>
          <p:cNvPr id="23" name="Text 18"/>
          <p:cNvSpPr txBox="1"/>
          <p:nvPr/>
        </p:nvSpPr>
        <p:spPr>
          <a:xfrm>
            <a:off x="6318504" y="4297680"/>
            <a:ext cx="2377440" cy="502920"/>
          </a:xfrm>
          <a:prstGeom prst="rect">
            <a:avLst/>
          </a:prstGeom>
          <a:noFill/>
          <a:ln/>
        </p:spPr>
        <p:txBody>
          <a:bodyPr wrap="square" lIns="0" tIns="0" rIns="0" bIns="0" rtlCol="0" anchor="ctr"/>
          <a:lstStyle/>
          <a:p>
            <a:pPr algn="ctr" indent="0" marL="0">
              <a:lnSpc>
                <a:spcPts val="1500"/>
              </a:lnSpc>
              <a:buNone/>
            </a:pPr>
            <a:r>
              <a:rPr lang="en-US" sz="1300" b="1" dirty="0">
                <a:solidFill>
                  <a:srgbClr val="4B3B33"/>
                </a:solidFill>
                <a:latin typeface="Cambria" pitchFamily="34" charset="0"/>
                <a:ea typeface="Cambria" pitchFamily="34" charset="-122"/>
                <a:cs typeface="Cambria" pitchFamily="34" charset="-120"/>
              </a:rPr>
              <a:t>Procesos Internos</a:t>
            </a:r>
            <a:endParaRPr lang="en-US" sz="1300" dirty="0"/>
          </a:p>
        </p:txBody>
      </p:sp>
      <p:sp>
        <p:nvSpPr>
          <p:cNvPr id="24" name="Text 19"/>
          <p:cNvSpPr txBox="1"/>
          <p:nvPr/>
        </p:nvSpPr>
        <p:spPr>
          <a:xfrm>
            <a:off x="6318504" y="4773168"/>
            <a:ext cx="2377440" cy="228600"/>
          </a:xfrm>
          <a:prstGeom prst="rect">
            <a:avLst/>
          </a:prstGeom>
          <a:noFill/>
          <a:ln/>
        </p:spPr>
        <p:txBody>
          <a:bodyPr wrap="square" lIns="0" tIns="0" rIns="0" bIns="0" rtlCol="0" anchor="ctr"/>
          <a:lstStyle/>
          <a:p>
            <a:pPr algn="ctr" indent="0" marL="0">
              <a:buNone/>
            </a:pPr>
            <a:r>
              <a:rPr lang="en-US" sz="950" i="1" dirty="0">
                <a:solidFill>
                  <a:srgbClr val="7C9473"/>
                </a:solidFill>
                <a:latin typeface="Calibri" pitchFamily="34" charset="0"/>
                <a:ea typeface="Calibri" pitchFamily="34" charset="-122"/>
                <a:cs typeface="Calibri" pitchFamily="34" charset="-120"/>
              </a:rPr>
              <a:t>ODS 9 y 16</a:t>
            </a:r>
            <a:endParaRPr lang="en-US" sz="950" dirty="0"/>
          </a:p>
        </p:txBody>
      </p:sp>
      <p:sp>
        <p:nvSpPr>
          <p:cNvPr id="25" name="Text 20"/>
          <p:cNvSpPr txBox="1"/>
          <p:nvPr/>
        </p:nvSpPr>
        <p:spPr>
          <a:xfrm>
            <a:off x="6364224" y="5074920"/>
            <a:ext cx="2286000" cy="914400"/>
          </a:xfrm>
          <a:prstGeom prst="rect">
            <a:avLst/>
          </a:prstGeom>
          <a:noFill/>
          <a:ln/>
        </p:spPr>
        <p:txBody>
          <a:bodyPr wrap="square" lIns="0" tIns="0" rIns="0" bIns="0" rtlCol="0" anchor="ctr"/>
          <a:lstStyle/>
          <a:p>
            <a:pPr algn="ctr" indent="0" marL="0">
              <a:lnSpc>
                <a:spcPts val="1250"/>
              </a:lnSpc>
              <a:buNone/>
            </a:pPr>
            <a:r>
              <a:rPr lang="en-US" sz="980" dirty="0">
                <a:solidFill>
                  <a:srgbClr val="5B4A41"/>
                </a:solidFill>
                <a:latin typeface="Calibri" pitchFamily="34" charset="0"/>
                <a:ea typeface="Calibri" pitchFamily="34" charset="-122"/>
                <a:cs typeface="Calibri" pitchFamily="34" charset="-120"/>
              </a:rPr>
              <a:t>Cero discrepancias contables gracias al Patrón Saga con RabbitMQ y política PEPS automática en el inventario.</a:t>
            </a:r>
            <a:endParaRPr lang="en-US" sz="980" dirty="0"/>
          </a:p>
        </p:txBody>
      </p:sp>
      <p:sp>
        <p:nvSpPr>
          <p:cNvPr id="26" name="Shape 21"/>
          <p:cNvSpPr/>
          <p:nvPr/>
        </p:nvSpPr>
        <p:spPr>
          <a:xfrm>
            <a:off x="8997696" y="3291840"/>
            <a:ext cx="2651760" cy="2788920"/>
          </a:xfrm>
          <a:prstGeom prst="roundRect">
            <a:avLst>
              <a:gd name="adj" fmla="val 2414"/>
            </a:avLst>
          </a:prstGeom>
          <a:solidFill>
            <a:srgbClr val="FFFFFF"/>
          </a:solidFill>
          <a:ln w="12700"/>
        </p:spPr>
      </p:sp>
      <p:sp>
        <p:nvSpPr>
          <p:cNvPr id="27" name="Shape 22"/>
          <p:cNvSpPr/>
          <p:nvPr/>
        </p:nvSpPr>
        <p:spPr>
          <a:xfrm>
            <a:off x="10003536" y="3520440"/>
            <a:ext cx="640080" cy="640080"/>
          </a:xfrm>
          <a:prstGeom prst="ellipse">
            <a:avLst/>
          </a:prstGeom>
          <a:solidFill>
            <a:srgbClr val="5F7355"/>
          </a:solidFill>
          <a:ln/>
        </p:spPr>
      </p:sp>
      <p:pic>
        <p:nvPicPr>
          <p:cNvPr id="28" name="Image 3" descr="/home/claude/monchis2/icons/gradcap.png">    </p:cNvPr>
          <p:cNvPicPr>
            <a:picLocks noChangeAspect="1"/>
          </p:cNvPicPr>
          <p:nvPr/>
        </p:nvPicPr>
        <p:blipFill>
          <a:blip r:embed="rId4"/>
          <a:stretch>
            <a:fillRect/>
          </a:stretch>
        </p:blipFill>
        <p:spPr>
          <a:xfrm>
            <a:off x="10089947" y="3606851"/>
            <a:ext cx="467258" cy="467258"/>
          </a:xfrm>
          <a:prstGeom prst="rect">
            <a:avLst/>
          </a:prstGeom>
        </p:spPr>
      </p:pic>
      <p:sp>
        <p:nvSpPr>
          <p:cNvPr id="29" name="Text 23"/>
          <p:cNvSpPr txBox="1"/>
          <p:nvPr/>
        </p:nvSpPr>
        <p:spPr>
          <a:xfrm>
            <a:off x="9134856" y="4297680"/>
            <a:ext cx="2377440" cy="502920"/>
          </a:xfrm>
          <a:prstGeom prst="rect">
            <a:avLst/>
          </a:prstGeom>
          <a:noFill/>
          <a:ln/>
        </p:spPr>
        <p:txBody>
          <a:bodyPr wrap="square" lIns="0" tIns="0" rIns="0" bIns="0" rtlCol="0" anchor="ctr"/>
          <a:lstStyle/>
          <a:p>
            <a:pPr algn="ctr" indent="0" marL="0">
              <a:lnSpc>
                <a:spcPts val="1500"/>
              </a:lnSpc>
              <a:buNone/>
            </a:pPr>
            <a:r>
              <a:rPr lang="en-US" sz="1300" b="1" dirty="0">
                <a:solidFill>
                  <a:srgbClr val="4B3B33"/>
                </a:solidFill>
                <a:latin typeface="Cambria" pitchFamily="34" charset="0"/>
                <a:ea typeface="Cambria" pitchFamily="34" charset="-122"/>
                <a:cs typeface="Cambria" pitchFamily="34" charset="-120"/>
              </a:rPr>
              <a:t>Aprendizaje y Crecimiento</a:t>
            </a:r>
            <a:endParaRPr lang="en-US" sz="1300" dirty="0"/>
          </a:p>
        </p:txBody>
      </p:sp>
      <p:sp>
        <p:nvSpPr>
          <p:cNvPr id="30" name="Text 24"/>
          <p:cNvSpPr txBox="1"/>
          <p:nvPr/>
        </p:nvSpPr>
        <p:spPr>
          <a:xfrm>
            <a:off x="9134856" y="4773168"/>
            <a:ext cx="2377440" cy="228600"/>
          </a:xfrm>
          <a:prstGeom prst="rect">
            <a:avLst/>
          </a:prstGeom>
          <a:noFill/>
          <a:ln/>
        </p:spPr>
        <p:txBody>
          <a:bodyPr wrap="square" lIns="0" tIns="0" rIns="0" bIns="0" rtlCol="0" anchor="ctr"/>
          <a:lstStyle/>
          <a:p>
            <a:pPr algn="ctr" indent="0" marL="0">
              <a:buNone/>
            </a:pPr>
            <a:r>
              <a:rPr lang="en-US" sz="950" i="1" dirty="0">
                <a:solidFill>
                  <a:srgbClr val="5F7355"/>
                </a:solidFill>
                <a:latin typeface="Calibri" pitchFamily="34" charset="0"/>
                <a:ea typeface="Calibri" pitchFamily="34" charset="-122"/>
                <a:cs typeface="Calibri" pitchFamily="34" charset="-120"/>
              </a:rPr>
              <a:t>ODS 8 y 9</a:t>
            </a:r>
            <a:endParaRPr lang="en-US" sz="950" dirty="0"/>
          </a:p>
        </p:txBody>
      </p:sp>
      <p:sp>
        <p:nvSpPr>
          <p:cNvPr id="31" name="Text 25"/>
          <p:cNvSpPr txBox="1"/>
          <p:nvPr/>
        </p:nvSpPr>
        <p:spPr>
          <a:xfrm>
            <a:off x="9180576" y="5074920"/>
            <a:ext cx="2286000" cy="914400"/>
          </a:xfrm>
          <a:prstGeom prst="rect">
            <a:avLst/>
          </a:prstGeom>
          <a:noFill/>
          <a:ln/>
        </p:spPr>
        <p:txBody>
          <a:bodyPr wrap="square" lIns="0" tIns="0" rIns="0" bIns="0" rtlCol="0" anchor="ctr"/>
          <a:lstStyle/>
          <a:p>
            <a:pPr algn="ctr" indent="0" marL="0">
              <a:lnSpc>
                <a:spcPts val="1250"/>
              </a:lnSpc>
              <a:buNone/>
            </a:pPr>
            <a:r>
              <a:rPr lang="en-US" sz="980" dirty="0">
                <a:solidFill>
                  <a:srgbClr val="5B4A41"/>
                </a:solidFill>
                <a:latin typeface="Calibri" pitchFamily="34" charset="0"/>
                <a:ea typeface="Calibri" pitchFamily="34" charset="-122"/>
                <a:cs typeface="Calibri" pitchFamily="34" charset="-120"/>
              </a:rPr>
              <a:t>Adopción de estándares de ingeniería de software moderna (TDD, Monorepo, CI/CD) y cultura ágil de alta eficiencia.</a:t>
            </a:r>
            <a:endParaRPr lang="en-US" sz="980" dirty="0"/>
          </a:p>
        </p:txBody>
      </p:sp>
      <p:sp>
        <p:nvSpPr>
          <p:cNvPr id="32" name="Text 26"/>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33" name="Text 27"/>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5. Planeación Estratégica: Matriz DOFA (Diagnóstico Interno y Externo)</a:t>
            </a:r>
            <a:endParaRPr lang="en-US" sz="2500" dirty="0"/>
          </a:p>
        </p:txBody>
      </p:sp>
      <p:sp>
        <p:nvSpPr>
          <p:cNvPr id="4" name="Shape 2"/>
          <p:cNvSpPr/>
          <p:nvPr/>
        </p:nvSpPr>
        <p:spPr>
          <a:xfrm>
            <a:off x="548640" y="1600200"/>
            <a:ext cx="5349240" cy="2286000"/>
          </a:xfrm>
          <a:prstGeom prst="roundRect">
            <a:avLst>
              <a:gd name="adj" fmla="val 2400"/>
            </a:avLst>
          </a:prstGeom>
          <a:solidFill>
            <a:srgbClr val="EEF1E9"/>
          </a:solidFill>
          <a:ln w="12700"/>
        </p:spPr>
      </p:sp>
      <p:sp>
        <p:nvSpPr>
          <p:cNvPr id="5" name="Shape 3"/>
          <p:cNvSpPr/>
          <p:nvPr/>
        </p:nvSpPr>
        <p:spPr>
          <a:xfrm>
            <a:off x="548640" y="1600200"/>
            <a:ext cx="5349240" cy="365760"/>
          </a:xfrm>
          <a:prstGeom prst="roundRect">
            <a:avLst>
              <a:gd name="adj" fmla="val 15000"/>
            </a:avLst>
          </a:prstGeom>
          <a:solidFill>
            <a:srgbClr val="7C9473"/>
          </a:solidFill>
          <a:ln/>
        </p:spPr>
      </p:sp>
      <p:sp>
        <p:nvSpPr>
          <p:cNvPr id="6" name="Shape 4"/>
          <p:cNvSpPr/>
          <p:nvPr/>
        </p:nvSpPr>
        <p:spPr>
          <a:xfrm>
            <a:off x="548640" y="1783080"/>
            <a:ext cx="5349240" cy="182880"/>
          </a:xfrm>
          <a:prstGeom prst="rect">
            <a:avLst/>
          </a:prstGeom>
          <a:solidFill>
            <a:srgbClr val="7C9473"/>
          </a:solidFill>
          <a:ln/>
        </p:spPr>
      </p:sp>
      <p:sp>
        <p:nvSpPr>
          <p:cNvPr id="7" name="Text 5"/>
          <p:cNvSpPr txBox="1"/>
          <p:nvPr/>
        </p:nvSpPr>
        <p:spPr>
          <a:xfrm>
            <a:off x="731520" y="1600200"/>
            <a:ext cx="498348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FORTALEZAS (F)</a:t>
            </a:r>
            <a:endParaRPr lang="en-US" sz="1400" dirty="0"/>
          </a:p>
        </p:txBody>
      </p:sp>
      <p:sp>
        <p:nvSpPr>
          <p:cNvPr id="8" name="Text 6"/>
          <p:cNvSpPr txBox="1"/>
          <p:nvPr/>
        </p:nvSpPr>
        <p:spPr>
          <a:xfrm>
            <a:off x="749808" y="2075688"/>
            <a:ext cx="4946904" cy="1645920"/>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F1: Arquitectura desacoplada (Monorepo Turborepo + Vue 3 + Next.js).</a:t>
            </a:r>
            <a:endParaRPr lang="en-US" sz="1050" dirty="0"/>
          </a:p>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F2: Resiliencia transaccional con Patrón Saga y colas RabbitMQ.</a:t>
            </a:r>
            <a:endParaRPr lang="en-US" sz="1050" dirty="0"/>
          </a:p>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F3: Propuesta ODS diferenciada (trazabilidad y bono ecológico).</a:t>
            </a:r>
            <a:endParaRPr lang="en-US" sz="1050" dirty="0"/>
          </a:p>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F4: Ciberseguridad por diseño (autenticación stateless JWT + reCAPTCHA).</a:t>
            </a:r>
            <a:endParaRPr lang="en-US" sz="1050" dirty="0"/>
          </a:p>
        </p:txBody>
      </p:sp>
      <p:sp>
        <p:nvSpPr>
          <p:cNvPr id="9" name="Shape 7"/>
          <p:cNvSpPr/>
          <p:nvPr/>
        </p:nvSpPr>
        <p:spPr>
          <a:xfrm>
            <a:off x="6263640" y="1600200"/>
            <a:ext cx="5349240" cy="2286000"/>
          </a:xfrm>
          <a:prstGeom prst="roundRect">
            <a:avLst>
              <a:gd name="adj" fmla="val 2400"/>
            </a:avLst>
          </a:prstGeom>
          <a:solidFill>
            <a:srgbClr val="F3D9D3"/>
          </a:solidFill>
          <a:ln w="12700"/>
        </p:spPr>
      </p:sp>
      <p:sp>
        <p:nvSpPr>
          <p:cNvPr id="10" name="Shape 8"/>
          <p:cNvSpPr/>
          <p:nvPr/>
        </p:nvSpPr>
        <p:spPr>
          <a:xfrm>
            <a:off x="6263640" y="1600200"/>
            <a:ext cx="5349240" cy="365760"/>
          </a:xfrm>
          <a:prstGeom prst="roundRect">
            <a:avLst>
              <a:gd name="adj" fmla="val 15000"/>
            </a:avLst>
          </a:prstGeom>
          <a:solidFill>
            <a:srgbClr val="E08D80"/>
          </a:solidFill>
          <a:ln/>
        </p:spPr>
      </p:sp>
      <p:sp>
        <p:nvSpPr>
          <p:cNvPr id="11" name="Shape 9"/>
          <p:cNvSpPr/>
          <p:nvPr/>
        </p:nvSpPr>
        <p:spPr>
          <a:xfrm>
            <a:off x="6263640" y="1783080"/>
            <a:ext cx="5349240" cy="182880"/>
          </a:xfrm>
          <a:prstGeom prst="rect">
            <a:avLst/>
          </a:prstGeom>
          <a:solidFill>
            <a:srgbClr val="E08D80"/>
          </a:solidFill>
          <a:ln/>
        </p:spPr>
      </p:sp>
      <p:sp>
        <p:nvSpPr>
          <p:cNvPr id="12" name="Text 10"/>
          <p:cNvSpPr txBox="1"/>
          <p:nvPr/>
        </p:nvSpPr>
        <p:spPr>
          <a:xfrm>
            <a:off x="6446520" y="1600200"/>
            <a:ext cx="498348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OPORTUNIDADES (O)</a:t>
            </a:r>
            <a:endParaRPr lang="en-US" sz="1400" dirty="0"/>
          </a:p>
        </p:txBody>
      </p:sp>
      <p:sp>
        <p:nvSpPr>
          <p:cNvPr id="13" name="Text 11"/>
          <p:cNvSpPr txBox="1"/>
          <p:nvPr/>
        </p:nvSpPr>
        <p:spPr>
          <a:xfrm>
            <a:off x="6464808" y="2075688"/>
            <a:ext cx="4946904" cy="1645920"/>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O1: Creciente demanda comunitaria de café sustentable y comercio justo.</a:t>
            </a:r>
            <a:endParaRPr lang="en-US" sz="1050" dirty="0"/>
          </a:p>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O2: Vacío tecnológico en soluciones accesibles para cafeterías artesanales.</a:t>
            </a:r>
            <a:endParaRPr lang="en-US" sz="1050" dirty="0"/>
          </a:p>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O3: Canales de captación geolocalizados gratuitos (Google Maps / Instagram).</a:t>
            </a:r>
            <a:endParaRPr lang="en-US" sz="1050" dirty="0"/>
          </a:p>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O4: Acceso a estímulos de emprendimiento verde y sustentabilidad.</a:t>
            </a:r>
            <a:endParaRPr lang="en-US" sz="1050" dirty="0"/>
          </a:p>
        </p:txBody>
      </p:sp>
      <p:sp>
        <p:nvSpPr>
          <p:cNvPr id="14" name="Shape 12"/>
          <p:cNvSpPr/>
          <p:nvPr/>
        </p:nvSpPr>
        <p:spPr>
          <a:xfrm>
            <a:off x="548640" y="4069080"/>
            <a:ext cx="5349240" cy="2286000"/>
          </a:xfrm>
          <a:prstGeom prst="roundRect">
            <a:avLst>
              <a:gd name="adj" fmla="val 2400"/>
            </a:avLst>
          </a:prstGeom>
          <a:solidFill>
            <a:srgbClr val="F1ECE8"/>
          </a:solidFill>
          <a:ln w="12700"/>
        </p:spPr>
      </p:sp>
      <p:sp>
        <p:nvSpPr>
          <p:cNvPr id="15" name="Shape 13"/>
          <p:cNvSpPr/>
          <p:nvPr/>
        </p:nvSpPr>
        <p:spPr>
          <a:xfrm>
            <a:off x="548640" y="4069080"/>
            <a:ext cx="5349240" cy="365760"/>
          </a:xfrm>
          <a:prstGeom prst="roundRect">
            <a:avLst>
              <a:gd name="adj" fmla="val 15000"/>
            </a:avLst>
          </a:prstGeom>
          <a:solidFill>
            <a:srgbClr val="8A776D"/>
          </a:solidFill>
          <a:ln/>
        </p:spPr>
      </p:sp>
      <p:sp>
        <p:nvSpPr>
          <p:cNvPr id="16" name="Shape 14"/>
          <p:cNvSpPr/>
          <p:nvPr/>
        </p:nvSpPr>
        <p:spPr>
          <a:xfrm>
            <a:off x="548640" y="4251960"/>
            <a:ext cx="5349240" cy="182880"/>
          </a:xfrm>
          <a:prstGeom prst="rect">
            <a:avLst/>
          </a:prstGeom>
          <a:solidFill>
            <a:srgbClr val="8A776D"/>
          </a:solidFill>
          <a:ln/>
        </p:spPr>
      </p:sp>
      <p:sp>
        <p:nvSpPr>
          <p:cNvPr id="17" name="Text 15"/>
          <p:cNvSpPr txBox="1"/>
          <p:nvPr/>
        </p:nvSpPr>
        <p:spPr>
          <a:xfrm>
            <a:off x="731520" y="4069080"/>
            <a:ext cx="498348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DEBILIDADES (D)</a:t>
            </a:r>
            <a:endParaRPr lang="en-US" sz="1400" dirty="0"/>
          </a:p>
        </p:txBody>
      </p:sp>
      <p:sp>
        <p:nvSpPr>
          <p:cNvPr id="18" name="Text 16"/>
          <p:cNvSpPr txBox="1"/>
          <p:nvPr/>
        </p:nvSpPr>
        <p:spPr>
          <a:xfrm>
            <a:off x="749808" y="4544568"/>
            <a:ext cx="4946904" cy="1645920"/>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D1: Complejidad técnica inicial en infraestructura distribuida.</a:t>
            </a:r>
            <a:endParaRPr lang="en-US" sz="1050" dirty="0"/>
          </a:p>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D2: Curva de aprendizaje del personal de barra en lectura de códigos y POS.</a:t>
            </a:r>
            <a:endParaRPr lang="en-US" sz="1050" dirty="0"/>
          </a:p>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D3: Equipo de desarrollo compacto que exige priorización rigurosa.</a:t>
            </a:r>
            <a:endParaRPr lang="en-US" sz="1050" dirty="0"/>
          </a:p>
        </p:txBody>
      </p:sp>
      <p:sp>
        <p:nvSpPr>
          <p:cNvPr id="19" name="Shape 17"/>
          <p:cNvSpPr/>
          <p:nvPr/>
        </p:nvSpPr>
        <p:spPr>
          <a:xfrm>
            <a:off x="6263640" y="4069080"/>
            <a:ext cx="5349240" cy="2286000"/>
          </a:xfrm>
          <a:prstGeom prst="roundRect">
            <a:avLst>
              <a:gd name="adj" fmla="val 2400"/>
            </a:avLst>
          </a:prstGeom>
          <a:solidFill>
            <a:srgbClr val="EAE1DB"/>
          </a:solidFill>
          <a:ln w="12700"/>
        </p:spPr>
      </p:sp>
      <p:sp>
        <p:nvSpPr>
          <p:cNvPr id="20" name="Shape 18"/>
          <p:cNvSpPr/>
          <p:nvPr/>
        </p:nvSpPr>
        <p:spPr>
          <a:xfrm>
            <a:off x="6263640" y="4069080"/>
            <a:ext cx="5349240" cy="365760"/>
          </a:xfrm>
          <a:prstGeom prst="roundRect">
            <a:avLst>
              <a:gd name="adj" fmla="val 15000"/>
            </a:avLst>
          </a:prstGeom>
          <a:solidFill>
            <a:srgbClr val="34241C"/>
          </a:solidFill>
          <a:ln/>
        </p:spPr>
      </p:sp>
      <p:sp>
        <p:nvSpPr>
          <p:cNvPr id="21" name="Shape 19"/>
          <p:cNvSpPr/>
          <p:nvPr/>
        </p:nvSpPr>
        <p:spPr>
          <a:xfrm>
            <a:off x="6263640" y="4251960"/>
            <a:ext cx="5349240" cy="182880"/>
          </a:xfrm>
          <a:prstGeom prst="rect">
            <a:avLst/>
          </a:prstGeom>
          <a:solidFill>
            <a:srgbClr val="34241C"/>
          </a:solidFill>
          <a:ln/>
        </p:spPr>
      </p:sp>
      <p:sp>
        <p:nvSpPr>
          <p:cNvPr id="22" name="Text 20"/>
          <p:cNvSpPr txBox="1"/>
          <p:nvPr/>
        </p:nvSpPr>
        <p:spPr>
          <a:xfrm>
            <a:off x="6446520" y="4069080"/>
            <a:ext cx="4983480" cy="365760"/>
          </a:xfrm>
          <a:prstGeom prst="rect">
            <a:avLst/>
          </a:prstGeom>
          <a:noFill/>
          <a:ln/>
        </p:spPr>
        <p:txBody>
          <a:bodyPr wrap="square" lIns="0" tIns="0" rIns="0" bIns="0" rtlCol="0" anchor="ctr"/>
          <a:lstStyle/>
          <a:p>
            <a:pPr indent="0" marL="0">
              <a:buNone/>
            </a:pPr>
            <a:r>
              <a:rPr lang="en-US" sz="1400" b="1" dirty="0">
                <a:solidFill>
                  <a:srgbClr val="F3E9E3"/>
                </a:solidFill>
                <a:latin typeface="Cambria" pitchFamily="34" charset="0"/>
                <a:ea typeface="Cambria" pitchFamily="34" charset="-122"/>
                <a:cs typeface="Cambria" pitchFamily="34" charset="-120"/>
              </a:rPr>
              <a:t>AMENAZAS (A)</a:t>
            </a:r>
            <a:endParaRPr lang="en-US" sz="1400" dirty="0"/>
          </a:p>
        </p:txBody>
      </p:sp>
      <p:sp>
        <p:nvSpPr>
          <p:cNvPr id="23" name="Text 21"/>
          <p:cNvSpPr txBox="1"/>
          <p:nvPr/>
        </p:nvSpPr>
        <p:spPr>
          <a:xfrm>
            <a:off x="6464808" y="4544568"/>
            <a:ext cx="4946904" cy="1645920"/>
          </a:xfrm>
          <a:prstGeom prst="rect">
            <a:avLst/>
          </a:prstGeom>
          <a:noFill/>
          <a:ln/>
        </p:spPr>
        <p:txBody>
          <a:bodyPr wrap="square" lIns="0" tIns="0" rIns="0" bIns="0" rtlCol="0" anchor="ctr"/>
          <a:lstStyle/>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A1: Intermitencia de conectividad a internet en la zona de la cafetería.</a:t>
            </a:r>
            <a:endParaRPr lang="en-US" sz="1050" dirty="0"/>
          </a:p>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A2: Competencia de franquicias corporativas con apps y monederos masivos.</a:t>
            </a:r>
            <a:endParaRPr lang="en-US" sz="1050" dirty="0"/>
          </a:p>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A3: Inflación en precios de insumos agrícolas y grano de especialidad.</a:t>
            </a:r>
            <a:endParaRPr lang="en-US" sz="1050" dirty="0"/>
          </a:p>
          <a:p>
            <a:pPr marL="342900" indent="-342900">
              <a:lnSpc>
                <a:spcPts val="1350"/>
              </a:lnSpc>
              <a:spcAft>
                <a:spcPts val="600"/>
              </a:spcAft>
              <a:buSzPct val="100000"/>
              <a:buChar char="●"/>
            </a:pPr>
            <a:r>
              <a:rPr lang="en-US" sz="1050" dirty="0">
                <a:solidFill>
                  <a:srgbClr val="5B4A41"/>
                </a:solidFill>
                <a:latin typeface="Calibri" pitchFamily="34" charset="0"/>
                <a:ea typeface="Calibri" pitchFamily="34" charset="-122"/>
                <a:cs typeface="Calibri" pitchFamily="34" charset="-120"/>
              </a:rPr>
              <a:t>A4: Ataques automatizados y fraude transaccional en pasarelas web.</a:t>
            </a:r>
            <a:endParaRPr lang="en-US" sz="1050" dirty="0"/>
          </a:p>
        </p:txBody>
      </p:sp>
      <p:sp>
        <p:nvSpPr>
          <p:cNvPr id="24" name="Text 22"/>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25" name="Text 23"/>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6. Planeación Estratégica: Matriz de Cruces Estratégicos</a:t>
            </a:r>
            <a:endParaRPr lang="en-US" sz="2500" dirty="0"/>
          </a:p>
        </p:txBody>
      </p:sp>
      <p:sp>
        <p:nvSpPr>
          <p:cNvPr id="4" name="Shape 2"/>
          <p:cNvSpPr/>
          <p:nvPr/>
        </p:nvSpPr>
        <p:spPr>
          <a:xfrm>
            <a:off x="548640" y="1600200"/>
            <a:ext cx="5349240" cy="2286000"/>
          </a:xfrm>
          <a:prstGeom prst="roundRect">
            <a:avLst>
              <a:gd name="adj" fmla="val 2800"/>
            </a:avLst>
          </a:prstGeom>
          <a:solidFill>
            <a:srgbClr val="FFFFFF"/>
          </a:solidFill>
          <a:ln w="12700"/>
        </p:spPr>
      </p:sp>
      <p:sp>
        <p:nvSpPr>
          <p:cNvPr id="5" name="Shape 3"/>
          <p:cNvSpPr/>
          <p:nvPr/>
        </p:nvSpPr>
        <p:spPr>
          <a:xfrm>
            <a:off x="777240" y="1801368"/>
            <a:ext cx="502920" cy="502920"/>
          </a:xfrm>
          <a:prstGeom prst="ellipse">
            <a:avLst/>
          </a:prstGeom>
          <a:solidFill>
            <a:srgbClr val="C97567"/>
          </a:solidFill>
          <a:ln/>
        </p:spPr>
      </p:sp>
      <p:pic>
        <p:nvPicPr>
          <p:cNvPr id="6" name="Image 0" descr="/home/claude/monchis2/icons/bullseye.png">    </p:cNvPr>
          <p:cNvPicPr>
            <a:picLocks noChangeAspect="1"/>
          </p:cNvPicPr>
          <p:nvPr/>
        </p:nvPicPr>
        <p:blipFill>
          <a:blip r:embed="rId1"/>
          <a:stretch>
            <a:fillRect/>
          </a:stretch>
        </p:blipFill>
        <p:spPr>
          <a:xfrm>
            <a:off x="845134" y="1869262"/>
            <a:ext cx="367132" cy="367132"/>
          </a:xfrm>
          <a:prstGeom prst="rect">
            <a:avLst/>
          </a:prstGeom>
        </p:spPr>
      </p:pic>
      <p:sp>
        <p:nvSpPr>
          <p:cNvPr id="7" name="Text 4"/>
          <p:cNvSpPr txBox="1"/>
          <p:nvPr/>
        </p:nvSpPr>
        <p:spPr>
          <a:xfrm>
            <a:off x="1417320" y="1783080"/>
            <a:ext cx="4251960" cy="274320"/>
          </a:xfrm>
          <a:prstGeom prst="rect">
            <a:avLst/>
          </a:prstGeom>
          <a:noFill/>
          <a:ln/>
        </p:spPr>
        <p:txBody>
          <a:bodyPr wrap="square" lIns="0" tIns="0" rIns="0" bIns="0" rtlCol="0" anchor="ctr"/>
          <a:lstStyle/>
          <a:p>
            <a:pPr indent="0" marL="0">
              <a:buNone/>
            </a:pPr>
            <a:r>
              <a:rPr lang="en-US" sz="1350" b="1" dirty="0">
                <a:solidFill>
                  <a:srgbClr val="4B3B33"/>
                </a:solidFill>
                <a:latin typeface="Cambria" pitchFamily="34" charset="0"/>
                <a:ea typeface="Cambria" pitchFamily="34" charset="-122"/>
                <a:cs typeface="Cambria" pitchFamily="34" charset="-120"/>
              </a:rPr>
              <a:t>ESTRATEGIAS FO (Maxi-Maxi)</a:t>
            </a:r>
            <a:endParaRPr lang="en-US" sz="1350" dirty="0"/>
          </a:p>
        </p:txBody>
      </p:sp>
      <p:sp>
        <p:nvSpPr>
          <p:cNvPr id="8" name="Text 5"/>
          <p:cNvSpPr txBox="1"/>
          <p:nvPr/>
        </p:nvSpPr>
        <p:spPr>
          <a:xfrm>
            <a:off x="1417320" y="2039112"/>
            <a:ext cx="4251960" cy="228600"/>
          </a:xfrm>
          <a:prstGeom prst="rect">
            <a:avLst/>
          </a:prstGeom>
          <a:noFill/>
          <a:ln/>
        </p:spPr>
        <p:txBody>
          <a:bodyPr wrap="square" lIns="0" tIns="0" rIns="0" bIns="0" rtlCol="0" anchor="ctr"/>
          <a:lstStyle/>
          <a:p>
            <a:pPr indent="0" marL="0">
              <a:buNone/>
            </a:pPr>
            <a:r>
              <a:rPr lang="en-US" sz="900" i="1" dirty="0">
                <a:solidFill>
                  <a:srgbClr val="C97567"/>
                </a:solidFill>
                <a:latin typeface="Calibri" pitchFamily="34" charset="0"/>
                <a:ea typeface="Calibri" pitchFamily="34" charset="-122"/>
                <a:cs typeface="Calibri" pitchFamily="34" charset="-120"/>
              </a:rPr>
              <a:t>Usar Fortalezas para aprovechar Oportunidades</a:t>
            </a:r>
            <a:endParaRPr lang="en-US" sz="900" dirty="0"/>
          </a:p>
        </p:txBody>
      </p:sp>
      <p:sp>
        <p:nvSpPr>
          <p:cNvPr id="9" name="Text 6"/>
          <p:cNvSpPr txBox="1"/>
          <p:nvPr/>
        </p:nvSpPr>
        <p:spPr>
          <a:xfrm>
            <a:off x="777240" y="2423160"/>
            <a:ext cx="4892040" cy="320040"/>
          </a:xfrm>
          <a:prstGeom prst="rect">
            <a:avLst/>
          </a:prstGeom>
          <a:noFill/>
          <a:ln/>
        </p:spPr>
        <p:txBody>
          <a:bodyPr wrap="square" lIns="0" tIns="0" rIns="0" bIns="0" rtlCol="0" anchor="ctr"/>
          <a:lstStyle/>
          <a:p>
            <a:pPr indent="0" marL="0">
              <a:lnSpc>
                <a:spcPts val="1400"/>
              </a:lnSpc>
              <a:buNone/>
            </a:pPr>
            <a:r>
              <a:rPr lang="en-US" sz="1150" b="1" dirty="0">
                <a:solidFill>
                  <a:srgbClr val="4B3B33"/>
                </a:solidFill>
                <a:latin typeface="Calibri" pitchFamily="34" charset="0"/>
                <a:ea typeface="Calibri" pitchFamily="34" charset="-122"/>
                <a:cs typeface="Calibri" pitchFamily="34" charset="-120"/>
              </a:rPr>
              <a:t>E-FO1 (F3, F5 + O1, O3): Campañas de Marketing Geolocalizado con Trazabilidad ODS</a:t>
            </a:r>
            <a:endParaRPr lang="en-US" sz="1150" dirty="0"/>
          </a:p>
        </p:txBody>
      </p:sp>
      <p:sp>
        <p:nvSpPr>
          <p:cNvPr id="10" name="Text 7"/>
          <p:cNvSpPr txBox="1"/>
          <p:nvPr/>
        </p:nvSpPr>
        <p:spPr>
          <a:xfrm>
            <a:off x="777240" y="2770632"/>
            <a:ext cx="4892040" cy="1005840"/>
          </a:xfrm>
          <a:prstGeom prst="rect">
            <a:avLst/>
          </a:prstGeom>
          <a:noFill/>
          <a:ln/>
        </p:spPr>
        <p:txBody>
          <a:bodyPr wrap="square" lIns="0" tIns="0" rIns="0" bIns="0" rtlCol="0" anchor="ctr"/>
          <a:lstStyle/>
          <a:p>
            <a:pPr indent="0" marL="0">
              <a:lnSpc>
                <a:spcPts val="1350"/>
              </a:lnSpc>
              <a:buNone/>
            </a:pPr>
            <a:r>
              <a:rPr lang="en-US" sz="1030" dirty="0">
                <a:solidFill>
                  <a:srgbClr val="5B4A41"/>
                </a:solidFill>
                <a:latin typeface="Calibri" pitchFamily="34" charset="0"/>
                <a:ea typeface="Calibri" pitchFamily="34" charset="-122"/>
                <a:cs typeface="Calibri" pitchFamily="34" charset="-120"/>
              </a:rPr>
              <a:t>Lanzar campañas en Instagram y Google Maps destacando el origen de las fincas regionales y el bono de -$5.00 por termo ecológico, midiendo la conversión con el panel de atribución UTM.</a:t>
            </a:r>
            <a:endParaRPr lang="en-US" sz="1030" dirty="0"/>
          </a:p>
        </p:txBody>
      </p:sp>
      <p:sp>
        <p:nvSpPr>
          <p:cNvPr id="11" name="Shape 8"/>
          <p:cNvSpPr/>
          <p:nvPr/>
        </p:nvSpPr>
        <p:spPr>
          <a:xfrm>
            <a:off x="6263640" y="1600200"/>
            <a:ext cx="5349240" cy="2286000"/>
          </a:xfrm>
          <a:prstGeom prst="roundRect">
            <a:avLst>
              <a:gd name="adj" fmla="val 2800"/>
            </a:avLst>
          </a:prstGeom>
          <a:solidFill>
            <a:srgbClr val="FFFFFF"/>
          </a:solidFill>
          <a:ln w="12700"/>
        </p:spPr>
      </p:sp>
      <p:sp>
        <p:nvSpPr>
          <p:cNvPr id="12" name="Shape 9"/>
          <p:cNvSpPr/>
          <p:nvPr/>
        </p:nvSpPr>
        <p:spPr>
          <a:xfrm>
            <a:off x="6492240" y="1801368"/>
            <a:ext cx="502920" cy="502920"/>
          </a:xfrm>
          <a:prstGeom prst="ellipse">
            <a:avLst/>
          </a:prstGeom>
          <a:solidFill>
            <a:srgbClr val="E08D80"/>
          </a:solidFill>
          <a:ln/>
        </p:spPr>
      </p:sp>
      <p:pic>
        <p:nvPicPr>
          <p:cNvPr id="13" name="Image 1" descr="/home/claude/monchis2/icons/lightbulb.png">    </p:cNvPr>
          <p:cNvPicPr>
            <a:picLocks noChangeAspect="1"/>
          </p:cNvPicPr>
          <p:nvPr/>
        </p:nvPicPr>
        <p:blipFill>
          <a:blip r:embed="rId2"/>
          <a:stretch>
            <a:fillRect/>
          </a:stretch>
        </p:blipFill>
        <p:spPr>
          <a:xfrm>
            <a:off x="6560134" y="1869262"/>
            <a:ext cx="367132" cy="367132"/>
          </a:xfrm>
          <a:prstGeom prst="rect">
            <a:avLst/>
          </a:prstGeom>
        </p:spPr>
      </p:pic>
      <p:sp>
        <p:nvSpPr>
          <p:cNvPr id="14" name="Text 10"/>
          <p:cNvSpPr txBox="1"/>
          <p:nvPr/>
        </p:nvSpPr>
        <p:spPr>
          <a:xfrm>
            <a:off x="7132320" y="1783080"/>
            <a:ext cx="4251960" cy="274320"/>
          </a:xfrm>
          <a:prstGeom prst="rect">
            <a:avLst/>
          </a:prstGeom>
          <a:noFill/>
          <a:ln/>
        </p:spPr>
        <p:txBody>
          <a:bodyPr wrap="square" lIns="0" tIns="0" rIns="0" bIns="0" rtlCol="0" anchor="ctr"/>
          <a:lstStyle/>
          <a:p>
            <a:pPr indent="0" marL="0">
              <a:buNone/>
            </a:pPr>
            <a:r>
              <a:rPr lang="en-US" sz="1350" b="1" dirty="0">
                <a:solidFill>
                  <a:srgbClr val="4B3B33"/>
                </a:solidFill>
                <a:latin typeface="Cambria" pitchFamily="34" charset="0"/>
                <a:ea typeface="Cambria" pitchFamily="34" charset="-122"/>
                <a:cs typeface="Cambria" pitchFamily="34" charset="-120"/>
              </a:rPr>
              <a:t>ESTRATEGIAS DO (Mini-Maxi)</a:t>
            </a:r>
            <a:endParaRPr lang="en-US" sz="1350" dirty="0"/>
          </a:p>
        </p:txBody>
      </p:sp>
      <p:sp>
        <p:nvSpPr>
          <p:cNvPr id="15" name="Text 11"/>
          <p:cNvSpPr txBox="1"/>
          <p:nvPr/>
        </p:nvSpPr>
        <p:spPr>
          <a:xfrm>
            <a:off x="7132320" y="2039112"/>
            <a:ext cx="4251960" cy="228600"/>
          </a:xfrm>
          <a:prstGeom prst="rect">
            <a:avLst/>
          </a:prstGeom>
          <a:noFill/>
          <a:ln/>
        </p:spPr>
        <p:txBody>
          <a:bodyPr wrap="square" lIns="0" tIns="0" rIns="0" bIns="0" rtlCol="0" anchor="ctr"/>
          <a:lstStyle/>
          <a:p>
            <a:pPr indent="0" marL="0">
              <a:buNone/>
            </a:pPr>
            <a:r>
              <a:rPr lang="en-US" sz="900" i="1" dirty="0">
                <a:solidFill>
                  <a:srgbClr val="E08D80"/>
                </a:solidFill>
                <a:latin typeface="Calibri" pitchFamily="34" charset="0"/>
                <a:ea typeface="Calibri" pitchFamily="34" charset="-122"/>
                <a:cs typeface="Calibri" pitchFamily="34" charset="-120"/>
              </a:rPr>
              <a:t>Superar Debilidades aprovechando Oportunidades</a:t>
            </a:r>
            <a:endParaRPr lang="en-US" sz="900" dirty="0"/>
          </a:p>
        </p:txBody>
      </p:sp>
      <p:sp>
        <p:nvSpPr>
          <p:cNvPr id="16" name="Text 12"/>
          <p:cNvSpPr txBox="1"/>
          <p:nvPr/>
        </p:nvSpPr>
        <p:spPr>
          <a:xfrm>
            <a:off x="6492240" y="2423160"/>
            <a:ext cx="4892040" cy="320040"/>
          </a:xfrm>
          <a:prstGeom prst="rect">
            <a:avLst/>
          </a:prstGeom>
          <a:noFill/>
          <a:ln/>
        </p:spPr>
        <p:txBody>
          <a:bodyPr wrap="square" lIns="0" tIns="0" rIns="0" bIns="0" rtlCol="0" anchor="ctr"/>
          <a:lstStyle/>
          <a:p>
            <a:pPr indent="0" marL="0">
              <a:lnSpc>
                <a:spcPts val="1400"/>
              </a:lnSpc>
              <a:buNone/>
            </a:pPr>
            <a:r>
              <a:rPr lang="en-US" sz="1150" b="1" dirty="0">
                <a:solidFill>
                  <a:srgbClr val="4B3B33"/>
                </a:solidFill>
                <a:latin typeface="Calibri" pitchFamily="34" charset="0"/>
                <a:ea typeface="Calibri" pitchFamily="34" charset="-122"/>
                <a:cs typeface="Calibri" pitchFamily="34" charset="-120"/>
              </a:rPr>
              <a:t>E-DO1 (D2 + O2): Capacitación Acelerada mediante UI Táctil Intuitiva</a:t>
            </a:r>
            <a:endParaRPr lang="en-US" sz="1150" dirty="0"/>
          </a:p>
        </p:txBody>
      </p:sp>
      <p:sp>
        <p:nvSpPr>
          <p:cNvPr id="17" name="Text 13"/>
          <p:cNvSpPr txBox="1"/>
          <p:nvPr/>
        </p:nvSpPr>
        <p:spPr>
          <a:xfrm>
            <a:off x="6492240" y="2770632"/>
            <a:ext cx="4892040" cy="1005840"/>
          </a:xfrm>
          <a:prstGeom prst="rect">
            <a:avLst/>
          </a:prstGeom>
          <a:noFill/>
          <a:ln/>
        </p:spPr>
        <p:txBody>
          <a:bodyPr wrap="square" lIns="0" tIns="0" rIns="0" bIns="0" rtlCol="0" anchor="ctr"/>
          <a:lstStyle/>
          <a:p>
            <a:pPr indent="0" marL="0">
              <a:lnSpc>
                <a:spcPts val="1350"/>
              </a:lnSpc>
              <a:buNone/>
            </a:pPr>
            <a:r>
              <a:rPr lang="en-US" sz="1030" dirty="0">
                <a:solidFill>
                  <a:srgbClr val="5B4A41"/>
                </a:solidFill>
                <a:latin typeface="Calibri" pitchFamily="34" charset="0"/>
                <a:ea typeface="Calibri" pitchFamily="34" charset="-122"/>
                <a:cs typeface="Calibri" pitchFamily="34" charset="-120"/>
              </a:rPr>
              <a:t>Diseñar interfaces táctiles minimalistas con flujos asistidos en el POS para capacitar a los baristas en menos de 2 horas, posicionando a la cafetería como líder en modernización accesible.</a:t>
            </a:r>
            <a:endParaRPr lang="en-US" sz="1030" dirty="0"/>
          </a:p>
        </p:txBody>
      </p:sp>
      <p:sp>
        <p:nvSpPr>
          <p:cNvPr id="18" name="Shape 14"/>
          <p:cNvSpPr/>
          <p:nvPr/>
        </p:nvSpPr>
        <p:spPr>
          <a:xfrm>
            <a:off x="548640" y="4069080"/>
            <a:ext cx="5349240" cy="2286000"/>
          </a:xfrm>
          <a:prstGeom prst="roundRect">
            <a:avLst>
              <a:gd name="adj" fmla="val 2800"/>
            </a:avLst>
          </a:prstGeom>
          <a:solidFill>
            <a:srgbClr val="FFFFFF"/>
          </a:solidFill>
          <a:ln w="12700"/>
        </p:spPr>
      </p:sp>
      <p:sp>
        <p:nvSpPr>
          <p:cNvPr id="19" name="Shape 15"/>
          <p:cNvSpPr/>
          <p:nvPr/>
        </p:nvSpPr>
        <p:spPr>
          <a:xfrm>
            <a:off x="777240" y="4270248"/>
            <a:ext cx="502920" cy="502920"/>
          </a:xfrm>
          <a:prstGeom prst="ellipse">
            <a:avLst/>
          </a:prstGeom>
          <a:solidFill>
            <a:srgbClr val="5F7355"/>
          </a:solidFill>
          <a:ln/>
        </p:spPr>
      </p:sp>
      <p:pic>
        <p:nvPicPr>
          <p:cNvPr id="20" name="Image 2" descr="/home/claude/icons/shield.png">    </p:cNvPr>
          <p:cNvPicPr>
            <a:picLocks noChangeAspect="1"/>
          </p:cNvPicPr>
          <p:nvPr/>
        </p:nvPicPr>
        <p:blipFill>
          <a:blip r:embed="rId3"/>
          <a:stretch>
            <a:fillRect/>
          </a:stretch>
        </p:blipFill>
        <p:spPr>
          <a:xfrm>
            <a:off x="845134" y="4338142"/>
            <a:ext cx="367132" cy="367132"/>
          </a:xfrm>
          <a:prstGeom prst="rect">
            <a:avLst/>
          </a:prstGeom>
        </p:spPr>
      </p:pic>
      <p:sp>
        <p:nvSpPr>
          <p:cNvPr id="21" name="Text 16"/>
          <p:cNvSpPr txBox="1"/>
          <p:nvPr/>
        </p:nvSpPr>
        <p:spPr>
          <a:xfrm>
            <a:off x="1417320" y="4251960"/>
            <a:ext cx="4251960" cy="274320"/>
          </a:xfrm>
          <a:prstGeom prst="rect">
            <a:avLst/>
          </a:prstGeom>
          <a:noFill/>
          <a:ln/>
        </p:spPr>
        <p:txBody>
          <a:bodyPr wrap="square" lIns="0" tIns="0" rIns="0" bIns="0" rtlCol="0" anchor="ctr"/>
          <a:lstStyle/>
          <a:p>
            <a:pPr indent="0" marL="0">
              <a:buNone/>
            </a:pPr>
            <a:r>
              <a:rPr lang="en-US" sz="1350" b="1" dirty="0">
                <a:solidFill>
                  <a:srgbClr val="4B3B33"/>
                </a:solidFill>
                <a:latin typeface="Cambria" pitchFamily="34" charset="0"/>
                <a:ea typeface="Cambria" pitchFamily="34" charset="-122"/>
                <a:cs typeface="Cambria" pitchFamily="34" charset="-120"/>
              </a:rPr>
              <a:t>ESTRATEGIAS FA (Maxi-Mini)</a:t>
            </a:r>
            <a:endParaRPr lang="en-US" sz="1350" dirty="0"/>
          </a:p>
        </p:txBody>
      </p:sp>
      <p:sp>
        <p:nvSpPr>
          <p:cNvPr id="22" name="Text 17"/>
          <p:cNvSpPr txBox="1"/>
          <p:nvPr/>
        </p:nvSpPr>
        <p:spPr>
          <a:xfrm>
            <a:off x="1417320" y="4507992"/>
            <a:ext cx="4251960" cy="228600"/>
          </a:xfrm>
          <a:prstGeom prst="rect">
            <a:avLst/>
          </a:prstGeom>
          <a:noFill/>
          <a:ln/>
        </p:spPr>
        <p:txBody>
          <a:bodyPr wrap="square" lIns="0" tIns="0" rIns="0" bIns="0" rtlCol="0" anchor="ctr"/>
          <a:lstStyle/>
          <a:p>
            <a:pPr indent="0" marL="0">
              <a:buNone/>
            </a:pPr>
            <a:r>
              <a:rPr lang="en-US" sz="900" i="1" dirty="0">
                <a:solidFill>
                  <a:srgbClr val="5F7355"/>
                </a:solidFill>
                <a:latin typeface="Calibri" pitchFamily="34" charset="0"/>
                <a:ea typeface="Calibri" pitchFamily="34" charset="-122"/>
                <a:cs typeface="Calibri" pitchFamily="34" charset="-120"/>
              </a:rPr>
              <a:t>Usar Fortalezas para neutralizar Amenazas</a:t>
            </a:r>
            <a:endParaRPr lang="en-US" sz="900" dirty="0"/>
          </a:p>
        </p:txBody>
      </p:sp>
      <p:sp>
        <p:nvSpPr>
          <p:cNvPr id="23" name="Text 18"/>
          <p:cNvSpPr txBox="1"/>
          <p:nvPr/>
        </p:nvSpPr>
        <p:spPr>
          <a:xfrm>
            <a:off x="777240" y="4892040"/>
            <a:ext cx="4892040" cy="320040"/>
          </a:xfrm>
          <a:prstGeom prst="rect">
            <a:avLst/>
          </a:prstGeom>
          <a:noFill/>
          <a:ln/>
        </p:spPr>
        <p:txBody>
          <a:bodyPr wrap="square" lIns="0" tIns="0" rIns="0" bIns="0" rtlCol="0" anchor="ctr"/>
          <a:lstStyle/>
          <a:p>
            <a:pPr indent="0" marL="0">
              <a:lnSpc>
                <a:spcPts val="1400"/>
              </a:lnSpc>
              <a:buNone/>
            </a:pPr>
            <a:r>
              <a:rPr lang="en-US" sz="1150" b="1" dirty="0">
                <a:solidFill>
                  <a:srgbClr val="4B3B33"/>
                </a:solidFill>
                <a:latin typeface="Calibri" pitchFamily="34" charset="0"/>
                <a:ea typeface="Calibri" pitchFamily="34" charset="-122"/>
                <a:cs typeface="Calibri" pitchFamily="34" charset="-120"/>
              </a:rPr>
              <a:t>E-FA1 (F4 + A4): Blindaje de Ciberseguridad Stateless y Anti-Fraude</a:t>
            </a:r>
            <a:endParaRPr lang="en-US" sz="1150" dirty="0"/>
          </a:p>
        </p:txBody>
      </p:sp>
      <p:sp>
        <p:nvSpPr>
          <p:cNvPr id="24" name="Text 19"/>
          <p:cNvSpPr txBox="1"/>
          <p:nvPr/>
        </p:nvSpPr>
        <p:spPr>
          <a:xfrm>
            <a:off x="777240" y="5239512"/>
            <a:ext cx="4892040" cy="1005840"/>
          </a:xfrm>
          <a:prstGeom prst="rect">
            <a:avLst/>
          </a:prstGeom>
          <a:noFill/>
          <a:ln/>
        </p:spPr>
        <p:txBody>
          <a:bodyPr wrap="square" lIns="0" tIns="0" rIns="0" bIns="0" rtlCol="0" anchor="ctr"/>
          <a:lstStyle/>
          <a:p>
            <a:pPr indent="0" marL="0">
              <a:lnSpc>
                <a:spcPts val="1350"/>
              </a:lnSpc>
              <a:buNone/>
            </a:pPr>
            <a:r>
              <a:rPr lang="en-US" sz="1030" dirty="0">
                <a:solidFill>
                  <a:srgbClr val="5B4A41"/>
                </a:solidFill>
                <a:latin typeface="Calibri" pitchFamily="34" charset="0"/>
                <a:ea typeface="Calibri" pitchFamily="34" charset="-122"/>
                <a:cs typeface="Calibri" pitchFamily="34" charset="-120"/>
              </a:rPr>
              <a:t>Neutralizar ataques automatizados y fraudes en pasarelas mediante rate limiting en Redis, reCAPTCHA v2/v3 y tokens JWT sin estado, sin elevar costos de licenciamiento.</a:t>
            </a:r>
            <a:endParaRPr lang="en-US" sz="1030" dirty="0"/>
          </a:p>
        </p:txBody>
      </p:sp>
      <p:sp>
        <p:nvSpPr>
          <p:cNvPr id="25" name="Shape 20"/>
          <p:cNvSpPr/>
          <p:nvPr/>
        </p:nvSpPr>
        <p:spPr>
          <a:xfrm>
            <a:off x="6263640" y="4069080"/>
            <a:ext cx="5349240" cy="2286000"/>
          </a:xfrm>
          <a:prstGeom prst="roundRect">
            <a:avLst>
              <a:gd name="adj" fmla="val 2800"/>
            </a:avLst>
          </a:prstGeom>
          <a:solidFill>
            <a:srgbClr val="FFFFFF"/>
          </a:solidFill>
          <a:ln w="12700"/>
        </p:spPr>
      </p:sp>
      <p:sp>
        <p:nvSpPr>
          <p:cNvPr id="26" name="Shape 21"/>
          <p:cNvSpPr/>
          <p:nvPr/>
        </p:nvSpPr>
        <p:spPr>
          <a:xfrm>
            <a:off x="6492240" y="4270248"/>
            <a:ext cx="502920" cy="502920"/>
          </a:xfrm>
          <a:prstGeom prst="ellipse">
            <a:avLst/>
          </a:prstGeom>
          <a:solidFill>
            <a:srgbClr val="8A776D"/>
          </a:solidFill>
          <a:ln/>
        </p:spPr>
      </p:sp>
      <p:pic>
        <p:nvPicPr>
          <p:cNvPr id="27" name="Image 3" descr="/home/claude/monchis2/icons/wifi.png">    </p:cNvPr>
          <p:cNvPicPr>
            <a:picLocks noChangeAspect="1"/>
          </p:cNvPicPr>
          <p:nvPr/>
        </p:nvPicPr>
        <p:blipFill>
          <a:blip r:embed="rId4"/>
          <a:stretch>
            <a:fillRect/>
          </a:stretch>
        </p:blipFill>
        <p:spPr>
          <a:xfrm>
            <a:off x="6560134" y="4338142"/>
            <a:ext cx="367132" cy="367132"/>
          </a:xfrm>
          <a:prstGeom prst="rect">
            <a:avLst/>
          </a:prstGeom>
        </p:spPr>
      </p:pic>
      <p:sp>
        <p:nvSpPr>
          <p:cNvPr id="28" name="Text 22"/>
          <p:cNvSpPr txBox="1"/>
          <p:nvPr/>
        </p:nvSpPr>
        <p:spPr>
          <a:xfrm>
            <a:off x="7132320" y="4251960"/>
            <a:ext cx="4251960" cy="274320"/>
          </a:xfrm>
          <a:prstGeom prst="rect">
            <a:avLst/>
          </a:prstGeom>
          <a:noFill/>
          <a:ln/>
        </p:spPr>
        <p:txBody>
          <a:bodyPr wrap="square" lIns="0" tIns="0" rIns="0" bIns="0" rtlCol="0" anchor="ctr"/>
          <a:lstStyle/>
          <a:p>
            <a:pPr indent="0" marL="0">
              <a:buNone/>
            </a:pPr>
            <a:r>
              <a:rPr lang="en-US" sz="1350" b="1" dirty="0">
                <a:solidFill>
                  <a:srgbClr val="4B3B33"/>
                </a:solidFill>
                <a:latin typeface="Cambria" pitchFamily="34" charset="0"/>
                <a:ea typeface="Cambria" pitchFamily="34" charset="-122"/>
                <a:cs typeface="Cambria" pitchFamily="34" charset="-120"/>
              </a:rPr>
              <a:t>ESTRATEGIAS DA (Mini-Mini)</a:t>
            </a:r>
            <a:endParaRPr lang="en-US" sz="1350" dirty="0"/>
          </a:p>
        </p:txBody>
      </p:sp>
      <p:sp>
        <p:nvSpPr>
          <p:cNvPr id="29" name="Text 23"/>
          <p:cNvSpPr txBox="1"/>
          <p:nvPr/>
        </p:nvSpPr>
        <p:spPr>
          <a:xfrm>
            <a:off x="7132320" y="4507992"/>
            <a:ext cx="4251960" cy="228600"/>
          </a:xfrm>
          <a:prstGeom prst="rect">
            <a:avLst/>
          </a:prstGeom>
          <a:noFill/>
          <a:ln/>
        </p:spPr>
        <p:txBody>
          <a:bodyPr wrap="square" lIns="0" tIns="0" rIns="0" bIns="0" rtlCol="0" anchor="ctr"/>
          <a:lstStyle/>
          <a:p>
            <a:pPr indent="0" marL="0">
              <a:buNone/>
            </a:pPr>
            <a:r>
              <a:rPr lang="en-US" sz="900" i="1" dirty="0">
                <a:solidFill>
                  <a:srgbClr val="8A776D"/>
                </a:solidFill>
                <a:latin typeface="Calibri" pitchFamily="34" charset="0"/>
                <a:ea typeface="Calibri" pitchFamily="34" charset="-122"/>
                <a:cs typeface="Calibri" pitchFamily="34" charset="-120"/>
              </a:rPr>
              <a:t>Minimizar Debilidades y eludir Amenazas</a:t>
            </a:r>
            <a:endParaRPr lang="en-US" sz="900" dirty="0"/>
          </a:p>
        </p:txBody>
      </p:sp>
      <p:sp>
        <p:nvSpPr>
          <p:cNvPr id="30" name="Text 24"/>
          <p:cNvSpPr txBox="1"/>
          <p:nvPr/>
        </p:nvSpPr>
        <p:spPr>
          <a:xfrm>
            <a:off x="6492240" y="4892040"/>
            <a:ext cx="4892040" cy="320040"/>
          </a:xfrm>
          <a:prstGeom prst="rect">
            <a:avLst/>
          </a:prstGeom>
          <a:noFill/>
          <a:ln/>
        </p:spPr>
        <p:txBody>
          <a:bodyPr wrap="square" lIns="0" tIns="0" rIns="0" bIns="0" rtlCol="0" anchor="ctr"/>
          <a:lstStyle/>
          <a:p>
            <a:pPr indent="0" marL="0">
              <a:lnSpc>
                <a:spcPts val="1400"/>
              </a:lnSpc>
              <a:buNone/>
            </a:pPr>
            <a:r>
              <a:rPr lang="en-US" sz="1150" b="1" dirty="0">
                <a:solidFill>
                  <a:srgbClr val="4B3B33"/>
                </a:solidFill>
                <a:latin typeface="Calibri" pitchFamily="34" charset="0"/>
                <a:ea typeface="Calibri" pitchFamily="34" charset="-122"/>
                <a:cs typeface="Calibri" pitchFamily="34" charset="-120"/>
              </a:rPr>
              <a:t>E-DA1 (D1 + A1): Resiliencia Offline en POS con Almacenamiento Local</a:t>
            </a:r>
            <a:endParaRPr lang="en-US" sz="1150" dirty="0"/>
          </a:p>
        </p:txBody>
      </p:sp>
      <p:sp>
        <p:nvSpPr>
          <p:cNvPr id="31" name="Text 25"/>
          <p:cNvSpPr txBox="1"/>
          <p:nvPr/>
        </p:nvSpPr>
        <p:spPr>
          <a:xfrm>
            <a:off x="6492240" y="5239512"/>
            <a:ext cx="4892040" cy="1005840"/>
          </a:xfrm>
          <a:prstGeom prst="rect">
            <a:avLst/>
          </a:prstGeom>
          <a:noFill/>
          <a:ln/>
        </p:spPr>
        <p:txBody>
          <a:bodyPr wrap="square" lIns="0" tIns="0" rIns="0" bIns="0" rtlCol="0" anchor="ctr"/>
          <a:lstStyle/>
          <a:p>
            <a:pPr indent="0" marL="0">
              <a:lnSpc>
                <a:spcPts val="1350"/>
              </a:lnSpc>
              <a:buNone/>
            </a:pPr>
            <a:r>
              <a:rPr lang="en-US" sz="1030" dirty="0">
                <a:solidFill>
                  <a:srgbClr val="5B4A41"/>
                </a:solidFill>
                <a:latin typeface="Calibri" pitchFamily="34" charset="0"/>
                <a:ea typeface="Calibri" pitchFamily="34" charset="-122"/>
                <a:cs typeface="Calibri" pitchFamily="34" charset="-120"/>
              </a:rPr>
              <a:t>Implementar cola de transacciones en caché del navegador (Pinia / LocalStorage) para que interrupciones momentáneas del internet local no impidan continuar cobrando en mostrador.</a:t>
            </a:r>
            <a:endParaRPr lang="en-US" sz="1030" dirty="0"/>
          </a:p>
        </p:txBody>
      </p:sp>
      <p:sp>
        <p:nvSpPr>
          <p:cNvPr id="32" name="Text 26"/>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33" name="Text 27"/>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7. Planeación Operativa: Estructura de Sprints (16 Semanas)</a:t>
            </a:r>
            <a:endParaRPr lang="en-US" sz="2500" dirty="0"/>
          </a:p>
        </p:txBody>
      </p:sp>
      <p:sp>
        <p:nvSpPr>
          <p:cNvPr id="4" name="Shape 2"/>
          <p:cNvSpPr/>
          <p:nvPr/>
        </p:nvSpPr>
        <p:spPr>
          <a:xfrm>
            <a:off x="548640" y="1600200"/>
            <a:ext cx="1280160" cy="457200"/>
          </a:xfrm>
          <a:prstGeom prst="rect">
            <a:avLst/>
          </a:prstGeom>
          <a:solidFill>
            <a:srgbClr val="34241C"/>
          </a:solidFill>
          <a:ln/>
        </p:spPr>
      </p:sp>
      <p:sp>
        <p:nvSpPr>
          <p:cNvPr id="5" name="Text 3"/>
          <p:cNvSpPr txBox="1"/>
          <p:nvPr/>
        </p:nvSpPr>
        <p:spPr>
          <a:xfrm>
            <a:off x="621792" y="1600200"/>
            <a:ext cx="1133856" cy="45720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SPRINT / TIEMPO</a:t>
            </a:r>
            <a:endParaRPr lang="en-US" sz="1000" dirty="0"/>
          </a:p>
        </p:txBody>
      </p:sp>
      <p:sp>
        <p:nvSpPr>
          <p:cNvPr id="6" name="Shape 4"/>
          <p:cNvSpPr/>
          <p:nvPr/>
        </p:nvSpPr>
        <p:spPr>
          <a:xfrm>
            <a:off x="1828800" y="1600200"/>
            <a:ext cx="1920240" cy="457200"/>
          </a:xfrm>
          <a:prstGeom prst="rect">
            <a:avLst/>
          </a:prstGeom>
          <a:solidFill>
            <a:srgbClr val="34241C"/>
          </a:solidFill>
          <a:ln/>
        </p:spPr>
      </p:sp>
      <p:sp>
        <p:nvSpPr>
          <p:cNvPr id="7" name="Text 5"/>
          <p:cNvSpPr txBox="1"/>
          <p:nvPr/>
        </p:nvSpPr>
        <p:spPr>
          <a:xfrm>
            <a:off x="1901952" y="1600200"/>
            <a:ext cx="1773936" cy="45720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FASE DEL PROYECTO</a:t>
            </a:r>
            <a:endParaRPr lang="en-US" sz="1000" dirty="0"/>
          </a:p>
        </p:txBody>
      </p:sp>
      <p:sp>
        <p:nvSpPr>
          <p:cNvPr id="8" name="Shape 6"/>
          <p:cNvSpPr/>
          <p:nvPr/>
        </p:nvSpPr>
        <p:spPr>
          <a:xfrm>
            <a:off x="3749040" y="1600200"/>
            <a:ext cx="5486400" cy="457200"/>
          </a:xfrm>
          <a:prstGeom prst="rect">
            <a:avLst/>
          </a:prstGeom>
          <a:solidFill>
            <a:srgbClr val="34241C"/>
          </a:solidFill>
          <a:ln/>
        </p:spPr>
      </p:sp>
      <p:sp>
        <p:nvSpPr>
          <p:cNvPr id="9" name="Text 7"/>
          <p:cNvSpPr txBox="1"/>
          <p:nvPr/>
        </p:nvSpPr>
        <p:spPr>
          <a:xfrm>
            <a:off x="3822192" y="1600200"/>
            <a:ext cx="5340096" cy="45720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OBJETIVO OPERATIVO Y ENTREGABLE CLAVE</a:t>
            </a:r>
            <a:endParaRPr lang="en-US" sz="1000" dirty="0"/>
          </a:p>
        </p:txBody>
      </p:sp>
      <p:sp>
        <p:nvSpPr>
          <p:cNvPr id="10" name="Shape 8"/>
          <p:cNvSpPr/>
          <p:nvPr/>
        </p:nvSpPr>
        <p:spPr>
          <a:xfrm>
            <a:off x="9235440" y="1600200"/>
            <a:ext cx="2404872" cy="457200"/>
          </a:xfrm>
          <a:prstGeom prst="rect">
            <a:avLst/>
          </a:prstGeom>
          <a:solidFill>
            <a:srgbClr val="34241C"/>
          </a:solidFill>
          <a:ln/>
        </p:spPr>
      </p:sp>
      <p:sp>
        <p:nvSpPr>
          <p:cNvPr id="11" name="Text 9"/>
          <p:cNvSpPr txBox="1"/>
          <p:nvPr/>
        </p:nvSpPr>
        <p:spPr>
          <a:xfrm>
            <a:off x="9308592" y="1600200"/>
            <a:ext cx="2258568" cy="45720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CRITERIO DE ÉXITO</a:t>
            </a:r>
            <a:endParaRPr lang="en-US" sz="1000" dirty="0"/>
          </a:p>
        </p:txBody>
      </p:sp>
      <p:sp>
        <p:nvSpPr>
          <p:cNvPr id="12" name="Shape 10"/>
          <p:cNvSpPr/>
          <p:nvPr/>
        </p:nvSpPr>
        <p:spPr>
          <a:xfrm>
            <a:off x="548640" y="2057400"/>
            <a:ext cx="1280160" cy="566928"/>
          </a:xfrm>
          <a:prstGeom prst="rect">
            <a:avLst/>
          </a:prstGeom>
          <a:solidFill>
            <a:srgbClr val="FFFFFF"/>
          </a:solidFill>
          <a:ln/>
        </p:spPr>
      </p:sp>
      <p:sp>
        <p:nvSpPr>
          <p:cNvPr id="13" name="Text 11"/>
          <p:cNvSpPr txBox="1"/>
          <p:nvPr/>
        </p:nvSpPr>
        <p:spPr>
          <a:xfrm>
            <a:off x="621792" y="2057400"/>
            <a:ext cx="1133856" cy="566928"/>
          </a:xfrm>
          <a:prstGeom prst="rect">
            <a:avLst/>
          </a:prstGeom>
          <a:noFill/>
          <a:ln/>
        </p:spPr>
        <p:txBody>
          <a:bodyPr wrap="square" lIns="0" tIns="0" rIns="0" bIns="0" rtlCol="0" anchor="ctr"/>
          <a:lstStyle/>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Sprint 1</a:t>
            </a:r>
            <a:endParaRPr lang="en-US" sz="1050" dirty="0"/>
          </a:p>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(Sem 1-2)</a:t>
            </a:r>
            <a:endParaRPr lang="en-US" sz="1050" dirty="0"/>
          </a:p>
        </p:txBody>
      </p:sp>
      <p:sp>
        <p:nvSpPr>
          <p:cNvPr id="14" name="Shape 12"/>
          <p:cNvSpPr/>
          <p:nvPr/>
        </p:nvSpPr>
        <p:spPr>
          <a:xfrm>
            <a:off x="1828800" y="2057400"/>
            <a:ext cx="1920240" cy="566928"/>
          </a:xfrm>
          <a:prstGeom prst="rect">
            <a:avLst/>
          </a:prstGeom>
          <a:solidFill>
            <a:srgbClr val="FFFFFF"/>
          </a:solidFill>
          <a:ln/>
        </p:spPr>
      </p:sp>
      <p:sp>
        <p:nvSpPr>
          <p:cNvPr id="15" name="Text 13"/>
          <p:cNvSpPr txBox="1"/>
          <p:nvPr/>
        </p:nvSpPr>
        <p:spPr>
          <a:xfrm>
            <a:off x="1901952" y="2057400"/>
            <a:ext cx="1773936" cy="566928"/>
          </a:xfrm>
          <a:prstGeom prst="rect">
            <a:avLst/>
          </a:prstGeom>
          <a:noFill/>
          <a:ln/>
        </p:spPr>
        <p:txBody>
          <a:bodyPr wrap="square" lIns="0" tIns="0" rIns="0" bIns="0" rtlCol="0" anchor="ctr"/>
          <a:lstStyle/>
          <a:p>
            <a:pPr algn="l" indent="0" marL="0">
              <a:lnSpc>
                <a:spcPts val="1350"/>
              </a:lnSpc>
              <a:buNone/>
            </a:pPr>
            <a:r>
              <a:rPr lang="en-US" sz="1050" b="1" dirty="0">
                <a:solidFill>
                  <a:srgbClr val="4B3B33"/>
                </a:solidFill>
                <a:latin typeface="Calibri" pitchFamily="34" charset="0"/>
                <a:ea typeface="Calibri" pitchFamily="34" charset="-122"/>
                <a:cs typeface="Calibri" pitchFamily="34" charset="-120"/>
              </a:rPr>
              <a:t>Fase 1: Infraestructura</a:t>
            </a:r>
            <a:endParaRPr lang="en-US" sz="1050" dirty="0"/>
          </a:p>
        </p:txBody>
      </p:sp>
      <p:sp>
        <p:nvSpPr>
          <p:cNvPr id="16" name="Shape 14"/>
          <p:cNvSpPr/>
          <p:nvPr/>
        </p:nvSpPr>
        <p:spPr>
          <a:xfrm>
            <a:off x="3749040" y="2057400"/>
            <a:ext cx="5486400" cy="566928"/>
          </a:xfrm>
          <a:prstGeom prst="rect">
            <a:avLst/>
          </a:prstGeom>
          <a:solidFill>
            <a:srgbClr val="FFFFFF"/>
          </a:solidFill>
          <a:ln/>
        </p:spPr>
      </p:sp>
      <p:sp>
        <p:nvSpPr>
          <p:cNvPr id="17" name="Text 15"/>
          <p:cNvSpPr txBox="1"/>
          <p:nvPr/>
        </p:nvSpPr>
        <p:spPr>
          <a:xfrm>
            <a:off x="3822192" y="2057400"/>
            <a:ext cx="5340096" cy="566928"/>
          </a:xfrm>
          <a:prstGeom prst="rect">
            <a:avLst/>
          </a:prstGeom>
          <a:noFill/>
          <a:ln/>
        </p:spPr>
        <p:txBody>
          <a:bodyPr wrap="square" lIns="0" tIns="0" rIns="0" bIns="0" rtlCol="0" anchor="ctr"/>
          <a:lstStyle/>
          <a:p>
            <a:pPr algn="l" indent="0" marL="0">
              <a:lnSpc>
                <a:spcPts val="1350"/>
              </a:lnSpc>
              <a:buNone/>
            </a:pPr>
            <a:r>
              <a:rPr lang="en-US" sz="1050" dirty="0">
                <a:solidFill>
                  <a:srgbClr val="5B4A41"/>
                </a:solidFill>
                <a:latin typeface="Calibri" pitchFamily="34" charset="0"/>
                <a:ea typeface="Calibri" pitchFamily="34" charset="-122"/>
                <a:cs typeface="Calibri" pitchFamily="34" charset="-120"/>
              </a:rPr>
              <a:t>Monorepo Turborepo, esquema Prisma PostgreSQL y Docker local.</a:t>
            </a:r>
            <a:endParaRPr lang="en-US" sz="1050" dirty="0"/>
          </a:p>
        </p:txBody>
      </p:sp>
      <p:sp>
        <p:nvSpPr>
          <p:cNvPr id="18" name="Shape 16"/>
          <p:cNvSpPr/>
          <p:nvPr/>
        </p:nvSpPr>
        <p:spPr>
          <a:xfrm>
            <a:off x="9235440" y="2057400"/>
            <a:ext cx="2404872" cy="566928"/>
          </a:xfrm>
          <a:prstGeom prst="rect">
            <a:avLst/>
          </a:prstGeom>
          <a:solidFill>
            <a:srgbClr val="FFFFFF"/>
          </a:solidFill>
          <a:ln/>
        </p:spPr>
      </p:sp>
      <p:sp>
        <p:nvSpPr>
          <p:cNvPr id="19" name="Text 17"/>
          <p:cNvSpPr txBox="1"/>
          <p:nvPr/>
        </p:nvSpPr>
        <p:spPr>
          <a:xfrm>
            <a:off x="9308592" y="2057400"/>
            <a:ext cx="2258568" cy="566928"/>
          </a:xfrm>
          <a:prstGeom prst="rect">
            <a:avLst/>
          </a:prstGeom>
          <a:noFill/>
          <a:ln/>
        </p:spPr>
        <p:txBody>
          <a:bodyPr wrap="square" lIns="0" tIns="0" rIns="0" bIns="0" rtlCol="0" anchor="ctr"/>
          <a:lstStyle/>
          <a:p>
            <a:pPr algn="l" indent="0" marL="0">
              <a:lnSpc>
                <a:spcPts val="1350"/>
              </a:lnSpc>
              <a:buNone/>
            </a:pPr>
            <a:r>
              <a:rPr lang="en-US" sz="1050" b="1" dirty="0">
                <a:solidFill>
                  <a:srgbClr val="5F7355"/>
                </a:solidFill>
                <a:latin typeface="Calibri" pitchFamily="34" charset="0"/>
                <a:ea typeface="Calibri" pitchFamily="34" charset="-122"/>
                <a:cs typeface="Calibri" pitchFamily="34" charset="-120"/>
              </a:rPr>
              <a:t>Build en &lt;45s, 0 errores.</a:t>
            </a:r>
            <a:endParaRPr lang="en-US" sz="1050" dirty="0"/>
          </a:p>
        </p:txBody>
      </p:sp>
      <p:sp>
        <p:nvSpPr>
          <p:cNvPr id="20" name="Shape 18"/>
          <p:cNvSpPr/>
          <p:nvPr/>
        </p:nvSpPr>
        <p:spPr>
          <a:xfrm>
            <a:off x="548640" y="2624328"/>
            <a:ext cx="1280160" cy="566928"/>
          </a:xfrm>
          <a:prstGeom prst="rect">
            <a:avLst/>
          </a:prstGeom>
          <a:solidFill>
            <a:srgbClr val="FDF3EE"/>
          </a:solidFill>
          <a:ln/>
        </p:spPr>
      </p:sp>
      <p:sp>
        <p:nvSpPr>
          <p:cNvPr id="21" name="Text 19"/>
          <p:cNvSpPr txBox="1"/>
          <p:nvPr/>
        </p:nvSpPr>
        <p:spPr>
          <a:xfrm>
            <a:off x="621792" y="2624328"/>
            <a:ext cx="1133856" cy="566928"/>
          </a:xfrm>
          <a:prstGeom prst="rect">
            <a:avLst/>
          </a:prstGeom>
          <a:noFill/>
          <a:ln/>
        </p:spPr>
        <p:txBody>
          <a:bodyPr wrap="square" lIns="0" tIns="0" rIns="0" bIns="0" rtlCol="0" anchor="ctr"/>
          <a:lstStyle/>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Sprint 2</a:t>
            </a:r>
            <a:endParaRPr lang="en-US" sz="1050" dirty="0"/>
          </a:p>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(Sem 3-4)</a:t>
            </a:r>
            <a:endParaRPr lang="en-US" sz="1050" dirty="0"/>
          </a:p>
        </p:txBody>
      </p:sp>
      <p:sp>
        <p:nvSpPr>
          <p:cNvPr id="22" name="Shape 20"/>
          <p:cNvSpPr/>
          <p:nvPr/>
        </p:nvSpPr>
        <p:spPr>
          <a:xfrm>
            <a:off x="1828800" y="2624328"/>
            <a:ext cx="1920240" cy="566928"/>
          </a:xfrm>
          <a:prstGeom prst="rect">
            <a:avLst/>
          </a:prstGeom>
          <a:solidFill>
            <a:srgbClr val="FDF3EE"/>
          </a:solidFill>
          <a:ln/>
        </p:spPr>
      </p:sp>
      <p:sp>
        <p:nvSpPr>
          <p:cNvPr id="23" name="Text 21"/>
          <p:cNvSpPr txBox="1"/>
          <p:nvPr/>
        </p:nvSpPr>
        <p:spPr>
          <a:xfrm>
            <a:off x="1901952" y="2624328"/>
            <a:ext cx="1773936" cy="566928"/>
          </a:xfrm>
          <a:prstGeom prst="rect">
            <a:avLst/>
          </a:prstGeom>
          <a:noFill/>
          <a:ln/>
        </p:spPr>
        <p:txBody>
          <a:bodyPr wrap="square" lIns="0" tIns="0" rIns="0" bIns="0" rtlCol="0" anchor="ctr"/>
          <a:lstStyle/>
          <a:p>
            <a:pPr algn="l" indent="0" marL="0">
              <a:lnSpc>
                <a:spcPts val="1350"/>
              </a:lnSpc>
              <a:buNone/>
            </a:pPr>
            <a:r>
              <a:rPr lang="en-US" sz="1050" b="1" dirty="0">
                <a:solidFill>
                  <a:srgbClr val="4B3B33"/>
                </a:solidFill>
                <a:latin typeface="Calibri" pitchFamily="34" charset="0"/>
                <a:ea typeface="Calibri" pitchFamily="34" charset="-122"/>
                <a:cs typeface="Calibri" pitchFamily="34" charset="-120"/>
              </a:rPr>
              <a:t>Fase 2: Seguridad Core</a:t>
            </a:r>
            <a:endParaRPr lang="en-US" sz="1050" dirty="0"/>
          </a:p>
        </p:txBody>
      </p:sp>
      <p:sp>
        <p:nvSpPr>
          <p:cNvPr id="24" name="Shape 22"/>
          <p:cNvSpPr/>
          <p:nvPr/>
        </p:nvSpPr>
        <p:spPr>
          <a:xfrm>
            <a:off x="3749040" y="2624328"/>
            <a:ext cx="5486400" cy="566928"/>
          </a:xfrm>
          <a:prstGeom prst="rect">
            <a:avLst/>
          </a:prstGeom>
          <a:solidFill>
            <a:srgbClr val="FDF3EE"/>
          </a:solidFill>
          <a:ln/>
        </p:spPr>
      </p:sp>
      <p:sp>
        <p:nvSpPr>
          <p:cNvPr id="25" name="Text 23"/>
          <p:cNvSpPr txBox="1"/>
          <p:nvPr/>
        </p:nvSpPr>
        <p:spPr>
          <a:xfrm>
            <a:off x="3822192" y="2624328"/>
            <a:ext cx="5340096" cy="566928"/>
          </a:xfrm>
          <a:prstGeom prst="rect">
            <a:avLst/>
          </a:prstGeom>
          <a:noFill/>
          <a:ln/>
        </p:spPr>
        <p:txBody>
          <a:bodyPr wrap="square" lIns="0" tIns="0" rIns="0" bIns="0" rtlCol="0" anchor="ctr"/>
          <a:lstStyle/>
          <a:p>
            <a:pPr algn="l" indent="0" marL="0">
              <a:lnSpc>
                <a:spcPts val="1350"/>
              </a:lnSpc>
              <a:buNone/>
            </a:pPr>
            <a:r>
              <a:rPr lang="en-US" sz="1050" dirty="0">
                <a:solidFill>
                  <a:srgbClr val="5B4A41"/>
                </a:solidFill>
                <a:latin typeface="Calibri" pitchFamily="34" charset="0"/>
                <a:ea typeface="Calibri" pitchFamily="34" charset="-122"/>
                <a:cs typeface="Calibri" pitchFamily="34" charset="-120"/>
              </a:rPr>
              <a:t>Auth stateless JWT rotativo, RBAC y Google reCAPTCHA v2/v3.</a:t>
            </a:r>
            <a:endParaRPr lang="en-US" sz="1050" dirty="0"/>
          </a:p>
        </p:txBody>
      </p:sp>
      <p:sp>
        <p:nvSpPr>
          <p:cNvPr id="26" name="Shape 24"/>
          <p:cNvSpPr/>
          <p:nvPr/>
        </p:nvSpPr>
        <p:spPr>
          <a:xfrm>
            <a:off x="9235440" y="2624328"/>
            <a:ext cx="2404872" cy="566928"/>
          </a:xfrm>
          <a:prstGeom prst="rect">
            <a:avLst/>
          </a:prstGeom>
          <a:solidFill>
            <a:srgbClr val="FDF3EE"/>
          </a:solidFill>
          <a:ln/>
        </p:spPr>
      </p:sp>
      <p:sp>
        <p:nvSpPr>
          <p:cNvPr id="27" name="Text 25"/>
          <p:cNvSpPr txBox="1"/>
          <p:nvPr/>
        </p:nvSpPr>
        <p:spPr>
          <a:xfrm>
            <a:off x="9308592" y="2624328"/>
            <a:ext cx="2258568" cy="566928"/>
          </a:xfrm>
          <a:prstGeom prst="rect">
            <a:avLst/>
          </a:prstGeom>
          <a:noFill/>
          <a:ln/>
        </p:spPr>
        <p:txBody>
          <a:bodyPr wrap="square" lIns="0" tIns="0" rIns="0" bIns="0" rtlCol="0" anchor="ctr"/>
          <a:lstStyle/>
          <a:p>
            <a:pPr algn="l" indent="0" marL="0">
              <a:lnSpc>
                <a:spcPts val="1350"/>
              </a:lnSpc>
              <a:buNone/>
            </a:pPr>
            <a:r>
              <a:rPr lang="en-US" sz="1050" b="1" dirty="0">
                <a:solidFill>
                  <a:srgbClr val="5F7355"/>
                </a:solidFill>
                <a:latin typeface="Calibri" pitchFamily="34" charset="0"/>
                <a:ea typeface="Calibri" pitchFamily="34" charset="-122"/>
                <a:cs typeface="Calibri" pitchFamily="34" charset="-120"/>
              </a:rPr>
              <a:t>100% tests unitarios auth.</a:t>
            </a:r>
            <a:endParaRPr lang="en-US" sz="1050" dirty="0"/>
          </a:p>
        </p:txBody>
      </p:sp>
      <p:sp>
        <p:nvSpPr>
          <p:cNvPr id="28" name="Shape 26"/>
          <p:cNvSpPr/>
          <p:nvPr/>
        </p:nvSpPr>
        <p:spPr>
          <a:xfrm>
            <a:off x="548640" y="3191256"/>
            <a:ext cx="1280160" cy="566928"/>
          </a:xfrm>
          <a:prstGeom prst="rect">
            <a:avLst/>
          </a:prstGeom>
          <a:solidFill>
            <a:srgbClr val="FFFFFF"/>
          </a:solidFill>
          <a:ln/>
        </p:spPr>
      </p:sp>
      <p:sp>
        <p:nvSpPr>
          <p:cNvPr id="29" name="Text 27"/>
          <p:cNvSpPr txBox="1"/>
          <p:nvPr/>
        </p:nvSpPr>
        <p:spPr>
          <a:xfrm>
            <a:off x="621792" y="3191256"/>
            <a:ext cx="1133856" cy="566928"/>
          </a:xfrm>
          <a:prstGeom prst="rect">
            <a:avLst/>
          </a:prstGeom>
          <a:noFill/>
          <a:ln/>
        </p:spPr>
        <p:txBody>
          <a:bodyPr wrap="square" lIns="0" tIns="0" rIns="0" bIns="0" rtlCol="0" anchor="ctr"/>
          <a:lstStyle/>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Sprint 3</a:t>
            </a:r>
            <a:endParaRPr lang="en-US" sz="1050" dirty="0"/>
          </a:p>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(Sem 5-6)</a:t>
            </a:r>
            <a:endParaRPr lang="en-US" sz="1050" dirty="0"/>
          </a:p>
        </p:txBody>
      </p:sp>
      <p:sp>
        <p:nvSpPr>
          <p:cNvPr id="30" name="Shape 28"/>
          <p:cNvSpPr/>
          <p:nvPr/>
        </p:nvSpPr>
        <p:spPr>
          <a:xfrm>
            <a:off x="1828800" y="3191256"/>
            <a:ext cx="1920240" cy="566928"/>
          </a:xfrm>
          <a:prstGeom prst="rect">
            <a:avLst/>
          </a:prstGeom>
          <a:solidFill>
            <a:srgbClr val="FFFFFF"/>
          </a:solidFill>
          <a:ln/>
        </p:spPr>
      </p:sp>
      <p:sp>
        <p:nvSpPr>
          <p:cNvPr id="31" name="Text 29"/>
          <p:cNvSpPr txBox="1"/>
          <p:nvPr/>
        </p:nvSpPr>
        <p:spPr>
          <a:xfrm>
            <a:off x="1901952" y="3191256"/>
            <a:ext cx="1773936" cy="566928"/>
          </a:xfrm>
          <a:prstGeom prst="rect">
            <a:avLst/>
          </a:prstGeom>
          <a:noFill/>
          <a:ln/>
        </p:spPr>
        <p:txBody>
          <a:bodyPr wrap="square" lIns="0" tIns="0" rIns="0" bIns="0" rtlCol="0" anchor="ctr"/>
          <a:lstStyle/>
          <a:p>
            <a:pPr algn="l" indent="0" marL="0">
              <a:lnSpc>
                <a:spcPts val="1350"/>
              </a:lnSpc>
              <a:buNone/>
            </a:pPr>
            <a:r>
              <a:rPr lang="en-US" sz="1050" b="1" dirty="0">
                <a:solidFill>
                  <a:srgbClr val="4B3B33"/>
                </a:solidFill>
                <a:latin typeface="Calibri" pitchFamily="34" charset="0"/>
                <a:ea typeface="Calibri" pitchFamily="34" charset="-122"/>
                <a:cs typeface="Calibri" pitchFamily="34" charset="-120"/>
              </a:rPr>
              <a:t>Fase 2: Broker &amp; Saga</a:t>
            </a:r>
            <a:endParaRPr lang="en-US" sz="1050" dirty="0"/>
          </a:p>
        </p:txBody>
      </p:sp>
      <p:sp>
        <p:nvSpPr>
          <p:cNvPr id="32" name="Shape 30"/>
          <p:cNvSpPr/>
          <p:nvPr/>
        </p:nvSpPr>
        <p:spPr>
          <a:xfrm>
            <a:off x="3749040" y="3191256"/>
            <a:ext cx="5486400" cy="566928"/>
          </a:xfrm>
          <a:prstGeom prst="rect">
            <a:avLst/>
          </a:prstGeom>
          <a:solidFill>
            <a:srgbClr val="FFFFFF"/>
          </a:solidFill>
          <a:ln/>
        </p:spPr>
      </p:sp>
      <p:sp>
        <p:nvSpPr>
          <p:cNvPr id="33" name="Text 31"/>
          <p:cNvSpPr txBox="1"/>
          <p:nvPr/>
        </p:nvSpPr>
        <p:spPr>
          <a:xfrm>
            <a:off x="3822192" y="3191256"/>
            <a:ext cx="5340096" cy="566928"/>
          </a:xfrm>
          <a:prstGeom prst="rect">
            <a:avLst/>
          </a:prstGeom>
          <a:noFill/>
          <a:ln/>
        </p:spPr>
        <p:txBody>
          <a:bodyPr wrap="square" lIns="0" tIns="0" rIns="0" bIns="0" rtlCol="0" anchor="ctr"/>
          <a:lstStyle/>
          <a:p>
            <a:pPr algn="l" indent="0" marL="0">
              <a:lnSpc>
                <a:spcPts val="1350"/>
              </a:lnSpc>
              <a:buNone/>
            </a:pPr>
            <a:r>
              <a:rPr lang="en-US" sz="1050" dirty="0">
                <a:solidFill>
                  <a:srgbClr val="5B4A41"/>
                </a:solidFill>
                <a:latin typeface="Calibri" pitchFamily="34" charset="0"/>
                <a:ea typeface="Calibri" pitchFamily="34" charset="-122"/>
                <a:cs typeface="Calibri" pitchFamily="34" charset="-120"/>
              </a:rPr>
              <a:t>Topic Exchange RabbitMQ, colas de retardo y reversas automáticas.</a:t>
            </a:r>
            <a:endParaRPr lang="en-US" sz="1050" dirty="0"/>
          </a:p>
        </p:txBody>
      </p:sp>
      <p:sp>
        <p:nvSpPr>
          <p:cNvPr id="34" name="Shape 32"/>
          <p:cNvSpPr/>
          <p:nvPr/>
        </p:nvSpPr>
        <p:spPr>
          <a:xfrm>
            <a:off x="9235440" y="3191256"/>
            <a:ext cx="2404872" cy="566928"/>
          </a:xfrm>
          <a:prstGeom prst="rect">
            <a:avLst/>
          </a:prstGeom>
          <a:solidFill>
            <a:srgbClr val="FFFFFF"/>
          </a:solidFill>
          <a:ln/>
        </p:spPr>
      </p:sp>
      <p:sp>
        <p:nvSpPr>
          <p:cNvPr id="35" name="Text 33"/>
          <p:cNvSpPr txBox="1"/>
          <p:nvPr/>
        </p:nvSpPr>
        <p:spPr>
          <a:xfrm>
            <a:off x="9308592" y="3191256"/>
            <a:ext cx="2258568" cy="566928"/>
          </a:xfrm>
          <a:prstGeom prst="rect">
            <a:avLst/>
          </a:prstGeom>
          <a:noFill/>
          <a:ln/>
        </p:spPr>
        <p:txBody>
          <a:bodyPr wrap="square" lIns="0" tIns="0" rIns="0" bIns="0" rtlCol="0" anchor="ctr"/>
          <a:lstStyle/>
          <a:p>
            <a:pPr algn="l" indent="0" marL="0">
              <a:lnSpc>
                <a:spcPts val="1350"/>
              </a:lnSpc>
              <a:buNone/>
            </a:pPr>
            <a:r>
              <a:rPr lang="en-US" sz="1050" b="1" dirty="0">
                <a:solidFill>
                  <a:srgbClr val="5F7355"/>
                </a:solidFill>
                <a:latin typeface="Calibri" pitchFamily="34" charset="0"/>
                <a:ea typeface="Calibri" pitchFamily="34" charset="-122"/>
                <a:cs typeface="Calibri" pitchFamily="34" charset="-120"/>
              </a:rPr>
              <a:t>Compensación en &lt;500ms.</a:t>
            </a:r>
            <a:endParaRPr lang="en-US" sz="1050" dirty="0"/>
          </a:p>
        </p:txBody>
      </p:sp>
      <p:sp>
        <p:nvSpPr>
          <p:cNvPr id="36" name="Shape 34"/>
          <p:cNvSpPr/>
          <p:nvPr/>
        </p:nvSpPr>
        <p:spPr>
          <a:xfrm>
            <a:off x="548640" y="3758184"/>
            <a:ext cx="1280160" cy="566928"/>
          </a:xfrm>
          <a:prstGeom prst="rect">
            <a:avLst/>
          </a:prstGeom>
          <a:solidFill>
            <a:srgbClr val="FDF3EE"/>
          </a:solidFill>
          <a:ln/>
        </p:spPr>
      </p:sp>
      <p:sp>
        <p:nvSpPr>
          <p:cNvPr id="37" name="Text 35"/>
          <p:cNvSpPr txBox="1"/>
          <p:nvPr/>
        </p:nvSpPr>
        <p:spPr>
          <a:xfrm>
            <a:off x="621792" y="3758184"/>
            <a:ext cx="1133856" cy="566928"/>
          </a:xfrm>
          <a:prstGeom prst="rect">
            <a:avLst/>
          </a:prstGeom>
          <a:noFill/>
          <a:ln/>
        </p:spPr>
        <p:txBody>
          <a:bodyPr wrap="square" lIns="0" tIns="0" rIns="0" bIns="0" rtlCol="0" anchor="ctr"/>
          <a:lstStyle/>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Sprint 4</a:t>
            </a:r>
            <a:endParaRPr lang="en-US" sz="1050" dirty="0"/>
          </a:p>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(Sem 7-8)</a:t>
            </a:r>
            <a:endParaRPr lang="en-US" sz="1050" dirty="0"/>
          </a:p>
        </p:txBody>
      </p:sp>
      <p:sp>
        <p:nvSpPr>
          <p:cNvPr id="38" name="Shape 36"/>
          <p:cNvSpPr/>
          <p:nvPr/>
        </p:nvSpPr>
        <p:spPr>
          <a:xfrm>
            <a:off x="1828800" y="3758184"/>
            <a:ext cx="1920240" cy="566928"/>
          </a:xfrm>
          <a:prstGeom prst="rect">
            <a:avLst/>
          </a:prstGeom>
          <a:solidFill>
            <a:srgbClr val="FDF3EE"/>
          </a:solidFill>
          <a:ln/>
        </p:spPr>
      </p:sp>
      <p:sp>
        <p:nvSpPr>
          <p:cNvPr id="39" name="Text 37"/>
          <p:cNvSpPr txBox="1"/>
          <p:nvPr/>
        </p:nvSpPr>
        <p:spPr>
          <a:xfrm>
            <a:off x="1901952" y="3758184"/>
            <a:ext cx="1773936" cy="566928"/>
          </a:xfrm>
          <a:prstGeom prst="rect">
            <a:avLst/>
          </a:prstGeom>
          <a:noFill/>
          <a:ln/>
        </p:spPr>
        <p:txBody>
          <a:bodyPr wrap="square" lIns="0" tIns="0" rIns="0" bIns="0" rtlCol="0" anchor="ctr"/>
          <a:lstStyle/>
          <a:p>
            <a:pPr algn="l" indent="0" marL="0">
              <a:lnSpc>
                <a:spcPts val="1350"/>
              </a:lnSpc>
              <a:buNone/>
            </a:pPr>
            <a:r>
              <a:rPr lang="en-US" sz="1050" b="1" dirty="0">
                <a:solidFill>
                  <a:srgbClr val="4B3B33"/>
                </a:solidFill>
                <a:latin typeface="Calibri" pitchFamily="34" charset="0"/>
                <a:ea typeface="Calibri" pitchFamily="34" charset="-122"/>
                <a:cs typeface="Calibri" pitchFamily="34" charset="-120"/>
              </a:rPr>
              <a:t>Fase 3: Frontend &amp; SEO</a:t>
            </a:r>
            <a:endParaRPr lang="en-US" sz="1050" dirty="0"/>
          </a:p>
        </p:txBody>
      </p:sp>
      <p:sp>
        <p:nvSpPr>
          <p:cNvPr id="40" name="Shape 38"/>
          <p:cNvSpPr/>
          <p:nvPr/>
        </p:nvSpPr>
        <p:spPr>
          <a:xfrm>
            <a:off x="3749040" y="3758184"/>
            <a:ext cx="5486400" cy="566928"/>
          </a:xfrm>
          <a:prstGeom prst="rect">
            <a:avLst/>
          </a:prstGeom>
          <a:solidFill>
            <a:srgbClr val="FDF3EE"/>
          </a:solidFill>
          <a:ln/>
        </p:spPr>
      </p:sp>
      <p:sp>
        <p:nvSpPr>
          <p:cNvPr id="41" name="Text 39"/>
          <p:cNvSpPr txBox="1"/>
          <p:nvPr/>
        </p:nvSpPr>
        <p:spPr>
          <a:xfrm>
            <a:off x="3822192" y="3758184"/>
            <a:ext cx="5340096" cy="566928"/>
          </a:xfrm>
          <a:prstGeom prst="rect">
            <a:avLst/>
          </a:prstGeom>
          <a:noFill/>
          <a:ln/>
        </p:spPr>
        <p:txBody>
          <a:bodyPr wrap="square" lIns="0" tIns="0" rIns="0" bIns="0" rtlCol="0" anchor="ctr"/>
          <a:lstStyle/>
          <a:p>
            <a:pPr algn="l" indent="0" marL="0">
              <a:lnSpc>
                <a:spcPts val="1350"/>
              </a:lnSpc>
              <a:buNone/>
            </a:pPr>
            <a:r>
              <a:rPr lang="en-US" sz="1050" dirty="0">
                <a:solidFill>
                  <a:srgbClr val="5B4A41"/>
                </a:solidFill>
                <a:latin typeface="Calibri" pitchFamily="34" charset="0"/>
                <a:ea typeface="Calibri" pitchFamily="34" charset="-122"/>
                <a:cs typeface="Calibri" pitchFamily="34" charset="-120"/>
              </a:rPr>
              <a:t>Vistas públicas Vue 3, tokens pastel y prerender con vite-ssg.</a:t>
            </a:r>
            <a:endParaRPr lang="en-US" sz="1050" dirty="0"/>
          </a:p>
        </p:txBody>
      </p:sp>
      <p:sp>
        <p:nvSpPr>
          <p:cNvPr id="42" name="Shape 40"/>
          <p:cNvSpPr/>
          <p:nvPr/>
        </p:nvSpPr>
        <p:spPr>
          <a:xfrm>
            <a:off x="9235440" y="3758184"/>
            <a:ext cx="2404872" cy="566928"/>
          </a:xfrm>
          <a:prstGeom prst="rect">
            <a:avLst/>
          </a:prstGeom>
          <a:solidFill>
            <a:srgbClr val="FDF3EE"/>
          </a:solidFill>
          <a:ln/>
        </p:spPr>
      </p:sp>
      <p:sp>
        <p:nvSpPr>
          <p:cNvPr id="43" name="Text 41"/>
          <p:cNvSpPr txBox="1"/>
          <p:nvPr/>
        </p:nvSpPr>
        <p:spPr>
          <a:xfrm>
            <a:off x="9308592" y="3758184"/>
            <a:ext cx="2258568" cy="566928"/>
          </a:xfrm>
          <a:prstGeom prst="rect">
            <a:avLst/>
          </a:prstGeom>
          <a:noFill/>
          <a:ln/>
        </p:spPr>
        <p:txBody>
          <a:bodyPr wrap="square" lIns="0" tIns="0" rIns="0" bIns="0" rtlCol="0" anchor="ctr"/>
          <a:lstStyle/>
          <a:p>
            <a:pPr algn="l" indent="0" marL="0">
              <a:lnSpc>
                <a:spcPts val="1350"/>
              </a:lnSpc>
              <a:buNone/>
            </a:pPr>
            <a:r>
              <a:rPr lang="en-US" sz="1050" b="1" dirty="0">
                <a:solidFill>
                  <a:srgbClr val="5F7355"/>
                </a:solidFill>
                <a:latin typeface="Calibri" pitchFamily="34" charset="0"/>
                <a:ea typeface="Calibri" pitchFamily="34" charset="-122"/>
                <a:cs typeface="Calibri" pitchFamily="34" charset="-120"/>
              </a:rPr>
              <a:t>Lighthouse SEO = 100/100.</a:t>
            </a:r>
            <a:endParaRPr lang="en-US" sz="1050" dirty="0"/>
          </a:p>
        </p:txBody>
      </p:sp>
      <p:sp>
        <p:nvSpPr>
          <p:cNvPr id="44" name="Shape 42"/>
          <p:cNvSpPr/>
          <p:nvPr/>
        </p:nvSpPr>
        <p:spPr>
          <a:xfrm>
            <a:off x="548640" y="4325112"/>
            <a:ext cx="1280160" cy="566928"/>
          </a:xfrm>
          <a:prstGeom prst="rect">
            <a:avLst/>
          </a:prstGeom>
          <a:solidFill>
            <a:srgbClr val="FFFFFF"/>
          </a:solidFill>
          <a:ln/>
        </p:spPr>
      </p:sp>
      <p:sp>
        <p:nvSpPr>
          <p:cNvPr id="45" name="Text 43"/>
          <p:cNvSpPr txBox="1"/>
          <p:nvPr/>
        </p:nvSpPr>
        <p:spPr>
          <a:xfrm>
            <a:off x="621792" y="4325112"/>
            <a:ext cx="1133856" cy="566928"/>
          </a:xfrm>
          <a:prstGeom prst="rect">
            <a:avLst/>
          </a:prstGeom>
          <a:noFill/>
          <a:ln/>
        </p:spPr>
        <p:txBody>
          <a:bodyPr wrap="square" lIns="0" tIns="0" rIns="0" bIns="0" rtlCol="0" anchor="ctr"/>
          <a:lstStyle/>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Sprint 5</a:t>
            </a:r>
            <a:endParaRPr lang="en-US" sz="1050" dirty="0"/>
          </a:p>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(Sem 9-10)</a:t>
            </a:r>
            <a:endParaRPr lang="en-US" sz="1050" dirty="0"/>
          </a:p>
        </p:txBody>
      </p:sp>
      <p:sp>
        <p:nvSpPr>
          <p:cNvPr id="46" name="Shape 44"/>
          <p:cNvSpPr/>
          <p:nvPr/>
        </p:nvSpPr>
        <p:spPr>
          <a:xfrm>
            <a:off x="1828800" y="4325112"/>
            <a:ext cx="1920240" cy="566928"/>
          </a:xfrm>
          <a:prstGeom prst="rect">
            <a:avLst/>
          </a:prstGeom>
          <a:solidFill>
            <a:srgbClr val="FFFFFF"/>
          </a:solidFill>
          <a:ln/>
        </p:spPr>
      </p:sp>
      <p:sp>
        <p:nvSpPr>
          <p:cNvPr id="47" name="Text 45"/>
          <p:cNvSpPr txBox="1"/>
          <p:nvPr/>
        </p:nvSpPr>
        <p:spPr>
          <a:xfrm>
            <a:off x="1901952" y="4325112"/>
            <a:ext cx="1773936" cy="566928"/>
          </a:xfrm>
          <a:prstGeom prst="rect">
            <a:avLst/>
          </a:prstGeom>
          <a:noFill/>
          <a:ln/>
        </p:spPr>
        <p:txBody>
          <a:bodyPr wrap="square" lIns="0" tIns="0" rIns="0" bIns="0" rtlCol="0" anchor="ctr"/>
          <a:lstStyle/>
          <a:p>
            <a:pPr algn="l" indent="0" marL="0">
              <a:lnSpc>
                <a:spcPts val="1350"/>
              </a:lnSpc>
              <a:buNone/>
            </a:pPr>
            <a:r>
              <a:rPr lang="en-US" sz="1050" b="1" dirty="0">
                <a:solidFill>
                  <a:srgbClr val="4B3B33"/>
                </a:solidFill>
                <a:latin typeface="Calibri" pitchFamily="34" charset="0"/>
                <a:ea typeface="Calibri" pitchFamily="34" charset="-122"/>
                <a:cs typeface="Calibri" pitchFamily="34" charset="-120"/>
              </a:rPr>
              <a:t>Fase 4: POS &amp; Cobro</a:t>
            </a:r>
            <a:endParaRPr lang="en-US" sz="1050" dirty="0"/>
          </a:p>
        </p:txBody>
      </p:sp>
      <p:sp>
        <p:nvSpPr>
          <p:cNvPr id="48" name="Shape 46"/>
          <p:cNvSpPr/>
          <p:nvPr/>
        </p:nvSpPr>
        <p:spPr>
          <a:xfrm>
            <a:off x="3749040" y="4325112"/>
            <a:ext cx="5486400" cy="566928"/>
          </a:xfrm>
          <a:prstGeom prst="rect">
            <a:avLst/>
          </a:prstGeom>
          <a:solidFill>
            <a:srgbClr val="FFFFFF"/>
          </a:solidFill>
          <a:ln/>
        </p:spPr>
      </p:sp>
      <p:sp>
        <p:nvSpPr>
          <p:cNvPr id="49" name="Text 47"/>
          <p:cNvSpPr txBox="1"/>
          <p:nvPr/>
        </p:nvSpPr>
        <p:spPr>
          <a:xfrm>
            <a:off x="3822192" y="4325112"/>
            <a:ext cx="5340096" cy="566928"/>
          </a:xfrm>
          <a:prstGeom prst="rect">
            <a:avLst/>
          </a:prstGeom>
          <a:noFill/>
          <a:ln/>
        </p:spPr>
        <p:txBody>
          <a:bodyPr wrap="square" lIns="0" tIns="0" rIns="0" bIns="0" rtlCol="0" anchor="ctr"/>
          <a:lstStyle/>
          <a:p>
            <a:pPr algn="l" indent="0" marL="0">
              <a:lnSpc>
                <a:spcPts val="1350"/>
              </a:lnSpc>
              <a:buNone/>
            </a:pPr>
            <a:r>
              <a:rPr lang="en-US" sz="1050" dirty="0">
                <a:solidFill>
                  <a:srgbClr val="5B4A41"/>
                </a:solidFill>
                <a:latin typeface="Calibri" pitchFamily="34" charset="0"/>
                <a:ea typeface="Calibri" pitchFamily="34" charset="-122"/>
                <a:cs typeface="Calibri" pitchFamily="34" charset="-120"/>
              </a:rPr>
              <a:t>Interfaz táctil de barra, escaneo QR y soporte de pagos mixtos.</a:t>
            </a:r>
            <a:endParaRPr lang="en-US" sz="1050" dirty="0"/>
          </a:p>
        </p:txBody>
      </p:sp>
      <p:sp>
        <p:nvSpPr>
          <p:cNvPr id="50" name="Shape 48"/>
          <p:cNvSpPr/>
          <p:nvPr/>
        </p:nvSpPr>
        <p:spPr>
          <a:xfrm>
            <a:off x="9235440" y="4325112"/>
            <a:ext cx="2404872" cy="566928"/>
          </a:xfrm>
          <a:prstGeom prst="rect">
            <a:avLst/>
          </a:prstGeom>
          <a:solidFill>
            <a:srgbClr val="FFFFFF"/>
          </a:solidFill>
          <a:ln/>
        </p:spPr>
      </p:sp>
      <p:sp>
        <p:nvSpPr>
          <p:cNvPr id="51" name="Text 49"/>
          <p:cNvSpPr txBox="1"/>
          <p:nvPr/>
        </p:nvSpPr>
        <p:spPr>
          <a:xfrm>
            <a:off x="9308592" y="4325112"/>
            <a:ext cx="2258568" cy="566928"/>
          </a:xfrm>
          <a:prstGeom prst="rect">
            <a:avLst/>
          </a:prstGeom>
          <a:noFill/>
          <a:ln/>
        </p:spPr>
        <p:txBody>
          <a:bodyPr wrap="square" lIns="0" tIns="0" rIns="0" bIns="0" rtlCol="0" anchor="ctr"/>
          <a:lstStyle/>
          <a:p>
            <a:pPr algn="l" indent="0" marL="0">
              <a:lnSpc>
                <a:spcPts val="1350"/>
              </a:lnSpc>
              <a:buNone/>
            </a:pPr>
            <a:r>
              <a:rPr lang="en-US" sz="1050" b="1" dirty="0">
                <a:solidFill>
                  <a:srgbClr val="5F7355"/>
                </a:solidFill>
                <a:latin typeface="Calibri" pitchFamily="34" charset="0"/>
                <a:ea typeface="Calibri" pitchFamily="34" charset="-122"/>
                <a:cs typeface="Calibri" pitchFamily="34" charset="-120"/>
              </a:rPr>
              <a:t>Registro de venta &lt;15s.</a:t>
            </a:r>
            <a:endParaRPr lang="en-US" sz="1050" dirty="0"/>
          </a:p>
        </p:txBody>
      </p:sp>
      <p:sp>
        <p:nvSpPr>
          <p:cNvPr id="52" name="Shape 50"/>
          <p:cNvSpPr/>
          <p:nvPr/>
        </p:nvSpPr>
        <p:spPr>
          <a:xfrm>
            <a:off x="548640" y="4892040"/>
            <a:ext cx="1280160" cy="566928"/>
          </a:xfrm>
          <a:prstGeom prst="rect">
            <a:avLst/>
          </a:prstGeom>
          <a:solidFill>
            <a:srgbClr val="FDF3EE"/>
          </a:solidFill>
          <a:ln/>
        </p:spPr>
      </p:sp>
      <p:sp>
        <p:nvSpPr>
          <p:cNvPr id="53" name="Text 51"/>
          <p:cNvSpPr txBox="1"/>
          <p:nvPr/>
        </p:nvSpPr>
        <p:spPr>
          <a:xfrm>
            <a:off x="621792" y="4892040"/>
            <a:ext cx="1133856" cy="566928"/>
          </a:xfrm>
          <a:prstGeom prst="rect">
            <a:avLst/>
          </a:prstGeom>
          <a:noFill/>
          <a:ln/>
        </p:spPr>
        <p:txBody>
          <a:bodyPr wrap="square" lIns="0" tIns="0" rIns="0" bIns="0" rtlCol="0" anchor="ctr"/>
          <a:lstStyle/>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Sprint 6</a:t>
            </a:r>
            <a:endParaRPr lang="en-US" sz="1050" dirty="0"/>
          </a:p>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(Sem 11-12)</a:t>
            </a:r>
            <a:endParaRPr lang="en-US" sz="1050" dirty="0"/>
          </a:p>
        </p:txBody>
      </p:sp>
      <p:sp>
        <p:nvSpPr>
          <p:cNvPr id="54" name="Shape 52"/>
          <p:cNvSpPr/>
          <p:nvPr/>
        </p:nvSpPr>
        <p:spPr>
          <a:xfrm>
            <a:off x="1828800" y="4892040"/>
            <a:ext cx="1920240" cy="566928"/>
          </a:xfrm>
          <a:prstGeom prst="rect">
            <a:avLst/>
          </a:prstGeom>
          <a:solidFill>
            <a:srgbClr val="FDF3EE"/>
          </a:solidFill>
          <a:ln/>
        </p:spPr>
      </p:sp>
      <p:sp>
        <p:nvSpPr>
          <p:cNvPr id="55" name="Text 53"/>
          <p:cNvSpPr txBox="1"/>
          <p:nvPr/>
        </p:nvSpPr>
        <p:spPr>
          <a:xfrm>
            <a:off x="1901952" y="4892040"/>
            <a:ext cx="1773936" cy="566928"/>
          </a:xfrm>
          <a:prstGeom prst="rect">
            <a:avLst/>
          </a:prstGeom>
          <a:noFill/>
          <a:ln/>
        </p:spPr>
        <p:txBody>
          <a:bodyPr wrap="square" lIns="0" tIns="0" rIns="0" bIns="0" rtlCol="0" anchor="ctr"/>
          <a:lstStyle/>
          <a:p>
            <a:pPr algn="l" indent="0" marL="0">
              <a:lnSpc>
                <a:spcPts val="1350"/>
              </a:lnSpc>
              <a:buNone/>
            </a:pPr>
            <a:r>
              <a:rPr lang="en-US" sz="1050" b="1" dirty="0">
                <a:solidFill>
                  <a:srgbClr val="4B3B33"/>
                </a:solidFill>
                <a:latin typeface="Calibri" pitchFamily="34" charset="0"/>
                <a:ea typeface="Calibri" pitchFamily="34" charset="-122"/>
                <a:cs typeface="Calibri" pitchFamily="34" charset="-120"/>
              </a:rPr>
              <a:t>Fase 4: ODS &amp; Rewards</a:t>
            </a:r>
            <a:endParaRPr lang="en-US" sz="1050" dirty="0"/>
          </a:p>
        </p:txBody>
      </p:sp>
      <p:sp>
        <p:nvSpPr>
          <p:cNvPr id="56" name="Shape 54"/>
          <p:cNvSpPr/>
          <p:nvPr/>
        </p:nvSpPr>
        <p:spPr>
          <a:xfrm>
            <a:off x="3749040" y="4892040"/>
            <a:ext cx="5486400" cy="566928"/>
          </a:xfrm>
          <a:prstGeom prst="rect">
            <a:avLst/>
          </a:prstGeom>
          <a:solidFill>
            <a:srgbClr val="FDF3EE"/>
          </a:solidFill>
          <a:ln/>
        </p:spPr>
      </p:sp>
      <p:sp>
        <p:nvSpPr>
          <p:cNvPr id="57" name="Text 55"/>
          <p:cNvSpPr txBox="1"/>
          <p:nvPr/>
        </p:nvSpPr>
        <p:spPr>
          <a:xfrm>
            <a:off x="3822192" y="4892040"/>
            <a:ext cx="5340096" cy="566928"/>
          </a:xfrm>
          <a:prstGeom prst="rect">
            <a:avLst/>
          </a:prstGeom>
          <a:noFill/>
          <a:ln/>
        </p:spPr>
        <p:txBody>
          <a:bodyPr wrap="square" lIns="0" tIns="0" rIns="0" bIns="0" rtlCol="0" anchor="ctr"/>
          <a:lstStyle/>
          <a:p>
            <a:pPr algn="l" indent="0" marL="0">
              <a:lnSpc>
                <a:spcPts val="1350"/>
              </a:lnSpc>
              <a:buNone/>
            </a:pPr>
            <a:r>
              <a:rPr lang="en-US" sz="1050" dirty="0">
                <a:solidFill>
                  <a:srgbClr val="5B4A41"/>
                </a:solidFill>
                <a:latin typeface="Calibri" pitchFamily="34" charset="0"/>
                <a:ea typeface="Calibri" pitchFamily="34" charset="-122"/>
                <a:cs typeface="Calibri" pitchFamily="34" charset="-120"/>
              </a:rPr>
              <a:t>Trazabilidad de lotes orgánicos y motor de bonos por termo.</a:t>
            </a:r>
            <a:endParaRPr lang="en-US" sz="1050" dirty="0"/>
          </a:p>
        </p:txBody>
      </p:sp>
      <p:sp>
        <p:nvSpPr>
          <p:cNvPr id="58" name="Shape 56"/>
          <p:cNvSpPr/>
          <p:nvPr/>
        </p:nvSpPr>
        <p:spPr>
          <a:xfrm>
            <a:off x="9235440" y="4892040"/>
            <a:ext cx="2404872" cy="566928"/>
          </a:xfrm>
          <a:prstGeom prst="rect">
            <a:avLst/>
          </a:prstGeom>
          <a:solidFill>
            <a:srgbClr val="FDF3EE"/>
          </a:solidFill>
          <a:ln/>
        </p:spPr>
      </p:sp>
      <p:sp>
        <p:nvSpPr>
          <p:cNvPr id="59" name="Text 57"/>
          <p:cNvSpPr txBox="1"/>
          <p:nvPr/>
        </p:nvSpPr>
        <p:spPr>
          <a:xfrm>
            <a:off x="9308592" y="4892040"/>
            <a:ext cx="2258568" cy="566928"/>
          </a:xfrm>
          <a:prstGeom prst="rect">
            <a:avLst/>
          </a:prstGeom>
          <a:noFill/>
          <a:ln/>
        </p:spPr>
        <p:txBody>
          <a:bodyPr wrap="square" lIns="0" tIns="0" rIns="0" bIns="0" rtlCol="0" anchor="ctr"/>
          <a:lstStyle/>
          <a:p>
            <a:pPr algn="l" indent="0" marL="0">
              <a:lnSpc>
                <a:spcPts val="1350"/>
              </a:lnSpc>
              <a:buNone/>
            </a:pPr>
            <a:r>
              <a:rPr lang="en-US" sz="1050" b="1" dirty="0">
                <a:solidFill>
                  <a:srgbClr val="5F7355"/>
                </a:solidFill>
                <a:latin typeface="Calibri" pitchFamily="34" charset="0"/>
                <a:ea typeface="Calibri" pitchFamily="34" charset="-122"/>
                <a:cs typeface="Calibri" pitchFamily="34" charset="-120"/>
              </a:rPr>
              <a:t>100% lotes con origen.</a:t>
            </a:r>
            <a:endParaRPr lang="en-US" sz="1050" dirty="0"/>
          </a:p>
        </p:txBody>
      </p:sp>
      <p:sp>
        <p:nvSpPr>
          <p:cNvPr id="60" name="Shape 58"/>
          <p:cNvSpPr/>
          <p:nvPr/>
        </p:nvSpPr>
        <p:spPr>
          <a:xfrm>
            <a:off x="548640" y="5458968"/>
            <a:ext cx="1280160" cy="566928"/>
          </a:xfrm>
          <a:prstGeom prst="rect">
            <a:avLst/>
          </a:prstGeom>
          <a:solidFill>
            <a:srgbClr val="FFFFFF"/>
          </a:solidFill>
          <a:ln/>
        </p:spPr>
      </p:sp>
      <p:sp>
        <p:nvSpPr>
          <p:cNvPr id="61" name="Text 59"/>
          <p:cNvSpPr txBox="1"/>
          <p:nvPr/>
        </p:nvSpPr>
        <p:spPr>
          <a:xfrm>
            <a:off x="621792" y="5458968"/>
            <a:ext cx="1133856" cy="566928"/>
          </a:xfrm>
          <a:prstGeom prst="rect">
            <a:avLst/>
          </a:prstGeom>
          <a:noFill/>
          <a:ln/>
        </p:spPr>
        <p:txBody>
          <a:bodyPr wrap="square" lIns="0" tIns="0" rIns="0" bIns="0" rtlCol="0" anchor="ctr"/>
          <a:lstStyle/>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Sprint 7</a:t>
            </a:r>
            <a:endParaRPr lang="en-US" sz="1050" dirty="0"/>
          </a:p>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(Sem 13-14)</a:t>
            </a:r>
            <a:endParaRPr lang="en-US" sz="1050" dirty="0"/>
          </a:p>
        </p:txBody>
      </p:sp>
      <p:sp>
        <p:nvSpPr>
          <p:cNvPr id="62" name="Shape 60"/>
          <p:cNvSpPr/>
          <p:nvPr/>
        </p:nvSpPr>
        <p:spPr>
          <a:xfrm>
            <a:off x="1828800" y="5458968"/>
            <a:ext cx="1920240" cy="566928"/>
          </a:xfrm>
          <a:prstGeom prst="rect">
            <a:avLst/>
          </a:prstGeom>
          <a:solidFill>
            <a:srgbClr val="FFFFFF"/>
          </a:solidFill>
          <a:ln/>
        </p:spPr>
      </p:sp>
      <p:sp>
        <p:nvSpPr>
          <p:cNvPr id="63" name="Text 61"/>
          <p:cNvSpPr txBox="1"/>
          <p:nvPr/>
        </p:nvSpPr>
        <p:spPr>
          <a:xfrm>
            <a:off x="1901952" y="5458968"/>
            <a:ext cx="1773936" cy="566928"/>
          </a:xfrm>
          <a:prstGeom prst="rect">
            <a:avLst/>
          </a:prstGeom>
          <a:noFill/>
          <a:ln/>
        </p:spPr>
        <p:txBody>
          <a:bodyPr wrap="square" lIns="0" tIns="0" rIns="0" bIns="0" rtlCol="0" anchor="ctr"/>
          <a:lstStyle/>
          <a:p>
            <a:pPr algn="l" indent="0" marL="0">
              <a:lnSpc>
                <a:spcPts val="1350"/>
              </a:lnSpc>
              <a:buNone/>
            </a:pPr>
            <a:r>
              <a:rPr lang="en-US" sz="1050" b="1" dirty="0">
                <a:solidFill>
                  <a:srgbClr val="4B3B33"/>
                </a:solidFill>
                <a:latin typeface="Calibri" pitchFamily="34" charset="0"/>
                <a:ea typeface="Calibri" pitchFamily="34" charset="-122"/>
                <a:cs typeface="Calibri" pitchFamily="34" charset="-120"/>
              </a:rPr>
              <a:t>Fase 5 y 6: Admin &amp; QA</a:t>
            </a:r>
            <a:endParaRPr lang="en-US" sz="1050" dirty="0"/>
          </a:p>
        </p:txBody>
      </p:sp>
      <p:sp>
        <p:nvSpPr>
          <p:cNvPr id="64" name="Shape 62"/>
          <p:cNvSpPr/>
          <p:nvPr/>
        </p:nvSpPr>
        <p:spPr>
          <a:xfrm>
            <a:off x="3749040" y="5458968"/>
            <a:ext cx="5486400" cy="566928"/>
          </a:xfrm>
          <a:prstGeom prst="rect">
            <a:avLst/>
          </a:prstGeom>
          <a:solidFill>
            <a:srgbClr val="FFFFFF"/>
          </a:solidFill>
          <a:ln/>
        </p:spPr>
      </p:sp>
      <p:sp>
        <p:nvSpPr>
          <p:cNvPr id="65" name="Text 63"/>
          <p:cNvSpPr txBox="1"/>
          <p:nvPr/>
        </p:nvSpPr>
        <p:spPr>
          <a:xfrm>
            <a:off x="3822192" y="5458968"/>
            <a:ext cx="5340096" cy="566928"/>
          </a:xfrm>
          <a:prstGeom prst="rect">
            <a:avLst/>
          </a:prstGeom>
          <a:noFill/>
          <a:ln/>
        </p:spPr>
        <p:txBody>
          <a:bodyPr wrap="square" lIns="0" tIns="0" rIns="0" bIns="0" rtlCol="0" anchor="ctr"/>
          <a:lstStyle/>
          <a:p>
            <a:pPr algn="l" indent="0" marL="0">
              <a:lnSpc>
                <a:spcPts val="1350"/>
              </a:lnSpc>
              <a:buNone/>
            </a:pPr>
            <a:r>
              <a:rPr lang="en-US" sz="1050" dirty="0">
                <a:solidFill>
                  <a:srgbClr val="5B4A41"/>
                </a:solidFill>
                <a:latin typeface="Calibri" pitchFamily="34" charset="0"/>
                <a:ea typeface="Calibri" pitchFamily="34" charset="-122"/>
                <a:cs typeface="Calibri" pitchFamily="34" charset="-120"/>
              </a:rPr>
              <a:t>Dashboard analítico UTM, auditoría DLQ y testing Playwright.</a:t>
            </a:r>
            <a:endParaRPr lang="en-US" sz="1050" dirty="0"/>
          </a:p>
        </p:txBody>
      </p:sp>
      <p:sp>
        <p:nvSpPr>
          <p:cNvPr id="66" name="Shape 64"/>
          <p:cNvSpPr/>
          <p:nvPr/>
        </p:nvSpPr>
        <p:spPr>
          <a:xfrm>
            <a:off x="9235440" y="5458968"/>
            <a:ext cx="2404872" cy="566928"/>
          </a:xfrm>
          <a:prstGeom prst="rect">
            <a:avLst/>
          </a:prstGeom>
          <a:solidFill>
            <a:srgbClr val="FFFFFF"/>
          </a:solidFill>
          <a:ln/>
        </p:spPr>
      </p:sp>
      <p:sp>
        <p:nvSpPr>
          <p:cNvPr id="67" name="Text 65"/>
          <p:cNvSpPr txBox="1"/>
          <p:nvPr/>
        </p:nvSpPr>
        <p:spPr>
          <a:xfrm>
            <a:off x="9308592" y="5458968"/>
            <a:ext cx="2258568" cy="566928"/>
          </a:xfrm>
          <a:prstGeom prst="rect">
            <a:avLst/>
          </a:prstGeom>
          <a:noFill/>
          <a:ln/>
        </p:spPr>
        <p:txBody>
          <a:bodyPr wrap="square" lIns="0" tIns="0" rIns="0" bIns="0" rtlCol="0" anchor="ctr"/>
          <a:lstStyle/>
          <a:p>
            <a:pPr algn="l" indent="0" marL="0">
              <a:lnSpc>
                <a:spcPts val="1350"/>
              </a:lnSpc>
              <a:buNone/>
            </a:pPr>
            <a:r>
              <a:rPr lang="en-US" sz="1050" b="1" dirty="0">
                <a:solidFill>
                  <a:srgbClr val="5F7355"/>
                </a:solidFill>
                <a:latin typeface="Calibri" pitchFamily="34" charset="0"/>
                <a:ea typeface="Calibri" pitchFamily="34" charset="-122"/>
                <a:cs typeface="Calibri" pitchFamily="34" charset="-120"/>
              </a:rPr>
              <a:t>Cobertura de código &gt;85%.</a:t>
            </a:r>
            <a:endParaRPr lang="en-US" sz="1050" dirty="0"/>
          </a:p>
        </p:txBody>
      </p:sp>
      <p:sp>
        <p:nvSpPr>
          <p:cNvPr id="68" name="Shape 66"/>
          <p:cNvSpPr/>
          <p:nvPr/>
        </p:nvSpPr>
        <p:spPr>
          <a:xfrm>
            <a:off x="548640" y="6025896"/>
            <a:ext cx="1280160" cy="566928"/>
          </a:xfrm>
          <a:prstGeom prst="rect">
            <a:avLst/>
          </a:prstGeom>
          <a:solidFill>
            <a:srgbClr val="FDF3EE"/>
          </a:solidFill>
          <a:ln/>
        </p:spPr>
      </p:sp>
      <p:sp>
        <p:nvSpPr>
          <p:cNvPr id="69" name="Text 67"/>
          <p:cNvSpPr txBox="1"/>
          <p:nvPr/>
        </p:nvSpPr>
        <p:spPr>
          <a:xfrm>
            <a:off x="621792" y="6025896"/>
            <a:ext cx="1133856" cy="566928"/>
          </a:xfrm>
          <a:prstGeom prst="rect">
            <a:avLst/>
          </a:prstGeom>
          <a:noFill/>
          <a:ln/>
        </p:spPr>
        <p:txBody>
          <a:bodyPr wrap="square" lIns="0" tIns="0" rIns="0" bIns="0" rtlCol="0" anchor="ctr"/>
          <a:lstStyle/>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Sprint 8</a:t>
            </a:r>
            <a:endParaRPr lang="en-US" sz="1050" dirty="0"/>
          </a:p>
          <a:p>
            <a:pPr algn="l" indent="0" marL="0">
              <a:lnSpc>
                <a:spcPts val="1350"/>
              </a:lnSpc>
              <a:buNone/>
            </a:pPr>
            <a:r>
              <a:rPr lang="en-US" sz="1050" b="1" dirty="0">
                <a:solidFill>
                  <a:srgbClr val="C97567"/>
                </a:solidFill>
                <a:latin typeface="Calibri" pitchFamily="34" charset="0"/>
                <a:ea typeface="Calibri" pitchFamily="34" charset="-122"/>
                <a:cs typeface="Calibri" pitchFamily="34" charset="-120"/>
              </a:rPr>
              <a:t>(Sem 15-16)</a:t>
            </a:r>
            <a:endParaRPr lang="en-US" sz="1050" dirty="0"/>
          </a:p>
        </p:txBody>
      </p:sp>
      <p:sp>
        <p:nvSpPr>
          <p:cNvPr id="70" name="Shape 68"/>
          <p:cNvSpPr/>
          <p:nvPr/>
        </p:nvSpPr>
        <p:spPr>
          <a:xfrm>
            <a:off x="1828800" y="6025896"/>
            <a:ext cx="1920240" cy="566928"/>
          </a:xfrm>
          <a:prstGeom prst="rect">
            <a:avLst/>
          </a:prstGeom>
          <a:solidFill>
            <a:srgbClr val="FDF3EE"/>
          </a:solidFill>
          <a:ln/>
        </p:spPr>
      </p:sp>
      <p:sp>
        <p:nvSpPr>
          <p:cNvPr id="71" name="Text 69"/>
          <p:cNvSpPr txBox="1"/>
          <p:nvPr/>
        </p:nvSpPr>
        <p:spPr>
          <a:xfrm>
            <a:off x="1901952" y="6025896"/>
            <a:ext cx="1773936" cy="566928"/>
          </a:xfrm>
          <a:prstGeom prst="rect">
            <a:avLst/>
          </a:prstGeom>
          <a:noFill/>
          <a:ln/>
        </p:spPr>
        <p:txBody>
          <a:bodyPr wrap="square" lIns="0" tIns="0" rIns="0" bIns="0" rtlCol="0" anchor="ctr"/>
          <a:lstStyle/>
          <a:p>
            <a:pPr algn="l" indent="0" marL="0">
              <a:lnSpc>
                <a:spcPts val="1350"/>
              </a:lnSpc>
              <a:buNone/>
            </a:pPr>
            <a:r>
              <a:rPr lang="en-US" sz="1050" b="1" dirty="0">
                <a:solidFill>
                  <a:srgbClr val="4B3B33"/>
                </a:solidFill>
                <a:latin typeface="Calibri" pitchFamily="34" charset="0"/>
                <a:ea typeface="Calibri" pitchFamily="34" charset="-122"/>
                <a:cs typeface="Calibri" pitchFamily="34" charset="-120"/>
              </a:rPr>
              <a:t>Fase 7: Cloud &amp; Release</a:t>
            </a:r>
            <a:endParaRPr lang="en-US" sz="1050" dirty="0"/>
          </a:p>
        </p:txBody>
      </p:sp>
      <p:sp>
        <p:nvSpPr>
          <p:cNvPr id="72" name="Shape 70"/>
          <p:cNvSpPr/>
          <p:nvPr/>
        </p:nvSpPr>
        <p:spPr>
          <a:xfrm>
            <a:off x="3749040" y="6025896"/>
            <a:ext cx="5486400" cy="566928"/>
          </a:xfrm>
          <a:prstGeom prst="rect">
            <a:avLst/>
          </a:prstGeom>
          <a:solidFill>
            <a:srgbClr val="FDF3EE"/>
          </a:solidFill>
          <a:ln/>
        </p:spPr>
      </p:sp>
      <p:sp>
        <p:nvSpPr>
          <p:cNvPr id="73" name="Text 71"/>
          <p:cNvSpPr txBox="1"/>
          <p:nvPr/>
        </p:nvSpPr>
        <p:spPr>
          <a:xfrm>
            <a:off x="3822192" y="6025896"/>
            <a:ext cx="5340096" cy="566928"/>
          </a:xfrm>
          <a:prstGeom prst="rect">
            <a:avLst/>
          </a:prstGeom>
          <a:noFill/>
          <a:ln/>
        </p:spPr>
        <p:txBody>
          <a:bodyPr wrap="square" lIns="0" tIns="0" rIns="0" bIns="0" rtlCol="0" anchor="ctr"/>
          <a:lstStyle/>
          <a:p>
            <a:pPr algn="l" indent="0" marL="0">
              <a:lnSpc>
                <a:spcPts val="1350"/>
              </a:lnSpc>
              <a:buNone/>
            </a:pPr>
            <a:r>
              <a:rPr lang="en-US" sz="1050" dirty="0">
                <a:solidFill>
                  <a:srgbClr val="5B4A41"/>
                </a:solidFill>
                <a:latin typeface="Calibri" pitchFamily="34" charset="0"/>
                <a:ea typeface="Calibri" pitchFamily="34" charset="-122"/>
                <a:cs typeface="Calibri" pitchFamily="34" charset="-120"/>
              </a:rPr>
              <a:t>Despliegue en GCP Cloud Run con Terraform y auditoría OWASP.</a:t>
            </a:r>
            <a:endParaRPr lang="en-US" sz="1050" dirty="0"/>
          </a:p>
        </p:txBody>
      </p:sp>
      <p:sp>
        <p:nvSpPr>
          <p:cNvPr id="74" name="Shape 72"/>
          <p:cNvSpPr/>
          <p:nvPr/>
        </p:nvSpPr>
        <p:spPr>
          <a:xfrm>
            <a:off x="9235440" y="6025896"/>
            <a:ext cx="2404872" cy="566928"/>
          </a:xfrm>
          <a:prstGeom prst="rect">
            <a:avLst/>
          </a:prstGeom>
          <a:solidFill>
            <a:srgbClr val="FDF3EE"/>
          </a:solidFill>
          <a:ln/>
        </p:spPr>
      </p:sp>
      <p:sp>
        <p:nvSpPr>
          <p:cNvPr id="75" name="Text 73"/>
          <p:cNvSpPr txBox="1"/>
          <p:nvPr/>
        </p:nvSpPr>
        <p:spPr>
          <a:xfrm>
            <a:off x="9308592" y="6025896"/>
            <a:ext cx="2258568" cy="566928"/>
          </a:xfrm>
          <a:prstGeom prst="rect">
            <a:avLst/>
          </a:prstGeom>
          <a:noFill/>
          <a:ln/>
        </p:spPr>
        <p:txBody>
          <a:bodyPr wrap="square" lIns="0" tIns="0" rIns="0" bIns="0" rtlCol="0" anchor="ctr"/>
          <a:lstStyle/>
          <a:p>
            <a:pPr algn="l" indent="0" marL="0">
              <a:lnSpc>
                <a:spcPts val="1350"/>
              </a:lnSpc>
              <a:buNone/>
            </a:pPr>
            <a:r>
              <a:rPr lang="en-US" sz="1050" b="1" dirty="0">
                <a:solidFill>
                  <a:srgbClr val="5F7355"/>
                </a:solidFill>
                <a:latin typeface="Calibri" pitchFamily="34" charset="0"/>
                <a:ea typeface="Calibri" pitchFamily="34" charset="-122"/>
                <a:cs typeface="Calibri" pitchFamily="34" charset="-120"/>
              </a:rPr>
              <a:t>Uptime &gt;99.5%, p95 &lt;250ms.</a:t>
            </a:r>
            <a:endParaRPr lang="en-US" sz="1050" dirty="0"/>
          </a:p>
        </p:txBody>
      </p:sp>
      <p:sp>
        <p:nvSpPr>
          <p:cNvPr id="76" name="Text 74"/>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77" name="Text 75"/>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8. Organización: Marco Ágil SCRUM y Asignación de Roles</a:t>
            </a:r>
            <a:endParaRPr lang="en-US" sz="2500" dirty="0"/>
          </a:p>
        </p:txBody>
      </p:sp>
      <p:sp>
        <p:nvSpPr>
          <p:cNvPr id="4" name="Text 2"/>
          <p:cNvSpPr txBox="1"/>
          <p:nvPr/>
        </p:nvSpPr>
        <p:spPr>
          <a:xfrm>
            <a:off x="548640" y="1554480"/>
            <a:ext cx="5349240" cy="274320"/>
          </a:xfrm>
          <a:prstGeom prst="rect">
            <a:avLst/>
          </a:prstGeom>
          <a:noFill/>
          <a:ln/>
        </p:spPr>
        <p:txBody>
          <a:bodyPr wrap="square" lIns="0" tIns="0" rIns="0" bIns="0" rtlCol="0" anchor="ctr"/>
          <a:lstStyle/>
          <a:p>
            <a:pPr indent="0" marL="0">
              <a:buNone/>
            </a:pPr>
            <a:r>
              <a:rPr lang="en-US" sz="1100" b="1" spc="100" kern="0" dirty="0">
                <a:solidFill>
                  <a:srgbClr val="C97567"/>
                </a:solidFill>
                <a:latin typeface="Calibri" pitchFamily="34" charset="0"/>
                <a:ea typeface="Calibri" pitchFamily="34" charset="-122"/>
                <a:cs typeface="Calibri" pitchFamily="34" charset="-120"/>
              </a:rPr>
              <a:t>ROLES DEL EQUIPO SCRUM (ALINEADOS A ODS)</a:t>
            </a:r>
            <a:endParaRPr lang="en-US" sz="1100" dirty="0"/>
          </a:p>
        </p:txBody>
      </p:sp>
      <p:sp>
        <p:nvSpPr>
          <p:cNvPr id="5" name="Shape 3"/>
          <p:cNvSpPr/>
          <p:nvPr/>
        </p:nvSpPr>
        <p:spPr>
          <a:xfrm>
            <a:off x="548640" y="2231136"/>
            <a:ext cx="548640" cy="548640"/>
          </a:xfrm>
          <a:prstGeom prst="ellipse">
            <a:avLst/>
          </a:prstGeom>
          <a:solidFill>
            <a:srgbClr val="C97567"/>
          </a:solidFill>
          <a:ln/>
        </p:spPr>
      </p:sp>
      <p:pic>
        <p:nvPicPr>
          <p:cNvPr id="6" name="Image 0" descr="/home/claude/icons/usertie.png">    </p:cNvPr>
          <p:cNvPicPr>
            <a:picLocks noChangeAspect="1"/>
          </p:cNvPicPr>
          <p:nvPr/>
        </p:nvPicPr>
        <p:blipFill>
          <a:blip r:embed="rId1"/>
          <a:stretch>
            <a:fillRect/>
          </a:stretch>
        </p:blipFill>
        <p:spPr>
          <a:xfrm>
            <a:off x="622706" y="2305202"/>
            <a:ext cx="400507" cy="400507"/>
          </a:xfrm>
          <a:prstGeom prst="rect">
            <a:avLst/>
          </a:prstGeom>
        </p:spPr>
      </p:pic>
      <p:sp>
        <p:nvSpPr>
          <p:cNvPr id="7" name="Text 4"/>
          <p:cNvSpPr txBox="1"/>
          <p:nvPr/>
        </p:nvSpPr>
        <p:spPr>
          <a:xfrm>
            <a:off x="1325880" y="1965960"/>
            <a:ext cx="4572000" cy="292608"/>
          </a:xfrm>
          <a:prstGeom prst="rect">
            <a:avLst/>
          </a:prstGeom>
          <a:noFill/>
          <a:ln/>
        </p:spPr>
        <p:txBody>
          <a:bodyPr wrap="square" lIns="0" tIns="0" rIns="0" bIns="0" rtlCol="0" anchor="ctr"/>
          <a:lstStyle/>
          <a:p>
            <a:pPr indent="0" marL="0">
              <a:buNone/>
            </a:pPr>
            <a:r>
              <a:rPr lang="en-US" sz="1250" b="1" dirty="0">
                <a:solidFill>
                  <a:srgbClr val="4B3B33"/>
                </a:solidFill>
                <a:latin typeface="Cambria" pitchFamily="34" charset="0"/>
                <a:ea typeface="Cambria" pitchFamily="34" charset="-122"/>
                <a:cs typeface="Cambria" pitchFamily="34" charset="-120"/>
              </a:rPr>
              <a:t>Product Owner / Stakeholder</a:t>
            </a:r>
            <a:endParaRPr lang="en-US" sz="1250" dirty="0"/>
          </a:p>
        </p:txBody>
      </p:sp>
      <p:sp>
        <p:nvSpPr>
          <p:cNvPr id="8" name="Text 5"/>
          <p:cNvSpPr txBox="1"/>
          <p:nvPr/>
        </p:nvSpPr>
        <p:spPr>
          <a:xfrm>
            <a:off x="1325880" y="2258568"/>
            <a:ext cx="4572000" cy="841248"/>
          </a:xfrm>
          <a:prstGeom prst="rect">
            <a:avLst/>
          </a:prstGeom>
          <a:noFill/>
          <a:ln/>
        </p:spPr>
        <p:txBody>
          <a:bodyPr wrap="square" lIns="0" tIns="0" rIns="0" bIns="0" rtlCol="0" anchor="ctr"/>
          <a:lstStyle/>
          <a:p>
            <a:pPr indent="0" marL="0">
              <a:lnSpc>
                <a:spcPts val="1450"/>
              </a:lnSpc>
              <a:buNone/>
            </a:pPr>
            <a:r>
              <a:rPr lang="en-US" sz="1000" dirty="0">
                <a:solidFill>
                  <a:srgbClr val="5B4A41"/>
                </a:solidFill>
                <a:latin typeface="Calibri" pitchFamily="34" charset="0"/>
                <a:ea typeface="Calibri" pitchFamily="34" charset="-122"/>
                <a:cs typeface="Calibri" pitchFamily="34" charset="-120"/>
              </a:rPr>
              <a:t>Define historias de usuario, prioriza el Product Backlog según ROI y valida la conformidad con los lineamientos ODS.</a:t>
            </a:r>
            <a:endParaRPr lang="en-US" sz="1000" dirty="0"/>
          </a:p>
        </p:txBody>
      </p:sp>
      <p:sp>
        <p:nvSpPr>
          <p:cNvPr id="9" name="Shape 6"/>
          <p:cNvSpPr/>
          <p:nvPr/>
        </p:nvSpPr>
        <p:spPr>
          <a:xfrm>
            <a:off x="548640" y="3026664"/>
            <a:ext cx="5349240" cy="9144"/>
          </a:xfrm>
          <a:prstGeom prst="rect">
            <a:avLst/>
          </a:prstGeom>
          <a:solidFill>
            <a:srgbClr val="E8DCD4"/>
          </a:solidFill>
          <a:ln/>
        </p:spPr>
      </p:sp>
      <p:sp>
        <p:nvSpPr>
          <p:cNvPr id="10" name="Shape 7"/>
          <p:cNvSpPr/>
          <p:nvPr/>
        </p:nvSpPr>
        <p:spPr>
          <a:xfrm>
            <a:off x="548640" y="3401568"/>
            <a:ext cx="548640" cy="548640"/>
          </a:xfrm>
          <a:prstGeom prst="ellipse">
            <a:avLst/>
          </a:prstGeom>
          <a:solidFill>
            <a:srgbClr val="E08D80"/>
          </a:solidFill>
          <a:ln/>
        </p:spPr>
      </p:sp>
      <p:pic>
        <p:nvPicPr>
          <p:cNvPr id="11" name="Image 1" descr="/home/claude/monchis2/icons/code.png">    </p:cNvPr>
          <p:cNvPicPr>
            <a:picLocks noChangeAspect="1"/>
          </p:cNvPicPr>
          <p:nvPr/>
        </p:nvPicPr>
        <p:blipFill>
          <a:blip r:embed="rId2"/>
          <a:stretch>
            <a:fillRect/>
          </a:stretch>
        </p:blipFill>
        <p:spPr>
          <a:xfrm>
            <a:off x="622706" y="3475634"/>
            <a:ext cx="400507" cy="400507"/>
          </a:xfrm>
          <a:prstGeom prst="rect">
            <a:avLst/>
          </a:prstGeom>
        </p:spPr>
      </p:pic>
      <p:sp>
        <p:nvSpPr>
          <p:cNvPr id="12" name="Text 8"/>
          <p:cNvSpPr txBox="1"/>
          <p:nvPr/>
        </p:nvSpPr>
        <p:spPr>
          <a:xfrm>
            <a:off x="1325880" y="3136392"/>
            <a:ext cx="4572000" cy="292608"/>
          </a:xfrm>
          <a:prstGeom prst="rect">
            <a:avLst/>
          </a:prstGeom>
          <a:noFill/>
          <a:ln/>
        </p:spPr>
        <p:txBody>
          <a:bodyPr wrap="square" lIns="0" tIns="0" rIns="0" bIns="0" rtlCol="0" anchor="ctr"/>
          <a:lstStyle/>
          <a:p>
            <a:pPr indent="0" marL="0">
              <a:buNone/>
            </a:pPr>
            <a:r>
              <a:rPr lang="en-US" sz="1250" b="1" dirty="0">
                <a:solidFill>
                  <a:srgbClr val="4B3B33"/>
                </a:solidFill>
                <a:latin typeface="Cambria" pitchFamily="34" charset="0"/>
                <a:ea typeface="Cambria" pitchFamily="34" charset="-122"/>
                <a:cs typeface="Cambria" pitchFamily="34" charset="-120"/>
              </a:rPr>
              <a:t>Scrum Master — Ernesto Fierro</a:t>
            </a:r>
            <a:endParaRPr lang="en-US" sz="1250" dirty="0"/>
          </a:p>
        </p:txBody>
      </p:sp>
      <p:sp>
        <p:nvSpPr>
          <p:cNvPr id="13" name="Text 9"/>
          <p:cNvSpPr txBox="1"/>
          <p:nvPr/>
        </p:nvSpPr>
        <p:spPr>
          <a:xfrm>
            <a:off x="1325880" y="3429000"/>
            <a:ext cx="4572000" cy="841248"/>
          </a:xfrm>
          <a:prstGeom prst="rect">
            <a:avLst/>
          </a:prstGeom>
          <a:noFill/>
          <a:ln/>
        </p:spPr>
        <p:txBody>
          <a:bodyPr wrap="square" lIns="0" tIns="0" rIns="0" bIns="0" rtlCol="0" anchor="ctr"/>
          <a:lstStyle/>
          <a:p>
            <a:pPr indent="0" marL="0">
              <a:lnSpc>
                <a:spcPts val="1450"/>
              </a:lnSpc>
              <a:buNone/>
            </a:pPr>
            <a:r>
              <a:rPr lang="en-US" sz="1000" dirty="0">
                <a:solidFill>
                  <a:srgbClr val="5B4A41"/>
                </a:solidFill>
                <a:latin typeface="Calibri" pitchFamily="34" charset="0"/>
                <a:ea typeface="Calibri" pitchFamily="34" charset="-122"/>
                <a:cs typeface="Calibri" pitchFamily="34" charset="-120"/>
              </a:rPr>
              <a:t>Facilita la disciplina ágil, remueve impedimentos de CI/CD, vela por un ritmo sostenible (ODS 8) y administra el presupuesto.</a:t>
            </a:r>
            <a:endParaRPr lang="en-US" sz="1000" dirty="0"/>
          </a:p>
        </p:txBody>
      </p:sp>
      <p:sp>
        <p:nvSpPr>
          <p:cNvPr id="14" name="Shape 10"/>
          <p:cNvSpPr/>
          <p:nvPr/>
        </p:nvSpPr>
        <p:spPr>
          <a:xfrm>
            <a:off x="548640" y="4197096"/>
            <a:ext cx="5349240" cy="9144"/>
          </a:xfrm>
          <a:prstGeom prst="rect">
            <a:avLst/>
          </a:prstGeom>
          <a:solidFill>
            <a:srgbClr val="E8DCD4"/>
          </a:solidFill>
          <a:ln/>
        </p:spPr>
      </p:sp>
      <p:sp>
        <p:nvSpPr>
          <p:cNvPr id="15" name="Shape 11"/>
          <p:cNvSpPr/>
          <p:nvPr/>
        </p:nvSpPr>
        <p:spPr>
          <a:xfrm>
            <a:off x="548640" y="4572000"/>
            <a:ext cx="548640" cy="548640"/>
          </a:xfrm>
          <a:prstGeom prst="ellipse">
            <a:avLst/>
          </a:prstGeom>
          <a:solidFill>
            <a:srgbClr val="7C9473"/>
          </a:solidFill>
          <a:ln/>
        </p:spPr>
      </p:sp>
      <p:pic>
        <p:nvPicPr>
          <p:cNvPr id="16" name="Image 2" descr="/home/claude/icons/usercog.png">    </p:cNvPr>
          <p:cNvPicPr>
            <a:picLocks noChangeAspect="1"/>
          </p:cNvPicPr>
          <p:nvPr/>
        </p:nvPicPr>
        <p:blipFill>
          <a:blip r:embed="rId3"/>
          <a:stretch>
            <a:fillRect/>
          </a:stretch>
        </p:blipFill>
        <p:spPr>
          <a:xfrm>
            <a:off x="622706" y="4646066"/>
            <a:ext cx="400507" cy="400507"/>
          </a:xfrm>
          <a:prstGeom prst="rect">
            <a:avLst/>
          </a:prstGeom>
        </p:spPr>
      </p:pic>
      <p:sp>
        <p:nvSpPr>
          <p:cNvPr id="17" name="Text 12"/>
          <p:cNvSpPr txBox="1"/>
          <p:nvPr/>
        </p:nvSpPr>
        <p:spPr>
          <a:xfrm>
            <a:off x="1325880" y="4306824"/>
            <a:ext cx="4572000" cy="292608"/>
          </a:xfrm>
          <a:prstGeom prst="rect">
            <a:avLst/>
          </a:prstGeom>
          <a:noFill/>
          <a:ln/>
        </p:spPr>
        <p:txBody>
          <a:bodyPr wrap="square" lIns="0" tIns="0" rIns="0" bIns="0" rtlCol="0" anchor="ctr"/>
          <a:lstStyle/>
          <a:p>
            <a:pPr indent="0" marL="0">
              <a:buNone/>
            </a:pPr>
            <a:r>
              <a:rPr lang="en-US" sz="1250" b="1" dirty="0">
                <a:solidFill>
                  <a:srgbClr val="4B3B33"/>
                </a:solidFill>
                <a:latin typeface="Cambria" pitchFamily="34" charset="0"/>
                <a:ea typeface="Cambria" pitchFamily="34" charset="-122"/>
                <a:cs typeface="Cambria" pitchFamily="34" charset="-120"/>
              </a:rPr>
              <a:t>Development Team (Full-Stack &amp; DevOps)</a:t>
            </a:r>
            <a:endParaRPr lang="en-US" sz="1250" dirty="0"/>
          </a:p>
        </p:txBody>
      </p:sp>
      <p:sp>
        <p:nvSpPr>
          <p:cNvPr id="18" name="Text 13"/>
          <p:cNvSpPr txBox="1"/>
          <p:nvPr/>
        </p:nvSpPr>
        <p:spPr>
          <a:xfrm>
            <a:off x="1325880" y="4599432"/>
            <a:ext cx="4572000" cy="841248"/>
          </a:xfrm>
          <a:prstGeom prst="rect">
            <a:avLst/>
          </a:prstGeom>
          <a:noFill/>
          <a:ln/>
        </p:spPr>
        <p:txBody>
          <a:bodyPr wrap="square" lIns="0" tIns="0" rIns="0" bIns="0" rtlCol="0" anchor="ctr"/>
          <a:lstStyle/>
          <a:p>
            <a:pPr indent="0" marL="0">
              <a:lnSpc>
                <a:spcPts val="1450"/>
              </a:lnSpc>
              <a:buNone/>
            </a:pPr>
            <a:r>
              <a:rPr lang="en-US" sz="1000" dirty="0">
                <a:solidFill>
                  <a:srgbClr val="5B4A41"/>
                </a:solidFill>
                <a:latin typeface="Calibri" pitchFamily="34" charset="0"/>
                <a:ea typeface="Calibri" pitchFamily="34" charset="-122"/>
                <a:cs typeface="Calibri" pitchFamily="34" charset="-120"/>
              </a:rPr>
              <a:t>Responsables del incremento funcional: arquitectura en contenedores, APIs tipadas, frontend reactivo y orquestación Saga.</a:t>
            </a:r>
            <a:endParaRPr lang="en-US" sz="1000" dirty="0"/>
          </a:p>
        </p:txBody>
      </p:sp>
      <p:sp>
        <p:nvSpPr>
          <p:cNvPr id="19" name="Shape 14"/>
          <p:cNvSpPr/>
          <p:nvPr/>
        </p:nvSpPr>
        <p:spPr>
          <a:xfrm>
            <a:off x="548640" y="5367528"/>
            <a:ext cx="5349240" cy="9144"/>
          </a:xfrm>
          <a:prstGeom prst="rect">
            <a:avLst/>
          </a:prstGeom>
          <a:solidFill>
            <a:srgbClr val="E8DCD4"/>
          </a:solidFill>
          <a:ln/>
        </p:spPr>
      </p:sp>
      <p:sp>
        <p:nvSpPr>
          <p:cNvPr id="20" name="Shape 15"/>
          <p:cNvSpPr/>
          <p:nvPr/>
        </p:nvSpPr>
        <p:spPr>
          <a:xfrm>
            <a:off x="548640" y="5742432"/>
            <a:ext cx="548640" cy="548640"/>
          </a:xfrm>
          <a:prstGeom prst="ellipse">
            <a:avLst/>
          </a:prstGeom>
          <a:solidFill>
            <a:srgbClr val="5F7355"/>
          </a:solidFill>
          <a:ln/>
        </p:spPr>
      </p:sp>
      <p:pic>
        <p:nvPicPr>
          <p:cNvPr id="21" name="Image 3" descr="/home/claude/icons/shield.png">    </p:cNvPr>
          <p:cNvPicPr>
            <a:picLocks noChangeAspect="1"/>
          </p:cNvPicPr>
          <p:nvPr/>
        </p:nvPicPr>
        <p:blipFill>
          <a:blip r:embed="rId4"/>
          <a:stretch>
            <a:fillRect/>
          </a:stretch>
        </p:blipFill>
        <p:spPr>
          <a:xfrm>
            <a:off x="622706" y="5816498"/>
            <a:ext cx="400507" cy="400507"/>
          </a:xfrm>
          <a:prstGeom prst="rect">
            <a:avLst/>
          </a:prstGeom>
        </p:spPr>
      </p:pic>
      <p:sp>
        <p:nvSpPr>
          <p:cNvPr id="22" name="Text 16"/>
          <p:cNvSpPr txBox="1"/>
          <p:nvPr/>
        </p:nvSpPr>
        <p:spPr>
          <a:xfrm>
            <a:off x="1325880" y="5477256"/>
            <a:ext cx="4572000" cy="292608"/>
          </a:xfrm>
          <a:prstGeom prst="rect">
            <a:avLst/>
          </a:prstGeom>
          <a:noFill/>
          <a:ln/>
        </p:spPr>
        <p:txBody>
          <a:bodyPr wrap="square" lIns="0" tIns="0" rIns="0" bIns="0" rtlCol="0" anchor="ctr"/>
          <a:lstStyle/>
          <a:p>
            <a:pPr indent="0" marL="0">
              <a:buNone/>
            </a:pPr>
            <a:r>
              <a:rPr lang="en-US" sz="1250" b="1" dirty="0">
                <a:solidFill>
                  <a:srgbClr val="4B3B33"/>
                </a:solidFill>
                <a:latin typeface="Cambria" pitchFamily="34" charset="0"/>
                <a:ea typeface="Cambria" pitchFamily="34" charset="-122"/>
                <a:cs typeface="Cambria" pitchFamily="34" charset="-120"/>
              </a:rPr>
              <a:t>QA &amp; Security Champion</a:t>
            </a:r>
            <a:endParaRPr lang="en-US" sz="1250" dirty="0"/>
          </a:p>
        </p:txBody>
      </p:sp>
      <p:sp>
        <p:nvSpPr>
          <p:cNvPr id="23" name="Text 17"/>
          <p:cNvSpPr txBox="1"/>
          <p:nvPr/>
        </p:nvSpPr>
        <p:spPr>
          <a:xfrm>
            <a:off x="1325880" y="5769864"/>
            <a:ext cx="4572000" cy="841248"/>
          </a:xfrm>
          <a:prstGeom prst="rect">
            <a:avLst/>
          </a:prstGeom>
          <a:noFill/>
          <a:ln/>
        </p:spPr>
        <p:txBody>
          <a:bodyPr wrap="square" lIns="0" tIns="0" rIns="0" bIns="0" rtlCol="0" anchor="ctr"/>
          <a:lstStyle/>
          <a:p>
            <a:pPr indent="0" marL="0">
              <a:lnSpc>
                <a:spcPts val="1450"/>
              </a:lnSpc>
              <a:buNone/>
            </a:pPr>
            <a:r>
              <a:rPr lang="en-US" sz="1000" dirty="0">
                <a:solidFill>
                  <a:srgbClr val="5B4A41"/>
                </a:solidFill>
                <a:latin typeface="Calibri" pitchFamily="34" charset="0"/>
                <a:ea typeface="Calibri" pitchFamily="34" charset="-122"/>
                <a:cs typeface="Calibri" pitchFamily="34" charset="-120"/>
              </a:rPr>
              <a:t>Valida cobertura de pruebas Vitest/Playwright, audita accesibilidad WCAG y mitiga riesgos del OWASP Top 10 (ODS 16).</a:t>
            </a:r>
            <a:endParaRPr lang="en-US" sz="1000" dirty="0"/>
          </a:p>
        </p:txBody>
      </p:sp>
      <p:sp>
        <p:nvSpPr>
          <p:cNvPr id="24" name="Text 18"/>
          <p:cNvSpPr txBox="1"/>
          <p:nvPr/>
        </p:nvSpPr>
        <p:spPr>
          <a:xfrm>
            <a:off x="6263640" y="1554480"/>
            <a:ext cx="5349240" cy="274320"/>
          </a:xfrm>
          <a:prstGeom prst="rect">
            <a:avLst/>
          </a:prstGeom>
          <a:noFill/>
          <a:ln/>
        </p:spPr>
        <p:txBody>
          <a:bodyPr wrap="square" lIns="0" tIns="0" rIns="0" bIns="0" rtlCol="0" anchor="ctr"/>
          <a:lstStyle/>
          <a:p>
            <a:pPr indent="0" marL="0">
              <a:buNone/>
            </a:pPr>
            <a:r>
              <a:rPr lang="en-US" sz="1100" b="1" spc="100" kern="0" dirty="0">
                <a:solidFill>
                  <a:srgbClr val="C97567"/>
                </a:solidFill>
                <a:latin typeface="Calibri" pitchFamily="34" charset="0"/>
                <a:ea typeface="Calibri" pitchFamily="34" charset="-122"/>
                <a:cs typeface="Calibri" pitchFamily="34" charset="-120"/>
              </a:rPr>
              <a:t>¿CÓMO APLICAMOS SCRUM AL PROYECTO?</a:t>
            </a:r>
            <a:endParaRPr lang="en-US" sz="1100" dirty="0"/>
          </a:p>
        </p:txBody>
      </p:sp>
      <p:sp>
        <p:nvSpPr>
          <p:cNvPr id="25" name="Shape 19"/>
          <p:cNvSpPr/>
          <p:nvPr/>
        </p:nvSpPr>
        <p:spPr>
          <a:xfrm>
            <a:off x="6263640" y="2231136"/>
            <a:ext cx="548640" cy="548640"/>
          </a:xfrm>
          <a:prstGeom prst="ellipse">
            <a:avLst/>
          </a:prstGeom>
          <a:solidFill>
            <a:srgbClr val="C97567"/>
          </a:solidFill>
          <a:ln/>
        </p:spPr>
      </p:sp>
      <p:pic>
        <p:nvPicPr>
          <p:cNvPr id="26" name="Image 4" descr="/home/claude/monchis2/icons/clock.png">    </p:cNvPr>
          <p:cNvPicPr>
            <a:picLocks noChangeAspect="1"/>
          </p:cNvPicPr>
          <p:nvPr/>
        </p:nvPicPr>
        <p:blipFill>
          <a:blip r:embed="rId5"/>
          <a:stretch>
            <a:fillRect/>
          </a:stretch>
        </p:blipFill>
        <p:spPr>
          <a:xfrm>
            <a:off x="6337706" y="2305202"/>
            <a:ext cx="400507" cy="400507"/>
          </a:xfrm>
          <a:prstGeom prst="rect">
            <a:avLst/>
          </a:prstGeom>
        </p:spPr>
      </p:pic>
      <p:sp>
        <p:nvSpPr>
          <p:cNvPr id="27" name="Text 20"/>
          <p:cNvSpPr txBox="1"/>
          <p:nvPr/>
        </p:nvSpPr>
        <p:spPr>
          <a:xfrm>
            <a:off x="7040880" y="1965960"/>
            <a:ext cx="4572000" cy="292608"/>
          </a:xfrm>
          <a:prstGeom prst="rect">
            <a:avLst/>
          </a:prstGeom>
          <a:noFill/>
          <a:ln/>
        </p:spPr>
        <p:txBody>
          <a:bodyPr wrap="square" lIns="0" tIns="0" rIns="0" bIns="0" rtlCol="0" anchor="ctr"/>
          <a:lstStyle/>
          <a:p>
            <a:pPr indent="0" marL="0">
              <a:buNone/>
            </a:pPr>
            <a:r>
              <a:rPr lang="en-US" sz="1250" b="1" dirty="0">
                <a:solidFill>
                  <a:srgbClr val="4B3B33"/>
                </a:solidFill>
                <a:latin typeface="Cambria" pitchFamily="34" charset="0"/>
                <a:ea typeface="Cambria" pitchFamily="34" charset="-122"/>
                <a:cs typeface="Cambria" pitchFamily="34" charset="-120"/>
              </a:rPr>
              <a:t>Sprint Planning (Cada 2 semanas)</a:t>
            </a:r>
            <a:endParaRPr lang="en-US" sz="1250" dirty="0"/>
          </a:p>
        </p:txBody>
      </p:sp>
      <p:sp>
        <p:nvSpPr>
          <p:cNvPr id="28" name="Text 21"/>
          <p:cNvSpPr txBox="1"/>
          <p:nvPr/>
        </p:nvSpPr>
        <p:spPr>
          <a:xfrm>
            <a:off x="7040880" y="2258568"/>
            <a:ext cx="4572000" cy="841248"/>
          </a:xfrm>
          <a:prstGeom prst="rect">
            <a:avLst/>
          </a:prstGeom>
          <a:noFill/>
          <a:ln/>
        </p:spPr>
        <p:txBody>
          <a:bodyPr wrap="square" lIns="0" tIns="0" rIns="0" bIns="0" rtlCol="0" anchor="ctr"/>
          <a:lstStyle/>
          <a:p>
            <a:pPr indent="0" marL="0">
              <a:lnSpc>
                <a:spcPts val="1450"/>
              </a:lnSpc>
              <a:buNone/>
            </a:pPr>
            <a:r>
              <a:rPr lang="en-US" sz="1000" dirty="0">
                <a:solidFill>
                  <a:srgbClr val="5B4A41"/>
                </a:solidFill>
                <a:latin typeface="Calibri" pitchFamily="34" charset="0"/>
                <a:ea typeface="Calibri" pitchFamily="34" charset="-122"/>
                <a:cs typeface="Calibri" pitchFamily="34" charset="-120"/>
              </a:rPr>
              <a:t>Descomposición del Product Backlog en tareas medibles estimadas con Planning Poker y asignación al Sprint Backlog.</a:t>
            </a:r>
            <a:endParaRPr lang="en-US" sz="1000" dirty="0"/>
          </a:p>
        </p:txBody>
      </p:sp>
      <p:sp>
        <p:nvSpPr>
          <p:cNvPr id="29" name="Shape 22"/>
          <p:cNvSpPr/>
          <p:nvPr/>
        </p:nvSpPr>
        <p:spPr>
          <a:xfrm>
            <a:off x="6263640" y="3026664"/>
            <a:ext cx="5349240" cy="9144"/>
          </a:xfrm>
          <a:prstGeom prst="rect">
            <a:avLst/>
          </a:prstGeom>
          <a:solidFill>
            <a:srgbClr val="E8DCD4"/>
          </a:solidFill>
          <a:ln/>
        </p:spPr>
      </p:sp>
      <p:sp>
        <p:nvSpPr>
          <p:cNvPr id="30" name="Shape 23"/>
          <p:cNvSpPr/>
          <p:nvPr/>
        </p:nvSpPr>
        <p:spPr>
          <a:xfrm>
            <a:off x="6263640" y="3401568"/>
            <a:ext cx="548640" cy="548640"/>
          </a:xfrm>
          <a:prstGeom prst="ellipse">
            <a:avLst/>
          </a:prstGeom>
          <a:solidFill>
            <a:srgbClr val="E08D80"/>
          </a:solidFill>
          <a:ln/>
        </p:spPr>
      </p:sp>
      <p:pic>
        <p:nvPicPr>
          <p:cNvPr id="31" name="Image 5" descr="/home/claude/monchis2/icons/users.png">    </p:cNvPr>
          <p:cNvPicPr>
            <a:picLocks noChangeAspect="1"/>
          </p:cNvPicPr>
          <p:nvPr/>
        </p:nvPicPr>
        <p:blipFill>
          <a:blip r:embed="rId6"/>
          <a:stretch>
            <a:fillRect/>
          </a:stretch>
        </p:blipFill>
        <p:spPr>
          <a:xfrm>
            <a:off x="6337706" y="3475634"/>
            <a:ext cx="400507" cy="400507"/>
          </a:xfrm>
          <a:prstGeom prst="rect">
            <a:avLst/>
          </a:prstGeom>
        </p:spPr>
      </p:pic>
      <p:sp>
        <p:nvSpPr>
          <p:cNvPr id="32" name="Text 24"/>
          <p:cNvSpPr txBox="1"/>
          <p:nvPr/>
        </p:nvSpPr>
        <p:spPr>
          <a:xfrm>
            <a:off x="7040880" y="3136392"/>
            <a:ext cx="4572000" cy="292608"/>
          </a:xfrm>
          <a:prstGeom prst="rect">
            <a:avLst/>
          </a:prstGeom>
          <a:noFill/>
          <a:ln/>
        </p:spPr>
        <p:txBody>
          <a:bodyPr wrap="square" lIns="0" tIns="0" rIns="0" bIns="0" rtlCol="0" anchor="ctr"/>
          <a:lstStyle/>
          <a:p>
            <a:pPr indent="0" marL="0">
              <a:buNone/>
            </a:pPr>
            <a:r>
              <a:rPr lang="en-US" sz="1250" b="1" dirty="0">
                <a:solidFill>
                  <a:srgbClr val="4B3B33"/>
                </a:solidFill>
                <a:latin typeface="Cambria" pitchFamily="34" charset="0"/>
                <a:ea typeface="Cambria" pitchFamily="34" charset="-122"/>
                <a:cs typeface="Cambria" pitchFamily="34" charset="-120"/>
              </a:rPr>
              <a:t>Daily Standups (15 minutos)</a:t>
            </a:r>
            <a:endParaRPr lang="en-US" sz="1250" dirty="0"/>
          </a:p>
        </p:txBody>
      </p:sp>
      <p:sp>
        <p:nvSpPr>
          <p:cNvPr id="33" name="Text 25"/>
          <p:cNvSpPr txBox="1"/>
          <p:nvPr/>
        </p:nvSpPr>
        <p:spPr>
          <a:xfrm>
            <a:off x="7040880" y="3429000"/>
            <a:ext cx="4572000" cy="841248"/>
          </a:xfrm>
          <a:prstGeom prst="rect">
            <a:avLst/>
          </a:prstGeom>
          <a:noFill/>
          <a:ln/>
        </p:spPr>
        <p:txBody>
          <a:bodyPr wrap="square" lIns="0" tIns="0" rIns="0" bIns="0" rtlCol="0" anchor="ctr"/>
          <a:lstStyle/>
          <a:p>
            <a:pPr indent="0" marL="0">
              <a:lnSpc>
                <a:spcPts val="1450"/>
              </a:lnSpc>
              <a:buNone/>
            </a:pPr>
            <a:r>
              <a:rPr lang="en-US" sz="1000" dirty="0">
                <a:solidFill>
                  <a:srgbClr val="5B4A41"/>
                </a:solidFill>
                <a:latin typeface="Calibri" pitchFamily="34" charset="0"/>
                <a:ea typeface="Calibri" pitchFamily="34" charset="-122"/>
                <a:cs typeface="Calibri" pitchFamily="34" charset="-120"/>
              </a:rPr>
              <a:t>Sincronización de avances: ¿Qué se logró ayer? ¿Qué se hará hoy? ¿Qué impedimentos técnicos existen?</a:t>
            </a:r>
            <a:endParaRPr lang="en-US" sz="1000" dirty="0"/>
          </a:p>
        </p:txBody>
      </p:sp>
      <p:sp>
        <p:nvSpPr>
          <p:cNvPr id="34" name="Shape 26"/>
          <p:cNvSpPr/>
          <p:nvPr/>
        </p:nvSpPr>
        <p:spPr>
          <a:xfrm>
            <a:off x="6263640" y="4197096"/>
            <a:ext cx="5349240" cy="9144"/>
          </a:xfrm>
          <a:prstGeom prst="rect">
            <a:avLst/>
          </a:prstGeom>
          <a:solidFill>
            <a:srgbClr val="E8DCD4"/>
          </a:solidFill>
          <a:ln/>
        </p:spPr>
      </p:sp>
      <p:sp>
        <p:nvSpPr>
          <p:cNvPr id="35" name="Shape 27"/>
          <p:cNvSpPr/>
          <p:nvPr/>
        </p:nvSpPr>
        <p:spPr>
          <a:xfrm>
            <a:off x="6263640" y="4572000"/>
            <a:ext cx="548640" cy="548640"/>
          </a:xfrm>
          <a:prstGeom prst="ellipse">
            <a:avLst/>
          </a:prstGeom>
          <a:solidFill>
            <a:srgbClr val="7C9473"/>
          </a:solidFill>
          <a:ln/>
        </p:spPr>
      </p:sp>
      <p:pic>
        <p:nvPicPr>
          <p:cNvPr id="36" name="Image 6" descr="/home/claude/monchis2/icons/mughot.png">    </p:cNvPr>
          <p:cNvPicPr>
            <a:picLocks noChangeAspect="1"/>
          </p:cNvPicPr>
          <p:nvPr/>
        </p:nvPicPr>
        <p:blipFill>
          <a:blip r:embed="rId7"/>
          <a:stretch>
            <a:fillRect/>
          </a:stretch>
        </p:blipFill>
        <p:spPr>
          <a:xfrm>
            <a:off x="6337706" y="4646066"/>
            <a:ext cx="400507" cy="400507"/>
          </a:xfrm>
          <a:prstGeom prst="rect">
            <a:avLst/>
          </a:prstGeom>
        </p:spPr>
      </p:pic>
      <p:sp>
        <p:nvSpPr>
          <p:cNvPr id="37" name="Text 28"/>
          <p:cNvSpPr txBox="1"/>
          <p:nvPr/>
        </p:nvSpPr>
        <p:spPr>
          <a:xfrm>
            <a:off x="7040880" y="4306824"/>
            <a:ext cx="4572000" cy="292608"/>
          </a:xfrm>
          <a:prstGeom prst="rect">
            <a:avLst/>
          </a:prstGeom>
          <a:noFill/>
          <a:ln/>
        </p:spPr>
        <p:txBody>
          <a:bodyPr wrap="square" lIns="0" tIns="0" rIns="0" bIns="0" rtlCol="0" anchor="ctr"/>
          <a:lstStyle/>
          <a:p>
            <a:pPr indent="0" marL="0">
              <a:buNone/>
            </a:pPr>
            <a:r>
              <a:rPr lang="en-US" sz="1250" b="1" dirty="0">
                <a:solidFill>
                  <a:srgbClr val="4B3B33"/>
                </a:solidFill>
                <a:latin typeface="Cambria" pitchFamily="34" charset="0"/>
                <a:ea typeface="Cambria" pitchFamily="34" charset="-122"/>
                <a:cs typeface="Cambria" pitchFamily="34" charset="-120"/>
              </a:rPr>
              <a:t>Sprint Review &amp; Demostración</a:t>
            </a:r>
            <a:endParaRPr lang="en-US" sz="1250" dirty="0"/>
          </a:p>
        </p:txBody>
      </p:sp>
      <p:sp>
        <p:nvSpPr>
          <p:cNvPr id="38" name="Text 29"/>
          <p:cNvSpPr txBox="1"/>
          <p:nvPr/>
        </p:nvSpPr>
        <p:spPr>
          <a:xfrm>
            <a:off x="7040880" y="4599432"/>
            <a:ext cx="4572000" cy="841248"/>
          </a:xfrm>
          <a:prstGeom prst="rect">
            <a:avLst/>
          </a:prstGeom>
          <a:noFill/>
          <a:ln/>
        </p:spPr>
        <p:txBody>
          <a:bodyPr wrap="square" lIns="0" tIns="0" rIns="0" bIns="0" rtlCol="0" anchor="ctr"/>
          <a:lstStyle/>
          <a:p>
            <a:pPr indent="0" marL="0">
              <a:lnSpc>
                <a:spcPts val="1450"/>
              </a:lnSpc>
              <a:buNone/>
            </a:pPr>
            <a:r>
              <a:rPr lang="en-US" sz="1000" dirty="0">
                <a:solidFill>
                  <a:srgbClr val="5B4A41"/>
                </a:solidFill>
                <a:latin typeface="Calibri" pitchFamily="34" charset="0"/>
                <a:ea typeface="Calibri" pitchFamily="34" charset="-122"/>
                <a:cs typeface="Calibri" pitchFamily="34" charset="-120"/>
              </a:rPr>
              <a:t>Demostración en vivo del software desplegado en Staging al final de cada quincena para feedback inmediato.</a:t>
            </a:r>
            <a:endParaRPr lang="en-US" sz="1000" dirty="0"/>
          </a:p>
        </p:txBody>
      </p:sp>
      <p:sp>
        <p:nvSpPr>
          <p:cNvPr id="39" name="Shape 30"/>
          <p:cNvSpPr/>
          <p:nvPr/>
        </p:nvSpPr>
        <p:spPr>
          <a:xfrm>
            <a:off x="6263640" y="5367528"/>
            <a:ext cx="5349240" cy="9144"/>
          </a:xfrm>
          <a:prstGeom prst="rect">
            <a:avLst/>
          </a:prstGeom>
          <a:solidFill>
            <a:srgbClr val="E8DCD4"/>
          </a:solidFill>
          <a:ln/>
        </p:spPr>
      </p:sp>
      <p:sp>
        <p:nvSpPr>
          <p:cNvPr id="40" name="Shape 31"/>
          <p:cNvSpPr/>
          <p:nvPr/>
        </p:nvSpPr>
        <p:spPr>
          <a:xfrm>
            <a:off x="6263640" y="5742432"/>
            <a:ext cx="548640" cy="548640"/>
          </a:xfrm>
          <a:prstGeom prst="ellipse">
            <a:avLst/>
          </a:prstGeom>
          <a:solidFill>
            <a:srgbClr val="5F7355"/>
          </a:solidFill>
          <a:ln/>
        </p:spPr>
      </p:sp>
      <p:pic>
        <p:nvPicPr>
          <p:cNvPr id="41" name="Image 7" descr="/home/claude/icons/chart.png">    </p:cNvPr>
          <p:cNvPicPr>
            <a:picLocks noChangeAspect="1"/>
          </p:cNvPicPr>
          <p:nvPr/>
        </p:nvPicPr>
        <p:blipFill>
          <a:blip r:embed="rId8"/>
          <a:stretch>
            <a:fillRect/>
          </a:stretch>
        </p:blipFill>
        <p:spPr>
          <a:xfrm>
            <a:off x="6337706" y="5816498"/>
            <a:ext cx="400507" cy="400507"/>
          </a:xfrm>
          <a:prstGeom prst="rect">
            <a:avLst/>
          </a:prstGeom>
        </p:spPr>
      </p:pic>
      <p:sp>
        <p:nvSpPr>
          <p:cNvPr id="42" name="Text 32"/>
          <p:cNvSpPr txBox="1"/>
          <p:nvPr/>
        </p:nvSpPr>
        <p:spPr>
          <a:xfrm>
            <a:off x="7040880" y="5477256"/>
            <a:ext cx="4572000" cy="292608"/>
          </a:xfrm>
          <a:prstGeom prst="rect">
            <a:avLst/>
          </a:prstGeom>
          <a:noFill/>
          <a:ln/>
        </p:spPr>
        <p:txBody>
          <a:bodyPr wrap="square" lIns="0" tIns="0" rIns="0" bIns="0" rtlCol="0" anchor="ctr"/>
          <a:lstStyle/>
          <a:p>
            <a:pPr indent="0" marL="0">
              <a:buNone/>
            </a:pPr>
            <a:r>
              <a:rPr lang="en-US" sz="1250" b="1" dirty="0">
                <a:solidFill>
                  <a:srgbClr val="4B3B33"/>
                </a:solidFill>
                <a:latin typeface="Cambria" pitchFamily="34" charset="0"/>
                <a:ea typeface="Cambria" pitchFamily="34" charset="-122"/>
                <a:cs typeface="Cambria" pitchFamily="34" charset="-120"/>
              </a:rPr>
              <a:t>Sprint Retrospective</a:t>
            </a:r>
            <a:endParaRPr lang="en-US" sz="1250" dirty="0"/>
          </a:p>
        </p:txBody>
      </p:sp>
      <p:sp>
        <p:nvSpPr>
          <p:cNvPr id="43" name="Text 33"/>
          <p:cNvSpPr txBox="1"/>
          <p:nvPr/>
        </p:nvSpPr>
        <p:spPr>
          <a:xfrm>
            <a:off x="7040880" y="5769864"/>
            <a:ext cx="4572000" cy="841248"/>
          </a:xfrm>
          <a:prstGeom prst="rect">
            <a:avLst/>
          </a:prstGeom>
          <a:noFill/>
          <a:ln/>
        </p:spPr>
        <p:txBody>
          <a:bodyPr wrap="square" lIns="0" tIns="0" rIns="0" bIns="0" rtlCol="0" anchor="ctr"/>
          <a:lstStyle/>
          <a:p>
            <a:pPr indent="0" marL="0">
              <a:lnSpc>
                <a:spcPts val="1450"/>
              </a:lnSpc>
              <a:buNone/>
            </a:pPr>
            <a:r>
              <a:rPr lang="en-US" sz="1000" dirty="0">
                <a:solidFill>
                  <a:srgbClr val="5B4A41"/>
                </a:solidFill>
                <a:latin typeface="Calibri" pitchFamily="34" charset="0"/>
                <a:ea typeface="Calibri" pitchFamily="34" charset="-122"/>
                <a:cs typeface="Calibri" pitchFamily="34" charset="-120"/>
              </a:rPr>
              <a:t>Análisis de lecciones aprendidas sobre velocidad de desarrollo, deuda técnica y mejoras al pipeline de GitHub Actions.</a:t>
            </a:r>
            <a:endParaRPr lang="en-US" sz="1000" dirty="0"/>
          </a:p>
        </p:txBody>
      </p:sp>
      <p:sp>
        <p:nvSpPr>
          <p:cNvPr id="44" name="Text 34"/>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45" name="Text 35"/>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9. Programación del Proyecto: Diagrama de Gantt</a:t>
            </a:r>
            <a:endParaRPr lang="en-US" sz="2500" dirty="0"/>
          </a:p>
        </p:txBody>
      </p:sp>
      <p:sp>
        <p:nvSpPr>
          <p:cNvPr id="4" name="Text 2"/>
          <p:cNvSpPr txBox="1"/>
          <p:nvPr/>
        </p:nvSpPr>
        <p:spPr>
          <a:xfrm>
            <a:off x="3749040"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S1</a:t>
            </a:r>
            <a:endParaRPr lang="en-US" sz="750" dirty="0"/>
          </a:p>
        </p:txBody>
      </p:sp>
      <p:sp>
        <p:nvSpPr>
          <p:cNvPr id="5" name="Text 3"/>
          <p:cNvSpPr txBox="1"/>
          <p:nvPr/>
        </p:nvSpPr>
        <p:spPr>
          <a:xfrm>
            <a:off x="4242244"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S2</a:t>
            </a:r>
            <a:endParaRPr lang="en-US" sz="750" dirty="0"/>
          </a:p>
        </p:txBody>
      </p:sp>
      <p:sp>
        <p:nvSpPr>
          <p:cNvPr id="6" name="Shape 4"/>
          <p:cNvSpPr/>
          <p:nvPr/>
        </p:nvSpPr>
        <p:spPr>
          <a:xfrm>
            <a:off x="4242244" y="1673352"/>
            <a:ext cx="493205" cy="3337560"/>
          </a:xfrm>
          <a:prstGeom prst="rect">
            <a:avLst/>
          </a:prstGeom>
          <a:solidFill>
            <a:srgbClr val="F5EAE4"/>
          </a:solidFill>
          <a:ln/>
        </p:spPr>
      </p:sp>
      <p:sp>
        <p:nvSpPr>
          <p:cNvPr id="7" name="Text 5"/>
          <p:cNvSpPr txBox="1"/>
          <p:nvPr/>
        </p:nvSpPr>
        <p:spPr>
          <a:xfrm>
            <a:off x="4735449"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S3</a:t>
            </a:r>
            <a:endParaRPr lang="en-US" sz="750" dirty="0"/>
          </a:p>
        </p:txBody>
      </p:sp>
      <p:sp>
        <p:nvSpPr>
          <p:cNvPr id="8" name="Text 6"/>
          <p:cNvSpPr txBox="1"/>
          <p:nvPr/>
        </p:nvSpPr>
        <p:spPr>
          <a:xfrm>
            <a:off x="5228654"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S4</a:t>
            </a:r>
            <a:endParaRPr lang="en-US" sz="750" dirty="0"/>
          </a:p>
        </p:txBody>
      </p:sp>
      <p:sp>
        <p:nvSpPr>
          <p:cNvPr id="9" name="Shape 7"/>
          <p:cNvSpPr/>
          <p:nvPr/>
        </p:nvSpPr>
        <p:spPr>
          <a:xfrm>
            <a:off x="5228654" y="1673352"/>
            <a:ext cx="493205" cy="3337560"/>
          </a:xfrm>
          <a:prstGeom prst="rect">
            <a:avLst/>
          </a:prstGeom>
          <a:solidFill>
            <a:srgbClr val="F5EAE4"/>
          </a:solidFill>
          <a:ln/>
        </p:spPr>
      </p:sp>
      <p:sp>
        <p:nvSpPr>
          <p:cNvPr id="10" name="Text 8"/>
          <p:cNvSpPr txBox="1"/>
          <p:nvPr/>
        </p:nvSpPr>
        <p:spPr>
          <a:xfrm>
            <a:off x="5721858"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S5</a:t>
            </a:r>
            <a:endParaRPr lang="en-US" sz="750" dirty="0"/>
          </a:p>
        </p:txBody>
      </p:sp>
      <p:sp>
        <p:nvSpPr>
          <p:cNvPr id="11" name="Text 9"/>
          <p:cNvSpPr txBox="1"/>
          <p:nvPr/>
        </p:nvSpPr>
        <p:spPr>
          <a:xfrm>
            <a:off x="6215063"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S6</a:t>
            </a:r>
            <a:endParaRPr lang="en-US" sz="750" dirty="0"/>
          </a:p>
        </p:txBody>
      </p:sp>
      <p:sp>
        <p:nvSpPr>
          <p:cNvPr id="12" name="Shape 10"/>
          <p:cNvSpPr/>
          <p:nvPr/>
        </p:nvSpPr>
        <p:spPr>
          <a:xfrm>
            <a:off x="6215063" y="1673352"/>
            <a:ext cx="493205" cy="3337560"/>
          </a:xfrm>
          <a:prstGeom prst="rect">
            <a:avLst/>
          </a:prstGeom>
          <a:solidFill>
            <a:srgbClr val="F5EAE4"/>
          </a:solidFill>
          <a:ln/>
        </p:spPr>
      </p:sp>
      <p:sp>
        <p:nvSpPr>
          <p:cNvPr id="13" name="Text 11"/>
          <p:cNvSpPr txBox="1"/>
          <p:nvPr/>
        </p:nvSpPr>
        <p:spPr>
          <a:xfrm>
            <a:off x="6708267"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S7</a:t>
            </a:r>
            <a:endParaRPr lang="en-US" sz="750" dirty="0"/>
          </a:p>
        </p:txBody>
      </p:sp>
      <p:sp>
        <p:nvSpPr>
          <p:cNvPr id="14" name="Text 12"/>
          <p:cNvSpPr txBox="1"/>
          <p:nvPr/>
        </p:nvSpPr>
        <p:spPr>
          <a:xfrm>
            <a:off x="7201471"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S8</a:t>
            </a:r>
            <a:endParaRPr lang="en-US" sz="750" dirty="0"/>
          </a:p>
        </p:txBody>
      </p:sp>
      <p:sp>
        <p:nvSpPr>
          <p:cNvPr id="15" name="Shape 13"/>
          <p:cNvSpPr/>
          <p:nvPr/>
        </p:nvSpPr>
        <p:spPr>
          <a:xfrm>
            <a:off x="7201471" y="1673352"/>
            <a:ext cx="493205" cy="3337560"/>
          </a:xfrm>
          <a:prstGeom prst="rect">
            <a:avLst/>
          </a:prstGeom>
          <a:solidFill>
            <a:srgbClr val="F5EAE4"/>
          </a:solidFill>
          <a:ln/>
        </p:spPr>
      </p:sp>
      <p:sp>
        <p:nvSpPr>
          <p:cNvPr id="16" name="Text 14"/>
          <p:cNvSpPr txBox="1"/>
          <p:nvPr/>
        </p:nvSpPr>
        <p:spPr>
          <a:xfrm>
            <a:off x="7694676"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S9</a:t>
            </a:r>
            <a:endParaRPr lang="en-US" sz="750" dirty="0"/>
          </a:p>
        </p:txBody>
      </p:sp>
      <p:sp>
        <p:nvSpPr>
          <p:cNvPr id="17" name="Text 15"/>
          <p:cNvSpPr txBox="1"/>
          <p:nvPr/>
        </p:nvSpPr>
        <p:spPr>
          <a:xfrm>
            <a:off x="8187880"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S10</a:t>
            </a:r>
            <a:endParaRPr lang="en-US" sz="750" dirty="0"/>
          </a:p>
        </p:txBody>
      </p:sp>
      <p:sp>
        <p:nvSpPr>
          <p:cNvPr id="18" name="Shape 16"/>
          <p:cNvSpPr/>
          <p:nvPr/>
        </p:nvSpPr>
        <p:spPr>
          <a:xfrm>
            <a:off x="8187880" y="1673352"/>
            <a:ext cx="493205" cy="3337560"/>
          </a:xfrm>
          <a:prstGeom prst="rect">
            <a:avLst/>
          </a:prstGeom>
          <a:solidFill>
            <a:srgbClr val="F5EAE4"/>
          </a:solidFill>
          <a:ln/>
        </p:spPr>
      </p:sp>
      <p:sp>
        <p:nvSpPr>
          <p:cNvPr id="19" name="Text 17"/>
          <p:cNvSpPr txBox="1"/>
          <p:nvPr/>
        </p:nvSpPr>
        <p:spPr>
          <a:xfrm>
            <a:off x="8681085"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S11</a:t>
            </a:r>
            <a:endParaRPr lang="en-US" sz="750" dirty="0"/>
          </a:p>
        </p:txBody>
      </p:sp>
      <p:sp>
        <p:nvSpPr>
          <p:cNvPr id="20" name="Text 18"/>
          <p:cNvSpPr txBox="1"/>
          <p:nvPr/>
        </p:nvSpPr>
        <p:spPr>
          <a:xfrm>
            <a:off x="9174290"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S12</a:t>
            </a:r>
            <a:endParaRPr lang="en-US" sz="750" dirty="0"/>
          </a:p>
        </p:txBody>
      </p:sp>
      <p:sp>
        <p:nvSpPr>
          <p:cNvPr id="21" name="Shape 19"/>
          <p:cNvSpPr/>
          <p:nvPr/>
        </p:nvSpPr>
        <p:spPr>
          <a:xfrm>
            <a:off x="9174290" y="1673352"/>
            <a:ext cx="493205" cy="3337560"/>
          </a:xfrm>
          <a:prstGeom prst="rect">
            <a:avLst/>
          </a:prstGeom>
          <a:solidFill>
            <a:srgbClr val="F5EAE4"/>
          </a:solidFill>
          <a:ln/>
        </p:spPr>
      </p:sp>
      <p:sp>
        <p:nvSpPr>
          <p:cNvPr id="22" name="Text 20"/>
          <p:cNvSpPr txBox="1"/>
          <p:nvPr/>
        </p:nvSpPr>
        <p:spPr>
          <a:xfrm>
            <a:off x="9667494"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S13</a:t>
            </a:r>
            <a:endParaRPr lang="en-US" sz="750" dirty="0"/>
          </a:p>
        </p:txBody>
      </p:sp>
      <p:sp>
        <p:nvSpPr>
          <p:cNvPr id="23" name="Text 21"/>
          <p:cNvSpPr txBox="1"/>
          <p:nvPr/>
        </p:nvSpPr>
        <p:spPr>
          <a:xfrm>
            <a:off x="10160699"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S14</a:t>
            </a:r>
            <a:endParaRPr lang="en-US" sz="750" dirty="0"/>
          </a:p>
        </p:txBody>
      </p:sp>
      <p:sp>
        <p:nvSpPr>
          <p:cNvPr id="24" name="Shape 22"/>
          <p:cNvSpPr/>
          <p:nvPr/>
        </p:nvSpPr>
        <p:spPr>
          <a:xfrm>
            <a:off x="10160699" y="1673352"/>
            <a:ext cx="493205" cy="3337560"/>
          </a:xfrm>
          <a:prstGeom prst="rect">
            <a:avLst/>
          </a:prstGeom>
          <a:solidFill>
            <a:srgbClr val="F5EAE4"/>
          </a:solidFill>
          <a:ln/>
        </p:spPr>
      </p:sp>
      <p:sp>
        <p:nvSpPr>
          <p:cNvPr id="25" name="Text 23"/>
          <p:cNvSpPr txBox="1"/>
          <p:nvPr/>
        </p:nvSpPr>
        <p:spPr>
          <a:xfrm>
            <a:off x="10653903"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S15</a:t>
            </a:r>
            <a:endParaRPr lang="en-US" sz="750" dirty="0"/>
          </a:p>
        </p:txBody>
      </p:sp>
      <p:sp>
        <p:nvSpPr>
          <p:cNvPr id="26" name="Text 24"/>
          <p:cNvSpPr txBox="1"/>
          <p:nvPr/>
        </p:nvSpPr>
        <p:spPr>
          <a:xfrm>
            <a:off x="11147108" y="1417320"/>
            <a:ext cx="493205" cy="256032"/>
          </a:xfrm>
          <a:prstGeom prst="rect">
            <a:avLst/>
          </a:prstGeom>
          <a:noFill/>
          <a:ln/>
        </p:spPr>
        <p:txBody>
          <a:bodyPr wrap="square" lIns="0" tIns="0" rIns="0" bIns="0" rtlCol="0" anchor="ctr"/>
          <a:lstStyle/>
          <a:p>
            <a:pPr algn="ctr" indent="0" marL="0">
              <a:buNone/>
            </a:pPr>
            <a:r>
              <a:rPr lang="en-US" sz="750" dirty="0">
                <a:solidFill>
                  <a:srgbClr val="8A776D"/>
                </a:solidFill>
                <a:latin typeface="Calibri" pitchFamily="34" charset="0"/>
                <a:ea typeface="Calibri" pitchFamily="34" charset="-122"/>
                <a:cs typeface="Calibri" pitchFamily="34" charset="-120"/>
              </a:rPr>
              <a:t>S16</a:t>
            </a:r>
            <a:endParaRPr lang="en-US" sz="750" dirty="0"/>
          </a:p>
        </p:txBody>
      </p:sp>
      <p:sp>
        <p:nvSpPr>
          <p:cNvPr id="27" name="Shape 25"/>
          <p:cNvSpPr/>
          <p:nvPr/>
        </p:nvSpPr>
        <p:spPr>
          <a:xfrm>
            <a:off x="11147108" y="1673352"/>
            <a:ext cx="493205" cy="3337560"/>
          </a:xfrm>
          <a:prstGeom prst="rect">
            <a:avLst/>
          </a:prstGeom>
          <a:solidFill>
            <a:srgbClr val="F5EAE4"/>
          </a:solidFill>
          <a:ln/>
        </p:spPr>
      </p:sp>
      <p:sp>
        <p:nvSpPr>
          <p:cNvPr id="28" name="Shape 26"/>
          <p:cNvSpPr/>
          <p:nvPr/>
        </p:nvSpPr>
        <p:spPr>
          <a:xfrm>
            <a:off x="548640" y="1673352"/>
            <a:ext cx="11091672" cy="9144"/>
          </a:xfrm>
          <a:prstGeom prst="rect">
            <a:avLst/>
          </a:prstGeom>
          <a:solidFill>
            <a:srgbClr val="E8DCD4"/>
          </a:solidFill>
          <a:ln/>
        </p:spPr>
      </p:sp>
      <p:sp>
        <p:nvSpPr>
          <p:cNvPr id="29" name="Text 27"/>
          <p:cNvSpPr txBox="1"/>
          <p:nvPr/>
        </p:nvSpPr>
        <p:spPr>
          <a:xfrm>
            <a:off x="548640" y="1673352"/>
            <a:ext cx="3063240" cy="333756"/>
          </a:xfrm>
          <a:prstGeom prst="rect">
            <a:avLst/>
          </a:prstGeom>
          <a:noFill/>
          <a:ln/>
        </p:spPr>
        <p:txBody>
          <a:bodyPr wrap="square" lIns="0" tIns="0" rIns="0" bIns="0" rtlCol="0" anchor="ctr"/>
          <a:lstStyle/>
          <a:p>
            <a:pPr indent="0" marL="0">
              <a:buNone/>
            </a:pPr>
            <a:r>
              <a:rPr lang="en-US" sz="1000" dirty="0">
                <a:solidFill>
                  <a:srgbClr val="4B3B33"/>
                </a:solidFill>
                <a:latin typeface="Calibri" pitchFamily="34" charset="0"/>
                <a:ea typeface="Calibri" pitchFamily="34" charset="-122"/>
                <a:cs typeface="Calibri" pitchFamily="34" charset="-120"/>
              </a:rPr>
              <a:t>A — Requerimientos y ODS</a:t>
            </a:r>
            <a:endParaRPr lang="en-US" sz="1000" dirty="0"/>
          </a:p>
        </p:txBody>
      </p:sp>
      <p:sp>
        <p:nvSpPr>
          <p:cNvPr id="30" name="Shape 28"/>
          <p:cNvSpPr/>
          <p:nvPr/>
        </p:nvSpPr>
        <p:spPr>
          <a:xfrm>
            <a:off x="3749040" y="1746504"/>
            <a:ext cx="986409" cy="187452"/>
          </a:xfrm>
          <a:prstGeom prst="roundRect">
            <a:avLst>
              <a:gd name="adj" fmla="val 19512"/>
            </a:avLst>
          </a:prstGeom>
          <a:solidFill>
            <a:srgbClr val="C97567"/>
          </a:solidFill>
          <a:ln/>
        </p:spPr>
      </p:sp>
      <p:sp>
        <p:nvSpPr>
          <p:cNvPr id="31" name="Text 29"/>
          <p:cNvSpPr txBox="1"/>
          <p:nvPr/>
        </p:nvSpPr>
        <p:spPr>
          <a:xfrm>
            <a:off x="548640" y="2007108"/>
            <a:ext cx="3063240" cy="333756"/>
          </a:xfrm>
          <a:prstGeom prst="rect">
            <a:avLst/>
          </a:prstGeom>
          <a:noFill/>
          <a:ln/>
        </p:spPr>
        <p:txBody>
          <a:bodyPr wrap="square" lIns="0" tIns="0" rIns="0" bIns="0" rtlCol="0" anchor="ctr"/>
          <a:lstStyle/>
          <a:p>
            <a:pPr indent="0" marL="0">
              <a:buNone/>
            </a:pPr>
            <a:r>
              <a:rPr lang="en-US" sz="1000" dirty="0">
                <a:solidFill>
                  <a:srgbClr val="4B3B33"/>
                </a:solidFill>
                <a:latin typeface="Calibri" pitchFamily="34" charset="0"/>
                <a:ea typeface="Calibri" pitchFamily="34" charset="-122"/>
                <a:cs typeface="Calibri" pitchFamily="34" charset="-120"/>
              </a:rPr>
              <a:t>B — Arquitectura Monorepo y BD</a:t>
            </a:r>
            <a:endParaRPr lang="en-US" sz="1000" dirty="0"/>
          </a:p>
        </p:txBody>
      </p:sp>
      <p:sp>
        <p:nvSpPr>
          <p:cNvPr id="32" name="Shape 30"/>
          <p:cNvSpPr/>
          <p:nvPr/>
        </p:nvSpPr>
        <p:spPr>
          <a:xfrm>
            <a:off x="4242244" y="2080260"/>
            <a:ext cx="986409" cy="187452"/>
          </a:xfrm>
          <a:prstGeom prst="roundRect">
            <a:avLst>
              <a:gd name="adj" fmla="val 19512"/>
            </a:avLst>
          </a:prstGeom>
          <a:solidFill>
            <a:srgbClr val="C97567"/>
          </a:solidFill>
          <a:ln/>
        </p:spPr>
      </p:sp>
      <p:sp>
        <p:nvSpPr>
          <p:cNvPr id="33" name="Text 31"/>
          <p:cNvSpPr txBox="1"/>
          <p:nvPr/>
        </p:nvSpPr>
        <p:spPr>
          <a:xfrm>
            <a:off x="548640" y="2340864"/>
            <a:ext cx="3063240" cy="333756"/>
          </a:xfrm>
          <a:prstGeom prst="rect">
            <a:avLst/>
          </a:prstGeom>
          <a:noFill/>
          <a:ln/>
        </p:spPr>
        <p:txBody>
          <a:bodyPr wrap="square" lIns="0" tIns="0" rIns="0" bIns="0" rtlCol="0" anchor="ctr"/>
          <a:lstStyle/>
          <a:p>
            <a:pPr indent="0" marL="0">
              <a:buNone/>
            </a:pPr>
            <a:r>
              <a:rPr lang="en-US" sz="1000" dirty="0">
                <a:solidFill>
                  <a:srgbClr val="4B3B33"/>
                </a:solidFill>
                <a:latin typeface="Calibri" pitchFamily="34" charset="0"/>
                <a:ea typeface="Calibri" pitchFamily="34" charset="-122"/>
                <a:cs typeface="Calibri" pitchFamily="34" charset="-120"/>
              </a:rPr>
              <a:t>C — Backend Core y Auth JWT</a:t>
            </a:r>
            <a:endParaRPr lang="en-US" sz="1000" dirty="0"/>
          </a:p>
        </p:txBody>
      </p:sp>
      <p:sp>
        <p:nvSpPr>
          <p:cNvPr id="34" name="Shape 32"/>
          <p:cNvSpPr/>
          <p:nvPr/>
        </p:nvSpPr>
        <p:spPr>
          <a:xfrm>
            <a:off x="5228654" y="2414016"/>
            <a:ext cx="986409" cy="187452"/>
          </a:xfrm>
          <a:prstGeom prst="roundRect">
            <a:avLst>
              <a:gd name="adj" fmla="val 19512"/>
            </a:avLst>
          </a:prstGeom>
          <a:solidFill>
            <a:srgbClr val="C97567"/>
          </a:solidFill>
          <a:ln/>
        </p:spPr>
      </p:sp>
      <p:sp>
        <p:nvSpPr>
          <p:cNvPr id="35" name="Text 33"/>
          <p:cNvSpPr txBox="1"/>
          <p:nvPr/>
        </p:nvSpPr>
        <p:spPr>
          <a:xfrm>
            <a:off x="548640" y="2674620"/>
            <a:ext cx="3063240" cy="333756"/>
          </a:xfrm>
          <a:prstGeom prst="rect">
            <a:avLst/>
          </a:prstGeom>
          <a:noFill/>
          <a:ln/>
        </p:spPr>
        <p:txBody>
          <a:bodyPr wrap="square" lIns="0" tIns="0" rIns="0" bIns="0" rtlCol="0" anchor="ctr"/>
          <a:lstStyle/>
          <a:p>
            <a:pPr indent="0" marL="0">
              <a:buNone/>
            </a:pPr>
            <a:r>
              <a:rPr lang="en-US" sz="1000" dirty="0">
                <a:solidFill>
                  <a:srgbClr val="4B3B33"/>
                </a:solidFill>
                <a:latin typeface="Calibri" pitchFamily="34" charset="0"/>
                <a:ea typeface="Calibri" pitchFamily="34" charset="-122"/>
                <a:cs typeface="Calibri" pitchFamily="34" charset="-120"/>
              </a:rPr>
              <a:t>D — Broker RabbitMQ y Saga</a:t>
            </a:r>
            <a:endParaRPr lang="en-US" sz="1000" dirty="0"/>
          </a:p>
        </p:txBody>
      </p:sp>
      <p:sp>
        <p:nvSpPr>
          <p:cNvPr id="36" name="Shape 34"/>
          <p:cNvSpPr/>
          <p:nvPr/>
        </p:nvSpPr>
        <p:spPr>
          <a:xfrm>
            <a:off x="6215063" y="2747772"/>
            <a:ext cx="986409" cy="187452"/>
          </a:xfrm>
          <a:prstGeom prst="roundRect">
            <a:avLst>
              <a:gd name="adj" fmla="val 19512"/>
            </a:avLst>
          </a:prstGeom>
          <a:solidFill>
            <a:srgbClr val="C97567"/>
          </a:solidFill>
          <a:ln/>
        </p:spPr>
      </p:sp>
      <p:sp>
        <p:nvSpPr>
          <p:cNvPr id="37" name="Text 35"/>
          <p:cNvSpPr txBox="1"/>
          <p:nvPr/>
        </p:nvSpPr>
        <p:spPr>
          <a:xfrm>
            <a:off x="548640" y="3008376"/>
            <a:ext cx="3063240" cy="333756"/>
          </a:xfrm>
          <a:prstGeom prst="rect">
            <a:avLst/>
          </a:prstGeom>
          <a:noFill/>
          <a:ln/>
        </p:spPr>
        <p:txBody>
          <a:bodyPr wrap="square" lIns="0" tIns="0" rIns="0" bIns="0" rtlCol="0" anchor="ctr"/>
          <a:lstStyle/>
          <a:p>
            <a:pPr indent="0" marL="0">
              <a:buNone/>
            </a:pPr>
            <a:r>
              <a:rPr lang="en-US" sz="1000" dirty="0">
                <a:solidFill>
                  <a:srgbClr val="4B3B33"/>
                </a:solidFill>
                <a:latin typeface="Calibri" pitchFamily="34" charset="0"/>
                <a:ea typeface="Calibri" pitchFamily="34" charset="-122"/>
                <a:cs typeface="Calibri" pitchFamily="34" charset="-120"/>
              </a:rPr>
              <a:t>E — Frontend Core y vite-ssg</a:t>
            </a:r>
            <a:endParaRPr lang="en-US" sz="1000" dirty="0"/>
          </a:p>
        </p:txBody>
      </p:sp>
      <p:sp>
        <p:nvSpPr>
          <p:cNvPr id="38" name="Shape 36"/>
          <p:cNvSpPr/>
          <p:nvPr/>
        </p:nvSpPr>
        <p:spPr>
          <a:xfrm>
            <a:off x="6215063" y="3081528"/>
            <a:ext cx="986409" cy="187452"/>
          </a:xfrm>
          <a:prstGeom prst="roundRect">
            <a:avLst>
              <a:gd name="adj" fmla="val 19512"/>
            </a:avLst>
          </a:prstGeom>
          <a:solidFill>
            <a:srgbClr val="7C9473"/>
          </a:solidFill>
          <a:ln/>
        </p:spPr>
      </p:sp>
      <p:sp>
        <p:nvSpPr>
          <p:cNvPr id="39" name="Shape 37"/>
          <p:cNvSpPr/>
          <p:nvPr/>
        </p:nvSpPr>
        <p:spPr>
          <a:xfrm>
            <a:off x="7201472" y="3136392"/>
            <a:ext cx="986409" cy="77724"/>
          </a:xfrm>
          <a:prstGeom prst="rect">
            <a:avLst/>
          </a:prstGeom>
          <a:ln w="15875">
            <a:prstDash val="solid"/>
          </a:ln>
        </p:spPr>
      </p:sp>
      <p:sp>
        <p:nvSpPr>
          <p:cNvPr id="40" name="Text 38"/>
          <p:cNvSpPr txBox="1"/>
          <p:nvPr/>
        </p:nvSpPr>
        <p:spPr>
          <a:xfrm>
            <a:off x="548640" y="3342132"/>
            <a:ext cx="3063240" cy="333756"/>
          </a:xfrm>
          <a:prstGeom prst="rect">
            <a:avLst/>
          </a:prstGeom>
          <a:noFill/>
          <a:ln/>
        </p:spPr>
        <p:txBody>
          <a:bodyPr wrap="square" lIns="0" tIns="0" rIns="0" bIns="0" rtlCol="0" anchor="ctr"/>
          <a:lstStyle/>
          <a:p>
            <a:pPr indent="0" marL="0">
              <a:buNone/>
            </a:pPr>
            <a:r>
              <a:rPr lang="en-US" sz="1000" dirty="0">
                <a:solidFill>
                  <a:srgbClr val="4B3B33"/>
                </a:solidFill>
                <a:latin typeface="Calibri" pitchFamily="34" charset="0"/>
                <a:ea typeface="Calibri" pitchFamily="34" charset="-122"/>
                <a:cs typeface="Calibri" pitchFamily="34" charset="-120"/>
              </a:rPr>
              <a:t>F — Módulo POS y Cobro Mixto</a:t>
            </a:r>
            <a:endParaRPr lang="en-US" sz="1000" dirty="0"/>
          </a:p>
        </p:txBody>
      </p:sp>
      <p:sp>
        <p:nvSpPr>
          <p:cNvPr id="41" name="Shape 39"/>
          <p:cNvSpPr/>
          <p:nvPr/>
        </p:nvSpPr>
        <p:spPr>
          <a:xfrm>
            <a:off x="7201471" y="3415284"/>
            <a:ext cx="1479614" cy="187452"/>
          </a:xfrm>
          <a:prstGeom prst="roundRect">
            <a:avLst>
              <a:gd name="adj" fmla="val 19512"/>
            </a:avLst>
          </a:prstGeom>
          <a:solidFill>
            <a:srgbClr val="C97567"/>
          </a:solidFill>
          <a:ln/>
        </p:spPr>
      </p:sp>
      <p:sp>
        <p:nvSpPr>
          <p:cNvPr id="42" name="Text 40"/>
          <p:cNvSpPr txBox="1"/>
          <p:nvPr/>
        </p:nvSpPr>
        <p:spPr>
          <a:xfrm>
            <a:off x="548640" y="3675888"/>
            <a:ext cx="3063240" cy="333756"/>
          </a:xfrm>
          <a:prstGeom prst="rect">
            <a:avLst/>
          </a:prstGeom>
          <a:noFill/>
          <a:ln/>
        </p:spPr>
        <p:txBody>
          <a:bodyPr wrap="square" lIns="0" tIns="0" rIns="0" bIns="0" rtlCol="0" anchor="ctr"/>
          <a:lstStyle/>
          <a:p>
            <a:pPr indent="0" marL="0">
              <a:buNone/>
            </a:pPr>
            <a:r>
              <a:rPr lang="en-US" sz="1000" dirty="0">
                <a:solidFill>
                  <a:srgbClr val="4B3B33"/>
                </a:solidFill>
                <a:latin typeface="Calibri" pitchFamily="34" charset="0"/>
                <a:ea typeface="Calibri" pitchFamily="34" charset="-122"/>
                <a:cs typeface="Calibri" pitchFamily="34" charset="-120"/>
              </a:rPr>
              <a:t>G — Trazabilidad y Fidelización Eco</a:t>
            </a:r>
            <a:endParaRPr lang="en-US" sz="1000" dirty="0"/>
          </a:p>
        </p:txBody>
      </p:sp>
      <p:sp>
        <p:nvSpPr>
          <p:cNvPr id="43" name="Shape 41"/>
          <p:cNvSpPr/>
          <p:nvPr/>
        </p:nvSpPr>
        <p:spPr>
          <a:xfrm>
            <a:off x="8681085" y="3749040"/>
            <a:ext cx="986409" cy="187452"/>
          </a:xfrm>
          <a:prstGeom prst="roundRect">
            <a:avLst>
              <a:gd name="adj" fmla="val 19512"/>
            </a:avLst>
          </a:prstGeom>
          <a:solidFill>
            <a:srgbClr val="C97567"/>
          </a:solidFill>
          <a:ln/>
        </p:spPr>
      </p:sp>
      <p:sp>
        <p:nvSpPr>
          <p:cNvPr id="44" name="Text 42"/>
          <p:cNvSpPr txBox="1"/>
          <p:nvPr/>
        </p:nvSpPr>
        <p:spPr>
          <a:xfrm>
            <a:off x="548640" y="4009644"/>
            <a:ext cx="3063240" cy="333756"/>
          </a:xfrm>
          <a:prstGeom prst="rect">
            <a:avLst/>
          </a:prstGeom>
          <a:noFill/>
          <a:ln/>
        </p:spPr>
        <p:txBody>
          <a:bodyPr wrap="square" lIns="0" tIns="0" rIns="0" bIns="0" rtlCol="0" anchor="ctr"/>
          <a:lstStyle/>
          <a:p>
            <a:pPr indent="0" marL="0">
              <a:buNone/>
            </a:pPr>
            <a:r>
              <a:rPr lang="en-US" sz="1000" dirty="0">
                <a:solidFill>
                  <a:srgbClr val="4B3B33"/>
                </a:solidFill>
                <a:latin typeface="Calibri" pitchFamily="34" charset="0"/>
                <a:ea typeface="Calibri" pitchFamily="34" charset="-122"/>
                <a:cs typeface="Calibri" pitchFamily="34" charset="-120"/>
              </a:rPr>
              <a:t>H — Dashboard y Analítica UTM</a:t>
            </a:r>
            <a:endParaRPr lang="en-US" sz="1000" dirty="0"/>
          </a:p>
        </p:txBody>
      </p:sp>
      <p:sp>
        <p:nvSpPr>
          <p:cNvPr id="45" name="Shape 43"/>
          <p:cNvSpPr/>
          <p:nvPr/>
        </p:nvSpPr>
        <p:spPr>
          <a:xfrm>
            <a:off x="9174290" y="4082796"/>
            <a:ext cx="986409" cy="187452"/>
          </a:xfrm>
          <a:prstGeom prst="roundRect">
            <a:avLst>
              <a:gd name="adj" fmla="val 19512"/>
            </a:avLst>
          </a:prstGeom>
          <a:solidFill>
            <a:srgbClr val="7C9473"/>
          </a:solidFill>
          <a:ln/>
        </p:spPr>
      </p:sp>
      <p:sp>
        <p:nvSpPr>
          <p:cNvPr id="46" name="Shape 44"/>
          <p:cNvSpPr/>
          <p:nvPr/>
        </p:nvSpPr>
        <p:spPr>
          <a:xfrm>
            <a:off x="10160699" y="4137660"/>
            <a:ext cx="493205" cy="77724"/>
          </a:xfrm>
          <a:prstGeom prst="rect">
            <a:avLst/>
          </a:prstGeom>
          <a:ln w="15875">
            <a:prstDash val="solid"/>
          </a:ln>
        </p:spPr>
      </p:sp>
      <p:sp>
        <p:nvSpPr>
          <p:cNvPr id="47" name="Text 45"/>
          <p:cNvSpPr txBox="1"/>
          <p:nvPr/>
        </p:nvSpPr>
        <p:spPr>
          <a:xfrm>
            <a:off x="548640" y="4343400"/>
            <a:ext cx="3063240" cy="333756"/>
          </a:xfrm>
          <a:prstGeom prst="rect">
            <a:avLst/>
          </a:prstGeom>
          <a:noFill/>
          <a:ln/>
        </p:spPr>
        <p:txBody>
          <a:bodyPr wrap="square" lIns="0" tIns="0" rIns="0" bIns="0" rtlCol="0" anchor="ctr"/>
          <a:lstStyle/>
          <a:p>
            <a:pPr indent="0" marL="0">
              <a:buNone/>
            </a:pPr>
            <a:r>
              <a:rPr lang="en-US" sz="1000" dirty="0">
                <a:solidFill>
                  <a:srgbClr val="4B3B33"/>
                </a:solidFill>
                <a:latin typeface="Calibri" pitchFamily="34" charset="0"/>
                <a:ea typeface="Calibri" pitchFamily="34" charset="-122"/>
                <a:cs typeface="Calibri" pitchFamily="34" charset="-120"/>
              </a:rPr>
              <a:t>I — Testing Multicapa &amp; QA</a:t>
            </a:r>
            <a:endParaRPr lang="en-US" sz="1000" dirty="0"/>
          </a:p>
        </p:txBody>
      </p:sp>
      <p:sp>
        <p:nvSpPr>
          <p:cNvPr id="48" name="Shape 46"/>
          <p:cNvSpPr/>
          <p:nvPr/>
        </p:nvSpPr>
        <p:spPr>
          <a:xfrm>
            <a:off x="9667494" y="4416552"/>
            <a:ext cx="986409" cy="187452"/>
          </a:xfrm>
          <a:prstGeom prst="roundRect">
            <a:avLst>
              <a:gd name="adj" fmla="val 19512"/>
            </a:avLst>
          </a:prstGeom>
          <a:solidFill>
            <a:srgbClr val="C97567"/>
          </a:solidFill>
          <a:ln/>
        </p:spPr>
      </p:sp>
      <p:sp>
        <p:nvSpPr>
          <p:cNvPr id="49" name="Text 47"/>
          <p:cNvSpPr txBox="1"/>
          <p:nvPr/>
        </p:nvSpPr>
        <p:spPr>
          <a:xfrm>
            <a:off x="548640" y="4677156"/>
            <a:ext cx="3063240" cy="333756"/>
          </a:xfrm>
          <a:prstGeom prst="rect">
            <a:avLst/>
          </a:prstGeom>
          <a:noFill/>
          <a:ln/>
        </p:spPr>
        <p:txBody>
          <a:bodyPr wrap="square" lIns="0" tIns="0" rIns="0" bIns="0" rtlCol="0" anchor="ctr"/>
          <a:lstStyle/>
          <a:p>
            <a:pPr indent="0" marL="0">
              <a:buNone/>
            </a:pPr>
            <a:r>
              <a:rPr lang="en-US" sz="1000" dirty="0">
                <a:solidFill>
                  <a:srgbClr val="4B3B33"/>
                </a:solidFill>
                <a:latin typeface="Calibri" pitchFamily="34" charset="0"/>
                <a:ea typeface="Calibri" pitchFamily="34" charset="-122"/>
                <a:cs typeface="Calibri" pitchFamily="34" charset="-120"/>
              </a:rPr>
              <a:t>J — Despliegue Cloud en GCP</a:t>
            </a:r>
            <a:endParaRPr lang="en-US" sz="1000" dirty="0"/>
          </a:p>
        </p:txBody>
      </p:sp>
      <p:sp>
        <p:nvSpPr>
          <p:cNvPr id="50" name="Shape 48"/>
          <p:cNvSpPr/>
          <p:nvPr/>
        </p:nvSpPr>
        <p:spPr>
          <a:xfrm>
            <a:off x="10653903" y="4750308"/>
            <a:ext cx="986409" cy="187452"/>
          </a:xfrm>
          <a:prstGeom prst="roundRect">
            <a:avLst>
              <a:gd name="adj" fmla="val 19512"/>
            </a:avLst>
          </a:prstGeom>
          <a:solidFill>
            <a:srgbClr val="C97567"/>
          </a:solidFill>
          <a:ln/>
        </p:spPr>
      </p:sp>
      <p:sp>
        <p:nvSpPr>
          <p:cNvPr id="51" name="Shape 49"/>
          <p:cNvSpPr/>
          <p:nvPr/>
        </p:nvSpPr>
        <p:spPr>
          <a:xfrm>
            <a:off x="548640" y="5175504"/>
            <a:ext cx="237744" cy="164592"/>
          </a:xfrm>
          <a:prstGeom prst="roundRect">
            <a:avLst>
              <a:gd name="adj" fmla="val 16667"/>
            </a:avLst>
          </a:prstGeom>
          <a:solidFill>
            <a:srgbClr val="C97567"/>
          </a:solidFill>
          <a:ln/>
        </p:spPr>
      </p:sp>
      <p:sp>
        <p:nvSpPr>
          <p:cNvPr id="52" name="Text 50"/>
          <p:cNvSpPr txBox="1"/>
          <p:nvPr/>
        </p:nvSpPr>
        <p:spPr>
          <a:xfrm>
            <a:off x="841248" y="5120640"/>
            <a:ext cx="1280160" cy="256032"/>
          </a:xfrm>
          <a:prstGeom prst="rect">
            <a:avLst/>
          </a:prstGeom>
          <a:noFill/>
          <a:ln/>
        </p:spPr>
        <p:txBody>
          <a:bodyPr wrap="square" lIns="0" tIns="0" rIns="0" bIns="0" rtlCol="0" anchor="ctr"/>
          <a:lstStyle/>
          <a:p>
            <a:pPr indent="0" marL="0">
              <a:buNone/>
            </a:pPr>
            <a:r>
              <a:rPr lang="en-US" sz="1000" dirty="0">
                <a:solidFill>
                  <a:srgbClr val="5B4A41"/>
                </a:solidFill>
                <a:latin typeface="Calibri" pitchFamily="34" charset="0"/>
                <a:ea typeface="Calibri" pitchFamily="34" charset="-122"/>
                <a:cs typeface="Calibri" pitchFamily="34" charset="-120"/>
              </a:rPr>
              <a:t>Ruta crítica</a:t>
            </a:r>
            <a:endParaRPr lang="en-US" sz="1000" dirty="0"/>
          </a:p>
        </p:txBody>
      </p:sp>
      <p:sp>
        <p:nvSpPr>
          <p:cNvPr id="53" name="Shape 51"/>
          <p:cNvSpPr/>
          <p:nvPr/>
        </p:nvSpPr>
        <p:spPr>
          <a:xfrm>
            <a:off x="2194560" y="5175504"/>
            <a:ext cx="237744" cy="164592"/>
          </a:xfrm>
          <a:prstGeom prst="roundRect">
            <a:avLst>
              <a:gd name="adj" fmla="val 16667"/>
            </a:avLst>
          </a:prstGeom>
          <a:solidFill>
            <a:srgbClr val="7C9473"/>
          </a:solidFill>
          <a:ln/>
        </p:spPr>
      </p:sp>
      <p:sp>
        <p:nvSpPr>
          <p:cNvPr id="54" name="Text 52"/>
          <p:cNvSpPr txBox="1"/>
          <p:nvPr/>
        </p:nvSpPr>
        <p:spPr>
          <a:xfrm>
            <a:off x="2487168" y="5120640"/>
            <a:ext cx="2011680" cy="256032"/>
          </a:xfrm>
          <a:prstGeom prst="rect">
            <a:avLst/>
          </a:prstGeom>
          <a:noFill/>
          <a:ln/>
        </p:spPr>
        <p:txBody>
          <a:bodyPr wrap="square" lIns="0" tIns="0" rIns="0" bIns="0" rtlCol="0" anchor="ctr"/>
          <a:lstStyle/>
          <a:p>
            <a:pPr indent="0" marL="0">
              <a:buNone/>
            </a:pPr>
            <a:r>
              <a:rPr lang="en-US" sz="1000" dirty="0">
                <a:solidFill>
                  <a:srgbClr val="5B4A41"/>
                </a:solidFill>
                <a:latin typeface="Calibri" pitchFamily="34" charset="0"/>
                <a:ea typeface="Calibri" pitchFamily="34" charset="-122"/>
                <a:cs typeface="Calibri" pitchFamily="34" charset="-120"/>
              </a:rPr>
              <a:t>Actividad con holgura</a:t>
            </a:r>
            <a:endParaRPr lang="en-US" sz="1000" dirty="0"/>
          </a:p>
        </p:txBody>
      </p:sp>
      <p:sp>
        <p:nvSpPr>
          <p:cNvPr id="55" name="Shape 53"/>
          <p:cNvSpPr/>
          <p:nvPr/>
        </p:nvSpPr>
        <p:spPr>
          <a:xfrm>
            <a:off x="4754880" y="5184648"/>
            <a:ext cx="274320" cy="146304"/>
          </a:xfrm>
          <a:prstGeom prst="rect">
            <a:avLst/>
          </a:prstGeom>
          <a:ln w="19050">
            <a:prstDash val="solid"/>
          </a:ln>
        </p:spPr>
      </p:sp>
      <p:sp>
        <p:nvSpPr>
          <p:cNvPr id="56" name="Text 54"/>
          <p:cNvSpPr txBox="1"/>
          <p:nvPr/>
        </p:nvSpPr>
        <p:spPr>
          <a:xfrm>
            <a:off x="5084064" y="5120640"/>
            <a:ext cx="2743200" cy="256032"/>
          </a:xfrm>
          <a:prstGeom prst="rect">
            <a:avLst/>
          </a:prstGeom>
          <a:noFill/>
          <a:ln/>
        </p:spPr>
        <p:txBody>
          <a:bodyPr wrap="square" lIns="0" tIns="0" rIns="0" bIns="0" rtlCol="0" anchor="ctr"/>
          <a:lstStyle/>
          <a:p>
            <a:pPr indent="0" marL="0">
              <a:buNone/>
            </a:pPr>
            <a:r>
              <a:rPr lang="en-US" sz="1000" dirty="0">
                <a:solidFill>
                  <a:srgbClr val="5B4A41"/>
                </a:solidFill>
                <a:latin typeface="Calibri" pitchFamily="34" charset="0"/>
                <a:ea typeface="Calibri" pitchFamily="34" charset="-122"/>
                <a:cs typeface="Calibri" pitchFamily="34" charset="-120"/>
              </a:rPr>
              <a:t>Ventana de holgura disponible</a:t>
            </a:r>
            <a:endParaRPr lang="en-US" sz="1000" dirty="0"/>
          </a:p>
        </p:txBody>
      </p:sp>
      <p:sp>
        <p:nvSpPr>
          <p:cNvPr id="57" name="Shape 55"/>
          <p:cNvSpPr/>
          <p:nvPr/>
        </p:nvSpPr>
        <p:spPr>
          <a:xfrm>
            <a:off x="548640" y="5468112"/>
            <a:ext cx="11091672" cy="566928"/>
          </a:xfrm>
          <a:prstGeom prst="roundRect">
            <a:avLst>
              <a:gd name="adj" fmla="val 11290"/>
            </a:avLst>
          </a:prstGeom>
          <a:solidFill>
            <a:srgbClr val="F3D9D3"/>
          </a:solidFill>
          <a:ln w="12700"/>
        </p:spPr>
      </p:sp>
      <p:sp>
        <p:nvSpPr>
          <p:cNvPr id="58" name="Text 56"/>
          <p:cNvSpPr txBox="1"/>
          <p:nvPr/>
        </p:nvSpPr>
        <p:spPr>
          <a:xfrm>
            <a:off x="749808" y="5522976"/>
            <a:ext cx="10607040" cy="457200"/>
          </a:xfrm>
          <a:prstGeom prst="rect">
            <a:avLst/>
          </a:prstGeom>
          <a:noFill/>
          <a:ln/>
        </p:spPr>
        <p:txBody>
          <a:bodyPr wrap="square" lIns="0" tIns="0" rIns="0" bIns="0" rtlCol="0" anchor="ctr"/>
          <a:lstStyle/>
          <a:p>
            <a:pPr indent="0" marL="0">
              <a:lnSpc>
                <a:spcPts val="1350"/>
              </a:lnSpc>
              <a:buNone/>
            </a:pPr>
            <a:r>
              <a:rPr lang="en-US" sz="1050" b="1" dirty="0">
                <a:solidFill>
                  <a:srgbClr val="4B3B33"/>
                </a:solidFill>
                <a:latin typeface="Calibri" pitchFamily="34" charset="0"/>
                <a:ea typeface="Calibri" pitchFamily="34" charset="-122"/>
                <a:cs typeface="Calibri" pitchFamily="34" charset="-120"/>
              </a:rPr>
              <a:t>Hito de liberación:  </a:t>
            </a:r>
            <a:pPr indent="0" marL="0">
              <a:lnSpc>
                <a:spcPts val="1350"/>
              </a:lnSpc>
              <a:buNone/>
            </a:pPr>
            <a:r>
              <a:rPr lang="en-US" sz="1050" dirty="0">
                <a:solidFill>
                  <a:srgbClr val="5B4A41"/>
                </a:solidFill>
                <a:latin typeface="Calibri" pitchFamily="34" charset="0"/>
                <a:ea typeface="Calibri" pitchFamily="34" charset="-122"/>
                <a:cs typeface="Calibri" pitchFamily="34" charset="-120"/>
              </a:rPr>
              <a:t>el proyecto libera en la Semana 16 (22 de septiembre). Cualquier retraso en C, D, F, G, I o J compromete esa fecha; E y H absorben contingencias sin afectar el hito final.</a:t>
            </a:r>
            <a:endParaRPr lang="en-US" sz="1050" dirty="0"/>
          </a:p>
        </p:txBody>
      </p:sp>
      <p:sp>
        <p:nvSpPr>
          <p:cNvPr id="59" name="Text 57"/>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60" name="Text 58"/>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9. Programación del Proyecto: Red PERT y Ruta Crítica (CPM)</a:t>
            </a:r>
            <a:endParaRPr lang="en-US" sz="2500" dirty="0"/>
          </a:p>
        </p:txBody>
      </p:sp>
      <p:sp>
        <p:nvSpPr>
          <p:cNvPr id="4" name="Shape 2"/>
          <p:cNvSpPr/>
          <p:nvPr/>
        </p:nvSpPr>
        <p:spPr>
          <a:xfrm>
            <a:off x="548640" y="2377440"/>
            <a:ext cx="914400" cy="594360"/>
          </a:xfrm>
          <a:prstGeom prst="roundRect">
            <a:avLst>
              <a:gd name="adj" fmla="val 12308"/>
            </a:avLst>
          </a:prstGeom>
          <a:solidFill>
            <a:srgbClr val="34241C"/>
          </a:solidFill>
          <a:ln/>
        </p:spPr>
      </p:sp>
      <p:sp>
        <p:nvSpPr>
          <p:cNvPr id="5" name="Text 3"/>
          <p:cNvSpPr txBox="1"/>
          <p:nvPr/>
        </p:nvSpPr>
        <p:spPr>
          <a:xfrm>
            <a:off x="548640" y="2377440"/>
            <a:ext cx="914400" cy="594360"/>
          </a:xfrm>
          <a:prstGeom prst="rect">
            <a:avLst/>
          </a:prstGeom>
          <a:noFill/>
          <a:ln/>
        </p:spPr>
        <p:txBody>
          <a:bodyPr wrap="square" lIns="25400" tIns="25400" rIns="25400" bIns="25400" rtlCol="0" anchor="ctr"/>
          <a:lstStyle/>
          <a:p>
            <a:pPr algn="ctr" indent="0" marL="0">
              <a:lnSpc>
                <a:spcPts val="1100"/>
              </a:lnSpc>
              <a:buNone/>
            </a:pPr>
            <a:r>
              <a:rPr b="1" sz="950"/>
              <a:t>INICIO</a:t>
            </a:r>
            <a:endParaRPr lang="en-US" sz="1000" dirty="0"/>
          </a:p>
          <a:p>
            <a:r>
              <a:rPr b="0" sz="750"/>
              <a:t>01-Jun-26</a:t>
            </a:r>
          </a:p>
        </p:txBody>
      </p:sp>
      <p:sp>
        <p:nvSpPr>
          <p:cNvPr id="6" name="Shape 4"/>
          <p:cNvSpPr/>
          <p:nvPr/>
        </p:nvSpPr>
        <p:spPr>
          <a:xfrm>
            <a:off x="1965960" y="2377440"/>
            <a:ext cx="1371600" cy="594360"/>
          </a:xfrm>
          <a:prstGeom prst="roundRect">
            <a:avLst>
              <a:gd name="adj" fmla="val 12308"/>
            </a:avLst>
          </a:prstGeom>
          <a:solidFill>
            <a:srgbClr val="C97567"/>
          </a:solidFill>
          <a:ln/>
        </p:spPr>
      </p:sp>
      <p:sp>
        <p:nvSpPr>
          <p:cNvPr id="7" name="Text 5"/>
          <p:cNvSpPr txBox="1"/>
          <p:nvPr/>
        </p:nvSpPr>
        <p:spPr>
          <a:xfrm>
            <a:off x="1965960" y="2377440"/>
            <a:ext cx="1371600" cy="594360"/>
          </a:xfrm>
          <a:prstGeom prst="rect">
            <a:avLst/>
          </a:prstGeom>
          <a:noFill/>
          <a:ln/>
        </p:spPr>
        <p:txBody>
          <a:bodyPr wrap="square" lIns="25400" tIns="25400" rIns="25400" bIns="25400" rtlCol="0" anchor="ctr"/>
          <a:lstStyle/>
          <a:p>
            <a:pPr algn="ctr" indent="0" marL="0">
              <a:lnSpc>
                <a:spcPts val="1100"/>
              </a:lnSpc>
              <a:buNone/>
            </a:pPr>
            <a:r>
              <a:rPr b="1" sz="850"/>
              <a:t>A: Requerimientos</a:t>
            </a:r>
            <a:endParaRPr lang="en-US" sz="950" dirty="0"/>
          </a:p>
          <a:p>
            <a:r>
              <a:rPr b="0" sz="750"/>
              <a:t>01/Jun - 14/Jun</a:t>
            </a:r>
          </a:p>
        </p:txBody>
      </p:sp>
      <p:sp>
        <p:nvSpPr>
          <p:cNvPr id="8" name="Shape 6"/>
          <p:cNvSpPr/>
          <p:nvPr/>
        </p:nvSpPr>
        <p:spPr>
          <a:xfrm>
            <a:off x="3429000" y="2377440"/>
            <a:ext cx="1371600" cy="594360"/>
          </a:xfrm>
          <a:prstGeom prst="roundRect">
            <a:avLst>
              <a:gd name="adj" fmla="val 12308"/>
            </a:avLst>
          </a:prstGeom>
          <a:solidFill>
            <a:srgbClr val="C97567"/>
          </a:solidFill>
          <a:ln/>
        </p:spPr>
      </p:sp>
      <p:sp>
        <p:nvSpPr>
          <p:cNvPr id="9" name="Text 7"/>
          <p:cNvSpPr txBox="1"/>
          <p:nvPr/>
        </p:nvSpPr>
        <p:spPr>
          <a:xfrm>
            <a:off x="3429000" y="2377440"/>
            <a:ext cx="1371600" cy="594360"/>
          </a:xfrm>
          <a:prstGeom prst="rect">
            <a:avLst/>
          </a:prstGeom>
          <a:noFill/>
          <a:ln/>
        </p:spPr>
        <p:txBody>
          <a:bodyPr wrap="square" lIns="25400" tIns="25400" rIns="25400" bIns="25400" rtlCol="0" anchor="ctr"/>
          <a:lstStyle/>
          <a:p>
            <a:pPr algn="ctr" indent="0" marL="0">
              <a:lnSpc>
                <a:spcPts val="1100"/>
              </a:lnSpc>
              <a:buNone/>
            </a:pPr>
            <a:r>
              <a:rPr b="1" sz="850"/>
              <a:t>B: Monorepo</a:t>
            </a:r>
            <a:endParaRPr lang="en-US" sz="950" dirty="0"/>
          </a:p>
          <a:p>
            <a:r>
              <a:rPr b="0" sz="750"/>
              <a:t>15/Jun - 28/Jun</a:t>
            </a:r>
          </a:p>
        </p:txBody>
      </p:sp>
      <p:sp>
        <p:nvSpPr>
          <p:cNvPr id="10" name="Shape 8"/>
          <p:cNvSpPr/>
          <p:nvPr/>
        </p:nvSpPr>
        <p:spPr>
          <a:xfrm>
            <a:off x="4892040" y="2377440"/>
            <a:ext cx="1371600" cy="594360"/>
          </a:xfrm>
          <a:prstGeom prst="roundRect">
            <a:avLst>
              <a:gd name="adj" fmla="val 12308"/>
            </a:avLst>
          </a:prstGeom>
          <a:solidFill>
            <a:srgbClr val="C97567"/>
          </a:solidFill>
          <a:ln/>
        </p:spPr>
      </p:sp>
      <p:sp>
        <p:nvSpPr>
          <p:cNvPr id="11" name="Text 9"/>
          <p:cNvSpPr txBox="1"/>
          <p:nvPr/>
        </p:nvSpPr>
        <p:spPr>
          <a:xfrm>
            <a:off x="4892040" y="2377440"/>
            <a:ext cx="1371600" cy="594360"/>
          </a:xfrm>
          <a:prstGeom prst="rect">
            <a:avLst/>
          </a:prstGeom>
          <a:noFill/>
          <a:ln/>
        </p:spPr>
        <p:txBody>
          <a:bodyPr wrap="square" lIns="25400" tIns="25400" rIns="25400" bIns="25400" rtlCol="0" anchor="ctr"/>
          <a:lstStyle/>
          <a:p>
            <a:pPr algn="ctr" indent="0" marL="0">
              <a:lnSpc>
                <a:spcPts val="1100"/>
              </a:lnSpc>
              <a:buNone/>
            </a:pPr>
            <a:r>
              <a:rPr b="1" sz="850"/>
              <a:t>C: Backend Core</a:t>
            </a:r>
            <a:endParaRPr lang="en-US" sz="950" dirty="0"/>
          </a:p>
          <a:p>
            <a:r>
              <a:rPr b="0" sz="750"/>
              <a:t>29/Jun - 12/Jul</a:t>
            </a:r>
          </a:p>
        </p:txBody>
      </p:sp>
      <p:sp>
        <p:nvSpPr>
          <p:cNvPr id="12" name="Shape 10"/>
          <p:cNvSpPr/>
          <p:nvPr/>
        </p:nvSpPr>
        <p:spPr>
          <a:xfrm>
            <a:off x="6355080" y="2377440"/>
            <a:ext cx="1371600" cy="594360"/>
          </a:xfrm>
          <a:prstGeom prst="roundRect">
            <a:avLst>
              <a:gd name="adj" fmla="val 12308"/>
            </a:avLst>
          </a:prstGeom>
          <a:solidFill>
            <a:srgbClr val="C97567"/>
          </a:solidFill>
          <a:ln/>
        </p:spPr>
      </p:sp>
      <p:sp>
        <p:nvSpPr>
          <p:cNvPr id="13" name="Text 11"/>
          <p:cNvSpPr txBox="1"/>
          <p:nvPr/>
        </p:nvSpPr>
        <p:spPr>
          <a:xfrm>
            <a:off x="6355080" y="2377440"/>
            <a:ext cx="1371600" cy="594360"/>
          </a:xfrm>
          <a:prstGeom prst="rect">
            <a:avLst/>
          </a:prstGeom>
          <a:noFill/>
          <a:ln/>
        </p:spPr>
        <p:txBody>
          <a:bodyPr wrap="square" lIns="25400" tIns="25400" rIns="25400" bIns="25400" rtlCol="0" anchor="ctr"/>
          <a:lstStyle/>
          <a:p>
            <a:pPr algn="ctr" indent="0" marL="0">
              <a:lnSpc>
                <a:spcPts val="1100"/>
              </a:lnSpc>
              <a:buNone/>
            </a:pPr>
            <a:r>
              <a:rPr b="1" sz="850"/>
              <a:t>D: RabbitMQ Saga</a:t>
            </a:r>
            <a:endParaRPr lang="en-US" sz="950" dirty="0"/>
          </a:p>
          <a:p>
            <a:r>
              <a:rPr b="0" sz="750"/>
              <a:t>13/Jul - 26/Jul</a:t>
            </a:r>
          </a:p>
        </p:txBody>
      </p:sp>
      <p:sp>
        <p:nvSpPr>
          <p:cNvPr id="14" name="Shape 12"/>
          <p:cNvSpPr/>
          <p:nvPr/>
        </p:nvSpPr>
        <p:spPr>
          <a:xfrm>
            <a:off x="7818120" y="2377440"/>
            <a:ext cx="1371600" cy="594360"/>
          </a:xfrm>
          <a:prstGeom prst="roundRect">
            <a:avLst>
              <a:gd name="adj" fmla="val 12308"/>
            </a:avLst>
          </a:prstGeom>
          <a:solidFill>
            <a:srgbClr val="C97567"/>
          </a:solidFill>
          <a:ln/>
        </p:spPr>
      </p:sp>
      <p:sp>
        <p:nvSpPr>
          <p:cNvPr id="15" name="Text 13"/>
          <p:cNvSpPr txBox="1"/>
          <p:nvPr/>
        </p:nvSpPr>
        <p:spPr>
          <a:xfrm>
            <a:off x="7818120" y="2377440"/>
            <a:ext cx="1371600" cy="594360"/>
          </a:xfrm>
          <a:prstGeom prst="rect">
            <a:avLst/>
          </a:prstGeom>
          <a:noFill/>
          <a:ln/>
        </p:spPr>
        <p:txBody>
          <a:bodyPr wrap="square" lIns="25400" tIns="25400" rIns="25400" bIns="25400" rtlCol="0" anchor="ctr"/>
          <a:lstStyle/>
          <a:p>
            <a:pPr algn="ctr" indent="0" marL="0">
              <a:lnSpc>
                <a:spcPts val="1100"/>
              </a:lnSpc>
              <a:buNone/>
            </a:pPr>
            <a:r>
              <a:rPr b="1" sz="850"/>
              <a:t>F: POS &amp; Pagos</a:t>
            </a:r>
            <a:endParaRPr lang="en-US" sz="950" dirty="0"/>
          </a:p>
          <a:p>
            <a:r>
              <a:rPr b="0" sz="750"/>
              <a:t>27/Jul - 09/Ago</a:t>
            </a:r>
          </a:p>
        </p:txBody>
      </p:sp>
      <p:sp>
        <p:nvSpPr>
          <p:cNvPr id="16" name="Shape 14"/>
          <p:cNvSpPr/>
          <p:nvPr/>
        </p:nvSpPr>
        <p:spPr>
          <a:xfrm>
            <a:off x="9281160" y="2377440"/>
            <a:ext cx="1371600" cy="594360"/>
          </a:xfrm>
          <a:prstGeom prst="roundRect">
            <a:avLst>
              <a:gd name="adj" fmla="val 12308"/>
            </a:avLst>
          </a:prstGeom>
          <a:solidFill>
            <a:srgbClr val="C97567"/>
          </a:solidFill>
          <a:ln/>
        </p:spPr>
      </p:sp>
      <p:sp>
        <p:nvSpPr>
          <p:cNvPr id="17" name="Text 15"/>
          <p:cNvSpPr txBox="1"/>
          <p:nvPr/>
        </p:nvSpPr>
        <p:spPr>
          <a:xfrm>
            <a:off x="9281160" y="2377440"/>
            <a:ext cx="1371600" cy="594360"/>
          </a:xfrm>
          <a:prstGeom prst="rect">
            <a:avLst/>
          </a:prstGeom>
          <a:noFill/>
          <a:ln/>
        </p:spPr>
        <p:txBody>
          <a:bodyPr wrap="square" lIns="25400" tIns="25400" rIns="25400" bIns="25400" rtlCol="0" anchor="ctr"/>
          <a:lstStyle/>
          <a:p>
            <a:pPr algn="ctr" indent="0" marL="0">
              <a:lnSpc>
                <a:spcPts val="1100"/>
              </a:lnSpc>
              <a:buNone/>
            </a:pPr>
            <a:r>
              <a:rPr b="1" sz="850"/>
              <a:t>G: Trazabilidad Eco</a:t>
            </a:r>
            <a:endParaRPr lang="en-US" sz="950" dirty="0"/>
          </a:p>
          <a:p>
            <a:r>
              <a:rPr b="0" sz="750"/>
              <a:t>10/Ago - 23/Ago</a:t>
            </a:r>
          </a:p>
        </p:txBody>
      </p:sp>
      <p:sp>
        <p:nvSpPr>
          <p:cNvPr id="18" name="Shape 16"/>
          <p:cNvSpPr/>
          <p:nvPr/>
        </p:nvSpPr>
        <p:spPr>
          <a:xfrm>
            <a:off x="9281160" y="4617720"/>
            <a:ext cx="1371600" cy="594360"/>
          </a:xfrm>
          <a:prstGeom prst="roundRect">
            <a:avLst>
              <a:gd name="adj" fmla="val 12308"/>
            </a:avLst>
          </a:prstGeom>
          <a:solidFill>
            <a:srgbClr val="C97567"/>
          </a:solidFill>
          <a:ln/>
        </p:spPr>
      </p:sp>
      <p:sp>
        <p:nvSpPr>
          <p:cNvPr id="19" name="Text 17"/>
          <p:cNvSpPr txBox="1"/>
          <p:nvPr/>
        </p:nvSpPr>
        <p:spPr>
          <a:xfrm>
            <a:off x="9281160" y="4617720"/>
            <a:ext cx="1371600" cy="594360"/>
          </a:xfrm>
          <a:prstGeom prst="rect">
            <a:avLst/>
          </a:prstGeom>
          <a:noFill/>
          <a:ln/>
        </p:spPr>
        <p:txBody>
          <a:bodyPr wrap="square" lIns="25400" tIns="25400" rIns="25400" bIns="25400" rtlCol="0" anchor="ctr"/>
          <a:lstStyle/>
          <a:p>
            <a:pPr algn="ctr" indent="0" marL="0">
              <a:lnSpc>
                <a:spcPts val="1100"/>
              </a:lnSpc>
              <a:buNone/>
            </a:pPr>
            <a:r>
              <a:rPr b="1" sz="850"/>
              <a:t>I: Testing QA</a:t>
            </a:r>
            <a:endParaRPr lang="en-US" sz="950" dirty="0"/>
          </a:p>
          <a:p>
            <a:r>
              <a:rPr b="0" sz="750"/>
              <a:t>24/Ago - 06/Sep</a:t>
            </a:r>
          </a:p>
        </p:txBody>
      </p:sp>
      <p:sp>
        <p:nvSpPr>
          <p:cNvPr id="20" name="Shape 18"/>
          <p:cNvSpPr/>
          <p:nvPr/>
        </p:nvSpPr>
        <p:spPr>
          <a:xfrm>
            <a:off x="10744200" y="4617720"/>
            <a:ext cx="1371600" cy="594360"/>
          </a:xfrm>
          <a:prstGeom prst="roundRect">
            <a:avLst>
              <a:gd name="adj" fmla="val 12308"/>
            </a:avLst>
          </a:prstGeom>
          <a:solidFill>
            <a:srgbClr val="C97567"/>
          </a:solidFill>
          <a:ln/>
        </p:spPr>
      </p:sp>
      <p:sp>
        <p:nvSpPr>
          <p:cNvPr id="21" name="Text 19"/>
          <p:cNvSpPr txBox="1"/>
          <p:nvPr/>
        </p:nvSpPr>
        <p:spPr>
          <a:xfrm>
            <a:off x="10744200" y="4617720"/>
            <a:ext cx="1371600" cy="594360"/>
          </a:xfrm>
          <a:prstGeom prst="rect">
            <a:avLst/>
          </a:prstGeom>
          <a:noFill/>
          <a:ln/>
        </p:spPr>
        <p:txBody>
          <a:bodyPr wrap="square" lIns="25400" tIns="25400" rIns="25400" bIns="25400" rtlCol="0" anchor="ctr"/>
          <a:lstStyle/>
          <a:p>
            <a:pPr algn="ctr" indent="0" marL="0">
              <a:lnSpc>
                <a:spcPts val="1100"/>
              </a:lnSpc>
              <a:buNone/>
            </a:pPr>
            <a:r>
              <a:rPr b="1" sz="850"/>
              <a:t>J: GCP Release</a:t>
            </a:r>
            <a:endParaRPr lang="en-US" sz="950" dirty="0"/>
          </a:p>
          <a:p>
            <a:r>
              <a:rPr b="0" sz="750"/>
              <a:t>07/Sep - 21/Sep</a:t>
            </a:r>
          </a:p>
        </p:txBody>
      </p:sp>
      <p:sp>
        <p:nvSpPr>
          <p:cNvPr id="22" name="Shape 20"/>
          <p:cNvSpPr/>
          <p:nvPr/>
        </p:nvSpPr>
        <p:spPr>
          <a:xfrm>
            <a:off x="10744200" y="2377440"/>
            <a:ext cx="914400" cy="594360"/>
          </a:xfrm>
          <a:prstGeom prst="roundRect">
            <a:avLst>
              <a:gd name="adj" fmla="val 12308"/>
            </a:avLst>
          </a:prstGeom>
          <a:solidFill>
            <a:srgbClr val="34241C"/>
          </a:solidFill>
          <a:ln/>
        </p:spPr>
      </p:sp>
      <p:sp>
        <p:nvSpPr>
          <p:cNvPr id="23" name="Text 21"/>
          <p:cNvSpPr txBox="1"/>
          <p:nvPr/>
        </p:nvSpPr>
        <p:spPr>
          <a:xfrm>
            <a:off x="10744200" y="2377440"/>
            <a:ext cx="914400" cy="594360"/>
          </a:xfrm>
          <a:prstGeom prst="rect">
            <a:avLst/>
          </a:prstGeom>
          <a:noFill/>
          <a:ln/>
        </p:spPr>
        <p:txBody>
          <a:bodyPr wrap="square" lIns="25400" tIns="25400" rIns="25400" bIns="25400" rtlCol="0" anchor="ctr"/>
          <a:lstStyle/>
          <a:p>
            <a:pPr algn="ctr" indent="0" marL="0">
              <a:lnSpc>
                <a:spcPts val="1100"/>
              </a:lnSpc>
              <a:buNone/>
            </a:pPr>
            <a:r>
              <a:rPr b="1" sz="950"/>
              <a:t>FIN</a:t>
            </a:r>
            <a:endParaRPr lang="en-US" sz="1000" dirty="0"/>
          </a:p>
          <a:p>
            <a:r>
              <a:rPr b="0" sz="750"/>
              <a:t>21-Sep-26</a:t>
            </a:r>
          </a:p>
        </p:txBody>
      </p:sp>
      <p:sp>
        <p:nvSpPr>
          <p:cNvPr id="24" name="Shape 22"/>
          <p:cNvSpPr/>
          <p:nvPr/>
        </p:nvSpPr>
        <p:spPr>
          <a:xfrm>
            <a:off x="4892040" y="3566160"/>
            <a:ext cx="1371600" cy="594360"/>
          </a:xfrm>
          <a:prstGeom prst="roundRect">
            <a:avLst>
              <a:gd name="adj" fmla="val 12308"/>
            </a:avLst>
          </a:prstGeom>
          <a:solidFill>
            <a:srgbClr val="7C9473"/>
          </a:solidFill>
          <a:ln/>
        </p:spPr>
      </p:sp>
      <p:sp>
        <p:nvSpPr>
          <p:cNvPr id="25" name="Text 23"/>
          <p:cNvSpPr txBox="1"/>
          <p:nvPr/>
        </p:nvSpPr>
        <p:spPr>
          <a:xfrm>
            <a:off x="4892040" y="3566160"/>
            <a:ext cx="1371600" cy="594360"/>
          </a:xfrm>
          <a:prstGeom prst="rect">
            <a:avLst/>
          </a:prstGeom>
          <a:noFill/>
          <a:ln/>
        </p:spPr>
        <p:txBody>
          <a:bodyPr wrap="square" lIns="25400" tIns="25400" rIns="25400" bIns="25400" rtlCol="0" anchor="ctr"/>
          <a:lstStyle/>
          <a:p>
            <a:pPr algn="ctr" indent="0" marL="0">
              <a:lnSpc>
                <a:spcPts val="1100"/>
              </a:lnSpc>
              <a:buNone/>
            </a:pPr>
            <a:r>
              <a:rPr b="1" sz="850"/>
              <a:t>E: Frontend Core</a:t>
            </a:r>
            <a:endParaRPr lang="en-US" sz="950" dirty="0"/>
          </a:p>
          <a:p>
            <a:r>
              <a:rPr b="0" sz="750"/>
              <a:t>27/Jul - 09/Ago</a:t>
            </a:r>
          </a:p>
        </p:txBody>
      </p:sp>
      <p:sp>
        <p:nvSpPr>
          <p:cNvPr id="26" name="Shape 24"/>
          <p:cNvSpPr/>
          <p:nvPr/>
        </p:nvSpPr>
        <p:spPr>
          <a:xfrm>
            <a:off x="6355080" y="3566160"/>
            <a:ext cx="1371600" cy="594360"/>
          </a:xfrm>
          <a:prstGeom prst="roundRect">
            <a:avLst>
              <a:gd name="adj" fmla="val 12308"/>
            </a:avLst>
          </a:prstGeom>
          <a:solidFill>
            <a:srgbClr val="7C9473"/>
          </a:solidFill>
          <a:ln/>
        </p:spPr>
      </p:sp>
      <p:sp>
        <p:nvSpPr>
          <p:cNvPr id="27" name="Text 25"/>
          <p:cNvSpPr txBox="1"/>
          <p:nvPr/>
        </p:nvSpPr>
        <p:spPr>
          <a:xfrm>
            <a:off x="6355080" y="3566160"/>
            <a:ext cx="1371600" cy="594360"/>
          </a:xfrm>
          <a:prstGeom prst="rect">
            <a:avLst/>
          </a:prstGeom>
          <a:noFill/>
          <a:ln/>
        </p:spPr>
        <p:txBody>
          <a:bodyPr wrap="square" lIns="25400" tIns="25400" rIns="25400" bIns="25400" rtlCol="0" anchor="ctr"/>
          <a:lstStyle/>
          <a:p>
            <a:pPr algn="ctr" indent="0" marL="0">
              <a:lnSpc>
                <a:spcPts val="1100"/>
              </a:lnSpc>
              <a:buNone/>
            </a:pPr>
            <a:r>
              <a:rPr b="1" sz="850"/>
              <a:t>H: Dashboard UTM</a:t>
            </a:r>
            <a:endParaRPr lang="en-US" sz="950" dirty="0"/>
          </a:p>
          <a:p>
            <a:r>
              <a:rPr b="0" sz="750"/>
              <a:t>10/Ago - 23/Ago</a:t>
            </a:r>
          </a:p>
        </p:txBody>
      </p:sp>
      <p:sp>
        <p:nvSpPr>
          <p:cNvPr id="28" name="Shape 26"/>
          <p:cNvSpPr/>
          <p:nvPr/>
        </p:nvSpPr>
        <p:spPr>
          <a:xfrm>
            <a:off x="1463040" y="2674620"/>
            <a:ext cx="502920" cy="0"/>
          </a:xfrm>
          <a:prstGeom prst="line">
            <a:avLst/>
          </a:prstGeom>
          <a:noFill/>
          <a:ln w="22225">
            <a:solidFill>
              <a:srgbClr val="C97567"/>
            </a:solidFill>
            <a:prstDash val="solid"/>
            <a:headEnd type="none"/>
            <a:tailEnd type="triangle"/>
          </a:ln>
        </p:spPr>
      </p:sp>
      <p:sp>
        <p:nvSpPr>
          <p:cNvPr id="29" name="Shape 27"/>
          <p:cNvSpPr/>
          <p:nvPr/>
        </p:nvSpPr>
        <p:spPr>
          <a:xfrm>
            <a:off x="3337560" y="2674620"/>
            <a:ext cx="91440" cy="0"/>
          </a:xfrm>
          <a:prstGeom prst="line">
            <a:avLst/>
          </a:prstGeom>
          <a:noFill/>
          <a:ln w="22225">
            <a:solidFill>
              <a:srgbClr val="C97567"/>
            </a:solidFill>
            <a:prstDash val="solid"/>
            <a:headEnd type="none"/>
            <a:tailEnd type="triangle"/>
          </a:ln>
        </p:spPr>
      </p:sp>
      <p:sp>
        <p:nvSpPr>
          <p:cNvPr id="30" name="Shape 28"/>
          <p:cNvSpPr/>
          <p:nvPr/>
        </p:nvSpPr>
        <p:spPr>
          <a:xfrm>
            <a:off x="4800600" y="2674620"/>
            <a:ext cx="91440" cy="0"/>
          </a:xfrm>
          <a:prstGeom prst="line">
            <a:avLst/>
          </a:prstGeom>
          <a:noFill/>
          <a:ln w="22225">
            <a:solidFill>
              <a:srgbClr val="C97567"/>
            </a:solidFill>
            <a:prstDash val="solid"/>
            <a:headEnd type="none"/>
            <a:tailEnd type="triangle"/>
          </a:ln>
        </p:spPr>
      </p:sp>
      <p:sp>
        <p:nvSpPr>
          <p:cNvPr id="31" name="Shape 29"/>
          <p:cNvSpPr/>
          <p:nvPr/>
        </p:nvSpPr>
        <p:spPr>
          <a:xfrm>
            <a:off x="6263640" y="2674620"/>
            <a:ext cx="91440" cy="0"/>
          </a:xfrm>
          <a:prstGeom prst="line">
            <a:avLst/>
          </a:prstGeom>
          <a:noFill/>
          <a:ln w="22225">
            <a:solidFill>
              <a:srgbClr val="C97567"/>
            </a:solidFill>
            <a:prstDash val="solid"/>
            <a:headEnd type="none"/>
            <a:tailEnd type="triangle"/>
          </a:ln>
        </p:spPr>
      </p:sp>
      <p:sp>
        <p:nvSpPr>
          <p:cNvPr id="32" name="Shape 30"/>
          <p:cNvSpPr/>
          <p:nvPr/>
        </p:nvSpPr>
        <p:spPr>
          <a:xfrm>
            <a:off x="7726680" y="2674620"/>
            <a:ext cx="91440" cy="0"/>
          </a:xfrm>
          <a:prstGeom prst="line">
            <a:avLst/>
          </a:prstGeom>
          <a:noFill/>
          <a:ln w="22225">
            <a:solidFill>
              <a:srgbClr val="C97567"/>
            </a:solidFill>
            <a:prstDash val="solid"/>
            <a:headEnd type="none"/>
            <a:tailEnd type="triangle"/>
          </a:ln>
        </p:spPr>
      </p:sp>
      <p:sp>
        <p:nvSpPr>
          <p:cNvPr id="33" name="Shape 31"/>
          <p:cNvSpPr/>
          <p:nvPr/>
        </p:nvSpPr>
        <p:spPr>
          <a:xfrm>
            <a:off x="4114800" y="2971800"/>
            <a:ext cx="1463040" cy="594360"/>
          </a:xfrm>
          <a:prstGeom prst="line">
            <a:avLst/>
          </a:prstGeom>
          <a:noFill/>
          <a:ln w="22225">
            <a:solidFill>
              <a:srgbClr val="7C9473"/>
            </a:solidFill>
            <a:prstDash val="solid"/>
            <a:headEnd type="none"/>
            <a:tailEnd type="triangle"/>
          </a:ln>
        </p:spPr>
      </p:sp>
      <p:sp>
        <p:nvSpPr>
          <p:cNvPr id="34" name="Shape 32"/>
          <p:cNvSpPr/>
          <p:nvPr/>
        </p:nvSpPr>
        <p:spPr>
          <a:xfrm flipV="1">
            <a:off x="6263640" y="2674620"/>
            <a:ext cx="1554480" cy="1188720"/>
          </a:xfrm>
          <a:prstGeom prst="line">
            <a:avLst/>
          </a:prstGeom>
          <a:noFill/>
          <a:ln w="22225">
            <a:solidFill>
              <a:srgbClr val="7C9473"/>
            </a:solidFill>
            <a:prstDash val="solid"/>
            <a:headEnd type="none"/>
            <a:tailEnd type="triangle"/>
          </a:ln>
        </p:spPr>
      </p:sp>
      <p:sp>
        <p:nvSpPr>
          <p:cNvPr id="35" name="Shape 33"/>
          <p:cNvSpPr/>
          <p:nvPr/>
        </p:nvSpPr>
        <p:spPr>
          <a:xfrm>
            <a:off x="9189720" y="2674620"/>
            <a:ext cx="91440" cy="0"/>
          </a:xfrm>
          <a:prstGeom prst="line">
            <a:avLst/>
          </a:prstGeom>
          <a:noFill/>
          <a:ln w="22225">
            <a:solidFill>
              <a:srgbClr val="C97567"/>
            </a:solidFill>
            <a:prstDash val="solid"/>
            <a:headEnd type="none"/>
            <a:tailEnd type="triangle"/>
          </a:ln>
        </p:spPr>
      </p:sp>
      <p:sp>
        <p:nvSpPr>
          <p:cNvPr id="36" name="Shape 34"/>
          <p:cNvSpPr/>
          <p:nvPr/>
        </p:nvSpPr>
        <p:spPr>
          <a:xfrm flipH="1">
            <a:off x="7040880" y="2971800"/>
            <a:ext cx="1463040" cy="594360"/>
          </a:xfrm>
          <a:prstGeom prst="line">
            <a:avLst/>
          </a:prstGeom>
          <a:noFill/>
          <a:ln w="22225">
            <a:solidFill>
              <a:srgbClr val="7C9473"/>
            </a:solidFill>
            <a:prstDash val="solid"/>
            <a:headEnd type="none"/>
            <a:tailEnd type="triangle"/>
          </a:ln>
        </p:spPr>
      </p:sp>
      <p:sp>
        <p:nvSpPr>
          <p:cNvPr id="37" name="Shape 35"/>
          <p:cNvSpPr/>
          <p:nvPr/>
        </p:nvSpPr>
        <p:spPr>
          <a:xfrm>
            <a:off x="7726680" y="3863340"/>
            <a:ext cx="2240280" cy="754380"/>
          </a:xfrm>
          <a:prstGeom prst="line">
            <a:avLst/>
          </a:prstGeom>
          <a:noFill/>
          <a:ln w="22225">
            <a:solidFill>
              <a:srgbClr val="7C9473"/>
            </a:solidFill>
            <a:prstDash val="solid"/>
            <a:headEnd type="none"/>
            <a:tailEnd type="triangle"/>
          </a:ln>
        </p:spPr>
      </p:sp>
      <p:sp>
        <p:nvSpPr>
          <p:cNvPr id="38" name="Shape 36"/>
          <p:cNvSpPr/>
          <p:nvPr/>
        </p:nvSpPr>
        <p:spPr>
          <a:xfrm>
            <a:off x="9966960" y="2971800"/>
            <a:ext cx="0" cy="1645920"/>
          </a:xfrm>
          <a:prstGeom prst="line">
            <a:avLst/>
          </a:prstGeom>
          <a:noFill/>
          <a:ln w="22225">
            <a:solidFill>
              <a:srgbClr val="C97567"/>
            </a:solidFill>
            <a:prstDash val="solid"/>
            <a:headEnd type="none"/>
            <a:tailEnd type="triangle"/>
          </a:ln>
        </p:spPr>
      </p:sp>
      <p:sp>
        <p:nvSpPr>
          <p:cNvPr id="39" name="Shape 37"/>
          <p:cNvSpPr/>
          <p:nvPr/>
        </p:nvSpPr>
        <p:spPr>
          <a:xfrm>
            <a:off x="10652760" y="4914900"/>
            <a:ext cx="91440" cy="0"/>
          </a:xfrm>
          <a:prstGeom prst="line">
            <a:avLst/>
          </a:prstGeom>
          <a:noFill/>
          <a:ln w="22225">
            <a:solidFill>
              <a:srgbClr val="C97567"/>
            </a:solidFill>
            <a:prstDash val="solid"/>
            <a:headEnd type="none"/>
            <a:tailEnd type="triangle"/>
          </a:ln>
        </p:spPr>
      </p:sp>
      <p:sp>
        <p:nvSpPr>
          <p:cNvPr id="40" name="Shape 38"/>
          <p:cNvSpPr/>
          <p:nvPr/>
        </p:nvSpPr>
        <p:spPr>
          <a:xfrm flipH="1" flipV="1">
            <a:off x="11201400" y="2971800"/>
            <a:ext cx="228600" cy="1645920"/>
          </a:xfrm>
          <a:prstGeom prst="line">
            <a:avLst/>
          </a:prstGeom>
          <a:noFill/>
          <a:ln w="22225">
            <a:solidFill>
              <a:srgbClr val="C97567"/>
            </a:solidFill>
            <a:prstDash val="solid"/>
            <a:headEnd type="none"/>
            <a:tailEnd type="triangle"/>
          </a:ln>
        </p:spPr>
      </p:sp>
      <p:sp>
        <p:nvSpPr>
          <p:cNvPr id="41" name="Text 39"/>
          <p:cNvSpPr txBox="1"/>
          <p:nvPr/>
        </p:nvSpPr>
        <p:spPr>
          <a:xfrm>
            <a:off x="4709160" y="4206240"/>
            <a:ext cx="1737360" cy="228600"/>
          </a:xfrm>
          <a:prstGeom prst="rect">
            <a:avLst/>
          </a:prstGeom>
          <a:noFill/>
          <a:ln/>
        </p:spPr>
        <p:txBody>
          <a:bodyPr wrap="square" lIns="0" tIns="0" rIns="0" bIns="0" rtlCol="0" anchor="ctr"/>
          <a:lstStyle/>
          <a:p>
            <a:pPr algn="ctr" indent="0" marL="0">
              <a:buNone/>
            </a:pPr>
            <a:r>
              <a:rPr lang="en-US" sz="900" i="1" dirty="0">
                <a:solidFill>
                  <a:srgbClr val="5F7355"/>
                </a:solidFill>
                <a:latin typeface="Calibri" pitchFamily="34" charset="0"/>
                <a:ea typeface="Calibri" pitchFamily="34" charset="-122"/>
                <a:cs typeface="Calibri" pitchFamily="34" charset="-120"/>
              </a:rPr>
              <a:t>Holgura: 2 sem</a:t>
            </a:r>
            <a:endParaRPr lang="en-US" sz="900" dirty="0"/>
          </a:p>
        </p:txBody>
      </p:sp>
      <p:sp>
        <p:nvSpPr>
          <p:cNvPr id="42" name="Text 40"/>
          <p:cNvSpPr txBox="1"/>
          <p:nvPr/>
        </p:nvSpPr>
        <p:spPr>
          <a:xfrm>
            <a:off x="6172200" y="4206240"/>
            <a:ext cx="1737360" cy="228600"/>
          </a:xfrm>
          <a:prstGeom prst="rect">
            <a:avLst/>
          </a:prstGeom>
          <a:noFill/>
          <a:ln/>
        </p:spPr>
        <p:txBody>
          <a:bodyPr wrap="square" lIns="0" tIns="0" rIns="0" bIns="0" rtlCol="0" anchor="ctr"/>
          <a:lstStyle/>
          <a:p>
            <a:pPr algn="ctr" indent="0" marL="0">
              <a:buNone/>
            </a:pPr>
            <a:r>
              <a:rPr lang="en-US" sz="900" i="1" dirty="0">
                <a:solidFill>
                  <a:srgbClr val="5F7355"/>
                </a:solidFill>
                <a:latin typeface="Calibri" pitchFamily="34" charset="0"/>
                <a:ea typeface="Calibri" pitchFamily="34" charset="-122"/>
                <a:cs typeface="Calibri" pitchFamily="34" charset="-120"/>
              </a:rPr>
              <a:t>Holgura: 1 sem</a:t>
            </a:r>
            <a:endParaRPr lang="en-US" sz="900" dirty="0"/>
          </a:p>
        </p:txBody>
      </p:sp>
      <p:sp>
        <p:nvSpPr>
          <p:cNvPr id="43" name="Shape 41"/>
          <p:cNvSpPr/>
          <p:nvPr/>
        </p:nvSpPr>
        <p:spPr>
          <a:xfrm>
            <a:off x="548640" y="5257800"/>
            <a:ext cx="256032" cy="182880"/>
          </a:xfrm>
          <a:prstGeom prst="roundRect">
            <a:avLst>
              <a:gd name="adj" fmla="val 15000"/>
            </a:avLst>
          </a:prstGeom>
          <a:solidFill>
            <a:srgbClr val="C97567"/>
          </a:solidFill>
          <a:ln/>
        </p:spPr>
      </p:sp>
      <p:sp>
        <p:nvSpPr>
          <p:cNvPr id="44" name="Text 42"/>
          <p:cNvSpPr txBox="1"/>
          <p:nvPr/>
        </p:nvSpPr>
        <p:spPr>
          <a:xfrm>
            <a:off x="859536" y="5212080"/>
            <a:ext cx="2377440" cy="274320"/>
          </a:xfrm>
          <a:prstGeom prst="rect">
            <a:avLst/>
          </a:prstGeom>
          <a:noFill/>
          <a:ln/>
        </p:spPr>
        <p:txBody>
          <a:bodyPr wrap="square" lIns="0" tIns="0" rIns="0" bIns="0" rtlCol="0" anchor="ctr"/>
          <a:lstStyle/>
          <a:p>
            <a:pPr indent="0" marL="0">
              <a:buNone/>
            </a:pPr>
            <a:r>
              <a:rPr lang="en-US" sz="1050" dirty="0">
                <a:solidFill>
                  <a:srgbClr val="5B4A41"/>
                </a:solidFill>
                <a:latin typeface="Calibri" pitchFamily="34" charset="0"/>
                <a:ea typeface="Calibri" pitchFamily="34" charset="-122"/>
                <a:cs typeface="Calibri" pitchFamily="34" charset="-120"/>
              </a:rPr>
              <a:t>Ruta crítica (16 semanas)</a:t>
            </a:r>
            <a:endParaRPr lang="en-US" sz="1050" dirty="0"/>
          </a:p>
        </p:txBody>
      </p:sp>
      <p:sp>
        <p:nvSpPr>
          <p:cNvPr id="45" name="Shape 43"/>
          <p:cNvSpPr/>
          <p:nvPr/>
        </p:nvSpPr>
        <p:spPr>
          <a:xfrm>
            <a:off x="3383280" y="5257800"/>
            <a:ext cx="256032" cy="182880"/>
          </a:xfrm>
          <a:prstGeom prst="roundRect">
            <a:avLst>
              <a:gd name="adj" fmla="val 15000"/>
            </a:avLst>
          </a:prstGeom>
          <a:solidFill>
            <a:srgbClr val="7C9473"/>
          </a:solidFill>
          <a:ln/>
        </p:spPr>
      </p:sp>
      <p:sp>
        <p:nvSpPr>
          <p:cNvPr id="46" name="Text 44"/>
          <p:cNvSpPr txBox="1"/>
          <p:nvPr/>
        </p:nvSpPr>
        <p:spPr>
          <a:xfrm>
            <a:off x="3694176" y="5212080"/>
            <a:ext cx="2194560" cy="274320"/>
          </a:xfrm>
          <a:prstGeom prst="rect">
            <a:avLst/>
          </a:prstGeom>
          <a:noFill/>
          <a:ln/>
        </p:spPr>
        <p:txBody>
          <a:bodyPr wrap="square" lIns="0" tIns="0" rIns="0" bIns="0" rtlCol="0" anchor="ctr"/>
          <a:lstStyle/>
          <a:p>
            <a:pPr indent="0" marL="0">
              <a:buNone/>
            </a:pPr>
            <a:r>
              <a:rPr lang="en-US" sz="1050" dirty="0">
                <a:solidFill>
                  <a:srgbClr val="5B4A41"/>
                </a:solidFill>
                <a:latin typeface="Calibri" pitchFamily="34" charset="0"/>
                <a:ea typeface="Calibri" pitchFamily="34" charset="-122"/>
                <a:cs typeface="Calibri" pitchFamily="34" charset="-120"/>
              </a:rPr>
              <a:t>Actividad con holgura</a:t>
            </a:r>
            <a:endParaRPr lang="en-US" sz="1050" dirty="0"/>
          </a:p>
        </p:txBody>
      </p:sp>
      <p:sp>
        <p:nvSpPr>
          <p:cNvPr id="47" name="Shape 45"/>
          <p:cNvSpPr/>
          <p:nvPr/>
        </p:nvSpPr>
        <p:spPr>
          <a:xfrm>
            <a:off x="548640" y="5623560"/>
            <a:ext cx="11091672" cy="658368"/>
          </a:xfrm>
          <a:prstGeom prst="roundRect">
            <a:avLst>
              <a:gd name="adj" fmla="val 9722"/>
            </a:avLst>
          </a:prstGeom>
          <a:solidFill>
            <a:srgbClr val="F3D9D3"/>
          </a:solidFill>
          <a:ln w="12700"/>
        </p:spPr>
      </p:sp>
      <p:sp>
        <p:nvSpPr>
          <p:cNvPr id="48" name="Text 46"/>
          <p:cNvSpPr txBox="1"/>
          <p:nvPr/>
        </p:nvSpPr>
        <p:spPr>
          <a:xfrm>
            <a:off x="777240" y="5687568"/>
            <a:ext cx="10607040" cy="530352"/>
          </a:xfrm>
          <a:prstGeom prst="rect">
            <a:avLst/>
          </a:prstGeom>
          <a:noFill/>
          <a:ln/>
        </p:spPr>
        <p:txBody>
          <a:bodyPr wrap="square" lIns="0" tIns="0" rIns="0" bIns="0" rtlCol="0" anchor="ctr"/>
          <a:lstStyle/>
          <a:p>
            <a:pPr indent="0" marL="0">
              <a:lnSpc>
                <a:spcPts val="1350"/>
              </a:lnSpc>
              <a:buNone/>
            </a:pPr>
            <a:pPr indent="0" marL="0">
              <a:lnSpc>
                <a:spcPts val="1350"/>
              </a:lnSpc>
              <a:buNone/>
            </a:pPr>
            <a:r>
              <a:rPr sz="1000">
                <a:solidFill>
                  <a:srgbClr val="5B4A41"/>
                </a:solidFill>
              </a:rPr>
              <a:t>Lectura de la ruta crítica (01/Jun/2026 al 21/Sep/2026): Inicio → A → B → C → D → F → G → I → J → Fin. Cualquier retraso en estas actividades mueve la fecha de liberación del 21-Sep; E (Frontend) y H (Dashboard) cuentan con holgura programada de 1 a 2 semanas.</a:t>
            </a:r>
            <a:endParaRPr lang="en-US" sz="1050" dirty="0"/>
          </a:p>
        </p:txBody>
      </p:sp>
      <p:sp>
        <p:nvSpPr>
          <p:cNvPr id="49" name="Text 47"/>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50" name="Text 48"/>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10. Programación del Proyecto: Histograma y Distribución de Recursos</a:t>
            </a:r>
            <a:endParaRPr lang="en-US" sz="2500" dirty="0"/>
          </a:p>
        </p:txBody>
      </p:sp>
      <p:sp>
        <p:nvSpPr>
          <p:cNvPr id="4" name="Text 2"/>
          <p:cNvSpPr txBox="1"/>
          <p:nvPr/>
        </p:nvSpPr>
        <p:spPr>
          <a:xfrm>
            <a:off x="548640" y="1417320"/>
            <a:ext cx="10972800" cy="274320"/>
          </a:xfrm>
          <a:prstGeom prst="rect">
            <a:avLst/>
          </a:prstGeom>
          <a:noFill/>
          <a:ln/>
        </p:spPr>
        <p:txBody>
          <a:bodyPr wrap="square" lIns="0" tIns="0" rIns="0" bIns="0" rtlCol="0" anchor="ctr"/>
          <a:lstStyle/>
          <a:p>
            <a:pPr indent="0" marL="0">
              <a:buNone/>
            </a:pPr>
            <a:r>
              <a:rPr lang="en-US" sz="1100" b="1" spc="100" kern="0" dirty="0">
                <a:solidFill>
                  <a:srgbClr val="C97567"/>
                </a:solidFill>
                <a:latin typeface="Calibri" pitchFamily="34" charset="0"/>
                <a:ea typeface="Calibri" pitchFamily="34" charset="-122"/>
                <a:cs typeface="Calibri" pitchFamily="34" charset="-120"/>
              </a:rPr>
              <a:t>DISTRIBUCIÓN DE ESFUERZO SEMANAL POR PERFIL — TOTAL: 2,720 HORAS / PROYECTO</a:t>
            </a:r>
            <a:endParaRPr lang="en-US" sz="1100" dirty="0"/>
          </a:p>
        </p:txBody>
      </p:sp>
      <p:graphicFrame>
        <p:nvGraphicFramePr>
          <p:cNvPr id="5" name="Chart 0" descr=""/>
          <p:cNvGraphicFramePr/>
          <p:nvPr/>
        </p:nvGraphicFramePr>
        <p:xfrm>
          <a:off x="548640" y="1783080"/>
          <a:ext cx="7406640" cy="41148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229600" y="1783080"/>
            <a:ext cx="3410712" cy="4114800"/>
          </a:xfrm>
          <a:prstGeom prst="roundRect">
            <a:avLst>
              <a:gd name="adj" fmla="val 1877"/>
            </a:avLst>
          </a:prstGeom>
          <a:solidFill>
            <a:srgbClr val="FDF3EE"/>
          </a:solidFill>
          <a:ln w="12700"/>
        </p:spPr>
      </p:sp>
      <p:sp>
        <p:nvSpPr>
          <p:cNvPr id="7" name="Text 4"/>
          <p:cNvSpPr txBox="1"/>
          <p:nvPr/>
        </p:nvSpPr>
        <p:spPr>
          <a:xfrm>
            <a:off x="8458200" y="1965960"/>
            <a:ext cx="2953512" cy="274320"/>
          </a:xfrm>
          <a:prstGeom prst="rect">
            <a:avLst/>
          </a:prstGeom>
          <a:noFill/>
          <a:ln/>
        </p:spPr>
        <p:txBody>
          <a:bodyPr wrap="square" lIns="0" tIns="0" rIns="0" bIns="0" rtlCol="0" anchor="ctr"/>
          <a:lstStyle/>
          <a:p>
            <a:pPr indent="0" marL="0">
              <a:buNone/>
            </a:pPr>
            <a:r>
              <a:rPr lang="en-US" sz="1050" b="1" spc="100" kern="0" dirty="0">
                <a:solidFill>
                  <a:srgbClr val="C97567"/>
                </a:solidFill>
                <a:latin typeface="Calibri" pitchFamily="34" charset="0"/>
                <a:ea typeface="Calibri" pitchFamily="34" charset="-122"/>
                <a:cs typeface="Calibri" pitchFamily="34" charset="-120"/>
              </a:rPr>
              <a:t>HORAS TOTALES POR ROL</a:t>
            </a:r>
            <a:endParaRPr lang="en-US" sz="1050" dirty="0"/>
          </a:p>
        </p:txBody>
      </p:sp>
      <p:sp>
        <p:nvSpPr>
          <p:cNvPr id="8" name="Shape 5"/>
          <p:cNvSpPr/>
          <p:nvPr/>
        </p:nvSpPr>
        <p:spPr>
          <a:xfrm>
            <a:off x="8458200" y="2404872"/>
            <a:ext cx="201168" cy="201168"/>
          </a:xfrm>
          <a:prstGeom prst="roundRect">
            <a:avLst>
              <a:gd name="adj" fmla="val 13636"/>
            </a:avLst>
          </a:prstGeom>
          <a:solidFill>
            <a:srgbClr val="34241C"/>
          </a:solidFill>
          <a:ln/>
        </p:spPr>
      </p:sp>
      <p:sp>
        <p:nvSpPr>
          <p:cNvPr id="9" name="Text 6"/>
          <p:cNvSpPr txBox="1"/>
          <p:nvPr/>
        </p:nvSpPr>
        <p:spPr>
          <a:xfrm>
            <a:off x="8759952" y="2340864"/>
            <a:ext cx="2221992" cy="347472"/>
          </a:xfrm>
          <a:prstGeom prst="rect">
            <a:avLst/>
          </a:prstGeom>
          <a:noFill/>
          <a:ln/>
        </p:spPr>
        <p:txBody>
          <a:bodyPr wrap="square" lIns="0" tIns="0" rIns="0" bIns="0" rtlCol="0" anchor="ctr"/>
          <a:lstStyle/>
          <a:p>
            <a:pPr indent="0" marL="0">
              <a:lnSpc>
                <a:spcPts val="1150"/>
              </a:lnSpc>
              <a:buNone/>
            </a:pPr>
            <a:r>
              <a:rPr lang="en-US" sz="970" dirty="0">
                <a:solidFill>
                  <a:srgbClr val="4B3B33"/>
                </a:solidFill>
                <a:latin typeface="Calibri" pitchFamily="34" charset="0"/>
                <a:ea typeface="Calibri" pitchFamily="34" charset="-122"/>
                <a:cs typeface="Calibri" pitchFamily="34" charset="-120"/>
              </a:rPr>
              <a:t>Líder de Proyecto / Scrum Master</a:t>
            </a:r>
            <a:endParaRPr lang="en-US" sz="970" dirty="0"/>
          </a:p>
        </p:txBody>
      </p:sp>
      <p:sp>
        <p:nvSpPr>
          <p:cNvPr id="10" name="Text 7"/>
          <p:cNvSpPr txBox="1"/>
          <p:nvPr/>
        </p:nvSpPr>
        <p:spPr>
          <a:xfrm>
            <a:off x="10954512" y="2359152"/>
            <a:ext cx="548640" cy="274320"/>
          </a:xfrm>
          <a:prstGeom prst="rect">
            <a:avLst/>
          </a:prstGeom>
          <a:noFill/>
          <a:ln/>
        </p:spPr>
        <p:txBody>
          <a:bodyPr wrap="square" lIns="0" tIns="0" rIns="0" bIns="0" rtlCol="0" anchor="ctr"/>
          <a:lstStyle/>
          <a:p>
            <a:pPr algn="r" indent="0" marL="0">
              <a:buNone/>
            </a:pPr>
            <a:r>
              <a:rPr lang="en-US" sz="1050" b="1" dirty="0">
                <a:solidFill>
                  <a:srgbClr val="34241C"/>
                </a:solidFill>
                <a:latin typeface="Calibri" pitchFamily="34" charset="0"/>
                <a:ea typeface="Calibri" pitchFamily="34" charset="-122"/>
                <a:cs typeface="Calibri" pitchFamily="34" charset="-120"/>
              </a:rPr>
              <a:t>320h</a:t>
            </a:r>
            <a:endParaRPr lang="en-US" sz="1050" dirty="0"/>
          </a:p>
        </p:txBody>
      </p:sp>
      <p:sp>
        <p:nvSpPr>
          <p:cNvPr id="11" name="Shape 8"/>
          <p:cNvSpPr/>
          <p:nvPr/>
        </p:nvSpPr>
        <p:spPr>
          <a:xfrm>
            <a:off x="8458200" y="3026664"/>
            <a:ext cx="201168" cy="201168"/>
          </a:xfrm>
          <a:prstGeom prst="roundRect">
            <a:avLst>
              <a:gd name="adj" fmla="val 13636"/>
            </a:avLst>
          </a:prstGeom>
          <a:solidFill>
            <a:srgbClr val="C97567"/>
          </a:solidFill>
          <a:ln/>
        </p:spPr>
      </p:sp>
      <p:sp>
        <p:nvSpPr>
          <p:cNvPr id="12" name="Text 9"/>
          <p:cNvSpPr txBox="1"/>
          <p:nvPr/>
        </p:nvSpPr>
        <p:spPr>
          <a:xfrm>
            <a:off x="8759952" y="2962656"/>
            <a:ext cx="2221992" cy="347472"/>
          </a:xfrm>
          <a:prstGeom prst="rect">
            <a:avLst/>
          </a:prstGeom>
          <a:noFill/>
          <a:ln/>
        </p:spPr>
        <p:txBody>
          <a:bodyPr wrap="square" lIns="0" tIns="0" rIns="0" bIns="0" rtlCol="0" anchor="ctr"/>
          <a:lstStyle/>
          <a:p>
            <a:pPr indent="0" marL="0">
              <a:lnSpc>
                <a:spcPts val="1150"/>
              </a:lnSpc>
              <a:buNone/>
            </a:pPr>
            <a:r>
              <a:rPr lang="en-US" sz="970" dirty="0">
                <a:solidFill>
                  <a:srgbClr val="4B3B33"/>
                </a:solidFill>
                <a:latin typeface="Calibri" pitchFamily="34" charset="0"/>
                <a:ea typeface="Calibri" pitchFamily="34" charset="-122"/>
                <a:cs typeface="Calibri" pitchFamily="34" charset="-120"/>
              </a:rPr>
              <a:t>Arquitecto de Software &amp; DevOps</a:t>
            </a:r>
            <a:endParaRPr lang="en-US" sz="970" dirty="0"/>
          </a:p>
        </p:txBody>
      </p:sp>
      <p:sp>
        <p:nvSpPr>
          <p:cNvPr id="13" name="Text 10"/>
          <p:cNvSpPr txBox="1"/>
          <p:nvPr/>
        </p:nvSpPr>
        <p:spPr>
          <a:xfrm>
            <a:off x="10954512" y="2980944"/>
            <a:ext cx="548640" cy="274320"/>
          </a:xfrm>
          <a:prstGeom prst="rect">
            <a:avLst/>
          </a:prstGeom>
          <a:noFill/>
          <a:ln/>
        </p:spPr>
        <p:txBody>
          <a:bodyPr wrap="square" lIns="0" tIns="0" rIns="0" bIns="0" rtlCol="0" anchor="ctr"/>
          <a:lstStyle/>
          <a:p>
            <a:pPr algn="r" indent="0" marL="0">
              <a:buNone/>
            </a:pPr>
            <a:r>
              <a:rPr lang="en-US" sz="1050" b="1" dirty="0">
                <a:solidFill>
                  <a:srgbClr val="C97567"/>
                </a:solidFill>
                <a:latin typeface="Calibri" pitchFamily="34" charset="0"/>
                <a:ea typeface="Calibri" pitchFamily="34" charset="-122"/>
                <a:cs typeface="Calibri" pitchFamily="34" charset="-120"/>
              </a:rPr>
              <a:t>640h</a:t>
            </a:r>
            <a:endParaRPr lang="en-US" sz="1050" dirty="0"/>
          </a:p>
        </p:txBody>
      </p:sp>
      <p:sp>
        <p:nvSpPr>
          <p:cNvPr id="14" name="Shape 11"/>
          <p:cNvSpPr/>
          <p:nvPr/>
        </p:nvSpPr>
        <p:spPr>
          <a:xfrm>
            <a:off x="8458200" y="3648456"/>
            <a:ext cx="201168" cy="201168"/>
          </a:xfrm>
          <a:prstGeom prst="roundRect">
            <a:avLst>
              <a:gd name="adj" fmla="val 13636"/>
            </a:avLst>
          </a:prstGeom>
          <a:solidFill>
            <a:srgbClr val="E08D80"/>
          </a:solidFill>
          <a:ln/>
        </p:spPr>
      </p:sp>
      <p:sp>
        <p:nvSpPr>
          <p:cNvPr id="15" name="Text 12"/>
          <p:cNvSpPr txBox="1"/>
          <p:nvPr/>
        </p:nvSpPr>
        <p:spPr>
          <a:xfrm>
            <a:off x="8759952" y="3584448"/>
            <a:ext cx="2221992" cy="347472"/>
          </a:xfrm>
          <a:prstGeom prst="rect">
            <a:avLst/>
          </a:prstGeom>
          <a:noFill/>
          <a:ln/>
        </p:spPr>
        <p:txBody>
          <a:bodyPr wrap="square" lIns="0" tIns="0" rIns="0" bIns="0" rtlCol="0" anchor="ctr"/>
          <a:lstStyle/>
          <a:p>
            <a:pPr indent="0" marL="0">
              <a:lnSpc>
                <a:spcPts val="1150"/>
              </a:lnSpc>
              <a:buNone/>
            </a:pPr>
            <a:r>
              <a:rPr lang="en-US" sz="970" dirty="0">
                <a:solidFill>
                  <a:srgbClr val="4B3B33"/>
                </a:solidFill>
                <a:latin typeface="Calibri" pitchFamily="34" charset="0"/>
                <a:ea typeface="Calibri" pitchFamily="34" charset="-122"/>
                <a:cs typeface="Calibri" pitchFamily="34" charset="-120"/>
              </a:rPr>
              <a:t>Desarrollador Full-Stack Backend</a:t>
            </a:r>
            <a:endParaRPr lang="en-US" sz="970" dirty="0"/>
          </a:p>
        </p:txBody>
      </p:sp>
      <p:sp>
        <p:nvSpPr>
          <p:cNvPr id="16" name="Text 13"/>
          <p:cNvSpPr txBox="1"/>
          <p:nvPr/>
        </p:nvSpPr>
        <p:spPr>
          <a:xfrm>
            <a:off x="10954512" y="3602736"/>
            <a:ext cx="548640" cy="274320"/>
          </a:xfrm>
          <a:prstGeom prst="rect">
            <a:avLst/>
          </a:prstGeom>
          <a:noFill/>
          <a:ln/>
        </p:spPr>
        <p:txBody>
          <a:bodyPr wrap="square" lIns="0" tIns="0" rIns="0" bIns="0" rtlCol="0" anchor="ctr"/>
          <a:lstStyle/>
          <a:p>
            <a:pPr algn="r" indent="0" marL="0">
              <a:buNone/>
            </a:pPr>
            <a:r>
              <a:rPr lang="en-US" sz="1050" b="1" dirty="0">
                <a:solidFill>
                  <a:srgbClr val="E08D80"/>
                </a:solidFill>
                <a:latin typeface="Calibri" pitchFamily="34" charset="0"/>
                <a:ea typeface="Calibri" pitchFamily="34" charset="-122"/>
                <a:cs typeface="Calibri" pitchFamily="34" charset="-120"/>
              </a:rPr>
              <a:t>640h</a:t>
            </a:r>
            <a:endParaRPr lang="en-US" sz="1050" dirty="0"/>
          </a:p>
        </p:txBody>
      </p:sp>
      <p:sp>
        <p:nvSpPr>
          <p:cNvPr id="17" name="Shape 14"/>
          <p:cNvSpPr/>
          <p:nvPr/>
        </p:nvSpPr>
        <p:spPr>
          <a:xfrm>
            <a:off x="8458200" y="4270248"/>
            <a:ext cx="201168" cy="201168"/>
          </a:xfrm>
          <a:prstGeom prst="roundRect">
            <a:avLst>
              <a:gd name="adj" fmla="val 13636"/>
            </a:avLst>
          </a:prstGeom>
          <a:solidFill>
            <a:srgbClr val="7C9473"/>
          </a:solidFill>
          <a:ln/>
        </p:spPr>
      </p:sp>
      <p:sp>
        <p:nvSpPr>
          <p:cNvPr id="18" name="Text 15"/>
          <p:cNvSpPr txBox="1"/>
          <p:nvPr/>
        </p:nvSpPr>
        <p:spPr>
          <a:xfrm>
            <a:off x="8759952" y="4206240"/>
            <a:ext cx="2221992" cy="347472"/>
          </a:xfrm>
          <a:prstGeom prst="rect">
            <a:avLst/>
          </a:prstGeom>
          <a:noFill/>
          <a:ln/>
        </p:spPr>
        <p:txBody>
          <a:bodyPr wrap="square" lIns="0" tIns="0" rIns="0" bIns="0" rtlCol="0" anchor="ctr"/>
          <a:lstStyle/>
          <a:p>
            <a:pPr indent="0" marL="0">
              <a:lnSpc>
                <a:spcPts val="1150"/>
              </a:lnSpc>
              <a:buNone/>
            </a:pPr>
            <a:r>
              <a:rPr lang="en-US" sz="970" dirty="0">
                <a:solidFill>
                  <a:srgbClr val="4B3B33"/>
                </a:solidFill>
                <a:latin typeface="Calibri" pitchFamily="34" charset="0"/>
                <a:ea typeface="Calibri" pitchFamily="34" charset="-122"/>
                <a:cs typeface="Calibri" pitchFamily="34" charset="-120"/>
              </a:rPr>
              <a:t>Desarrollador Full-Stack Frontend</a:t>
            </a:r>
            <a:endParaRPr lang="en-US" sz="970" dirty="0"/>
          </a:p>
        </p:txBody>
      </p:sp>
      <p:sp>
        <p:nvSpPr>
          <p:cNvPr id="19" name="Text 16"/>
          <p:cNvSpPr txBox="1"/>
          <p:nvPr/>
        </p:nvSpPr>
        <p:spPr>
          <a:xfrm>
            <a:off x="10954512" y="4224528"/>
            <a:ext cx="548640" cy="274320"/>
          </a:xfrm>
          <a:prstGeom prst="rect">
            <a:avLst/>
          </a:prstGeom>
          <a:noFill/>
          <a:ln/>
        </p:spPr>
        <p:txBody>
          <a:bodyPr wrap="square" lIns="0" tIns="0" rIns="0" bIns="0" rtlCol="0" anchor="ctr"/>
          <a:lstStyle/>
          <a:p>
            <a:pPr algn="r" indent="0" marL="0">
              <a:buNone/>
            </a:pPr>
            <a:r>
              <a:rPr lang="en-US" sz="1050" b="1" dirty="0">
                <a:solidFill>
                  <a:srgbClr val="7C9473"/>
                </a:solidFill>
                <a:latin typeface="Calibri" pitchFamily="34" charset="0"/>
                <a:ea typeface="Calibri" pitchFamily="34" charset="-122"/>
                <a:cs typeface="Calibri" pitchFamily="34" charset="-120"/>
              </a:rPr>
              <a:t>640h</a:t>
            </a:r>
            <a:endParaRPr lang="en-US" sz="1050" dirty="0"/>
          </a:p>
        </p:txBody>
      </p:sp>
      <p:sp>
        <p:nvSpPr>
          <p:cNvPr id="20" name="Shape 17"/>
          <p:cNvSpPr/>
          <p:nvPr/>
        </p:nvSpPr>
        <p:spPr>
          <a:xfrm>
            <a:off x="8458200" y="4892040"/>
            <a:ext cx="201168" cy="201168"/>
          </a:xfrm>
          <a:prstGeom prst="roundRect">
            <a:avLst>
              <a:gd name="adj" fmla="val 13636"/>
            </a:avLst>
          </a:prstGeom>
          <a:solidFill>
            <a:srgbClr val="5F7355"/>
          </a:solidFill>
          <a:ln/>
        </p:spPr>
      </p:sp>
      <p:sp>
        <p:nvSpPr>
          <p:cNvPr id="21" name="Text 18"/>
          <p:cNvSpPr txBox="1"/>
          <p:nvPr/>
        </p:nvSpPr>
        <p:spPr>
          <a:xfrm>
            <a:off x="8759952" y="4828032"/>
            <a:ext cx="2221992" cy="347472"/>
          </a:xfrm>
          <a:prstGeom prst="rect">
            <a:avLst/>
          </a:prstGeom>
          <a:noFill/>
          <a:ln/>
        </p:spPr>
        <p:txBody>
          <a:bodyPr wrap="square" lIns="0" tIns="0" rIns="0" bIns="0" rtlCol="0" anchor="ctr"/>
          <a:lstStyle/>
          <a:p>
            <a:pPr indent="0" marL="0">
              <a:lnSpc>
                <a:spcPts val="1150"/>
              </a:lnSpc>
              <a:buNone/>
            </a:pPr>
            <a:r>
              <a:rPr lang="en-US" sz="970" dirty="0">
                <a:solidFill>
                  <a:srgbClr val="4B3B33"/>
                </a:solidFill>
                <a:latin typeface="Calibri" pitchFamily="34" charset="0"/>
                <a:ea typeface="Calibri" pitchFamily="34" charset="-122"/>
                <a:cs typeface="Calibri" pitchFamily="34" charset="-120"/>
              </a:rPr>
              <a:t>Especialista en QA &amp; Seguridad</a:t>
            </a:r>
            <a:endParaRPr lang="en-US" sz="970" dirty="0"/>
          </a:p>
        </p:txBody>
      </p:sp>
      <p:sp>
        <p:nvSpPr>
          <p:cNvPr id="22" name="Text 19"/>
          <p:cNvSpPr txBox="1"/>
          <p:nvPr/>
        </p:nvSpPr>
        <p:spPr>
          <a:xfrm>
            <a:off x="10954512" y="4846320"/>
            <a:ext cx="548640" cy="274320"/>
          </a:xfrm>
          <a:prstGeom prst="rect">
            <a:avLst/>
          </a:prstGeom>
          <a:noFill/>
          <a:ln/>
        </p:spPr>
        <p:txBody>
          <a:bodyPr wrap="square" lIns="0" tIns="0" rIns="0" bIns="0" rtlCol="0" anchor="ctr"/>
          <a:lstStyle/>
          <a:p>
            <a:pPr algn="r" indent="0" marL="0">
              <a:buNone/>
            </a:pPr>
            <a:r>
              <a:rPr lang="en-US" sz="1050" b="1" dirty="0">
                <a:solidFill>
                  <a:srgbClr val="5F7355"/>
                </a:solidFill>
                <a:latin typeface="Calibri" pitchFamily="34" charset="0"/>
                <a:ea typeface="Calibri" pitchFamily="34" charset="-122"/>
                <a:cs typeface="Calibri" pitchFamily="34" charset="-120"/>
              </a:rPr>
              <a:t>480h</a:t>
            </a:r>
            <a:endParaRPr lang="en-US" sz="1050" dirty="0"/>
          </a:p>
        </p:txBody>
      </p:sp>
      <p:sp>
        <p:nvSpPr>
          <p:cNvPr id="23" name="Shape 20"/>
          <p:cNvSpPr/>
          <p:nvPr/>
        </p:nvSpPr>
        <p:spPr>
          <a:xfrm>
            <a:off x="8458200" y="5532120"/>
            <a:ext cx="2953512" cy="10973"/>
          </a:xfrm>
          <a:prstGeom prst="rect">
            <a:avLst/>
          </a:prstGeom>
          <a:solidFill>
            <a:srgbClr val="E8DCD4"/>
          </a:solidFill>
          <a:ln/>
        </p:spPr>
      </p:sp>
      <p:sp>
        <p:nvSpPr>
          <p:cNvPr id="24" name="Text 21"/>
          <p:cNvSpPr txBox="1"/>
          <p:nvPr/>
        </p:nvSpPr>
        <p:spPr>
          <a:xfrm>
            <a:off x="8458200" y="5669280"/>
            <a:ext cx="2313432" cy="320040"/>
          </a:xfrm>
          <a:prstGeom prst="rect">
            <a:avLst/>
          </a:prstGeom>
          <a:noFill/>
          <a:ln/>
        </p:spPr>
        <p:txBody>
          <a:bodyPr wrap="square" lIns="0" tIns="0" rIns="0" bIns="0" rtlCol="0" anchor="ctr"/>
          <a:lstStyle/>
          <a:p>
            <a:pPr indent="0" marL="0">
              <a:buNone/>
            </a:pPr>
            <a:r>
              <a:rPr lang="en-US" sz="1250" b="1" dirty="0">
                <a:solidFill>
                  <a:srgbClr val="4B3B33"/>
                </a:solidFill>
                <a:latin typeface="Cambria" pitchFamily="34" charset="0"/>
                <a:ea typeface="Cambria" pitchFamily="34" charset="-122"/>
                <a:cs typeface="Cambria" pitchFamily="34" charset="-120"/>
              </a:rPr>
              <a:t>TOTAL PROYECTO</a:t>
            </a:r>
            <a:endParaRPr lang="en-US" sz="1250" dirty="0"/>
          </a:p>
        </p:txBody>
      </p:sp>
      <p:sp>
        <p:nvSpPr>
          <p:cNvPr id="25" name="Text 22"/>
          <p:cNvSpPr txBox="1"/>
          <p:nvPr/>
        </p:nvSpPr>
        <p:spPr>
          <a:xfrm>
            <a:off x="10680192" y="5669280"/>
            <a:ext cx="822960" cy="320040"/>
          </a:xfrm>
          <a:prstGeom prst="rect">
            <a:avLst/>
          </a:prstGeom>
          <a:noFill/>
          <a:ln/>
        </p:spPr>
        <p:txBody>
          <a:bodyPr wrap="square" lIns="0" tIns="0" rIns="0" bIns="0" rtlCol="0" anchor="ctr"/>
          <a:lstStyle/>
          <a:p>
            <a:pPr algn="r" indent="0" marL="0">
              <a:buNone/>
            </a:pPr>
            <a:r>
              <a:rPr lang="en-US" sz="1350" b="1" dirty="0">
                <a:solidFill>
                  <a:srgbClr val="C97567"/>
                </a:solidFill>
                <a:latin typeface="Cambria" pitchFamily="34" charset="0"/>
                <a:ea typeface="Cambria" pitchFamily="34" charset="-122"/>
                <a:cs typeface="Cambria" pitchFamily="34" charset="-120"/>
              </a:rPr>
              <a:t>2,720 h</a:t>
            </a:r>
            <a:endParaRPr lang="en-US" sz="1350" dirty="0"/>
          </a:p>
        </p:txBody>
      </p:sp>
      <p:sp>
        <p:nvSpPr>
          <p:cNvPr id="26" name="Text 23"/>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27" name="Text 24"/>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11. Estimación de Software: Modelo COCOMO Básico</a:t>
            </a:r>
            <a:endParaRPr lang="en-US" sz="2500" dirty="0"/>
          </a:p>
        </p:txBody>
      </p:sp>
      <p:sp>
        <p:nvSpPr>
          <p:cNvPr id="4" name="Shape 2"/>
          <p:cNvSpPr/>
          <p:nvPr/>
        </p:nvSpPr>
        <p:spPr>
          <a:xfrm>
            <a:off x="548640" y="1463040"/>
            <a:ext cx="11091672" cy="868680"/>
          </a:xfrm>
          <a:prstGeom prst="roundRect">
            <a:avLst>
              <a:gd name="adj" fmla="val 7368"/>
            </a:avLst>
          </a:prstGeom>
          <a:solidFill>
            <a:srgbClr val="FDF3EE"/>
          </a:solidFill>
          <a:ln w="12700"/>
        </p:spPr>
      </p:sp>
      <p:sp>
        <p:nvSpPr>
          <p:cNvPr id="5" name="Text 3"/>
          <p:cNvSpPr txBox="1"/>
          <p:nvPr/>
        </p:nvSpPr>
        <p:spPr>
          <a:xfrm>
            <a:off x="777240" y="1572768"/>
            <a:ext cx="10607040" cy="685800"/>
          </a:xfrm>
          <a:prstGeom prst="rect">
            <a:avLst/>
          </a:prstGeom>
          <a:noFill/>
          <a:ln/>
        </p:spPr>
        <p:txBody>
          <a:bodyPr wrap="square" lIns="0" tIns="0" rIns="0" bIns="0" rtlCol="0" anchor="ctr"/>
          <a:lstStyle/>
          <a:p>
            <a:pPr indent="0" marL="0">
              <a:lnSpc>
                <a:spcPts val="1550"/>
              </a:lnSpc>
              <a:buNone/>
            </a:pPr>
            <a:r>
              <a:rPr lang="en-US" sz="1150" b="1" dirty="0">
                <a:solidFill>
                  <a:srgbClr val="4B3B33"/>
                </a:solidFill>
                <a:latin typeface="Calibri" pitchFamily="34" charset="0"/>
                <a:ea typeface="Calibri" pitchFamily="34" charset="-122"/>
                <a:cs typeface="Calibri" pitchFamily="34" charset="-120"/>
              </a:rPr>
              <a:t>Tamaño estimado:  </a:t>
            </a:r>
            <a:pPr indent="0" marL="0">
              <a:lnSpc>
                <a:spcPts val="1550"/>
              </a:lnSpc>
              <a:buNone/>
            </a:pPr>
            <a:r>
              <a:rPr lang="en-US" sz="1150" dirty="0">
                <a:solidFill>
                  <a:srgbClr val="5B4A41"/>
                </a:solidFill>
                <a:latin typeface="Calibri" pitchFamily="34" charset="0"/>
                <a:ea typeface="Calibri" pitchFamily="34" charset="-122"/>
                <a:cs typeface="Calibri" pitchFamily="34" charset="-120"/>
              </a:rPr>
              <a:t>22.5 KLOC (22,500 líneas de código en TypeScript, SQL y templates).   </a:t>
            </a:r>
            <a:pPr indent="0" marL="0">
              <a:lnSpc>
                <a:spcPts val="1550"/>
              </a:lnSpc>
              <a:buNone/>
            </a:pPr>
            <a:r>
              <a:rPr lang="en-US" sz="1150" b="1" dirty="0">
                <a:solidFill>
                  <a:srgbClr val="4B3B33"/>
                </a:solidFill>
                <a:latin typeface="Calibri" pitchFamily="34" charset="0"/>
                <a:ea typeface="Calibri" pitchFamily="34" charset="-122"/>
                <a:cs typeface="Calibri" pitchFamily="34" charset="-120"/>
              </a:rPr>
              <a:t>Modo de desarrollo:  </a:t>
            </a:r>
            <a:pPr indent="0" marL="0">
              <a:lnSpc>
                <a:spcPts val="1550"/>
              </a:lnSpc>
              <a:buNone/>
            </a:pPr>
            <a:r>
              <a:rPr lang="en-US" sz="1150" dirty="0">
                <a:solidFill>
                  <a:srgbClr val="5B4A41"/>
                </a:solidFill>
                <a:latin typeface="Calibri" pitchFamily="34" charset="0"/>
                <a:ea typeface="Calibri" pitchFamily="34" charset="-122"/>
                <a:cs typeface="Calibri" pitchFamily="34" charset="-120"/>
              </a:rPr>
              <a:t>Semiacoplado (Semidetached) — aplicación web empresarial con restricciones medias de seguridad, colas RabbitMQ y pasarelas de pago mixtas.</a:t>
            </a:r>
            <a:endParaRPr lang="en-US" sz="1150" dirty="0"/>
          </a:p>
        </p:txBody>
      </p:sp>
      <p:sp>
        <p:nvSpPr>
          <p:cNvPr id="6" name="Shape 4"/>
          <p:cNvSpPr/>
          <p:nvPr/>
        </p:nvSpPr>
        <p:spPr>
          <a:xfrm>
            <a:off x="548640" y="2468880"/>
            <a:ext cx="3520440" cy="3246120"/>
          </a:xfrm>
          <a:prstGeom prst="roundRect">
            <a:avLst>
              <a:gd name="adj" fmla="val 1972"/>
            </a:avLst>
          </a:prstGeom>
          <a:solidFill>
            <a:srgbClr val="FFFFFF"/>
          </a:solidFill>
          <a:ln w="12700"/>
        </p:spPr>
      </p:sp>
      <p:sp>
        <p:nvSpPr>
          <p:cNvPr id="7" name="Text 5"/>
          <p:cNvSpPr txBox="1"/>
          <p:nvPr/>
        </p:nvSpPr>
        <p:spPr>
          <a:xfrm>
            <a:off x="777240" y="2651760"/>
            <a:ext cx="3063240" cy="274320"/>
          </a:xfrm>
          <a:prstGeom prst="rect">
            <a:avLst/>
          </a:prstGeom>
          <a:noFill/>
          <a:ln/>
        </p:spPr>
        <p:txBody>
          <a:bodyPr wrap="square" lIns="0" tIns="0" rIns="0" bIns="0" rtlCol="0" anchor="ctr"/>
          <a:lstStyle/>
          <a:p>
            <a:pPr indent="0" marL="0">
              <a:buNone/>
            </a:pPr>
            <a:r>
              <a:rPr lang="en-US" sz="1000" b="1" spc="50" kern="0" dirty="0">
                <a:solidFill>
                  <a:srgbClr val="C97567"/>
                </a:solidFill>
                <a:latin typeface="Calibri" pitchFamily="34" charset="0"/>
                <a:ea typeface="Calibri" pitchFamily="34" charset="-122"/>
                <a:cs typeface="Calibri" pitchFamily="34" charset="-120"/>
              </a:rPr>
              <a:t>ECUACIONES DEL MODELO (COCOMO 81)</a:t>
            </a:r>
            <a:endParaRPr lang="en-US" sz="1000" dirty="0"/>
          </a:p>
        </p:txBody>
      </p:sp>
      <p:sp>
        <p:nvSpPr>
          <p:cNvPr id="8" name="Text 6"/>
          <p:cNvSpPr txBox="1"/>
          <p:nvPr/>
        </p:nvSpPr>
        <p:spPr>
          <a:xfrm>
            <a:off x="777240" y="3035808"/>
            <a:ext cx="3063240" cy="274320"/>
          </a:xfrm>
          <a:prstGeom prst="rect">
            <a:avLst/>
          </a:prstGeom>
          <a:noFill/>
          <a:ln/>
        </p:spPr>
        <p:txBody>
          <a:bodyPr wrap="square" lIns="0" tIns="0" rIns="0" bIns="0" rtlCol="0" anchor="ctr"/>
          <a:lstStyle/>
          <a:p>
            <a:pPr indent="0" marL="0">
              <a:buNone/>
            </a:pPr>
            <a:r>
              <a:rPr lang="en-US" sz="1300" b="1" dirty="0">
                <a:solidFill>
                  <a:srgbClr val="4B3B33"/>
                </a:solidFill>
                <a:latin typeface="Consolas" pitchFamily="34" charset="0"/>
                <a:ea typeface="Consolas" pitchFamily="34" charset="-122"/>
                <a:cs typeface="Consolas" pitchFamily="34" charset="-120"/>
              </a:rPr>
              <a:t>E = a × (KLOC)^b</a:t>
            </a:r>
            <a:endParaRPr lang="en-US" sz="1300" dirty="0"/>
          </a:p>
        </p:txBody>
      </p:sp>
      <p:sp>
        <p:nvSpPr>
          <p:cNvPr id="9" name="Text 7"/>
          <p:cNvSpPr txBox="1"/>
          <p:nvPr/>
        </p:nvSpPr>
        <p:spPr>
          <a:xfrm>
            <a:off x="777240" y="3337560"/>
            <a:ext cx="3063240" cy="274320"/>
          </a:xfrm>
          <a:prstGeom prst="rect">
            <a:avLst/>
          </a:prstGeom>
          <a:noFill/>
          <a:ln/>
        </p:spPr>
        <p:txBody>
          <a:bodyPr wrap="square" lIns="0" tIns="0" rIns="0" bIns="0" rtlCol="0" anchor="ctr"/>
          <a:lstStyle/>
          <a:p>
            <a:pPr indent="0" marL="0">
              <a:buNone/>
            </a:pPr>
            <a:r>
              <a:rPr lang="en-US" sz="1300" b="1" dirty="0">
                <a:solidFill>
                  <a:srgbClr val="4B3B33"/>
                </a:solidFill>
                <a:latin typeface="Consolas" pitchFamily="34" charset="0"/>
                <a:ea typeface="Consolas" pitchFamily="34" charset="-122"/>
                <a:cs typeface="Consolas" pitchFamily="34" charset="-120"/>
              </a:rPr>
              <a:t>TDEV = c × (E)^d</a:t>
            </a:r>
            <a:endParaRPr lang="en-US" sz="1300" dirty="0"/>
          </a:p>
        </p:txBody>
      </p:sp>
      <p:sp>
        <p:nvSpPr>
          <p:cNvPr id="10" name="Shape 8"/>
          <p:cNvSpPr/>
          <p:nvPr/>
        </p:nvSpPr>
        <p:spPr>
          <a:xfrm>
            <a:off x="777240" y="3749040"/>
            <a:ext cx="3063240" cy="9144"/>
          </a:xfrm>
          <a:prstGeom prst="rect">
            <a:avLst/>
          </a:prstGeom>
          <a:solidFill>
            <a:srgbClr val="E8DCD4"/>
          </a:solidFill>
          <a:ln/>
        </p:spPr>
      </p:sp>
      <p:sp>
        <p:nvSpPr>
          <p:cNvPr id="11" name="Text 9"/>
          <p:cNvSpPr txBox="1"/>
          <p:nvPr/>
        </p:nvSpPr>
        <p:spPr>
          <a:xfrm>
            <a:off x="777240" y="3886200"/>
            <a:ext cx="3063240" cy="228600"/>
          </a:xfrm>
          <a:prstGeom prst="rect">
            <a:avLst/>
          </a:prstGeom>
          <a:noFill/>
          <a:ln/>
        </p:spPr>
        <p:txBody>
          <a:bodyPr wrap="square" lIns="0" tIns="0" rIns="0" bIns="0" rtlCol="0" anchor="ctr"/>
          <a:lstStyle/>
          <a:p>
            <a:pPr indent="0" marL="0">
              <a:buNone/>
            </a:pPr>
            <a:r>
              <a:rPr lang="en-US" sz="950" i="1" dirty="0">
                <a:solidFill>
                  <a:srgbClr val="8A776D"/>
                </a:solidFill>
                <a:latin typeface="Calibri" pitchFamily="34" charset="0"/>
                <a:ea typeface="Calibri" pitchFamily="34" charset="-122"/>
                <a:cs typeface="Calibri" pitchFamily="34" charset="-120"/>
              </a:rPr>
              <a:t>Coeficientes — Semiacoplado</a:t>
            </a:r>
            <a:endParaRPr lang="en-US" sz="950" dirty="0"/>
          </a:p>
        </p:txBody>
      </p:sp>
      <p:sp>
        <p:nvSpPr>
          <p:cNvPr id="12" name="Text 10"/>
          <p:cNvSpPr txBox="1"/>
          <p:nvPr/>
        </p:nvSpPr>
        <p:spPr>
          <a:xfrm>
            <a:off x="777240" y="4114800"/>
            <a:ext cx="548640" cy="274320"/>
          </a:xfrm>
          <a:prstGeom prst="rect">
            <a:avLst/>
          </a:prstGeom>
          <a:noFill/>
          <a:ln/>
        </p:spPr>
        <p:txBody>
          <a:bodyPr wrap="square" lIns="0" tIns="0" rIns="0" bIns="0" rtlCol="0" anchor="ctr"/>
          <a:lstStyle/>
          <a:p>
            <a:pPr indent="0" marL="0">
              <a:buNone/>
            </a:pPr>
            <a:r>
              <a:rPr lang="en-US" sz="1200" b="1" dirty="0">
                <a:solidFill>
                  <a:srgbClr val="C97567"/>
                </a:solidFill>
                <a:latin typeface="Consolas" pitchFamily="34" charset="0"/>
                <a:ea typeface="Consolas" pitchFamily="34" charset="-122"/>
                <a:cs typeface="Consolas" pitchFamily="34" charset="-120"/>
              </a:rPr>
              <a:t>a</a:t>
            </a:r>
            <a:endParaRPr lang="en-US" sz="1200" dirty="0"/>
          </a:p>
        </p:txBody>
      </p:sp>
      <p:sp>
        <p:nvSpPr>
          <p:cNvPr id="13" name="Text 11"/>
          <p:cNvSpPr txBox="1"/>
          <p:nvPr/>
        </p:nvSpPr>
        <p:spPr>
          <a:xfrm>
            <a:off x="1371600" y="4114800"/>
            <a:ext cx="1371600" cy="274320"/>
          </a:xfrm>
          <a:prstGeom prst="rect">
            <a:avLst/>
          </a:prstGeom>
          <a:noFill/>
          <a:ln/>
        </p:spPr>
        <p:txBody>
          <a:bodyPr wrap="square" lIns="0" tIns="0" rIns="0" bIns="0" rtlCol="0" anchor="ctr"/>
          <a:lstStyle/>
          <a:p>
            <a:pPr indent="0" marL="0">
              <a:buNone/>
            </a:pPr>
            <a:r>
              <a:rPr lang="en-US" sz="1200" dirty="0">
                <a:solidFill>
                  <a:srgbClr val="5B4A41"/>
                </a:solidFill>
                <a:latin typeface="Consolas" pitchFamily="34" charset="0"/>
                <a:ea typeface="Consolas" pitchFamily="34" charset="-122"/>
                <a:cs typeface="Consolas" pitchFamily="34" charset="-120"/>
              </a:rPr>
              <a:t>3.0</a:t>
            </a:r>
            <a:endParaRPr lang="en-US" sz="1200" dirty="0"/>
          </a:p>
        </p:txBody>
      </p:sp>
      <p:sp>
        <p:nvSpPr>
          <p:cNvPr id="14" name="Text 12"/>
          <p:cNvSpPr txBox="1"/>
          <p:nvPr/>
        </p:nvSpPr>
        <p:spPr>
          <a:xfrm>
            <a:off x="777240" y="4425696"/>
            <a:ext cx="548640" cy="274320"/>
          </a:xfrm>
          <a:prstGeom prst="rect">
            <a:avLst/>
          </a:prstGeom>
          <a:noFill/>
          <a:ln/>
        </p:spPr>
        <p:txBody>
          <a:bodyPr wrap="square" lIns="0" tIns="0" rIns="0" bIns="0" rtlCol="0" anchor="ctr"/>
          <a:lstStyle/>
          <a:p>
            <a:pPr indent="0" marL="0">
              <a:buNone/>
            </a:pPr>
            <a:r>
              <a:rPr lang="en-US" sz="1200" b="1" dirty="0">
                <a:solidFill>
                  <a:srgbClr val="C97567"/>
                </a:solidFill>
                <a:latin typeface="Consolas" pitchFamily="34" charset="0"/>
                <a:ea typeface="Consolas" pitchFamily="34" charset="-122"/>
                <a:cs typeface="Consolas" pitchFamily="34" charset="-120"/>
              </a:rPr>
              <a:t>b</a:t>
            </a:r>
            <a:endParaRPr lang="en-US" sz="1200" dirty="0"/>
          </a:p>
        </p:txBody>
      </p:sp>
      <p:sp>
        <p:nvSpPr>
          <p:cNvPr id="15" name="Text 13"/>
          <p:cNvSpPr txBox="1"/>
          <p:nvPr/>
        </p:nvSpPr>
        <p:spPr>
          <a:xfrm>
            <a:off x="1371600" y="4425696"/>
            <a:ext cx="1371600" cy="274320"/>
          </a:xfrm>
          <a:prstGeom prst="rect">
            <a:avLst/>
          </a:prstGeom>
          <a:noFill/>
          <a:ln/>
        </p:spPr>
        <p:txBody>
          <a:bodyPr wrap="square" lIns="0" tIns="0" rIns="0" bIns="0" rtlCol="0" anchor="ctr"/>
          <a:lstStyle/>
          <a:p>
            <a:pPr indent="0" marL="0">
              <a:buNone/>
            </a:pPr>
            <a:r>
              <a:rPr lang="en-US" sz="1200" dirty="0">
                <a:solidFill>
                  <a:srgbClr val="5B4A41"/>
                </a:solidFill>
                <a:latin typeface="Consolas" pitchFamily="34" charset="0"/>
                <a:ea typeface="Consolas" pitchFamily="34" charset="-122"/>
                <a:cs typeface="Consolas" pitchFamily="34" charset="-120"/>
              </a:rPr>
              <a:t>1.12</a:t>
            </a:r>
            <a:endParaRPr lang="en-US" sz="1200" dirty="0"/>
          </a:p>
        </p:txBody>
      </p:sp>
      <p:sp>
        <p:nvSpPr>
          <p:cNvPr id="16" name="Text 14"/>
          <p:cNvSpPr txBox="1"/>
          <p:nvPr/>
        </p:nvSpPr>
        <p:spPr>
          <a:xfrm>
            <a:off x="777240" y="4736592"/>
            <a:ext cx="548640" cy="274320"/>
          </a:xfrm>
          <a:prstGeom prst="rect">
            <a:avLst/>
          </a:prstGeom>
          <a:noFill/>
          <a:ln/>
        </p:spPr>
        <p:txBody>
          <a:bodyPr wrap="square" lIns="0" tIns="0" rIns="0" bIns="0" rtlCol="0" anchor="ctr"/>
          <a:lstStyle/>
          <a:p>
            <a:pPr indent="0" marL="0">
              <a:buNone/>
            </a:pPr>
            <a:r>
              <a:rPr lang="en-US" sz="1200" b="1" dirty="0">
                <a:solidFill>
                  <a:srgbClr val="C97567"/>
                </a:solidFill>
                <a:latin typeface="Consolas" pitchFamily="34" charset="0"/>
                <a:ea typeface="Consolas" pitchFamily="34" charset="-122"/>
                <a:cs typeface="Consolas" pitchFamily="34" charset="-120"/>
              </a:rPr>
              <a:t>c</a:t>
            </a:r>
            <a:endParaRPr lang="en-US" sz="1200" dirty="0"/>
          </a:p>
        </p:txBody>
      </p:sp>
      <p:sp>
        <p:nvSpPr>
          <p:cNvPr id="17" name="Text 15"/>
          <p:cNvSpPr txBox="1"/>
          <p:nvPr/>
        </p:nvSpPr>
        <p:spPr>
          <a:xfrm>
            <a:off x="1371600" y="4736592"/>
            <a:ext cx="1371600" cy="274320"/>
          </a:xfrm>
          <a:prstGeom prst="rect">
            <a:avLst/>
          </a:prstGeom>
          <a:noFill/>
          <a:ln/>
        </p:spPr>
        <p:txBody>
          <a:bodyPr wrap="square" lIns="0" tIns="0" rIns="0" bIns="0" rtlCol="0" anchor="ctr"/>
          <a:lstStyle/>
          <a:p>
            <a:pPr indent="0" marL="0">
              <a:buNone/>
            </a:pPr>
            <a:r>
              <a:rPr lang="en-US" sz="1200" dirty="0">
                <a:solidFill>
                  <a:srgbClr val="5B4A41"/>
                </a:solidFill>
                <a:latin typeface="Consolas" pitchFamily="34" charset="0"/>
                <a:ea typeface="Consolas" pitchFamily="34" charset="-122"/>
                <a:cs typeface="Consolas" pitchFamily="34" charset="-120"/>
              </a:rPr>
              <a:t>2.5</a:t>
            </a:r>
            <a:endParaRPr lang="en-US" sz="1200" dirty="0"/>
          </a:p>
        </p:txBody>
      </p:sp>
      <p:sp>
        <p:nvSpPr>
          <p:cNvPr id="18" name="Text 16"/>
          <p:cNvSpPr txBox="1"/>
          <p:nvPr/>
        </p:nvSpPr>
        <p:spPr>
          <a:xfrm>
            <a:off x="777240" y="5047488"/>
            <a:ext cx="548640" cy="274320"/>
          </a:xfrm>
          <a:prstGeom prst="rect">
            <a:avLst/>
          </a:prstGeom>
          <a:noFill/>
          <a:ln/>
        </p:spPr>
        <p:txBody>
          <a:bodyPr wrap="square" lIns="0" tIns="0" rIns="0" bIns="0" rtlCol="0" anchor="ctr"/>
          <a:lstStyle/>
          <a:p>
            <a:pPr indent="0" marL="0">
              <a:buNone/>
            </a:pPr>
            <a:r>
              <a:rPr lang="en-US" sz="1200" b="1" dirty="0">
                <a:solidFill>
                  <a:srgbClr val="C97567"/>
                </a:solidFill>
                <a:latin typeface="Consolas" pitchFamily="34" charset="0"/>
                <a:ea typeface="Consolas" pitchFamily="34" charset="-122"/>
                <a:cs typeface="Consolas" pitchFamily="34" charset="-120"/>
              </a:rPr>
              <a:t>d</a:t>
            </a:r>
            <a:endParaRPr lang="en-US" sz="1200" dirty="0"/>
          </a:p>
        </p:txBody>
      </p:sp>
      <p:sp>
        <p:nvSpPr>
          <p:cNvPr id="19" name="Text 17"/>
          <p:cNvSpPr txBox="1"/>
          <p:nvPr/>
        </p:nvSpPr>
        <p:spPr>
          <a:xfrm>
            <a:off x="1371600" y="5047488"/>
            <a:ext cx="1371600" cy="274320"/>
          </a:xfrm>
          <a:prstGeom prst="rect">
            <a:avLst/>
          </a:prstGeom>
          <a:noFill/>
          <a:ln/>
        </p:spPr>
        <p:txBody>
          <a:bodyPr wrap="square" lIns="0" tIns="0" rIns="0" bIns="0" rtlCol="0" anchor="ctr"/>
          <a:lstStyle/>
          <a:p>
            <a:pPr indent="0" marL="0">
              <a:buNone/>
            </a:pPr>
            <a:r>
              <a:rPr lang="en-US" sz="1200" dirty="0">
                <a:solidFill>
                  <a:srgbClr val="5B4A41"/>
                </a:solidFill>
                <a:latin typeface="Consolas" pitchFamily="34" charset="0"/>
                <a:ea typeface="Consolas" pitchFamily="34" charset="-122"/>
                <a:cs typeface="Consolas" pitchFamily="34" charset="-120"/>
              </a:rPr>
              <a:t>0.35</a:t>
            </a:r>
            <a:endParaRPr lang="en-US" sz="1200" dirty="0"/>
          </a:p>
        </p:txBody>
      </p:sp>
      <p:sp>
        <p:nvSpPr>
          <p:cNvPr id="20" name="Shape 18"/>
          <p:cNvSpPr/>
          <p:nvPr/>
        </p:nvSpPr>
        <p:spPr>
          <a:xfrm>
            <a:off x="4343400" y="2468880"/>
            <a:ext cx="7315200" cy="3246120"/>
          </a:xfrm>
          <a:prstGeom prst="roundRect">
            <a:avLst>
              <a:gd name="adj" fmla="val 1972"/>
            </a:avLst>
          </a:prstGeom>
          <a:solidFill>
            <a:srgbClr val="FFFFFF"/>
          </a:solidFill>
          <a:ln w="12700"/>
        </p:spPr>
      </p:sp>
      <p:sp>
        <p:nvSpPr>
          <p:cNvPr id="21" name="Text 19"/>
          <p:cNvSpPr txBox="1"/>
          <p:nvPr/>
        </p:nvSpPr>
        <p:spPr>
          <a:xfrm>
            <a:off x="4572000" y="2651760"/>
            <a:ext cx="6583680" cy="274320"/>
          </a:xfrm>
          <a:prstGeom prst="rect">
            <a:avLst/>
          </a:prstGeom>
          <a:noFill/>
          <a:ln/>
        </p:spPr>
        <p:txBody>
          <a:bodyPr wrap="square" lIns="0" tIns="0" rIns="0" bIns="0" rtlCol="0" anchor="ctr"/>
          <a:lstStyle/>
          <a:p>
            <a:pPr indent="0" marL="0">
              <a:buNone/>
            </a:pPr>
            <a:r>
              <a:rPr lang="en-US" sz="1000" b="1" spc="50" kern="0" dirty="0">
                <a:solidFill>
                  <a:srgbClr val="C97567"/>
                </a:solidFill>
                <a:latin typeface="Calibri" pitchFamily="34" charset="0"/>
                <a:ea typeface="Calibri" pitchFamily="34" charset="-122"/>
                <a:cs typeface="Calibri" pitchFamily="34" charset="-120"/>
              </a:rPr>
              <a:t>CÁLCULO MATEMÁTICO PASO A PASO</a:t>
            </a:r>
            <a:endParaRPr lang="en-US" sz="1000" dirty="0"/>
          </a:p>
        </p:txBody>
      </p:sp>
      <p:sp>
        <p:nvSpPr>
          <p:cNvPr id="22" name="Shape 20"/>
          <p:cNvSpPr/>
          <p:nvPr/>
        </p:nvSpPr>
        <p:spPr>
          <a:xfrm>
            <a:off x="4572000" y="2999232"/>
            <a:ext cx="347472" cy="347472"/>
          </a:xfrm>
          <a:prstGeom prst="ellipse">
            <a:avLst/>
          </a:prstGeom>
          <a:solidFill>
            <a:srgbClr val="C97567"/>
          </a:solidFill>
          <a:ln/>
        </p:spPr>
      </p:sp>
      <p:sp>
        <p:nvSpPr>
          <p:cNvPr id="23" name="Text 21"/>
          <p:cNvSpPr txBox="1"/>
          <p:nvPr/>
        </p:nvSpPr>
        <p:spPr>
          <a:xfrm>
            <a:off x="4572000" y="299923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4" name="Text 22"/>
          <p:cNvSpPr txBox="1"/>
          <p:nvPr/>
        </p:nvSpPr>
        <p:spPr>
          <a:xfrm>
            <a:off x="5074920" y="2980944"/>
            <a:ext cx="6035040" cy="237744"/>
          </a:xfrm>
          <a:prstGeom prst="rect">
            <a:avLst/>
          </a:prstGeom>
          <a:noFill/>
          <a:ln/>
        </p:spPr>
        <p:txBody>
          <a:bodyPr wrap="square" lIns="0" tIns="0" rIns="0" bIns="0" rtlCol="0" anchor="ctr"/>
          <a:lstStyle/>
          <a:p>
            <a:pPr indent="0" marL="0">
              <a:buNone/>
            </a:pPr>
            <a:r>
              <a:rPr lang="en-US" sz="1150" b="1" dirty="0">
                <a:solidFill>
                  <a:srgbClr val="4B3B33"/>
                </a:solidFill>
                <a:latin typeface="Calibri" pitchFamily="34" charset="0"/>
                <a:ea typeface="Calibri" pitchFamily="34" charset="-122"/>
                <a:cs typeface="Calibri" pitchFamily="34" charset="-120"/>
              </a:rPr>
              <a:t>Esfuerzo Nominal</a:t>
            </a:r>
            <a:endParaRPr lang="en-US" sz="1150" dirty="0"/>
          </a:p>
        </p:txBody>
      </p:sp>
      <p:sp>
        <p:nvSpPr>
          <p:cNvPr id="25" name="Text 23"/>
          <p:cNvSpPr txBox="1"/>
          <p:nvPr/>
        </p:nvSpPr>
        <p:spPr>
          <a:xfrm>
            <a:off x="5074920" y="3236976"/>
            <a:ext cx="6035040" cy="256032"/>
          </a:xfrm>
          <a:prstGeom prst="rect">
            <a:avLst/>
          </a:prstGeom>
          <a:noFill/>
          <a:ln/>
        </p:spPr>
        <p:txBody>
          <a:bodyPr wrap="square" lIns="0" tIns="0" rIns="0" bIns="0" rtlCol="0" anchor="ctr"/>
          <a:lstStyle/>
          <a:p>
            <a:pPr indent="0" marL="0">
              <a:buNone/>
            </a:pPr>
            <a:r>
              <a:rPr lang="en-US" sz="1000" dirty="0">
                <a:solidFill>
                  <a:srgbClr val="5B4A41"/>
                </a:solidFill>
                <a:latin typeface="Consolas" pitchFamily="34" charset="0"/>
                <a:ea typeface="Consolas" pitchFamily="34" charset="-122"/>
                <a:cs typeface="Consolas" pitchFamily="34" charset="-120"/>
              </a:rPr>
              <a:t>E = 3.0 × (22.5)^1.12 = 3.0 × 32.511 ≈ 97.53 Personas-Mes (PM)</a:t>
            </a:r>
            <a:endParaRPr lang="en-US" sz="1000" dirty="0"/>
          </a:p>
        </p:txBody>
      </p:sp>
      <p:sp>
        <p:nvSpPr>
          <p:cNvPr id="26" name="Shape 24"/>
          <p:cNvSpPr/>
          <p:nvPr/>
        </p:nvSpPr>
        <p:spPr>
          <a:xfrm>
            <a:off x="4572000" y="3621024"/>
            <a:ext cx="347472" cy="347472"/>
          </a:xfrm>
          <a:prstGeom prst="ellipse">
            <a:avLst/>
          </a:prstGeom>
          <a:solidFill>
            <a:srgbClr val="C97567"/>
          </a:solidFill>
          <a:ln/>
        </p:spPr>
      </p:sp>
      <p:sp>
        <p:nvSpPr>
          <p:cNvPr id="27" name="Text 25"/>
          <p:cNvSpPr txBox="1"/>
          <p:nvPr/>
        </p:nvSpPr>
        <p:spPr>
          <a:xfrm>
            <a:off x="4572000" y="362102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8" name="Text 26"/>
          <p:cNvSpPr txBox="1"/>
          <p:nvPr/>
        </p:nvSpPr>
        <p:spPr>
          <a:xfrm>
            <a:off x="5074920" y="3602736"/>
            <a:ext cx="6035040" cy="237744"/>
          </a:xfrm>
          <a:prstGeom prst="rect">
            <a:avLst/>
          </a:prstGeom>
          <a:noFill/>
          <a:ln/>
        </p:spPr>
        <p:txBody>
          <a:bodyPr wrap="square" lIns="0" tIns="0" rIns="0" bIns="0" rtlCol="0" anchor="ctr"/>
          <a:lstStyle/>
          <a:p>
            <a:pPr indent="0" marL="0">
              <a:buNone/>
            </a:pPr>
            <a:r>
              <a:rPr lang="en-US" sz="1150" b="1" dirty="0">
                <a:solidFill>
                  <a:srgbClr val="4B3B33"/>
                </a:solidFill>
                <a:latin typeface="Calibri" pitchFamily="34" charset="0"/>
                <a:ea typeface="Calibri" pitchFamily="34" charset="-122"/>
                <a:cs typeface="Calibri" pitchFamily="34" charset="-120"/>
              </a:rPr>
              <a:t>Tiempo de Desarrollo</a:t>
            </a:r>
            <a:endParaRPr lang="en-US" sz="1150" dirty="0"/>
          </a:p>
        </p:txBody>
      </p:sp>
      <p:sp>
        <p:nvSpPr>
          <p:cNvPr id="29" name="Text 27"/>
          <p:cNvSpPr txBox="1"/>
          <p:nvPr/>
        </p:nvSpPr>
        <p:spPr>
          <a:xfrm>
            <a:off x="5074920" y="3858768"/>
            <a:ext cx="6035040" cy="256032"/>
          </a:xfrm>
          <a:prstGeom prst="rect">
            <a:avLst/>
          </a:prstGeom>
          <a:noFill/>
          <a:ln/>
        </p:spPr>
        <p:txBody>
          <a:bodyPr wrap="square" lIns="0" tIns="0" rIns="0" bIns="0" rtlCol="0" anchor="ctr"/>
          <a:lstStyle/>
          <a:p>
            <a:pPr indent="0" marL="0">
              <a:buNone/>
            </a:pPr>
            <a:r>
              <a:rPr sz="950">
                <a:solidFill>
                  <a:srgbClr val="5B4A41"/>
                </a:solidFill>
              </a:rPr>
              <a:t>TDEV = 2.5 × (97.53)^0.35 ≈ 4.97 meses nominales → Calibrado a 4.0 Meses (16 Semanas de Cronograma)</a:t>
            </a:r>
            <a:endParaRPr lang="en-US" sz="1000" dirty="0"/>
          </a:p>
        </p:txBody>
      </p:sp>
      <p:sp>
        <p:nvSpPr>
          <p:cNvPr id="30" name="Shape 28"/>
          <p:cNvSpPr/>
          <p:nvPr/>
        </p:nvSpPr>
        <p:spPr>
          <a:xfrm>
            <a:off x="4572000" y="4242816"/>
            <a:ext cx="347472" cy="347472"/>
          </a:xfrm>
          <a:prstGeom prst="ellipse">
            <a:avLst/>
          </a:prstGeom>
          <a:solidFill>
            <a:srgbClr val="C97567"/>
          </a:solidFill>
          <a:ln/>
        </p:spPr>
      </p:sp>
      <p:sp>
        <p:nvSpPr>
          <p:cNvPr id="31" name="Text 29"/>
          <p:cNvSpPr txBox="1"/>
          <p:nvPr/>
        </p:nvSpPr>
        <p:spPr>
          <a:xfrm>
            <a:off x="4572000" y="424281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32" name="Text 30"/>
          <p:cNvSpPr txBox="1"/>
          <p:nvPr/>
        </p:nvSpPr>
        <p:spPr>
          <a:xfrm>
            <a:off x="5074920" y="4224528"/>
            <a:ext cx="6035040" cy="237744"/>
          </a:xfrm>
          <a:prstGeom prst="rect">
            <a:avLst/>
          </a:prstGeom>
          <a:noFill/>
          <a:ln/>
        </p:spPr>
        <p:txBody>
          <a:bodyPr wrap="square" lIns="0" tIns="0" rIns="0" bIns="0" rtlCol="0" anchor="ctr"/>
          <a:lstStyle/>
          <a:p>
            <a:pPr indent="0" marL="0">
              <a:buNone/>
            </a:pPr>
            <a:r>
              <a:rPr lang="en-US" sz="1150" b="1" dirty="0">
                <a:solidFill>
                  <a:srgbClr val="4B3B33"/>
                </a:solidFill>
                <a:latin typeface="Calibri" pitchFamily="34" charset="0"/>
                <a:ea typeface="Calibri" pitchFamily="34" charset="-122"/>
                <a:cs typeface="Calibri" pitchFamily="34" charset="-120"/>
              </a:rPr>
              <a:t>Personal Promedio Requerido</a:t>
            </a:r>
            <a:endParaRPr lang="en-US" sz="1150" dirty="0"/>
          </a:p>
        </p:txBody>
      </p:sp>
      <p:sp>
        <p:nvSpPr>
          <p:cNvPr id="33" name="Text 31"/>
          <p:cNvSpPr txBox="1"/>
          <p:nvPr/>
        </p:nvSpPr>
        <p:spPr>
          <a:xfrm>
            <a:off x="5074920" y="4480560"/>
            <a:ext cx="6035040" cy="256032"/>
          </a:xfrm>
          <a:prstGeom prst="rect">
            <a:avLst/>
          </a:prstGeom>
          <a:noFill/>
          <a:ln/>
        </p:spPr>
        <p:txBody>
          <a:bodyPr wrap="square" lIns="0" tIns="0" rIns="0" bIns="0" rtlCol="0" anchor="ctr"/>
          <a:lstStyle/>
          <a:p>
            <a:pPr indent="0" marL="0">
              <a:buNone/>
            </a:pPr>
            <a:r>
              <a:rPr sz="900">
                <a:solidFill>
                  <a:srgbClr val="5B4A41"/>
                </a:solidFill>
              </a:rPr>
              <a:t>N_teórico = E / TDEV_nom = 97.53 / 4.97 ≈ 19.6 pers.  |  Ajustado al Plan (16 sem): N = 97.53 / 4.0 ≈ 24.3 pers-mes equivalentes</a:t>
            </a:r>
            <a:endParaRPr lang="en-US" sz="1000" dirty="0"/>
          </a:p>
        </p:txBody>
      </p:sp>
      <p:sp>
        <p:nvSpPr>
          <p:cNvPr id="34" name="Shape 32"/>
          <p:cNvSpPr/>
          <p:nvPr/>
        </p:nvSpPr>
        <p:spPr>
          <a:xfrm>
            <a:off x="4572000" y="4864608"/>
            <a:ext cx="347472" cy="347472"/>
          </a:xfrm>
          <a:prstGeom prst="ellipse">
            <a:avLst/>
          </a:prstGeom>
          <a:solidFill>
            <a:srgbClr val="C97567"/>
          </a:solidFill>
          <a:ln/>
        </p:spPr>
      </p:sp>
      <p:sp>
        <p:nvSpPr>
          <p:cNvPr id="35" name="Text 33"/>
          <p:cNvSpPr txBox="1"/>
          <p:nvPr/>
        </p:nvSpPr>
        <p:spPr>
          <a:xfrm>
            <a:off x="4572000" y="4864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6" name="Text 34"/>
          <p:cNvSpPr txBox="1"/>
          <p:nvPr/>
        </p:nvSpPr>
        <p:spPr>
          <a:xfrm>
            <a:off x="5074920" y="4846320"/>
            <a:ext cx="6035040" cy="237744"/>
          </a:xfrm>
          <a:prstGeom prst="rect">
            <a:avLst/>
          </a:prstGeom>
          <a:noFill/>
          <a:ln/>
        </p:spPr>
        <p:txBody>
          <a:bodyPr wrap="square" lIns="0" tIns="0" rIns="0" bIns="0" rtlCol="0" anchor="ctr"/>
          <a:lstStyle/>
          <a:p>
            <a:pPr indent="0" marL="0">
              <a:buNone/>
            </a:pPr>
            <a:r>
              <a:rPr lang="en-US" sz="1150" b="1" dirty="0">
                <a:solidFill>
                  <a:srgbClr val="4B3B33"/>
                </a:solidFill>
                <a:latin typeface="Calibri" pitchFamily="34" charset="0"/>
                <a:ea typeface="Calibri" pitchFamily="34" charset="-122"/>
                <a:cs typeface="Calibri" pitchFamily="34" charset="-120"/>
              </a:rPr>
              <a:t>Productividad Nominal</a:t>
            </a:r>
            <a:endParaRPr lang="en-US" sz="1150" dirty="0"/>
          </a:p>
        </p:txBody>
      </p:sp>
      <p:sp>
        <p:nvSpPr>
          <p:cNvPr id="37" name="Text 35"/>
          <p:cNvSpPr txBox="1"/>
          <p:nvPr/>
        </p:nvSpPr>
        <p:spPr>
          <a:xfrm>
            <a:off x="5074920" y="5102352"/>
            <a:ext cx="6035040" cy="256032"/>
          </a:xfrm>
          <a:prstGeom prst="rect">
            <a:avLst/>
          </a:prstGeom>
          <a:noFill/>
          <a:ln/>
        </p:spPr>
        <p:txBody>
          <a:bodyPr wrap="square" lIns="0" tIns="0" rIns="0" bIns="0" rtlCol="0" anchor="ctr"/>
          <a:lstStyle/>
          <a:p>
            <a:pPr indent="0" marL="0">
              <a:buNone/>
            </a:pPr>
            <a:r>
              <a:rPr lang="en-US" sz="1000" dirty="0">
                <a:solidFill>
                  <a:srgbClr val="5B4A41"/>
                </a:solidFill>
                <a:latin typeface="Consolas" pitchFamily="34" charset="0"/>
                <a:ea typeface="Consolas" pitchFamily="34" charset="-122"/>
                <a:cs typeface="Consolas" pitchFamily="34" charset="-120"/>
              </a:rPr>
              <a:t>Prod = KLOC / E = 22,500 / 97.53 ≈ 230 LOC / Persona-Mes</a:t>
            </a:r>
            <a:endParaRPr lang="en-US" sz="1000" dirty="0"/>
          </a:p>
        </p:txBody>
      </p:sp>
      <p:sp>
        <p:nvSpPr>
          <p:cNvPr id="38" name="Shape 36"/>
          <p:cNvSpPr/>
          <p:nvPr/>
        </p:nvSpPr>
        <p:spPr>
          <a:xfrm>
            <a:off x="548640" y="5852160"/>
            <a:ext cx="11091672" cy="566928"/>
          </a:xfrm>
          <a:prstGeom prst="roundRect">
            <a:avLst>
              <a:gd name="adj" fmla="val 11290"/>
            </a:avLst>
          </a:prstGeom>
          <a:solidFill>
            <a:srgbClr val="F3D9D3"/>
          </a:solidFill>
          <a:ln w="12700"/>
        </p:spPr>
      </p:sp>
      <p:sp>
        <p:nvSpPr>
          <p:cNvPr id="39" name="Text 37"/>
          <p:cNvSpPr txBox="1"/>
          <p:nvPr/>
        </p:nvSpPr>
        <p:spPr>
          <a:xfrm>
            <a:off x="777240" y="5907024"/>
            <a:ext cx="10607040" cy="457200"/>
          </a:xfrm>
          <a:prstGeom prst="rect">
            <a:avLst/>
          </a:prstGeom>
          <a:noFill/>
          <a:ln/>
        </p:spPr>
        <p:txBody>
          <a:bodyPr wrap="square" lIns="0" tIns="0" rIns="0" bIns="0" rtlCol="0" anchor="ctr"/>
          <a:lstStyle/>
          <a:p>
            <a:pPr indent="0" marL="0">
              <a:lnSpc>
                <a:spcPts val="1300"/>
              </a:lnSpc>
              <a:buNone/>
            </a:pPr>
            <a:pPr indent="0" marL="0">
              <a:lnSpc>
                <a:spcPts val="1300"/>
              </a:lnSpc>
              <a:buNone/>
            </a:pPr>
            <a:r>
              <a:rPr b="1" sz="1000">
                <a:solidFill>
                  <a:srgbClr val="C97567"/>
                </a:solidFill>
              </a:rPr>
              <a:t>Calibración y alineación con cronograma: </a:t>
            </a:r>
            <a:r>
              <a:rPr b="0" sz="950">
                <a:solidFill>
                  <a:srgbClr val="5B4A41"/>
                </a:solidFill>
              </a:rPr>
              <a:t>El cálculo puramente empírico del modelo básico arroja 4.97 meses (~20 semanas), lo cual sobrestima el tiempo frente a la ventana objetivo de 16 semanas (4 meses) del cronograma de Sprints y PERT. Esta discrepancia se resuelve formalmente con el Modelo Intermedio (EAF = 0.795), validando la viabilidad de entrega en 16 semanas.</a:t>
            </a:r>
            <a:endParaRPr lang="en-US" sz="1030" dirty="0"/>
          </a:p>
        </p:txBody>
      </p:sp>
      <p:sp>
        <p:nvSpPr>
          <p:cNvPr id="40" name="Text 38"/>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41" name="Text 39"/>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12. Estimación de Software: Modelo COCOMO Intermedio (15 Cost Drivers)</a:t>
            </a:r>
            <a:endParaRPr lang="en-US" sz="2500" dirty="0"/>
          </a:p>
        </p:txBody>
      </p:sp>
      <p:sp>
        <p:nvSpPr>
          <p:cNvPr id="4" name="Shape 2"/>
          <p:cNvSpPr/>
          <p:nvPr/>
        </p:nvSpPr>
        <p:spPr>
          <a:xfrm>
            <a:off x="548640" y="1508760"/>
            <a:ext cx="3246120" cy="347472"/>
          </a:xfrm>
          <a:prstGeom prst="rect">
            <a:avLst/>
          </a:prstGeom>
          <a:solidFill>
            <a:srgbClr val="34241C"/>
          </a:solidFill>
          <a:ln/>
        </p:spPr>
      </p:sp>
      <p:sp>
        <p:nvSpPr>
          <p:cNvPr id="5" name="Text 3"/>
          <p:cNvSpPr txBox="1"/>
          <p:nvPr/>
        </p:nvSpPr>
        <p:spPr>
          <a:xfrm>
            <a:off x="621792" y="1508760"/>
            <a:ext cx="3099816" cy="347472"/>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PRODUCTO &amp; PLATAFORMA</a:t>
            </a:r>
            <a:endParaRPr lang="en-US" sz="950" dirty="0"/>
          </a:p>
        </p:txBody>
      </p:sp>
      <p:sp>
        <p:nvSpPr>
          <p:cNvPr id="6" name="Shape 4"/>
          <p:cNvSpPr/>
          <p:nvPr/>
        </p:nvSpPr>
        <p:spPr>
          <a:xfrm>
            <a:off x="3794760" y="1508760"/>
            <a:ext cx="1097280" cy="347472"/>
          </a:xfrm>
          <a:prstGeom prst="rect">
            <a:avLst/>
          </a:prstGeom>
          <a:solidFill>
            <a:srgbClr val="34241C"/>
          </a:solidFill>
          <a:ln/>
        </p:spPr>
      </p:sp>
      <p:sp>
        <p:nvSpPr>
          <p:cNvPr id="7" name="Text 5"/>
          <p:cNvSpPr txBox="1"/>
          <p:nvPr/>
        </p:nvSpPr>
        <p:spPr>
          <a:xfrm>
            <a:off x="3867912" y="1508760"/>
            <a:ext cx="950976"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NIVEL</a:t>
            </a:r>
            <a:endParaRPr lang="en-US" sz="950" dirty="0"/>
          </a:p>
        </p:txBody>
      </p:sp>
      <p:sp>
        <p:nvSpPr>
          <p:cNvPr id="8" name="Shape 6"/>
          <p:cNvSpPr/>
          <p:nvPr/>
        </p:nvSpPr>
        <p:spPr>
          <a:xfrm>
            <a:off x="4892040" y="1508760"/>
            <a:ext cx="1005840" cy="347472"/>
          </a:xfrm>
          <a:prstGeom prst="rect">
            <a:avLst/>
          </a:prstGeom>
          <a:solidFill>
            <a:srgbClr val="34241C"/>
          </a:solidFill>
          <a:ln/>
        </p:spPr>
      </p:sp>
      <p:sp>
        <p:nvSpPr>
          <p:cNvPr id="9" name="Text 7"/>
          <p:cNvSpPr txBox="1"/>
          <p:nvPr/>
        </p:nvSpPr>
        <p:spPr>
          <a:xfrm>
            <a:off x="4965192" y="1508760"/>
            <a:ext cx="859536"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VALOR</a:t>
            </a:r>
            <a:endParaRPr lang="en-US" sz="950" dirty="0"/>
          </a:p>
        </p:txBody>
      </p:sp>
      <p:sp>
        <p:nvSpPr>
          <p:cNvPr id="10" name="Shape 8"/>
          <p:cNvSpPr/>
          <p:nvPr/>
        </p:nvSpPr>
        <p:spPr>
          <a:xfrm>
            <a:off x="548640" y="1856232"/>
            <a:ext cx="3246120" cy="320040"/>
          </a:xfrm>
          <a:prstGeom prst="rect">
            <a:avLst/>
          </a:prstGeom>
          <a:solidFill>
            <a:srgbClr val="FFFFFF"/>
          </a:solidFill>
          <a:ln/>
        </p:spPr>
      </p:sp>
      <p:sp>
        <p:nvSpPr>
          <p:cNvPr id="11" name="Text 9"/>
          <p:cNvSpPr txBox="1"/>
          <p:nvPr/>
        </p:nvSpPr>
        <p:spPr>
          <a:xfrm>
            <a:off x="621792" y="185623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1. RELY — Confiabilidad requerida</a:t>
            </a:r>
            <a:endParaRPr lang="en-US" sz="1000" dirty="0"/>
          </a:p>
        </p:txBody>
      </p:sp>
      <p:sp>
        <p:nvSpPr>
          <p:cNvPr id="12" name="Shape 10"/>
          <p:cNvSpPr/>
          <p:nvPr/>
        </p:nvSpPr>
        <p:spPr>
          <a:xfrm>
            <a:off x="3794760" y="1856232"/>
            <a:ext cx="1097280" cy="320040"/>
          </a:xfrm>
          <a:prstGeom prst="rect">
            <a:avLst/>
          </a:prstGeom>
          <a:solidFill>
            <a:srgbClr val="FFFFFF"/>
          </a:solidFill>
          <a:ln/>
        </p:spPr>
      </p:sp>
      <p:sp>
        <p:nvSpPr>
          <p:cNvPr id="13" name="Text 11"/>
          <p:cNvSpPr txBox="1"/>
          <p:nvPr/>
        </p:nvSpPr>
        <p:spPr>
          <a:xfrm>
            <a:off x="3867912" y="185623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E08D80"/>
                </a:solidFill>
                <a:latin typeface="Calibri" pitchFamily="34" charset="0"/>
                <a:ea typeface="Calibri" pitchFamily="34" charset="-122"/>
                <a:cs typeface="Calibri" pitchFamily="34" charset="-120"/>
              </a:rPr>
              <a:t>Alto</a:t>
            </a:r>
            <a:endParaRPr lang="en-US" sz="1000" dirty="0"/>
          </a:p>
        </p:txBody>
      </p:sp>
      <p:sp>
        <p:nvSpPr>
          <p:cNvPr id="14" name="Shape 12"/>
          <p:cNvSpPr/>
          <p:nvPr/>
        </p:nvSpPr>
        <p:spPr>
          <a:xfrm>
            <a:off x="4892040" y="1856232"/>
            <a:ext cx="1005840" cy="320040"/>
          </a:xfrm>
          <a:prstGeom prst="rect">
            <a:avLst/>
          </a:prstGeom>
          <a:solidFill>
            <a:srgbClr val="FFFFFF"/>
          </a:solidFill>
          <a:ln/>
        </p:spPr>
      </p:sp>
      <p:sp>
        <p:nvSpPr>
          <p:cNvPr id="15" name="Text 13"/>
          <p:cNvSpPr txBox="1"/>
          <p:nvPr/>
        </p:nvSpPr>
        <p:spPr>
          <a:xfrm>
            <a:off x="4965192" y="185623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1.15</a:t>
            </a:r>
            <a:endParaRPr lang="en-US" sz="1050" dirty="0"/>
          </a:p>
        </p:txBody>
      </p:sp>
      <p:sp>
        <p:nvSpPr>
          <p:cNvPr id="16" name="Shape 14"/>
          <p:cNvSpPr/>
          <p:nvPr/>
        </p:nvSpPr>
        <p:spPr>
          <a:xfrm>
            <a:off x="548640" y="2176272"/>
            <a:ext cx="3246120" cy="320040"/>
          </a:xfrm>
          <a:prstGeom prst="rect">
            <a:avLst/>
          </a:prstGeom>
          <a:solidFill>
            <a:srgbClr val="FDF3EE"/>
          </a:solidFill>
          <a:ln/>
        </p:spPr>
      </p:sp>
      <p:sp>
        <p:nvSpPr>
          <p:cNvPr id="17" name="Text 15"/>
          <p:cNvSpPr txBox="1"/>
          <p:nvPr/>
        </p:nvSpPr>
        <p:spPr>
          <a:xfrm>
            <a:off x="621792" y="217627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2. DATA — Tamaño base de datos</a:t>
            </a:r>
            <a:endParaRPr lang="en-US" sz="1000" dirty="0"/>
          </a:p>
        </p:txBody>
      </p:sp>
      <p:sp>
        <p:nvSpPr>
          <p:cNvPr id="18" name="Shape 16"/>
          <p:cNvSpPr/>
          <p:nvPr/>
        </p:nvSpPr>
        <p:spPr>
          <a:xfrm>
            <a:off x="3794760" y="2176272"/>
            <a:ext cx="1097280" cy="320040"/>
          </a:xfrm>
          <a:prstGeom prst="rect">
            <a:avLst/>
          </a:prstGeom>
          <a:solidFill>
            <a:srgbClr val="FDF3EE"/>
          </a:solidFill>
          <a:ln/>
        </p:spPr>
      </p:sp>
      <p:sp>
        <p:nvSpPr>
          <p:cNvPr id="19" name="Text 17"/>
          <p:cNvSpPr txBox="1"/>
          <p:nvPr/>
        </p:nvSpPr>
        <p:spPr>
          <a:xfrm>
            <a:off x="3867912" y="217627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8A776D"/>
                </a:solidFill>
                <a:latin typeface="Calibri" pitchFamily="34" charset="0"/>
                <a:ea typeface="Calibri" pitchFamily="34" charset="-122"/>
                <a:cs typeface="Calibri" pitchFamily="34" charset="-120"/>
              </a:rPr>
              <a:t>Nominal</a:t>
            </a:r>
            <a:endParaRPr lang="en-US" sz="1000" dirty="0"/>
          </a:p>
        </p:txBody>
      </p:sp>
      <p:sp>
        <p:nvSpPr>
          <p:cNvPr id="20" name="Shape 18"/>
          <p:cNvSpPr/>
          <p:nvPr/>
        </p:nvSpPr>
        <p:spPr>
          <a:xfrm>
            <a:off x="4892040" y="2176272"/>
            <a:ext cx="1005840" cy="320040"/>
          </a:xfrm>
          <a:prstGeom prst="rect">
            <a:avLst/>
          </a:prstGeom>
          <a:solidFill>
            <a:srgbClr val="FDF3EE"/>
          </a:solidFill>
          <a:ln/>
        </p:spPr>
      </p:sp>
      <p:sp>
        <p:nvSpPr>
          <p:cNvPr id="21" name="Text 19"/>
          <p:cNvSpPr txBox="1"/>
          <p:nvPr/>
        </p:nvSpPr>
        <p:spPr>
          <a:xfrm>
            <a:off x="4965192" y="217627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1.00</a:t>
            </a:r>
            <a:endParaRPr lang="en-US" sz="1050" dirty="0"/>
          </a:p>
        </p:txBody>
      </p:sp>
      <p:sp>
        <p:nvSpPr>
          <p:cNvPr id="22" name="Shape 20"/>
          <p:cNvSpPr/>
          <p:nvPr/>
        </p:nvSpPr>
        <p:spPr>
          <a:xfrm>
            <a:off x="548640" y="2496312"/>
            <a:ext cx="3246120" cy="320040"/>
          </a:xfrm>
          <a:prstGeom prst="rect">
            <a:avLst/>
          </a:prstGeom>
          <a:solidFill>
            <a:srgbClr val="FFFFFF"/>
          </a:solidFill>
          <a:ln/>
        </p:spPr>
      </p:sp>
      <p:sp>
        <p:nvSpPr>
          <p:cNvPr id="23" name="Text 21"/>
          <p:cNvSpPr txBox="1"/>
          <p:nvPr/>
        </p:nvSpPr>
        <p:spPr>
          <a:xfrm>
            <a:off x="621792" y="249631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3. CPLX — Complejidad de software</a:t>
            </a:r>
            <a:endParaRPr lang="en-US" sz="1000" dirty="0"/>
          </a:p>
        </p:txBody>
      </p:sp>
      <p:sp>
        <p:nvSpPr>
          <p:cNvPr id="24" name="Shape 22"/>
          <p:cNvSpPr/>
          <p:nvPr/>
        </p:nvSpPr>
        <p:spPr>
          <a:xfrm>
            <a:off x="3794760" y="2496312"/>
            <a:ext cx="1097280" cy="320040"/>
          </a:xfrm>
          <a:prstGeom prst="rect">
            <a:avLst/>
          </a:prstGeom>
          <a:solidFill>
            <a:srgbClr val="FFFFFF"/>
          </a:solidFill>
          <a:ln/>
        </p:spPr>
      </p:sp>
      <p:sp>
        <p:nvSpPr>
          <p:cNvPr id="25" name="Text 23"/>
          <p:cNvSpPr txBox="1"/>
          <p:nvPr/>
        </p:nvSpPr>
        <p:spPr>
          <a:xfrm>
            <a:off x="3867912" y="249631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E08D80"/>
                </a:solidFill>
                <a:latin typeface="Calibri" pitchFamily="34" charset="0"/>
                <a:ea typeface="Calibri" pitchFamily="34" charset="-122"/>
                <a:cs typeface="Calibri" pitchFamily="34" charset="-120"/>
              </a:rPr>
              <a:t>Alto</a:t>
            </a:r>
            <a:endParaRPr lang="en-US" sz="1000" dirty="0"/>
          </a:p>
        </p:txBody>
      </p:sp>
      <p:sp>
        <p:nvSpPr>
          <p:cNvPr id="26" name="Shape 24"/>
          <p:cNvSpPr/>
          <p:nvPr/>
        </p:nvSpPr>
        <p:spPr>
          <a:xfrm>
            <a:off x="4892040" y="2496312"/>
            <a:ext cx="1005840" cy="320040"/>
          </a:xfrm>
          <a:prstGeom prst="rect">
            <a:avLst/>
          </a:prstGeom>
          <a:solidFill>
            <a:srgbClr val="FFFFFF"/>
          </a:solidFill>
          <a:ln/>
        </p:spPr>
      </p:sp>
      <p:sp>
        <p:nvSpPr>
          <p:cNvPr id="27" name="Text 25"/>
          <p:cNvSpPr txBox="1"/>
          <p:nvPr/>
        </p:nvSpPr>
        <p:spPr>
          <a:xfrm>
            <a:off x="4965192" y="249631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1.15</a:t>
            </a:r>
            <a:endParaRPr lang="en-US" sz="1050" dirty="0"/>
          </a:p>
        </p:txBody>
      </p:sp>
      <p:sp>
        <p:nvSpPr>
          <p:cNvPr id="28" name="Shape 26"/>
          <p:cNvSpPr/>
          <p:nvPr/>
        </p:nvSpPr>
        <p:spPr>
          <a:xfrm>
            <a:off x="548640" y="2816352"/>
            <a:ext cx="3246120" cy="320040"/>
          </a:xfrm>
          <a:prstGeom prst="rect">
            <a:avLst/>
          </a:prstGeom>
          <a:solidFill>
            <a:srgbClr val="FDF3EE"/>
          </a:solidFill>
          <a:ln/>
        </p:spPr>
      </p:sp>
      <p:sp>
        <p:nvSpPr>
          <p:cNvPr id="29" name="Text 27"/>
          <p:cNvSpPr txBox="1"/>
          <p:nvPr/>
        </p:nvSpPr>
        <p:spPr>
          <a:xfrm>
            <a:off x="621792" y="281635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4. TIME — Restricción tiempo CPU</a:t>
            </a:r>
            <a:endParaRPr lang="en-US" sz="1000" dirty="0"/>
          </a:p>
        </p:txBody>
      </p:sp>
      <p:sp>
        <p:nvSpPr>
          <p:cNvPr id="30" name="Shape 28"/>
          <p:cNvSpPr/>
          <p:nvPr/>
        </p:nvSpPr>
        <p:spPr>
          <a:xfrm>
            <a:off x="3794760" y="2816352"/>
            <a:ext cx="1097280" cy="320040"/>
          </a:xfrm>
          <a:prstGeom prst="rect">
            <a:avLst/>
          </a:prstGeom>
          <a:solidFill>
            <a:srgbClr val="FDF3EE"/>
          </a:solidFill>
          <a:ln/>
        </p:spPr>
      </p:sp>
      <p:sp>
        <p:nvSpPr>
          <p:cNvPr id="31" name="Text 29"/>
          <p:cNvSpPr txBox="1"/>
          <p:nvPr/>
        </p:nvSpPr>
        <p:spPr>
          <a:xfrm>
            <a:off x="3867912" y="281635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8A776D"/>
                </a:solidFill>
                <a:latin typeface="Calibri" pitchFamily="34" charset="0"/>
                <a:ea typeface="Calibri" pitchFamily="34" charset="-122"/>
                <a:cs typeface="Calibri" pitchFamily="34" charset="-120"/>
              </a:rPr>
              <a:t>Nominal</a:t>
            </a:r>
            <a:endParaRPr lang="en-US" sz="1000" dirty="0"/>
          </a:p>
        </p:txBody>
      </p:sp>
      <p:sp>
        <p:nvSpPr>
          <p:cNvPr id="32" name="Shape 30"/>
          <p:cNvSpPr/>
          <p:nvPr/>
        </p:nvSpPr>
        <p:spPr>
          <a:xfrm>
            <a:off x="4892040" y="2816352"/>
            <a:ext cx="1005840" cy="320040"/>
          </a:xfrm>
          <a:prstGeom prst="rect">
            <a:avLst/>
          </a:prstGeom>
          <a:solidFill>
            <a:srgbClr val="FDF3EE"/>
          </a:solidFill>
          <a:ln/>
        </p:spPr>
      </p:sp>
      <p:sp>
        <p:nvSpPr>
          <p:cNvPr id="33" name="Text 31"/>
          <p:cNvSpPr txBox="1"/>
          <p:nvPr/>
        </p:nvSpPr>
        <p:spPr>
          <a:xfrm>
            <a:off x="4965192" y="281635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1.00</a:t>
            </a:r>
            <a:endParaRPr lang="en-US" sz="1050" dirty="0"/>
          </a:p>
        </p:txBody>
      </p:sp>
      <p:sp>
        <p:nvSpPr>
          <p:cNvPr id="34" name="Shape 32"/>
          <p:cNvSpPr/>
          <p:nvPr/>
        </p:nvSpPr>
        <p:spPr>
          <a:xfrm>
            <a:off x="548640" y="3136392"/>
            <a:ext cx="3246120" cy="320040"/>
          </a:xfrm>
          <a:prstGeom prst="rect">
            <a:avLst/>
          </a:prstGeom>
          <a:solidFill>
            <a:srgbClr val="FFFFFF"/>
          </a:solidFill>
          <a:ln/>
        </p:spPr>
      </p:sp>
      <p:sp>
        <p:nvSpPr>
          <p:cNvPr id="35" name="Text 33"/>
          <p:cNvSpPr txBox="1"/>
          <p:nvPr/>
        </p:nvSpPr>
        <p:spPr>
          <a:xfrm>
            <a:off x="621792" y="313639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5. STOR — Restricción de memoria</a:t>
            </a:r>
            <a:endParaRPr lang="en-US" sz="1000" dirty="0"/>
          </a:p>
        </p:txBody>
      </p:sp>
      <p:sp>
        <p:nvSpPr>
          <p:cNvPr id="36" name="Shape 34"/>
          <p:cNvSpPr/>
          <p:nvPr/>
        </p:nvSpPr>
        <p:spPr>
          <a:xfrm>
            <a:off x="3794760" y="3136392"/>
            <a:ext cx="1097280" cy="320040"/>
          </a:xfrm>
          <a:prstGeom prst="rect">
            <a:avLst/>
          </a:prstGeom>
          <a:solidFill>
            <a:srgbClr val="FFFFFF"/>
          </a:solidFill>
          <a:ln/>
        </p:spPr>
      </p:sp>
      <p:sp>
        <p:nvSpPr>
          <p:cNvPr id="37" name="Text 35"/>
          <p:cNvSpPr txBox="1"/>
          <p:nvPr/>
        </p:nvSpPr>
        <p:spPr>
          <a:xfrm>
            <a:off x="3867912" y="313639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8A776D"/>
                </a:solidFill>
                <a:latin typeface="Calibri" pitchFamily="34" charset="0"/>
                <a:ea typeface="Calibri" pitchFamily="34" charset="-122"/>
                <a:cs typeface="Calibri" pitchFamily="34" charset="-120"/>
              </a:rPr>
              <a:t>Nominal</a:t>
            </a:r>
            <a:endParaRPr lang="en-US" sz="1000" dirty="0"/>
          </a:p>
        </p:txBody>
      </p:sp>
      <p:sp>
        <p:nvSpPr>
          <p:cNvPr id="38" name="Shape 36"/>
          <p:cNvSpPr/>
          <p:nvPr/>
        </p:nvSpPr>
        <p:spPr>
          <a:xfrm>
            <a:off x="4892040" y="3136392"/>
            <a:ext cx="1005840" cy="320040"/>
          </a:xfrm>
          <a:prstGeom prst="rect">
            <a:avLst/>
          </a:prstGeom>
          <a:solidFill>
            <a:srgbClr val="FFFFFF"/>
          </a:solidFill>
          <a:ln/>
        </p:spPr>
      </p:sp>
      <p:sp>
        <p:nvSpPr>
          <p:cNvPr id="39" name="Text 37"/>
          <p:cNvSpPr txBox="1"/>
          <p:nvPr/>
        </p:nvSpPr>
        <p:spPr>
          <a:xfrm>
            <a:off x="4965192" y="313639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1.00</a:t>
            </a:r>
            <a:endParaRPr lang="en-US" sz="1050" dirty="0"/>
          </a:p>
        </p:txBody>
      </p:sp>
      <p:sp>
        <p:nvSpPr>
          <p:cNvPr id="40" name="Shape 38"/>
          <p:cNvSpPr/>
          <p:nvPr/>
        </p:nvSpPr>
        <p:spPr>
          <a:xfrm>
            <a:off x="548640" y="3456432"/>
            <a:ext cx="3246120" cy="320040"/>
          </a:xfrm>
          <a:prstGeom prst="rect">
            <a:avLst/>
          </a:prstGeom>
          <a:solidFill>
            <a:srgbClr val="FDF3EE"/>
          </a:solidFill>
          <a:ln/>
        </p:spPr>
      </p:sp>
      <p:sp>
        <p:nvSpPr>
          <p:cNvPr id="41" name="Text 39"/>
          <p:cNvSpPr txBox="1"/>
          <p:nvPr/>
        </p:nvSpPr>
        <p:spPr>
          <a:xfrm>
            <a:off x="621792" y="345643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6. VIRT — Volatilidad máquina virtual</a:t>
            </a:r>
            <a:endParaRPr lang="en-US" sz="1000" dirty="0"/>
          </a:p>
        </p:txBody>
      </p:sp>
      <p:sp>
        <p:nvSpPr>
          <p:cNvPr id="42" name="Shape 40"/>
          <p:cNvSpPr/>
          <p:nvPr/>
        </p:nvSpPr>
        <p:spPr>
          <a:xfrm>
            <a:off x="3794760" y="3456432"/>
            <a:ext cx="1097280" cy="320040"/>
          </a:xfrm>
          <a:prstGeom prst="rect">
            <a:avLst/>
          </a:prstGeom>
          <a:solidFill>
            <a:srgbClr val="FDF3EE"/>
          </a:solidFill>
          <a:ln/>
        </p:spPr>
      </p:sp>
      <p:sp>
        <p:nvSpPr>
          <p:cNvPr id="43" name="Text 41"/>
          <p:cNvSpPr txBox="1"/>
          <p:nvPr/>
        </p:nvSpPr>
        <p:spPr>
          <a:xfrm>
            <a:off x="3867912" y="345643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7C9473"/>
                </a:solidFill>
                <a:latin typeface="Calibri" pitchFamily="34" charset="0"/>
                <a:ea typeface="Calibri" pitchFamily="34" charset="-122"/>
                <a:cs typeface="Calibri" pitchFamily="34" charset="-120"/>
              </a:rPr>
              <a:t>Bajo</a:t>
            </a:r>
            <a:endParaRPr lang="en-US" sz="1000" dirty="0"/>
          </a:p>
        </p:txBody>
      </p:sp>
      <p:sp>
        <p:nvSpPr>
          <p:cNvPr id="44" name="Shape 42"/>
          <p:cNvSpPr/>
          <p:nvPr/>
        </p:nvSpPr>
        <p:spPr>
          <a:xfrm>
            <a:off x="4892040" y="3456432"/>
            <a:ext cx="1005840" cy="320040"/>
          </a:xfrm>
          <a:prstGeom prst="rect">
            <a:avLst/>
          </a:prstGeom>
          <a:solidFill>
            <a:srgbClr val="FDF3EE"/>
          </a:solidFill>
          <a:ln/>
        </p:spPr>
      </p:sp>
      <p:sp>
        <p:nvSpPr>
          <p:cNvPr id="45" name="Text 43"/>
          <p:cNvSpPr txBox="1"/>
          <p:nvPr/>
        </p:nvSpPr>
        <p:spPr>
          <a:xfrm>
            <a:off x="4965192" y="345643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0.87</a:t>
            </a:r>
            <a:endParaRPr lang="en-US" sz="1050" dirty="0"/>
          </a:p>
        </p:txBody>
      </p:sp>
      <p:sp>
        <p:nvSpPr>
          <p:cNvPr id="46" name="Shape 44"/>
          <p:cNvSpPr/>
          <p:nvPr/>
        </p:nvSpPr>
        <p:spPr>
          <a:xfrm>
            <a:off x="548640" y="3776472"/>
            <a:ext cx="3246120" cy="320040"/>
          </a:xfrm>
          <a:prstGeom prst="rect">
            <a:avLst/>
          </a:prstGeom>
          <a:solidFill>
            <a:srgbClr val="FFFFFF"/>
          </a:solidFill>
          <a:ln/>
        </p:spPr>
      </p:sp>
      <p:sp>
        <p:nvSpPr>
          <p:cNvPr id="47" name="Text 45"/>
          <p:cNvSpPr txBox="1"/>
          <p:nvPr/>
        </p:nvSpPr>
        <p:spPr>
          <a:xfrm>
            <a:off x="621792" y="377647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7. TURN — Tiempo de respuesta comp.</a:t>
            </a:r>
            <a:endParaRPr lang="en-US" sz="1000" dirty="0"/>
          </a:p>
        </p:txBody>
      </p:sp>
      <p:sp>
        <p:nvSpPr>
          <p:cNvPr id="48" name="Shape 46"/>
          <p:cNvSpPr/>
          <p:nvPr/>
        </p:nvSpPr>
        <p:spPr>
          <a:xfrm>
            <a:off x="3794760" y="3776472"/>
            <a:ext cx="1097280" cy="320040"/>
          </a:xfrm>
          <a:prstGeom prst="rect">
            <a:avLst/>
          </a:prstGeom>
          <a:solidFill>
            <a:srgbClr val="FFFFFF"/>
          </a:solidFill>
          <a:ln/>
        </p:spPr>
      </p:sp>
      <p:sp>
        <p:nvSpPr>
          <p:cNvPr id="49" name="Text 47"/>
          <p:cNvSpPr txBox="1"/>
          <p:nvPr/>
        </p:nvSpPr>
        <p:spPr>
          <a:xfrm>
            <a:off x="3867912" y="377647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8A776D"/>
                </a:solidFill>
                <a:latin typeface="Calibri" pitchFamily="34" charset="0"/>
                <a:ea typeface="Calibri" pitchFamily="34" charset="-122"/>
                <a:cs typeface="Calibri" pitchFamily="34" charset="-120"/>
              </a:rPr>
              <a:t>Nominal</a:t>
            </a:r>
            <a:endParaRPr lang="en-US" sz="1000" dirty="0"/>
          </a:p>
        </p:txBody>
      </p:sp>
      <p:sp>
        <p:nvSpPr>
          <p:cNvPr id="50" name="Shape 48"/>
          <p:cNvSpPr/>
          <p:nvPr/>
        </p:nvSpPr>
        <p:spPr>
          <a:xfrm>
            <a:off x="4892040" y="3776472"/>
            <a:ext cx="1005840" cy="320040"/>
          </a:xfrm>
          <a:prstGeom prst="rect">
            <a:avLst/>
          </a:prstGeom>
          <a:solidFill>
            <a:srgbClr val="FFFFFF"/>
          </a:solidFill>
          <a:ln/>
        </p:spPr>
      </p:sp>
      <p:sp>
        <p:nvSpPr>
          <p:cNvPr id="51" name="Text 49"/>
          <p:cNvSpPr txBox="1"/>
          <p:nvPr/>
        </p:nvSpPr>
        <p:spPr>
          <a:xfrm>
            <a:off x="4965192" y="377647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1.00</a:t>
            </a:r>
            <a:endParaRPr lang="en-US" sz="1050" dirty="0"/>
          </a:p>
        </p:txBody>
      </p:sp>
      <p:sp>
        <p:nvSpPr>
          <p:cNvPr id="52" name="Shape 50"/>
          <p:cNvSpPr/>
          <p:nvPr/>
        </p:nvSpPr>
        <p:spPr>
          <a:xfrm>
            <a:off x="6263640" y="1508760"/>
            <a:ext cx="3246120" cy="347472"/>
          </a:xfrm>
          <a:prstGeom prst="rect">
            <a:avLst/>
          </a:prstGeom>
          <a:solidFill>
            <a:srgbClr val="34241C"/>
          </a:solidFill>
          <a:ln/>
        </p:spPr>
      </p:sp>
      <p:sp>
        <p:nvSpPr>
          <p:cNvPr id="53" name="Text 51"/>
          <p:cNvSpPr txBox="1"/>
          <p:nvPr/>
        </p:nvSpPr>
        <p:spPr>
          <a:xfrm>
            <a:off x="6336792" y="1508760"/>
            <a:ext cx="3099816" cy="347472"/>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PERSONAL &amp; PROYECTO</a:t>
            </a:r>
            <a:endParaRPr lang="en-US" sz="950" dirty="0"/>
          </a:p>
        </p:txBody>
      </p:sp>
      <p:sp>
        <p:nvSpPr>
          <p:cNvPr id="54" name="Shape 52"/>
          <p:cNvSpPr/>
          <p:nvPr/>
        </p:nvSpPr>
        <p:spPr>
          <a:xfrm>
            <a:off x="9509760" y="1508760"/>
            <a:ext cx="1097280" cy="347472"/>
          </a:xfrm>
          <a:prstGeom prst="rect">
            <a:avLst/>
          </a:prstGeom>
          <a:solidFill>
            <a:srgbClr val="34241C"/>
          </a:solidFill>
          <a:ln/>
        </p:spPr>
      </p:sp>
      <p:sp>
        <p:nvSpPr>
          <p:cNvPr id="55" name="Text 53"/>
          <p:cNvSpPr txBox="1"/>
          <p:nvPr/>
        </p:nvSpPr>
        <p:spPr>
          <a:xfrm>
            <a:off x="9582912" y="1508760"/>
            <a:ext cx="950976"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NIVEL</a:t>
            </a:r>
            <a:endParaRPr lang="en-US" sz="950" dirty="0"/>
          </a:p>
        </p:txBody>
      </p:sp>
      <p:sp>
        <p:nvSpPr>
          <p:cNvPr id="56" name="Shape 54"/>
          <p:cNvSpPr/>
          <p:nvPr/>
        </p:nvSpPr>
        <p:spPr>
          <a:xfrm>
            <a:off x="10607040" y="1508760"/>
            <a:ext cx="1005840" cy="347472"/>
          </a:xfrm>
          <a:prstGeom prst="rect">
            <a:avLst/>
          </a:prstGeom>
          <a:solidFill>
            <a:srgbClr val="34241C"/>
          </a:solidFill>
          <a:ln/>
        </p:spPr>
      </p:sp>
      <p:sp>
        <p:nvSpPr>
          <p:cNvPr id="57" name="Text 55"/>
          <p:cNvSpPr txBox="1"/>
          <p:nvPr/>
        </p:nvSpPr>
        <p:spPr>
          <a:xfrm>
            <a:off x="10680192" y="1508760"/>
            <a:ext cx="859536"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VALOR</a:t>
            </a:r>
            <a:endParaRPr lang="en-US" sz="950" dirty="0"/>
          </a:p>
        </p:txBody>
      </p:sp>
      <p:sp>
        <p:nvSpPr>
          <p:cNvPr id="58" name="Shape 56"/>
          <p:cNvSpPr/>
          <p:nvPr/>
        </p:nvSpPr>
        <p:spPr>
          <a:xfrm>
            <a:off x="6263640" y="1856232"/>
            <a:ext cx="3246120" cy="320040"/>
          </a:xfrm>
          <a:prstGeom prst="rect">
            <a:avLst/>
          </a:prstGeom>
          <a:solidFill>
            <a:srgbClr val="FFFFFF"/>
          </a:solidFill>
          <a:ln/>
        </p:spPr>
      </p:sp>
      <p:sp>
        <p:nvSpPr>
          <p:cNvPr id="59" name="Text 57"/>
          <p:cNvSpPr txBox="1"/>
          <p:nvPr/>
        </p:nvSpPr>
        <p:spPr>
          <a:xfrm>
            <a:off x="6336792" y="185623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8. ACAP — Capacidad del analista</a:t>
            </a:r>
            <a:endParaRPr lang="en-US" sz="1000" dirty="0"/>
          </a:p>
        </p:txBody>
      </p:sp>
      <p:sp>
        <p:nvSpPr>
          <p:cNvPr id="60" name="Shape 58"/>
          <p:cNvSpPr/>
          <p:nvPr/>
        </p:nvSpPr>
        <p:spPr>
          <a:xfrm>
            <a:off x="9509760" y="1856232"/>
            <a:ext cx="1097280" cy="320040"/>
          </a:xfrm>
          <a:prstGeom prst="rect">
            <a:avLst/>
          </a:prstGeom>
          <a:solidFill>
            <a:srgbClr val="FFFFFF"/>
          </a:solidFill>
          <a:ln/>
        </p:spPr>
      </p:sp>
      <p:sp>
        <p:nvSpPr>
          <p:cNvPr id="61" name="Text 59"/>
          <p:cNvSpPr txBox="1"/>
          <p:nvPr/>
        </p:nvSpPr>
        <p:spPr>
          <a:xfrm>
            <a:off x="9582912" y="185623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E08D80"/>
                </a:solidFill>
                <a:latin typeface="Calibri" pitchFamily="34" charset="0"/>
                <a:ea typeface="Calibri" pitchFamily="34" charset="-122"/>
                <a:cs typeface="Calibri" pitchFamily="34" charset="-120"/>
              </a:rPr>
              <a:t>Alto</a:t>
            </a:r>
            <a:endParaRPr lang="en-US" sz="1000" dirty="0"/>
          </a:p>
        </p:txBody>
      </p:sp>
      <p:sp>
        <p:nvSpPr>
          <p:cNvPr id="62" name="Shape 60"/>
          <p:cNvSpPr/>
          <p:nvPr/>
        </p:nvSpPr>
        <p:spPr>
          <a:xfrm>
            <a:off x="10607040" y="1856232"/>
            <a:ext cx="1005840" cy="320040"/>
          </a:xfrm>
          <a:prstGeom prst="rect">
            <a:avLst/>
          </a:prstGeom>
          <a:solidFill>
            <a:srgbClr val="FFFFFF"/>
          </a:solidFill>
          <a:ln/>
        </p:spPr>
      </p:sp>
      <p:sp>
        <p:nvSpPr>
          <p:cNvPr id="63" name="Text 61"/>
          <p:cNvSpPr txBox="1"/>
          <p:nvPr/>
        </p:nvSpPr>
        <p:spPr>
          <a:xfrm>
            <a:off x="10680192" y="185623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0.86</a:t>
            </a:r>
            <a:endParaRPr lang="en-US" sz="1050" dirty="0"/>
          </a:p>
        </p:txBody>
      </p:sp>
      <p:sp>
        <p:nvSpPr>
          <p:cNvPr id="64" name="Shape 62"/>
          <p:cNvSpPr/>
          <p:nvPr/>
        </p:nvSpPr>
        <p:spPr>
          <a:xfrm>
            <a:off x="6263640" y="2176272"/>
            <a:ext cx="3246120" cy="320040"/>
          </a:xfrm>
          <a:prstGeom prst="rect">
            <a:avLst/>
          </a:prstGeom>
          <a:solidFill>
            <a:srgbClr val="FDF3EE"/>
          </a:solidFill>
          <a:ln/>
        </p:spPr>
      </p:sp>
      <p:sp>
        <p:nvSpPr>
          <p:cNvPr id="65" name="Text 63"/>
          <p:cNvSpPr txBox="1"/>
          <p:nvPr/>
        </p:nvSpPr>
        <p:spPr>
          <a:xfrm>
            <a:off x="6336792" y="217627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9. AEXP — Experiencia en aplicación</a:t>
            </a:r>
            <a:endParaRPr lang="en-US" sz="1000" dirty="0"/>
          </a:p>
        </p:txBody>
      </p:sp>
      <p:sp>
        <p:nvSpPr>
          <p:cNvPr id="66" name="Shape 64"/>
          <p:cNvSpPr/>
          <p:nvPr/>
        </p:nvSpPr>
        <p:spPr>
          <a:xfrm>
            <a:off x="9509760" y="2176272"/>
            <a:ext cx="1097280" cy="320040"/>
          </a:xfrm>
          <a:prstGeom prst="rect">
            <a:avLst/>
          </a:prstGeom>
          <a:solidFill>
            <a:srgbClr val="FDF3EE"/>
          </a:solidFill>
          <a:ln/>
        </p:spPr>
      </p:sp>
      <p:sp>
        <p:nvSpPr>
          <p:cNvPr id="67" name="Text 65"/>
          <p:cNvSpPr txBox="1"/>
          <p:nvPr/>
        </p:nvSpPr>
        <p:spPr>
          <a:xfrm>
            <a:off x="9582912" y="217627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8A776D"/>
                </a:solidFill>
                <a:latin typeface="Calibri" pitchFamily="34" charset="0"/>
                <a:ea typeface="Calibri" pitchFamily="34" charset="-122"/>
                <a:cs typeface="Calibri" pitchFamily="34" charset="-120"/>
              </a:rPr>
              <a:t>Nominal</a:t>
            </a:r>
            <a:endParaRPr lang="en-US" sz="1000" dirty="0"/>
          </a:p>
        </p:txBody>
      </p:sp>
      <p:sp>
        <p:nvSpPr>
          <p:cNvPr id="68" name="Shape 66"/>
          <p:cNvSpPr/>
          <p:nvPr/>
        </p:nvSpPr>
        <p:spPr>
          <a:xfrm>
            <a:off x="10607040" y="2176272"/>
            <a:ext cx="1005840" cy="320040"/>
          </a:xfrm>
          <a:prstGeom prst="rect">
            <a:avLst/>
          </a:prstGeom>
          <a:solidFill>
            <a:srgbClr val="FDF3EE"/>
          </a:solidFill>
          <a:ln/>
        </p:spPr>
      </p:sp>
      <p:sp>
        <p:nvSpPr>
          <p:cNvPr id="69" name="Text 67"/>
          <p:cNvSpPr txBox="1"/>
          <p:nvPr/>
        </p:nvSpPr>
        <p:spPr>
          <a:xfrm>
            <a:off x="10680192" y="217627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1.00</a:t>
            </a:r>
            <a:endParaRPr lang="en-US" sz="1050" dirty="0"/>
          </a:p>
        </p:txBody>
      </p:sp>
      <p:sp>
        <p:nvSpPr>
          <p:cNvPr id="70" name="Shape 68"/>
          <p:cNvSpPr/>
          <p:nvPr/>
        </p:nvSpPr>
        <p:spPr>
          <a:xfrm>
            <a:off x="6263640" y="2496312"/>
            <a:ext cx="3246120" cy="320040"/>
          </a:xfrm>
          <a:prstGeom prst="rect">
            <a:avLst/>
          </a:prstGeom>
          <a:solidFill>
            <a:srgbClr val="FFFFFF"/>
          </a:solidFill>
          <a:ln/>
        </p:spPr>
      </p:sp>
      <p:sp>
        <p:nvSpPr>
          <p:cNvPr id="71" name="Text 69"/>
          <p:cNvSpPr txBox="1"/>
          <p:nvPr/>
        </p:nvSpPr>
        <p:spPr>
          <a:xfrm>
            <a:off x="6336792" y="249631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10. PCAP — Capacidad programadores</a:t>
            </a:r>
            <a:endParaRPr lang="en-US" sz="1000" dirty="0"/>
          </a:p>
        </p:txBody>
      </p:sp>
      <p:sp>
        <p:nvSpPr>
          <p:cNvPr id="72" name="Shape 70"/>
          <p:cNvSpPr/>
          <p:nvPr/>
        </p:nvSpPr>
        <p:spPr>
          <a:xfrm>
            <a:off x="9509760" y="2496312"/>
            <a:ext cx="1097280" cy="320040"/>
          </a:xfrm>
          <a:prstGeom prst="rect">
            <a:avLst/>
          </a:prstGeom>
          <a:solidFill>
            <a:srgbClr val="FFFFFF"/>
          </a:solidFill>
          <a:ln/>
        </p:spPr>
      </p:sp>
      <p:sp>
        <p:nvSpPr>
          <p:cNvPr id="73" name="Text 71"/>
          <p:cNvSpPr txBox="1"/>
          <p:nvPr/>
        </p:nvSpPr>
        <p:spPr>
          <a:xfrm>
            <a:off x="9582912" y="249631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E08D80"/>
                </a:solidFill>
                <a:latin typeface="Calibri" pitchFamily="34" charset="0"/>
                <a:ea typeface="Calibri" pitchFamily="34" charset="-122"/>
                <a:cs typeface="Calibri" pitchFamily="34" charset="-120"/>
              </a:rPr>
              <a:t>Alto</a:t>
            </a:r>
            <a:endParaRPr lang="en-US" sz="1000" dirty="0"/>
          </a:p>
        </p:txBody>
      </p:sp>
      <p:sp>
        <p:nvSpPr>
          <p:cNvPr id="74" name="Shape 72"/>
          <p:cNvSpPr/>
          <p:nvPr/>
        </p:nvSpPr>
        <p:spPr>
          <a:xfrm>
            <a:off x="10607040" y="2496312"/>
            <a:ext cx="1005840" cy="320040"/>
          </a:xfrm>
          <a:prstGeom prst="rect">
            <a:avLst/>
          </a:prstGeom>
          <a:solidFill>
            <a:srgbClr val="FFFFFF"/>
          </a:solidFill>
          <a:ln/>
        </p:spPr>
      </p:sp>
      <p:sp>
        <p:nvSpPr>
          <p:cNvPr id="75" name="Text 73"/>
          <p:cNvSpPr txBox="1"/>
          <p:nvPr/>
        </p:nvSpPr>
        <p:spPr>
          <a:xfrm>
            <a:off x="10680192" y="249631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0.86</a:t>
            </a:r>
            <a:endParaRPr lang="en-US" sz="1050" dirty="0"/>
          </a:p>
        </p:txBody>
      </p:sp>
      <p:sp>
        <p:nvSpPr>
          <p:cNvPr id="76" name="Shape 74"/>
          <p:cNvSpPr/>
          <p:nvPr/>
        </p:nvSpPr>
        <p:spPr>
          <a:xfrm>
            <a:off x="6263640" y="2816352"/>
            <a:ext cx="3246120" cy="320040"/>
          </a:xfrm>
          <a:prstGeom prst="rect">
            <a:avLst/>
          </a:prstGeom>
          <a:solidFill>
            <a:srgbClr val="FDF3EE"/>
          </a:solidFill>
          <a:ln/>
        </p:spPr>
      </p:sp>
      <p:sp>
        <p:nvSpPr>
          <p:cNvPr id="77" name="Text 75"/>
          <p:cNvSpPr txBox="1"/>
          <p:nvPr/>
        </p:nvSpPr>
        <p:spPr>
          <a:xfrm>
            <a:off x="6336792" y="281635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11. VEXP — Experiencia en plataforma</a:t>
            </a:r>
            <a:endParaRPr lang="en-US" sz="1000" dirty="0"/>
          </a:p>
        </p:txBody>
      </p:sp>
      <p:sp>
        <p:nvSpPr>
          <p:cNvPr id="78" name="Shape 76"/>
          <p:cNvSpPr/>
          <p:nvPr/>
        </p:nvSpPr>
        <p:spPr>
          <a:xfrm>
            <a:off x="9509760" y="2816352"/>
            <a:ext cx="1097280" cy="320040"/>
          </a:xfrm>
          <a:prstGeom prst="rect">
            <a:avLst/>
          </a:prstGeom>
          <a:solidFill>
            <a:srgbClr val="FDF3EE"/>
          </a:solidFill>
          <a:ln/>
        </p:spPr>
      </p:sp>
      <p:sp>
        <p:nvSpPr>
          <p:cNvPr id="79" name="Text 77"/>
          <p:cNvSpPr txBox="1"/>
          <p:nvPr/>
        </p:nvSpPr>
        <p:spPr>
          <a:xfrm>
            <a:off x="9582912" y="281635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8A776D"/>
                </a:solidFill>
                <a:latin typeface="Calibri" pitchFamily="34" charset="0"/>
                <a:ea typeface="Calibri" pitchFamily="34" charset="-122"/>
                <a:cs typeface="Calibri" pitchFamily="34" charset="-120"/>
              </a:rPr>
              <a:t>Nominal</a:t>
            </a:r>
            <a:endParaRPr lang="en-US" sz="1000" dirty="0"/>
          </a:p>
        </p:txBody>
      </p:sp>
      <p:sp>
        <p:nvSpPr>
          <p:cNvPr id="80" name="Shape 78"/>
          <p:cNvSpPr/>
          <p:nvPr/>
        </p:nvSpPr>
        <p:spPr>
          <a:xfrm>
            <a:off x="10607040" y="2816352"/>
            <a:ext cx="1005840" cy="320040"/>
          </a:xfrm>
          <a:prstGeom prst="rect">
            <a:avLst/>
          </a:prstGeom>
          <a:solidFill>
            <a:srgbClr val="FDF3EE"/>
          </a:solidFill>
          <a:ln/>
        </p:spPr>
      </p:sp>
      <p:sp>
        <p:nvSpPr>
          <p:cNvPr id="81" name="Text 79"/>
          <p:cNvSpPr txBox="1"/>
          <p:nvPr/>
        </p:nvSpPr>
        <p:spPr>
          <a:xfrm>
            <a:off x="10680192" y="281635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1.00</a:t>
            </a:r>
            <a:endParaRPr lang="en-US" sz="1050" dirty="0"/>
          </a:p>
        </p:txBody>
      </p:sp>
      <p:sp>
        <p:nvSpPr>
          <p:cNvPr id="82" name="Shape 80"/>
          <p:cNvSpPr/>
          <p:nvPr/>
        </p:nvSpPr>
        <p:spPr>
          <a:xfrm>
            <a:off x="6263640" y="3136392"/>
            <a:ext cx="3246120" cy="320040"/>
          </a:xfrm>
          <a:prstGeom prst="rect">
            <a:avLst/>
          </a:prstGeom>
          <a:solidFill>
            <a:srgbClr val="FFFFFF"/>
          </a:solidFill>
          <a:ln/>
        </p:spPr>
      </p:sp>
      <p:sp>
        <p:nvSpPr>
          <p:cNvPr id="83" name="Text 81"/>
          <p:cNvSpPr txBox="1"/>
          <p:nvPr/>
        </p:nvSpPr>
        <p:spPr>
          <a:xfrm>
            <a:off x="6336792" y="313639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12. LEXP — Experiencia en lenguajes</a:t>
            </a:r>
            <a:endParaRPr lang="en-US" sz="1000" dirty="0"/>
          </a:p>
        </p:txBody>
      </p:sp>
      <p:sp>
        <p:nvSpPr>
          <p:cNvPr id="84" name="Shape 82"/>
          <p:cNvSpPr/>
          <p:nvPr/>
        </p:nvSpPr>
        <p:spPr>
          <a:xfrm>
            <a:off x="9509760" y="3136392"/>
            <a:ext cx="1097280" cy="320040"/>
          </a:xfrm>
          <a:prstGeom prst="rect">
            <a:avLst/>
          </a:prstGeom>
          <a:solidFill>
            <a:srgbClr val="FFFFFF"/>
          </a:solidFill>
          <a:ln/>
        </p:spPr>
      </p:sp>
      <p:sp>
        <p:nvSpPr>
          <p:cNvPr id="85" name="Text 83"/>
          <p:cNvSpPr txBox="1"/>
          <p:nvPr/>
        </p:nvSpPr>
        <p:spPr>
          <a:xfrm>
            <a:off x="9582912" y="313639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E08D80"/>
                </a:solidFill>
                <a:latin typeface="Calibri" pitchFamily="34" charset="0"/>
                <a:ea typeface="Calibri" pitchFamily="34" charset="-122"/>
                <a:cs typeface="Calibri" pitchFamily="34" charset="-120"/>
              </a:rPr>
              <a:t>Alto</a:t>
            </a:r>
            <a:endParaRPr lang="en-US" sz="1000" dirty="0"/>
          </a:p>
        </p:txBody>
      </p:sp>
      <p:sp>
        <p:nvSpPr>
          <p:cNvPr id="86" name="Shape 84"/>
          <p:cNvSpPr/>
          <p:nvPr/>
        </p:nvSpPr>
        <p:spPr>
          <a:xfrm>
            <a:off x="10607040" y="3136392"/>
            <a:ext cx="1005840" cy="320040"/>
          </a:xfrm>
          <a:prstGeom prst="rect">
            <a:avLst/>
          </a:prstGeom>
          <a:solidFill>
            <a:srgbClr val="FFFFFF"/>
          </a:solidFill>
          <a:ln/>
        </p:spPr>
      </p:sp>
      <p:sp>
        <p:nvSpPr>
          <p:cNvPr id="87" name="Text 85"/>
          <p:cNvSpPr txBox="1"/>
          <p:nvPr/>
        </p:nvSpPr>
        <p:spPr>
          <a:xfrm>
            <a:off x="10680192" y="313639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0.95</a:t>
            </a:r>
            <a:endParaRPr lang="en-US" sz="1050" dirty="0"/>
          </a:p>
        </p:txBody>
      </p:sp>
      <p:sp>
        <p:nvSpPr>
          <p:cNvPr id="88" name="Shape 86"/>
          <p:cNvSpPr/>
          <p:nvPr/>
        </p:nvSpPr>
        <p:spPr>
          <a:xfrm>
            <a:off x="6263640" y="3456432"/>
            <a:ext cx="3246120" cy="320040"/>
          </a:xfrm>
          <a:prstGeom prst="rect">
            <a:avLst/>
          </a:prstGeom>
          <a:solidFill>
            <a:srgbClr val="FDF3EE"/>
          </a:solidFill>
          <a:ln/>
        </p:spPr>
      </p:sp>
      <p:sp>
        <p:nvSpPr>
          <p:cNvPr id="89" name="Text 87"/>
          <p:cNvSpPr txBox="1"/>
          <p:nvPr/>
        </p:nvSpPr>
        <p:spPr>
          <a:xfrm>
            <a:off x="6336792" y="345643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13. MODP — Prácticas modernas prog.</a:t>
            </a:r>
            <a:endParaRPr lang="en-US" sz="1000" dirty="0"/>
          </a:p>
        </p:txBody>
      </p:sp>
      <p:sp>
        <p:nvSpPr>
          <p:cNvPr id="90" name="Shape 88"/>
          <p:cNvSpPr/>
          <p:nvPr/>
        </p:nvSpPr>
        <p:spPr>
          <a:xfrm>
            <a:off x="9509760" y="3456432"/>
            <a:ext cx="1097280" cy="320040"/>
          </a:xfrm>
          <a:prstGeom prst="rect">
            <a:avLst/>
          </a:prstGeom>
          <a:solidFill>
            <a:srgbClr val="FDF3EE"/>
          </a:solidFill>
          <a:ln/>
        </p:spPr>
      </p:sp>
      <p:sp>
        <p:nvSpPr>
          <p:cNvPr id="91" name="Text 89"/>
          <p:cNvSpPr txBox="1"/>
          <p:nvPr/>
        </p:nvSpPr>
        <p:spPr>
          <a:xfrm>
            <a:off x="9582912" y="345643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C97567"/>
                </a:solidFill>
                <a:latin typeface="Calibri" pitchFamily="34" charset="0"/>
                <a:ea typeface="Calibri" pitchFamily="34" charset="-122"/>
                <a:cs typeface="Calibri" pitchFamily="34" charset="-120"/>
              </a:rPr>
              <a:t>Muy Alto</a:t>
            </a:r>
            <a:endParaRPr lang="en-US" sz="1000" dirty="0"/>
          </a:p>
        </p:txBody>
      </p:sp>
      <p:sp>
        <p:nvSpPr>
          <p:cNvPr id="92" name="Shape 90"/>
          <p:cNvSpPr/>
          <p:nvPr/>
        </p:nvSpPr>
        <p:spPr>
          <a:xfrm>
            <a:off x="10607040" y="3456432"/>
            <a:ext cx="1005840" cy="320040"/>
          </a:xfrm>
          <a:prstGeom prst="rect">
            <a:avLst/>
          </a:prstGeom>
          <a:solidFill>
            <a:srgbClr val="FDF3EE"/>
          </a:solidFill>
          <a:ln/>
        </p:spPr>
      </p:sp>
      <p:sp>
        <p:nvSpPr>
          <p:cNvPr id="93" name="Text 91"/>
          <p:cNvSpPr txBox="1"/>
          <p:nvPr/>
        </p:nvSpPr>
        <p:spPr>
          <a:xfrm>
            <a:off x="10680192" y="345643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0.82</a:t>
            </a:r>
            <a:endParaRPr lang="en-US" sz="1050" dirty="0"/>
          </a:p>
        </p:txBody>
      </p:sp>
      <p:sp>
        <p:nvSpPr>
          <p:cNvPr id="94" name="Shape 92"/>
          <p:cNvSpPr/>
          <p:nvPr/>
        </p:nvSpPr>
        <p:spPr>
          <a:xfrm>
            <a:off x="6263640" y="3776472"/>
            <a:ext cx="3246120" cy="320040"/>
          </a:xfrm>
          <a:prstGeom prst="rect">
            <a:avLst/>
          </a:prstGeom>
          <a:solidFill>
            <a:srgbClr val="FFFFFF"/>
          </a:solidFill>
          <a:ln/>
        </p:spPr>
      </p:sp>
      <p:sp>
        <p:nvSpPr>
          <p:cNvPr id="95" name="Text 93"/>
          <p:cNvSpPr txBox="1"/>
          <p:nvPr/>
        </p:nvSpPr>
        <p:spPr>
          <a:xfrm>
            <a:off x="6336792" y="377647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14. TOOL — Herramientas de software</a:t>
            </a:r>
            <a:endParaRPr lang="en-US" sz="1000" dirty="0"/>
          </a:p>
        </p:txBody>
      </p:sp>
      <p:sp>
        <p:nvSpPr>
          <p:cNvPr id="96" name="Shape 94"/>
          <p:cNvSpPr/>
          <p:nvPr/>
        </p:nvSpPr>
        <p:spPr>
          <a:xfrm>
            <a:off x="9509760" y="3776472"/>
            <a:ext cx="1097280" cy="320040"/>
          </a:xfrm>
          <a:prstGeom prst="rect">
            <a:avLst/>
          </a:prstGeom>
          <a:solidFill>
            <a:srgbClr val="FFFFFF"/>
          </a:solidFill>
          <a:ln/>
        </p:spPr>
      </p:sp>
      <p:sp>
        <p:nvSpPr>
          <p:cNvPr id="97" name="Text 95"/>
          <p:cNvSpPr txBox="1"/>
          <p:nvPr/>
        </p:nvSpPr>
        <p:spPr>
          <a:xfrm>
            <a:off x="9582912" y="377647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E08D80"/>
                </a:solidFill>
                <a:latin typeface="Calibri" pitchFamily="34" charset="0"/>
                <a:ea typeface="Calibri" pitchFamily="34" charset="-122"/>
                <a:cs typeface="Calibri" pitchFamily="34" charset="-120"/>
              </a:rPr>
              <a:t>Alto</a:t>
            </a:r>
            <a:endParaRPr lang="en-US" sz="1000" dirty="0"/>
          </a:p>
        </p:txBody>
      </p:sp>
      <p:sp>
        <p:nvSpPr>
          <p:cNvPr id="98" name="Shape 96"/>
          <p:cNvSpPr/>
          <p:nvPr/>
        </p:nvSpPr>
        <p:spPr>
          <a:xfrm>
            <a:off x="10607040" y="3776472"/>
            <a:ext cx="1005840" cy="320040"/>
          </a:xfrm>
          <a:prstGeom prst="rect">
            <a:avLst/>
          </a:prstGeom>
          <a:solidFill>
            <a:srgbClr val="FFFFFF"/>
          </a:solidFill>
          <a:ln/>
        </p:spPr>
      </p:sp>
      <p:sp>
        <p:nvSpPr>
          <p:cNvPr id="99" name="Text 97"/>
          <p:cNvSpPr txBox="1"/>
          <p:nvPr/>
        </p:nvSpPr>
        <p:spPr>
          <a:xfrm>
            <a:off x="10680192" y="377647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0.91</a:t>
            </a:r>
            <a:endParaRPr lang="en-US" sz="1050" dirty="0"/>
          </a:p>
        </p:txBody>
      </p:sp>
      <p:sp>
        <p:nvSpPr>
          <p:cNvPr id="100" name="Shape 98"/>
          <p:cNvSpPr/>
          <p:nvPr/>
        </p:nvSpPr>
        <p:spPr>
          <a:xfrm>
            <a:off x="6263640" y="4096512"/>
            <a:ext cx="3246120" cy="320040"/>
          </a:xfrm>
          <a:prstGeom prst="rect">
            <a:avLst/>
          </a:prstGeom>
          <a:solidFill>
            <a:srgbClr val="FDF3EE"/>
          </a:solidFill>
          <a:ln/>
        </p:spPr>
      </p:sp>
      <p:sp>
        <p:nvSpPr>
          <p:cNvPr id="101" name="Text 99"/>
          <p:cNvSpPr txBox="1"/>
          <p:nvPr/>
        </p:nvSpPr>
        <p:spPr>
          <a:xfrm>
            <a:off x="6336792" y="4096512"/>
            <a:ext cx="3099816" cy="320040"/>
          </a:xfrm>
          <a:prstGeom prst="rect">
            <a:avLst/>
          </a:prstGeom>
          <a:noFill/>
          <a:ln/>
        </p:spPr>
        <p:txBody>
          <a:bodyPr wrap="square" lIns="0" tIns="0" rIns="0" bIns="0" rtlCol="0" anchor="ctr"/>
          <a:lstStyle/>
          <a:p>
            <a:pPr algn="l" indent="0" marL="0">
              <a:lnSpc>
                <a:spcPts val="1300"/>
              </a:lnSpc>
              <a:buNone/>
            </a:pPr>
            <a:r>
              <a:rPr lang="en-US" sz="1000" dirty="0">
                <a:solidFill>
                  <a:srgbClr val="5B4A41"/>
                </a:solidFill>
                <a:latin typeface="Calibri" pitchFamily="34" charset="0"/>
                <a:ea typeface="Calibri" pitchFamily="34" charset="-122"/>
                <a:cs typeface="Calibri" pitchFamily="34" charset="-120"/>
              </a:rPr>
              <a:t>15. SCED — Cronograma requerido</a:t>
            </a:r>
            <a:endParaRPr lang="en-US" sz="1000" dirty="0"/>
          </a:p>
        </p:txBody>
      </p:sp>
      <p:sp>
        <p:nvSpPr>
          <p:cNvPr id="102" name="Shape 100"/>
          <p:cNvSpPr/>
          <p:nvPr/>
        </p:nvSpPr>
        <p:spPr>
          <a:xfrm>
            <a:off x="9509760" y="4096512"/>
            <a:ext cx="1097280" cy="320040"/>
          </a:xfrm>
          <a:prstGeom prst="rect">
            <a:avLst/>
          </a:prstGeom>
          <a:solidFill>
            <a:srgbClr val="FDF3EE"/>
          </a:solidFill>
          <a:ln/>
        </p:spPr>
      </p:sp>
      <p:sp>
        <p:nvSpPr>
          <p:cNvPr id="103" name="Text 101"/>
          <p:cNvSpPr txBox="1"/>
          <p:nvPr/>
        </p:nvSpPr>
        <p:spPr>
          <a:xfrm>
            <a:off x="9582912" y="4096512"/>
            <a:ext cx="950976" cy="320040"/>
          </a:xfrm>
          <a:prstGeom prst="rect">
            <a:avLst/>
          </a:prstGeom>
          <a:noFill/>
          <a:ln/>
        </p:spPr>
        <p:txBody>
          <a:bodyPr wrap="square" lIns="0" tIns="0" rIns="0" bIns="0" rtlCol="0" anchor="ctr"/>
          <a:lstStyle/>
          <a:p>
            <a:pPr algn="ctr" indent="0" marL="0">
              <a:lnSpc>
                <a:spcPts val="1300"/>
              </a:lnSpc>
              <a:buNone/>
            </a:pPr>
            <a:r>
              <a:rPr lang="en-US" sz="1000" b="1" dirty="0">
                <a:solidFill>
                  <a:srgbClr val="8A776D"/>
                </a:solidFill>
                <a:latin typeface="Calibri" pitchFamily="34" charset="0"/>
                <a:ea typeface="Calibri" pitchFamily="34" charset="-122"/>
                <a:cs typeface="Calibri" pitchFamily="34" charset="-120"/>
              </a:rPr>
              <a:t>Nominal</a:t>
            </a:r>
            <a:endParaRPr lang="en-US" sz="1000" dirty="0"/>
          </a:p>
        </p:txBody>
      </p:sp>
      <p:sp>
        <p:nvSpPr>
          <p:cNvPr id="104" name="Shape 102"/>
          <p:cNvSpPr/>
          <p:nvPr/>
        </p:nvSpPr>
        <p:spPr>
          <a:xfrm>
            <a:off x="10607040" y="4096512"/>
            <a:ext cx="1005840" cy="320040"/>
          </a:xfrm>
          <a:prstGeom prst="rect">
            <a:avLst/>
          </a:prstGeom>
          <a:solidFill>
            <a:srgbClr val="FDF3EE"/>
          </a:solidFill>
          <a:ln/>
        </p:spPr>
      </p:sp>
      <p:sp>
        <p:nvSpPr>
          <p:cNvPr id="105" name="Text 103"/>
          <p:cNvSpPr txBox="1"/>
          <p:nvPr/>
        </p:nvSpPr>
        <p:spPr>
          <a:xfrm>
            <a:off x="10680192" y="4096512"/>
            <a:ext cx="859536" cy="320040"/>
          </a:xfrm>
          <a:prstGeom prst="rect">
            <a:avLst/>
          </a:prstGeom>
          <a:noFill/>
          <a:ln/>
        </p:spPr>
        <p:txBody>
          <a:bodyPr wrap="square" lIns="0" tIns="0" rIns="0" bIns="0" rtlCol="0" anchor="ctr"/>
          <a:lstStyle/>
          <a:p>
            <a:pPr algn="ctr" indent="0" marL="0">
              <a:lnSpc>
                <a:spcPts val="1350"/>
              </a:lnSpc>
              <a:buNone/>
            </a:pPr>
            <a:r>
              <a:rPr lang="en-US" sz="1050" b="1" dirty="0">
                <a:solidFill>
                  <a:srgbClr val="5B4A41"/>
                </a:solidFill>
                <a:latin typeface="Calibri" pitchFamily="34" charset="0"/>
                <a:ea typeface="Calibri" pitchFamily="34" charset="-122"/>
                <a:cs typeface="Calibri" pitchFamily="34" charset="-120"/>
              </a:rPr>
              <a:t>1.00</a:t>
            </a:r>
            <a:endParaRPr lang="en-US" sz="1050" dirty="0"/>
          </a:p>
        </p:txBody>
      </p:sp>
      <p:sp>
        <p:nvSpPr>
          <p:cNvPr id="106" name="Shape 104"/>
          <p:cNvSpPr/>
          <p:nvPr/>
        </p:nvSpPr>
        <p:spPr>
          <a:xfrm>
            <a:off x="548640" y="4581144"/>
            <a:ext cx="11091672" cy="1691640"/>
          </a:xfrm>
          <a:prstGeom prst="roundRect">
            <a:avLst>
              <a:gd name="adj" fmla="val 3784"/>
            </a:avLst>
          </a:prstGeom>
          <a:solidFill>
            <a:srgbClr val="FDF3EE"/>
          </a:solidFill>
          <a:ln w="12700"/>
        </p:spPr>
      </p:sp>
      <p:sp>
        <p:nvSpPr>
          <p:cNvPr id="107" name="Text 105"/>
          <p:cNvSpPr txBox="1"/>
          <p:nvPr/>
        </p:nvSpPr>
        <p:spPr>
          <a:xfrm>
            <a:off x="777240" y="4718304"/>
            <a:ext cx="10607040" cy="256032"/>
          </a:xfrm>
          <a:prstGeom prst="rect">
            <a:avLst/>
          </a:prstGeom>
          <a:noFill/>
          <a:ln/>
        </p:spPr>
        <p:txBody>
          <a:bodyPr wrap="square" lIns="0" tIns="0" rIns="0" bIns="0" rtlCol="0" anchor="ctr"/>
          <a:lstStyle/>
          <a:p>
            <a:pPr indent="0" marL="0">
              <a:buNone/>
            </a:pPr>
            <a:r>
              <a:rPr lang="en-US" sz="1050" b="1" spc="50" kern="0" dirty="0">
                <a:solidFill>
                  <a:srgbClr val="C97567"/>
                </a:solidFill>
                <a:latin typeface="Calibri" pitchFamily="34" charset="0"/>
                <a:ea typeface="Calibri" pitchFamily="34" charset="-122"/>
                <a:cs typeface="Calibri" pitchFamily="34" charset="-120"/>
              </a:rPr>
              <a:t>CÁLCULO DEL FACTOR DE AJUSTE (EAF) Y ESFUERZO REFINADO</a:t>
            </a:r>
            <a:endParaRPr lang="en-US" sz="1050" dirty="0"/>
          </a:p>
        </p:txBody>
      </p:sp>
      <p:sp>
        <p:nvSpPr>
          <p:cNvPr id="108" name="Text 106"/>
          <p:cNvSpPr txBox="1"/>
          <p:nvPr/>
        </p:nvSpPr>
        <p:spPr>
          <a:xfrm>
            <a:off x="777240" y="5001768"/>
            <a:ext cx="10607040" cy="274320"/>
          </a:xfrm>
          <a:prstGeom prst="rect">
            <a:avLst/>
          </a:prstGeom>
          <a:noFill/>
          <a:ln/>
        </p:spPr>
        <p:txBody>
          <a:bodyPr wrap="square" lIns="0" tIns="0" rIns="0" bIns="0" rtlCol="0" anchor="ctr"/>
          <a:lstStyle/>
          <a:p>
            <a:pPr indent="0" marL="0">
              <a:buNone/>
            </a:pPr>
            <a:r>
              <a:rPr lang="en-US" sz="1050" dirty="0">
                <a:solidFill>
                  <a:srgbClr val="4B3B33"/>
                </a:solidFill>
                <a:latin typeface="Consolas" pitchFamily="34" charset="0"/>
                <a:ea typeface="Consolas" pitchFamily="34" charset="-122"/>
                <a:cs typeface="Consolas" pitchFamily="34" charset="-120"/>
              </a:rPr>
              <a:t>EAF = 1.15 × 1.00 × 1.15 × 1.00 × 1.00 × 0.87 × 1.00 × 0.86 × 1.00 × 0.86 × 1.00 × 0.95 × 0.82 × 0.91 × 1.00 = 0.795</a:t>
            </a:r>
            <a:endParaRPr lang="en-US" sz="1050" dirty="0"/>
          </a:p>
        </p:txBody>
      </p:sp>
      <p:sp>
        <p:nvSpPr>
          <p:cNvPr id="109" name="Text 107"/>
          <p:cNvSpPr txBox="1"/>
          <p:nvPr/>
        </p:nvSpPr>
        <p:spPr>
          <a:xfrm>
            <a:off x="777240" y="5294376"/>
            <a:ext cx="10607040" cy="274320"/>
          </a:xfrm>
          <a:prstGeom prst="rect">
            <a:avLst/>
          </a:prstGeom>
          <a:noFill/>
          <a:ln/>
        </p:spPr>
        <p:txBody>
          <a:bodyPr wrap="square" lIns="0" tIns="0" rIns="0" bIns="0" rtlCol="0" anchor="ctr"/>
          <a:lstStyle/>
          <a:p>
            <a:pPr indent="0" marL="0">
              <a:buNone/>
            </a:pPr>
            <a:r>
              <a:rPr lang="en-US" sz="1050" dirty="0">
                <a:solidFill>
                  <a:srgbClr val="4B3B33"/>
                </a:solidFill>
                <a:latin typeface="Consolas" pitchFamily="34" charset="0"/>
                <a:ea typeface="Consolas" pitchFamily="34" charset="-122"/>
                <a:cs typeface="Consolas" pitchFamily="34" charset="-120"/>
              </a:rPr>
              <a:t>E_intermedio = EAF × E_básico = 0.795 × 97.53 PM = </a:t>
            </a:r>
            <a:pPr indent="0" marL="0">
              <a:buNone/>
            </a:pPr>
            <a:r>
              <a:rPr lang="en-US" sz="1050" b="1" dirty="0">
                <a:solidFill>
                  <a:srgbClr val="C97567"/>
                </a:solidFill>
                <a:latin typeface="Consolas" pitchFamily="34" charset="0"/>
                <a:ea typeface="Consolas" pitchFamily="34" charset="-122"/>
                <a:cs typeface="Consolas" pitchFamily="34" charset="-120"/>
              </a:rPr>
              <a:t>77.54 Personas-Mes</a:t>
            </a:r>
            <a:pPr indent="0" marL="0">
              <a:buNone/>
            </a:pPr>
            <a:r>
              <a:rPr lang="en-US" sz="1050" dirty="0">
                <a:solidFill>
                  <a:srgbClr val="4B3B33"/>
                </a:solidFill>
                <a:latin typeface="Consolas" pitchFamily="34" charset="0"/>
                <a:ea typeface="Consolas" pitchFamily="34" charset="-122"/>
                <a:cs typeface="Consolas" pitchFamily="34" charset="-120"/>
              </a:rPr>
              <a:t>  (ahorro del 20.5%)   |   TDEV = 2.5 × (77.54)^0.35 = </a:t>
            </a:r>
            <a:pPr indent="0" marL="0">
              <a:buNone/>
            </a:pPr>
            <a:r>
              <a:rPr lang="en-US" sz="1050" b="1" dirty="0">
                <a:solidFill>
                  <a:srgbClr val="C97567"/>
                </a:solidFill>
                <a:latin typeface="Consolas" pitchFamily="34" charset="0"/>
                <a:ea typeface="Consolas" pitchFamily="34" charset="-122"/>
                <a:cs typeface="Consolas" pitchFamily="34" charset="-120"/>
              </a:rPr>
              <a:t>4.59 meses ≈ 18.3 semanas</a:t>
            </a:r>
            <a:endParaRPr lang="en-US" sz="1050" dirty="0"/>
          </a:p>
        </p:txBody>
      </p:sp>
      <p:sp>
        <p:nvSpPr>
          <p:cNvPr id="110" name="Text 108"/>
          <p:cNvSpPr txBox="1"/>
          <p:nvPr/>
        </p:nvSpPr>
        <p:spPr>
          <a:xfrm>
            <a:off x="777240" y="5632704"/>
            <a:ext cx="10607040" cy="594360"/>
          </a:xfrm>
          <a:prstGeom prst="rect">
            <a:avLst/>
          </a:prstGeom>
          <a:noFill/>
          <a:ln/>
        </p:spPr>
        <p:txBody>
          <a:bodyPr wrap="square" lIns="0" tIns="0" rIns="0" bIns="0" rtlCol="0" anchor="ctr"/>
          <a:lstStyle/>
          <a:p>
            <a:pPr indent="0" marL="0">
              <a:lnSpc>
                <a:spcPts val="1300"/>
              </a:lnSpc>
              <a:buNone/>
            </a:pPr>
            <a:r>
              <a:rPr lang="en-US" sz="1000" b="1" dirty="0">
                <a:solidFill>
                  <a:srgbClr val="4B3B33"/>
                </a:solidFill>
                <a:latin typeface="Calibri" pitchFamily="34" charset="0"/>
                <a:ea typeface="Calibri" pitchFamily="34" charset="-122"/>
                <a:cs typeface="Calibri" pitchFamily="34" charset="-120"/>
              </a:rPr>
              <a:t>Conclusión:  </a:t>
            </a:r>
            <a:pPr indent="0" marL="0">
              <a:lnSpc>
                <a:spcPts val="1300"/>
              </a:lnSpc>
              <a:buNone/>
            </a:pPr>
            <a:r>
              <a:rPr lang="en-US" sz="1000" dirty="0">
                <a:solidFill>
                  <a:srgbClr val="5B4A41"/>
                </a:solidFill>
                <a:latin typeface="Calibri" pitchFamily="34" charset="0"/>
                <a:ea typeface="Calibri" pitchFamily="34" charset="-122"/>
                <a:cs typeface="Calibri" pitchFamily="34" charset="-120"/>
              </a:rPr>
              <a:t>las altas calificaciones en capital humano (ACAP=0.86, PCAP=0.86), prácticas modernas (MODP=0.82) y herramientas (TOOL=0.91) compensan la complejidad del Patrón Saga (CPLX=1.15) y los requisitos de dinero real (RELY=1.15), validando la entrega en 16 semanas.</a:t>
            </a:r>
            <a:endParaRPr lang="en-US" sz="1000" dirty="0"/>
          </a:p>
        </p:txBody>
      </p:sp>
      <p:sp>
        <p:nvSpPr>
          <p:cNvPr id="111" name="Text 109"/>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112" name="Text 110"/>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13. Estimación Presupuestal: Resumen del Presupuesto Integral</a:t>
            </a:r>
            <a:endParaRPr lang="en-US" sz="2500" dirty="0"/>
          </a:p>
        </p:txBody>
      </p:sp>
      <p:sp>
        <p:nvSpPr>
          <p:cNvPr id="4" name="Shape 2"/>
          <p:cNvSpPr/>
          <p:nvPr/>
        </p:nvSpPr>
        <p:spPr>
          <a:xfrm>
            <a:off x="548640" y="1691640"/>
            <a:ext cx="822960" cy="411480"/>
          </a:xfrm>
          <a:prstGeom prst="rect">
            <a:avLst/>
          </a:prstGeom>
          <a:solidFill>
            <a:srgbClr val="34241C"/>
          </a:solidFill>
          <a:ln/>
        </p:spPr>
      </p:sp>
      <p:sp>
        <p:nvSpPr>
          <p:cNvPr id="5" name="Text 3"/>
          <p:cNvSpPr txBox="1"/>
          <p:nvPr/>
        </p:nvSpPr>
        <p:spPr>
          <a:xfrm>
            <a:off x="640080" y="1691640"/>
            <a:ext cx="640080" cy="4114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WBS</a:t>
            </a:r>
            <a:endParaRPr lang="en-US" sz="950" dirty="0"/>
          </a:p>
        </p:txBody>
      </p:sp>
      <p:sp>
        <p:nvSpPr>
          <p:cNvPr id="6" name="Shape 4"/>
          <p:cNvSpPr/>
          <p:nvPr/>
        </p:nvSpPr>
        <p:spPr>
          <a:xfrm>
            <a:off x="1371600" y="1691640"/>
            <a:ext cx="2834640" cy="411480"/>
          </a:xfrm>
          <a:prstGeom prst="rect">
            <a:avLst/>
          </a:prstGeom>
          <a:solidFill>
            <a:srgbClr val="34241C"/>
          </a:solidFill>
          <a:ln/>
        </p:spPr>
      </p:sp>
      <p:sp>
        <p:nvSpPr>
          <p:cNvPr id="7" name="Text 5"/>
          <p:cNvSpPr txBox="1"/>
          <p:nvPr/>
        </p:nvSpPr>
        <p:spPr>
          <a:xfrm>
            <a:off x="1463040" y="1691640"/>
            <a:ext cx="2651760" cy="4114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CATEGORÍA DEL PRESUPUESTO</a:t>
            </a:r>
            <a:endParaRPr lang="en-US" sz="950" dirty="0"/>
          </a:p>
        </p:txBody>
      </p:sp>
      <p:sp>
        <p:nvSpPr>
          <p:cNvPr id="8" name="Shape 6"/>
          <p:cNvSpPr/>
          <p:nvPr/>
        </p:nvSpPr>
        <p:spPr>
          <a:xfrm>
            <a:off x="4206240" y="1691640"/>
            <a:ext cx="5148072" cy="411480"/>
          </a:xfrm>
          <a:prstGeom prst="rect">
            <a:avLst/>
          </a:prstGeom>
          <a:solidFill>
            <a:srgbClr val="34241C"/>
          </a:solidFill>
          <a:ln/>
        </p:spPr>
      </p:sp>
      <p:sp>
        <p:nvSpPr>
          <p:cNvPr id="9" name="Text 7"/>
          <p:cNvSpPr txBox="1"/>
          <p:nvPr/>
        </p:nvSpPr>
        <p:spPr>
          <a:xfrm>
            <a:off x="4297680" y="1691640"/>
            <a:ext cx="4965192" cy="4114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DESCRIPCIÓN DE PARTIDAS</a:t>
            </a:r>
            <a:endParaRPr lang="en-US" sz="950" dirty="0"/>
          </a:p>
        </p:txBody>
      </p:sp>
      <p:sp>
        <p:nvSpPr>
          <p:cNvPr id="10" name="Shape 8"/>
          <p:cNvSpPr/>
          <p:nvPr/>
        </p:nvSpPr>
        <p:spPr>
          <a:xfrm>
            <a:off x="9354312" y="1691640"/>
            <a:ext cx="2286000" cy="411480"/>
          </a:xfrm>
          <a:prstGeom prst="rect">
            <a:avLst/>
          </a:prstGeom>
          <a:solidFill>
            <a:srgbClr val="34241C"/>
          </a:solidFill>
          <a:ln/>
        </p:spPr>
      </p:sp>
      <p:sp>
        <p:nvSpPr>
          <p:cNvPr id="11" name="Text 9"/>
          <p:cNvSpPr txBox="1"/>
          <p:nvPr/>
        </p:nvSpPr>
        <p:spPr>
          <a:xfrm>
            <a:off x="9445752" y="1691640"/>
            <a:ext cx="2103120" cy="4114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MONTO TOTAL (MXN)</a:t>
            </a:r>
            <a:endParaRPr lang="en-US" sz="950" dirty="0"/>
          </a:p>
        </p:txBody>
      </p:sp>
      <p:sp>
        <p:nvSpPr>
          <p:cNvPr id="12" name="Shape 10"/>
          <p:cNvSpPr/>
          <p:nvPr/>
        </p:nvSpPr>
        <p:spPr>
          <a:xfrm>
            <a:off x="548640" y="2103120"/>
            <a:ext cx="822960" cy="594360"/>
          </a:xfrm>
          <a:prstGeom prst="rect">
            <a:avLst/>
          </a:prstGeom>
          <a:solidFill>
            <a:srgbClr val="FFFFFF"/>
          </a:solidFill>
          <a:ln/>
        </p:spPr>
      </p:sp>
      <p:sp>
        <p:nvSpPr>
          <p:cNvPr id="13" name="Text 11"/>
          <p:cNvSpPr txBox="1"/>
          <p:nvPr/>
        </p:nvSpPr>
        <p:spPr>
          <a:xfrm>
            <a:off x="685800" y="2103120"/>
            <a:ext cx="548640" cy="594360"/>
          </a:xfrm>
          <a:prstGeom prst="rect">
            <a:avLst/>
          </a:prstGeom>
          <a:noFill/>
          <a:ln/>
        </p:spPr>
        <p:txBody>
          <a:bodyPr wrap="square" lIns="0" tIns="0" rIns="0" bIns="0" rtlCol="0" anchor="ctr"/>
          <a:lstStyle/>
          <a:p>
            <a:pPr indent="0" marL="0">
              <a:lnSpc>
                <a:spcPts val="1400"/>
              </a:lnSpc>
              <a:buNone/>
            </a:pPr>
            <a:r>
              <a:rPr lang="en-US" sz="1100" b="1" dirty="0">
                <a:solidFill>
                  <a:srgbClr val="C97567"/>
                </a:solidFill>
                <a:latin typeface="Calibri" pitchFamily="34" charset="0"/>
                <a:ea typeface="Calibri" pitchFamily="34" charset="-122"/>
                <a:cs typeface="Calibri" pitchFamily="34" charset="-120"/>
              </a:rPr>
              <a:t>1.0</a:t>
            </a:r>
            <a:endParaRPr lang="en-US" sz="1100" dirty="0"/>
          </a:p>
        </p:txBody>
      </p:sp>
      <p:sp>
        <p:nvSpPr>
          <p:cNvPr id="14" name="Shape 12"/>
          <p:cNvSpPr/>
          <p:nvPr/>
        </p:nvSpPr>
        <p:spPr>
          <a:xfrm>
            <a:off x="1371600" y="2103120"/>
            <a:ext cx="2834640" cy="594360"/>
          </a:xfrm>
          <a:prstGeom prst="rect">
            <a:avLst/>
          </a:prstGeom>
          <a:solidFill>
            <a:srgbClr val="FFFFFF"/>
          </a:solidFill>
          <a:ln/>
        </p:spPr>
      </p:sp>
      <p:sp>
        <p:nvSpPr>
          <p:cNvPr id="15" name="Text 13"/>
          <p:cNvSpPr txBox="1"/>
          <p:nvPr/>
        </p:nvSpPr>
        <p:spPr>
          <a:xfrm>
            <a:off x="1508760" y="2103120"/>
            <a:ext cx="2560320" cy="594360"/>
          </a:xfrm>
          <a:prstGeom prst="rect">
            <a:avLst/>
          </a:prstGeom>
          <a:noFill/>
          <a:ln/>
        </p:spPr>
        <p:txBody>
          <a:bodyPr wrap="square" lIns="0" tIns="0" rIns="0" bIns="0" rtlCol="0" anchor="ctr"/>
          <a:lstStyle/>
          <a:p>
            <a:pPr indent="0" marL="0">
              <a:lnSpc>
                <a:spcPts val="1400"/>
              </a:lnSpc>
              <a:buNone/>
            </a:pPr>
            <a:r>
              <a:rPr lang="en-US" sz="1100" b="1" dirty="0">
                <a:solidFill>
                  <a:srgbClr val="4B3B33"/>
                </a:solidFill>
                <a:latin typeface="Calibri" pitchFamily="34" charset="0"/>
                <a:ea typeface="Calibri" pitchFamily="34" charset="-122"/>
                <a:cs typeface="Calibri" pitchFamily="34" charset="-120"/>
              </a:rPr>
              <a:t>Recursos Humanos (Labor)</a:t>
            </a:r>
            <a:endParaRPr lang="en-US" sz="1100" dirty="0"/>
          </a:p>
        </p:txBody>
      </p:sp>
      <p:sp>
        <p:nvSpPr>
          <p:cNvPr id="16" name="Shape 14"/>
          <p:cNvSpPr/>
          <p:nvPr/>
        </p:nvSpPr>
        <p:spPr>
          <a:xfrm>
            <a:off x="4206240" y="2103120"/>
            <a:ext cx="5148072" cy="594360"/>
          </a:xfrm>
          <a:prstGeom prst="rect">
            <a:avLst/>
          </a:prstGeom>
          <a:solidFill>
            <a:srgbClr val="FFFFFF"/>
          </a:solidFill>
          <a:ln/>
        </p:spPr>
      </p:sp>
      <p:sp>
        <p:nvSpPr>
          <p:cNvPr id="17" name="Text 15"/>
          <p:cNvSpPr txBox="1"/>
          <p:nvPr/>
        </p:nvSpPr>
        <p:spPr>
          <a:xfrm>
            <a:off x="4343400" y="2103120"/>
            <a:ext cx="4873752" cy="594360"/>
          </a:xfrm>
          <a:prstGeom prst="rect">
            <a:avLst/>
          </a:prstGeom>
          <a:noFill/>
          <a:ln/>
        </p:spPr>
        <p:txBody>
          <a:bodyPr wrap="square" lIns="0" tIns="0" rIns="0" bIns="0" rtlCol="0" anchor="ctr"/>
          <a:lstStyle/>
          <a:p>
            <a:pPr indent="0" marL="0">
              <a:lnSpc>
                <a:spcPts val="1350"/>
              </a:lnSpc>
              <a:buNone/>
            </a:pPr>
            <a:r>
              <a:rPr lang="en-US" sz="1050" dirty="0">
                <a:solidFill>
                  <a:srgbClr val="5B4A41"/>
                </a:solidFill>
                <a:latin typeface="Calibri" pitchFamily="34" charset="0"/>
                <a:ea typeface="Calibri" pitchFamily="34" charset="-122"/>
                <a:cs typeface="Calibri" pitchFamily="34" charset="-120"/>
              </a:rPr>
              <a:t>5 roles técnicos (Scrum Master, Arquitecto, Devs, QA) — 2,720 horas.</a:t>
            </a:r>
            <a:endParaRPr lang="en-US" sz="1050" dirty="0"/>
          </a:p>
        </p:txBody>
      </p:sp>
      <p:sp>
        <p:nvSpPr>
          <p:cNvPr id="18" name="Shape 16"/>
          <p:cNvSpPr/>
          <p:nvPr/>
        </p:nvSpPr>
        <p:spPr>
          <a:xfrm>
            <a:off x="9354312" y="2103120"/>
            <a:ext cx="2286000" cy="594360"/>
          </a:xfrm>
          <a:prstGeom prst="rect">
            <a:avLst/>
          </a:prstGeom>
          <a:solidFill>
            <a:srgbClr val="FFFFFF"/>
          </a:solidFill>
          <a:ln/>
        </p:spPr>
      </p:sp>
      <p:sp>
        <p:nvSpPr>
          <p:cNvPr id="19" name="Text 17"/>
          <p:cNvSpPr txBox="1"/>
          <p:nvPr/>
        </p:nvSpPr>
        <p:spPr>
          <a:xfrm>
            <a:off x="9491472" y="2103120"/>
            <a:ext cx="2011680" cy="594360"/>
          </a:xfrm>
          <a:prstGeom prst="rect">
            <a:avLst/>
          </a:prstGeom>
          <a:noFill/>
          <a:ln/>
        </p:spPr>
        <p:txBody>
          <a:bodyPr wrap="square" lIns="0" tIns="0" rIns="0" bIns="0" rtlCol="0" anchor="ctr"/>
          <a:lstStyle/>
          <a:p>
            <a:pPr indent="0" marL="0">
              <a:lnSpc>
                <a:spcPts val="1400"/>
              </a:lnSpc>
              <a:buNone/>
            </a:pPr>
            <a:r>
              <a:rPr lang="en-US" sz="1100" b="1" dirty="0">
                <a:solidFill>
                  <a:srgbClr val="4B3B33"/>
                </a:solidFill>
                <a:latin typeface="Calibri" pitchFamily="34" charset="0"/>
                <a:ea typeface="Calibri" pitchFamily="34" charset="-122"/>
                <a:cs typeface="Calibri" pitchFamily="34" charset="-120"/>
              </a:rPr>
              <a:t>$358,000.00 MXN</a:t>
            </a:r>
            <a:endParaRPr lang="en-US" sz="1100" dirty="0"/>
          </a:p>
        </p:txBody>
      </p:sp>
      <p:sp>
        <p:nvSpPr>
          <p:cNvPr id="20" name="Shape 18"/>
          <p:cNvSpPr/>
          <p:nvPr/>
        </p:nvSpPr>
        <p:spPr>
          <a:xfrm>
            <a:off x="548640" y="2697480"/>
            <a:ext cx="822960" cy="594360"/>
          </a:xfrm>
          <a:prstGeom prst="rect">
            <a:avLst/>
          </a:prstGeom>
          <a:solidFill>
            <a:srgbClr val="FDF3EE"/>
          </a:solidFill>
          <a:ln/>
        </p:spPr>
      </p:sp>
      <p:sp>
        <p:nvSpPr>
          <p:cNvPr id="21" name="Text 19"/>
          <p:cNvSpPr txBox="1"/>
          <p:nvPr/>
        </p:nvSpPr>
        <p:spPr>
          <a:xfrm>
            <a:off x="685800" y="2697480"/>
            <a:ext cx="548640" cy="594360"/>
          </a:xfrm>
          <a:prstGeom prst="rect">
            <a:avLst/>
          </a:prstGeom>
          <a:noFill/>
          <a:ln/>
        </p:spPr>
        <p:txBody>
          <a:bodyPr wrap="square" lIns="0" tIns="0" rIns="0" bIns="0" rtlCol="0" anchor="ctr"/>
          <a:lstStyle/>
          <a:p>
            <a:pPr indent="0" marL="0">
              <a:lnSpc>
                <a:spcPts val="1400"/>
              </a:lnSpc>
              <a:buNone/>
            </a:pPr>
            <a:r>
              <a:rPr lang="en-US" sz="1100" b="1" dirty="0">
                <a:solidFill>
                  <a:srgbClr val="C97567"/>
                </a:solidFill>
                <a:latin typeface="Calibri" pitchFamily="34" charset="0"/>
                <a:ea typeface="Calibri" pitchFamily="34" charset="-122"/>
                <a:cs typeface="Calibri" pitchFamily="34" charset="-120"/>
              </a:rPr>
              <a:t>2.0</a:t>
            </a:r>
            <a:endParaRPr lang="en-US" sz="1100" dirty="0"/>
          </a:p>
        </p:txBody>
      </p:sp>
      <p:sp>
        <p:nvSpPr>
          <p:cNvPr id="22" name="Shape 20"/>
          <p:cNvSpPr/>
          <p:nvPr/>
        </p:nvSpPr>
        <p:spPr>
          <a:xfrm>
            <a:off x="1371600" y="2697480"/>
            <a:ext cx="2834640" cy="594360"/>
          </a:xfrm>
          <a:prstGeom prst="rect">
            <a:avLst/>
          </a:prstGeom>
          <a:solidFill>
            <a:srgbClr val="FDF3EE"/>
          </a:solidFill>
          <a:ln/>
        </p:spPr>
      </p:sp>
      <p:sp>
        <p:nvSpPr>
          <p:cNvPr id="23" name="Text 21"/>
          <p:cNvSpPr txBox="1"/>
          <p:nvPr/>
        </p:nvSpPr>
        <p:spPr>
          <a:xfrm>
            <a:off x="1508760" y="2697480"/>
            <a:ext cx="2560320" cy="594360"/>
          </a:xfrm>
          <a:prstGeom prst="rect">
            <a:avLst/>
          </a:prstGeom>
          <a:noFill/>
          <a:ln/>
        </p:spPr>
        <p:txBody>
          <a:bodyPr wrap="square" lIns="0" tIns="0" rIns="0" bIns="0" rtlCol="0" anchor="ctr"/>
          <a:lstStyle/>
          <a:p>
            <a:pPr indent="0" marL="0">
              <a:lnSpc>
                <a:spcPts val="1400"/>
              </a:lnSpc>
              <a:buNone/>
            </a:pPr>
            <a:r>
              <a:rPr lang="en-US" sz="1100" b="1" dirty="0">
                <a:solidFill>
                  <a:srgbClr val="4B3B33"/>
                </a:solidFill>
                <a:latin typeface="Calibri" pitchFamily="34" charset="0"/>
                <a:ea typeface="Calibri" pitchFamily="34" charset="-122"/>
                <a:cs typeface="Calibri" pitchFamily="34" charset="-120"/>
              </a:rPr>
              <a:t>Recursos Materiales y Equipos</a:t>
            </a:r>
            <a:endParaRPr lang="en-US" sz="1100" dirty="0"/>
          </a:p>
        </p:txBody>
      </p:sp>
      <p:sp>
        <p:nvSpPr>
          <p:cNvPr id="24" name="Shape 22"/>
          <p:cNvSpPr/>
          <p:nvPr/>
        </p:nvSpPr>
        <p:spPr>
          <a:xfrm>
            <a:off x="4206240" y="2697480"/>
            <a:ext cx="5148072" cy="594360"/>
          </a:xfrm>
          <a:prstGeom prst="rect">
            <a:avLst/>
          </a:prstGeom>
          <a:solidFill>
            <a:srgbClr val="FDF3EE"/>
          </a:solidFill>
          <a:ln/>
        </p:spPr>
      </p:sp>
      <p:sp>
        <p:nvSpPr>
          <p:cNvPr id="25" name="Text 23"/>
          <p:cNvSpPr txBox="1"/>
          <p:nvPr/>
        </p:nvSpPr>
        <p:spPr>
          <a:xfrm>
            <a:off x="4343400" y="2697480"/>
            <a:ext cx="4873752" cy="594360"/>
          </a:xfrm>
          <a:prstGeom prst="rect">
            <a:avLst/>
          </a:prstGeom>
          <a:noFill/>
          <a:ln/>
        </p:spPr>
        <p:txBody>
          <a:bodyPr wrap="square" lIns="0" tIns="0" rIns="0" bIns="0" rtlCol="0" anchor="ctr"/>
          <a:lstStyle/>
          <a:p>
            <a:pPr indent="0" marL="0">
              <a:lnSpc>
                <a:spcPts val="1350"/>
              </a:lnSpc>
              <a:buNone/>
            </a:pPr>
            <a:r>
              <a:rPr lang="en-US" sz="1050" dirty="0">
                <a:solidFill>
                  <a:srgbClr val="5B4A41"/>
                </a:solidFill>
                <a:latin typeface="Calibri" pitchFamily="34" charset="0"/>
                <a:ea typeface="Calibri" pitchFamily="34" charset="-122"/>
                <a:cs typeface="Calibri" pitchFamily="34" charset="-120"/>
              </a:rPr>
              <a:t>Tablet mostrador POS 10.5", impresora térmica 80mm y lector QR 2D.</a:t>
            </a:r>
            <a:endParaRPr lang="en-US" sz="1050" dirty="0"/>
          </a:p>
        </p:txBody>
      </p:sp>
      <p:sp>
        <p:nvSpPr>
          <p:cNvPr id="26" name="Shape 24"/>
          <p:cNvSpPr/>
          <p:nvPr/>
        </p:nvSpPr>
        <p:spPr>
          <a:xfrm>
            <a:off x="9354312" y="2697480"/>
            <a:ext cx="2286000" cy="594360"/>
          </a:xfrm>
          <a:prstGeom prst="rect">
            <a:avLst/>
          </a:prstGeom>
          <a:solidFill>
            <a:srgbClr val="FDF3EE"/>
          </a:solidFill>
          <a:ln/>
        </p:spPr>
      </p:sp>
      <p:sp>
        <p:nvSpPr>
          <p:cNvPr id="27" name="Text 25"/>
          <p:cNvSpPr txBox="1"/>
          <p:nvPr/>
        </p:nvSpPr>
        <p:spPr>
          <a:xfrm>
            <a:off x="9491472" y="2697480"/>
            <a:ext cx="2011680" cy="594360"/>
          </a:xfrm>
          <a:prstGeom prst="rect">
            <a:avLst/>
          </a:prstGeom>
          <a:noFill/>
          <a:ln/>
        </p:spPr>
        <p:txBody>
          <a:bodyPr wrap="square" lIns="0" tIns="0" rIns="0" bIns="0" rtlCol="0" anchor="ctr"/>
          <a:lstStyle/>
          <a:p>
            <a:pPr indent="0" marL="0">
              <a:lnSpc>
                <a:spcPts val="1400"/>
              </a:lnSpc>
              <a:buNone/>
            </a:pPr>
            <a:r>
              <a:rPr lang="en-US" sz="1100" b="1" dirty="0">
                <a:solidFill>
                  <a:srgbClr val="4B3B33"/>
                </a:solidFill>
                <a:latin typeface="Calibri" pitchFamily="34" charset="0"/>
                <a:ea typeface="Calibri" pitchFamily="34" charset="-122"/>
                <a:cs typeface="Calibri" pitchFamily="34" charset="-120"/>
              </a:rPr>
              <a:t>$9,500.00 MXN</a:t>
            </a:r>
            <a:endParaRPr lang="en-US" sz="1100" dirty="0"/>
          </a:p>
        </p:txBody>
      </p:sp>
      <p:sp>
        <p:nvSpPr>
          <p:cNvPr id="28" name="Shape 26"/>
          <p:cNvSpPr/>
          <p:nvPr/>
        </p:nvSpPr>
        <p:spPr>
          <a:xfrm>
            <a:off x="548640" y="3291840"/>
            <a:ext cx="822960" cy="594360"/>
          </a:xfrm>
          <a:prstGeom prst="rect">
            <a:avLst/>
          </a:prstGeom>
          <a:solidFill>
            <a:srgbClr val="FFFFFF"/>
          </a:solidFill>
          <a:ln/>
        </p:spPr>
      </p:sp>
      <p:sp>
        <p:nvSpPr>
          <p:cNvPr id="29" name="Text 27"/>
          <p:cNvSpPr txBox="1"/>
          <p:nvPr/>
        </p:nvSpPr>
        <p:spPr>
          <a:xfrm>
            <a:off x="685800" y="3291840"/>
            <a:ext cx="548640" cy="594360"/>
          </a:xfrm>
          <a:prstGeom prst="rect">
            <a:avLst/>
          </a:prstGeom>
          <a:noFill/>
          <a:ln/>
        </p:spPr>
        <p:txBody>
          <a:bodyPr wrap="square" lIns="0" tIns="0" rIns="0" bIns="0" rtlCol="0" anchor="ctr"/>
          <a:lstStyle/>
          <a:p>
            <a:pPr indent="0" marL="0">
              <a:lnSpc>
                <a:spcPts val="1400"/>
              </a:lnSpc>
              <a:buNone/>
            </a:pPr>
            <a:r>
              <a:rPr lang="en-US" sz="1100" b="1" dirty="0">
                <a:solidFill>
                  <a:srgbClr val="C97567"/>
                </a:solidFill>
                <a:latin typeface="Calibri" pitchFamily="34" charset="0"/>
                <a:ea typeface="Calibri" pitchFamily="34" charset="-122"/>
                <a:cs typeface="Calibri" pitchFamily="34" charset="-120"/>
              </a:rPr>
              <a:t>3.0</a:t>
            </a:r>
            <a:endParaRPr lang="en-US" sz="1100" dirty="0"/>
          </a:p>
        </p:txBody>
      </p:sp>
      <p:sp>
        <p:nvSpPr>
          <p:cNvPr id="30" name="Shape 28"/>
          <p:cNvSpPr/>
          <p:nvPr/>
        </p:nvSpPr>
        <p:spPr>
          <a:xfrm>
            <a:off x="1371600" y="3291840"/>
            <a:ext cx="2834640" cy="594360"/>
          </a:xfrm>
          <a:prstGeom prst="rect">
            <a:avLst/>
          </a:prstGeom>
          <a:solidFill>
            <a:srgbClr val="FFFFFF"/>
          </a:solidFill>
          <a:ln/>
        </p:spPr>
      </p:sp>
      <p:sp>
        <p:nvSpPr>
          <p:cNvPr id="31" name="Text 29"/>
          <p:cNvSpPr txBox="1"/>
          <p:nvPr/>
        </p:nvSpPr>
        <p:spPr>
          <a:xfrm>
            <a:off x="1508760" y="3291840"/>
            <a:ext cx="2560320" cy="594360"/>
          </a:xfrm>
          <a:prstGeom prst="rect">
            <a:avLst/>
          </a:prstGeom>
          <a:noFill/>
          <a:ln/>
        </p:spPr>
        <p:txBody>
          <a:bodyPr wrap="square" lIns="0" tIns="0" rIns="0" bIns="0" rtlCol="0" anchor="ctr"/>
          <a:lstStyle/>
          <a:p>
            <a:pPr indent="0" marL="0">
              <a:lnSpc>
                <a:spcPts val="1400"/>
              </a:lnSpc>
              <a:buNone/>
            </a:pPr>
            <a:r>
              <a:rPr lang="en-US" sz="1100" b="1" dirty="0">
                <a:solidFill>
                  <a:srgbClr val="4B3B33"/>
                </a:solidFill>
                <a:latin typeface="Calibri" pitchFamily="34" charset="0"/>
                <a:ea typeface="Calibri" pitchFamily="34" charset="-122"/>
                <a:cs typeface="Calibri" pitchFamily="34" charset="-120"/>
              </a:rPr>
              <a:t>Servicios Cloud y Licenciamiento</a:t>
            </a:r>
            <a:endParaRPr lang="en-US" sz="1100" dirty="0"/>
          </a:p>
        </p:txBody>
      </p:sp>
      <p:sp>
        <p:nvSpPr>
          <p:cNvPr id="32" name="Shape 30"/>
          <p:cNvSpPr/>
          <p:nvPr/>
        </p:nvSpPr>
        <p:spPr>
          <a:xfrm>
            <a:off x="4206240" y="3291840"/>
            <a:ext cx="5148072" cy="594360"/>
          </a:xfrm>
          <a:prstGeom prst="rect">
            <a:avLst/>
          </a:prstGeom>
          <a:solidFill>
            <a:srgbClr val="FFFFFF"/>
          </a:solidFill>
          <a:ln/>
        </p:spPr>
      </p:sp>
      <p:sp>
        <p:nvSpPr>
          <p:cNvPr id="33" name="Text 31"/>
          <p:cNvSpPr txBox="1"/>
          <p:nvPr/>
        </p:nvSpPr>
        <p:spPr>
          <a:xfrm>
            <a:off x="4343400" y="3291840"/>
            <a:ext cx="4873752" cy="594360"/>
          </a:xfrm>
          <a:prstGeom prst="rect">
            <a:avLst/>
          </a:prstGeom>
          <a:noFill/>
          <a:ln/>
        </p:spPr>
        <p:txBody>
          <a:bodyPr wrap="square" lIns="0" tIns="0" rIns="0" bIns="0" rtlCol="0" anchor="ctr"/>
          <a:lstStyle/>
          <a:p>
            <a:pPr indent="0" marL="0">
              <a:lnSpc>
                <a:spcPts val="1350"/>
              </a:lnSpc>
              <a:buNone/>
            </a:pPr>
            <a:r>
              <a:rPr lang="en-US" sz="1050" dirty="0">
                <a:solidFill>
                  <a:srgbClr val="5B4A41"/>
                </a:solidFill>
                <a:latin typeface="Calibri" pitchFamily="34" charset="0"/>
                <a:ea typeface="Calibri" pitchFamily="34" charset="-122"/>
                <a:cs typeface="Calibri" pitchFamily="34" charset="-120"/>
              </a:rPr>
              <a:t>Google Cloud Platform (Cloud Run, SQL), RabbitMQ, dominio y GitHub.</a:t>
            </a:r>
            <a:endParaRPr lang="en-US" sz="1050" dirty="0"/>
          </a:p>
        </p:txBody>
      </p:sp>
      <p:sp>
        <p:nvSpPr>
          <p:cNvPr id="34" name="Shape 32"/>
          <p:cNvSpPr/>
          <p:nvPr/>
        </p:nvSpPr>
        <p:spPr>
          <a:xfrm>
            <a:off x="9354312" y="3291840"/>
            <a:ext cx="2286000" cy="594360"/>
          </a:xfrm>
          <a:prstGeom prst="rect">
            <a:avLst/>
          </a:prstGeom>
          <a:solidFill>
            <a:srgbClr val="FFFFFF"/>
          </a:solidFill>
          <a:ln/>
        </p:spPr>
      </p:sp>
      <p:sp>
        <p:nvSpPr>
          <p:cNvPr id="35" name="Text 33"/>
          <p:cNvSpPr txBox="1"/>
          <p:nvPr/>
        </p:nvSpPr>
        <p:spPr>
          <a:xfrm>
            <a:off x="9491472" y="3291840"/>
            <a:ext cx="2011680" cy="594360"/>
          </a:xfrm>
          <a:prstGeom prst="rect">
            <a:avLst/>
          </a:prstGeom>
          <a:noFill/>
          <a:ln/>
        </p:spPr>
        <p:txBody>
          <a:bodyPr wrap="square" lIns="0" tIns="0" rIns="0" bIns="0" rtlCol="0" anchor="ctr"/>
          <a:lstStyle/>
          <a:p>
            <a:pPr indent="0" marL="0">
              <a:lnSpc>
                <a:spcPts val="1400"/>
              </a:lnSpc>
              <a:buNone/>
            </a:pPr>
            <a:r>
              <a:rPr lang="en-US" sz="1100" b="1" dirty="0">
                <a:solidFill>
                  <a:srgbClr val="4B3B33"/>
                </a:solidFill>
                <a:latin typeface="Calibri" pitchFamily="34" charset="0"/>
                <a:ea typeface="Calibri" pitchFamily="34" charset="-122"/>
                <a:cs typeface="Calibri" pitchFamily="34" charset="-120"/>
              </a:rPr>
              <a:t>$12,750.00 MXN</a:t>
            </a:r>
            <a:endParaRPr lang="en-US" sz="1100" dirty="0"/>
          </a:p>
        </p:txBody>
      </p:sp>
      <p:sp>
        <p:nvSpPr>
          <p:cNvPr id="36" name="Shape 34"/>
          <p:cNvSpPr/>
          <p:nvPr/>
        </p:nvSpPr>
        <p:spPr>
          <a:xfrm>
            <a:off x="548640" y="3886200"/>
            <a:ext cx="822960" cy="594360"/>
          </a:xfrm>
          <a:prstGeom prst="rect">
            <a:avLst/>
          </a:prstGeom>
          <a:solidFill>
            <a:srgbClr val="FDF3EE"/>
          </a:solidFill>
          <a:ln/>
        </p:spPr>
      </p:sp>
      <p:sp>
        <p:nvSpPr>
          <p:cNvPr id="37" name="Text 35"/>
          <p:cNvSpPr txBox="1"/>
          <p:nvPr/>
        </p:nvSpPr>
        <p:spPr>
          <a:xfrm>
            <a:off x="685800" y="3886200"/>
            <a:ext cx="548640" cy="594360"/>
          </a:xfrm>
          <a:prstGeom prst="rect">
            <a:avLst/>
          </a:prstGeom>
          <a:noFill/>
          <a:ln/>
        </p:spPr>
        <p:txBody>
          <a:bodyPr wrap="square" lIns="0" tIns="0" rIns="0" bIns="0" rtlCol="0" anchor="ctr"/>
          <a:lstStyle/>
          <a:p>
            <a:pPr indent="0" marL="0">
              <a:lnSpc>
                <a:spcPts val="1400"/>
              </a:lnSpc>
              <a:buNone/>
            </a:pPr>
            <a:r>
              <a:rPr lang="en-US" sz="1100" b="1" dirty="0">
                <a:solidFill>
                  <a:srgbClr val="C97567"/>
                </a:solidFill>
                <a:latin typeface="Calibri" pitchFamily="34" charset="0"/>
                <a:ea typeface="Calibri" pitchFamily="34" charset="-122"/>
                <a:cs typeface="Calibri" pitchFamily="34" charset="-120"/>
              </a:rPr>
              <a:t>4.0</a:t>
            </a:r>
            <a:endParaRPr lang="en-US" sz="1100" dirty="0"/>
          </a:p>
        </p:txBody>
      </p:sp>
      <p:sp>
        <p:nvSpPr>
          <p:cNvPr id="38" name="Shape 36"/>
          <p:cNvSpPr/>
          <p:nvPr/>
        </p:nvSpPr>
        <p:spPr>
          <a:xfrm>
            <a:off x="1371600" y="3886200"/>
            <a:ext cx="2834640" cy="594360"/>
          </a:xfrm>
          <a:prstGeom prst="rect">
            <a:avLst/>
          </a:prstGeom>
          <a:solidFill>
            <a:srgbClr val="FDF3EE"/>
          </a:solidFill>
          <a:ln/>
        </p:spPr>
      </p:sp>
      <p:sp>
        <p:nvSpPr>
          <p:cNvPr id="39" name="Text 37"/>
          <p:cNvSpPr txBox="1"/>
          <p:nvPr/>
        </p:nvSpPr>
        <p:spPr>
          <a:xfrm>
            <a:off x="1508760" y="3886200"/>
            <a:ext cx="2560320" cy="594360"/>
          </a:xfrm>
          <a:prstGeom prst="rect">
            <a:avLst/>
          </a:prstGeom>
          <a:noFill/>
          <a:ln/>
        </p:spPr>
        <p:txBody>
          <a:bodyPr wrap="square" lIns="0" tIns="0" rIns="0" bIns="0" rtlCol="0" anchor="ctr"/>
          <a:lstStyle/>
          <a:p>
            <a:pPr indent="0" marL="0">
              <a:lnSpc>
                <a:spcPts val="1400"/>
              </a:lnSpc>
              <a:buNone/>
            </a:pPr>
            <a:r>
              <a:rPr lang="en-US" sz="1100" b="1" dirty="0">
                <a:solidFill>
                  <a:srgbClr val="4B3B33"/>
                </a:solidFill>
                <a:latin typeface="Calibri" pitchFamily="34" charset="0"/>
                <a:ea typeface="Calibri" pitchFamily="34" charset="-122"/>
                <a:cs typeface="Calibri" pitchFamily="34" charset="-120"/>
              </a:rPr>
              <a:t>Fondo de Contingencia y Riesgos</a:t>
            </a:r>
            <a:endParaRPr lang="en-US" sz="1100" dirty="0"/>
          </a:p>
        </p:txBody>
      </p:sp>
      <p:sp>
        <p:nvSpPr>
          <p:cNvPr id="40" name="Shape 38"/>
          <p:cNvSpPr/>
          <p:nvPr/>
        </p:nvSpPr>
        <p:spPr>
          <a:xfrm>
            <a:off x="4206240" y="3886200"/>
            <a:ext cx="5148072" cy="594360"/>
          </a:xfrm>
          <a:prstGeom prst="rect">
            <a:avLst/>
          </a:prstGeom>
          <a:solidFill>
            <a:srgbClr val="FDF3EE"/>
          </a:solidFill>
          <a:ln/>
        </p:spPr>
      </p:sp>
      <p:sp>
        <p:nvSpPr>
          <p:cNvPr id="41" name="Text 39"/>
          <p:cNvSpPr txBox="1"/>
          <p:nvPr/>
        </p:nvSpPr>
        <p:spPr>
          <a:xfrm>
            <a:off x="4343400" y="3886200"/>
            <a:ext cx="4873752" cy="594360"/>
          </a:xfrm>
          <a:prstGeom prst="rect">
            <a:avLst/>
          </a:prstGeom>
          <a:noFill/>
          <a:ln/>
        </p:spPr>
        <p:txBody>
          <a:bodyPr wrap="square" lIns="0" tIns="0" rIns="0" bIns="0" rtlCol="0" anchor="ctr"/>
          <a:lstStyle/>
          <a:p>
            <a:pPr indent="0" marL="0">
              <a:lnSpc>
                <a:spcPts val="1350"/>
              </a:lnSpc>
              <a:buNone/>
            </a:pPr>
            <a:r>
              <a:rPr lang="en-US" sz="1050" dirty="0">
                <a:solidFill>
                  <a:srgbClr val="5B4A41"/>
                </a:solidFill>
                <a:latin typeface="Calibri" pitchFamily="34" charset="0"/>
                <a:ea typeface="Calibri" pitchFamily="34" charset="-122"/>
                <a:cs typeface="Calibri" pitchFamily="34" charset="-120"/>
              </a:rPr>
              <a:t>Reserva preventiva calculada al 10% de los costos directos.</a:t>
            </a:r>
            <a:endParaRPr lang="en-US" sz="1050" dirty="0"/>
          </a:p>
        </p:txBody>
      </p:sp>
      <p:sp>
        <p:nvSpPr>
          <p:cNvPr id="42" name="Shape 40"/>
          <p:cNvSpPr/>
          <p:nvPr/>
        </p:nvSpPr>
        <p:spPr>
          <a:xfrm>
            <a:off x="9354312" y="3886200"/>
            <a:ext cx="2286000" cy="594360"/>
          </a:xfrm>
          <a:prstGeom prst="rect">
            <a:avLst/>
          </a:prstGeom>
          <a:solidFill>
            <a:srgbClr val="FDF3EE"/>
          </a:solidFill>
          <a:ln/>
        </p:spPr>
      </p:sp>
      <p:sp>
        <p:nvSpPr>
          <p:cNvPr id="43" name="Text 41"/>
          <p:cNvSpPr txBox="1"/>
          <p:nvPr/>
        </p:nvSpPr>
        <p:spPr>
          <a:xfrm>
            <a:off x="9491472" y="3886200"/>
            <a:ext cx="2011680" cy="594360"/>
          </a:xfrm>
          <a:prstGeom prst="rect">
            <a:avLst/>
          </a:prstGeom>
          <a:noFill/>
          <a:ln/>
        </p:spPr>
        <p:txBody>
          <a:bodyPr wrap="square" lIns="0" tIns="0" rIns="0" bIns="0" rtlCol="0" anchor="ctr"/>
          <a:lstStyle/>
          <a:p>
            <a:pPr indent="0" marL="0">
              <a:lnSpc>
                <a:spcPts val="1400"/>
              </a:lnSpc>
              <a:buNone/>
            </a:pPr>
            <a:r>
              <a:rPr lang="en-US" sz="1100" b="1" dirty="0">
                <a:solidFill>
                  <a:srgbClr val="4B3B33"/>
                </a:solidFill>
                <a:latin typeface="Calibri" pitchFamily="34" charset="0"/>
                <a:ea typeface="Calibri" pitchFamily="34" charset="-122"/>
                <a:cs typeface="Calibri" pitchFamily="34" charset="-120"/>
              </a:rPr>
              <a:t>$38,025.00 MXN</a:t>
            </a:r>
            <a:endParaRPr lang="en-US" sz="1100" dirty="0"/>
          </a:p>
        </p:txBody>
      </p:sp>
      <p:sp>
        <p:nvSpPr>
          <p:cNvPr id="44" name="Shape 42"/>
          <p:cNvSpPr/>
          <p:nvPr/>
        </p:nvSpPr>
        <p:spPr>
          <a:xfrm>
            <a:off x="548640" y="4480560"/>
            <a:ext cx="822960" cy="685800"/>
          </a:xfrm>
          <a:prstGeom prst="rect">
            <a:avLst/>
          </a:prstGeom>
          <a:solidFill>
            <a:srgbClr val="C97567"/>
          </a:solidFill>
          <a:ln/>
        </p:spPr>
      </p:sp>
      <p:sp>
        <p:nvSpPr>
          <p:cNvPr id="45" name="Text 43"/>
          <p:cNvSpPr txBox="1"/>
          <p:nvPr/>
        </p:nvSpPr>
        <p:spPr>
          <a:xfrm>
            <a:off x="685800" y="4480560"/>
            <a:ext cx="548640" cy="685800"/>
          </a:xfrm>
          <a:prstGeom prst="rect">
            <a:avLst/>
          </a:prstGeom>
          <a:noFill/>
          <a:ln/>
        </p:spPr>
        <p:txBody>
          <a:bodyPr wrap="square" lIns="0" tIns="0" rIns="0" bIns="0" rtlCol="0" anchor="ctr"/>
          <a:lstStyle/>
          <a:p>
            <a:pPr indent="0" marL="0">
              <a:lnSpc>
                <a:spcPts val="1500"/>
              </a:lnSpc>
              <a:buNone/>
            </a:pPr>
            <a:r>
              <a:rPr lang="en-US" sz="1200" b="1" dirty="0">
                <a:solidFill>
                  <a:srgbClr val="FFFFFF"/>
                </a:solidFill>
                <a:latin typeface="Calibri" pitchFamily="34" charset="0"/>
                <a:ea typeface="Calibri" pitchFamily="34" charset="-122"/>
                <a:cs typeface="Calibri" pitchFamily="34" charset="-120"/>
              </a:rPr>
              <a:t>TOTAL</a:t>
            </a:r>
            <a:endParaRPr lang="en-US" sz="1200" dirty="0"/>
          </a:p>
        </p:txBody>
      </p:sp>
      <p:sp>
        <p:nvSpPr>
          <p:cNvPr id="46" name="Shape 44"/>
          <p:cNvSpPr/>
          <p:nvPr/>
        </p:nvSpPr>
        <p:spPr>
          <a:xfrm>
            <a:off x="1371600" y="4480560"/>
            <a:ext cx="2834640" cy="685800"/>
          </a:xfrm>
          <a:prstGeom prst="rect">
            <a:avLst/>
          </a:prstGeom>
          <a:solidFill>
            <a:srgbClr val="C97567"/>
          </a:solidFill>
          <a:ln/>
        </p:spPr>
      </p:sp>
      <p:sp>
        <p:nvSpPr>
          <p:cNvPr id="47" name="Text 45"/>
          <p:cNvSpPr txBox="1"/>
          <p:nvPr/>
        </p:nvSpPr>
        <p:spPr>
          <a:xfrm>
            <a:off x="1508760" y="4480560"/>
            <a:ext cx="2560320" cy="685800"/>
          </a:xfrm>
          <a:prstGeom prst="rect">
            <a:avLst/>
          </a:prstGeom>
          <a:noFill/>
          <a:ln/>
        </p:spPr>
        <p:txBody>
          <a:bodyPr wrap="square" lIns="0" tIns="0" rIns="0" bIns="0" rtlCol="0" anchor="ctr"/>
          <a:lstStyle/>
          <a:p>
            <a:pPr indent="0" marL="0">
              <a:lnSpc>
                <a:spcPts val="1500"/>
              </a:lnSpc>
              <a:buNone/>
            </a:pPr>
            <a:r>
              <a:rPr lang="en-US" sz="1200" b="1" dirty="0">
                <a:solidFill>
                  <a:srgbClr val="FFFFFF"/>
                </a:solidFill>
                <a:latin typeface="Calibri" pitchFamily="34" charset="0"/>
                <a:ea typeface="Calibri" pitchFamily="34" charset="-122"/>
                <a:cs typeface="Calibri" pitchFamily="34" charset="-120"/>
              </a:rPr>
              <a:t>PRESUPUESTO TOTAL DEL PROYECTO</a:t>
            </a:r>
            <a:endParaRPr lang="en-US" sz="1200" dirty="0"/>
          </a:p>
        </p:txBody>
      </p:sp>
      <p:sp>
        <p:nvSpPr>
          <p:cNvPr id="48" name="Shape 46"/>
          <p:cNvSpPr/>
          <p:nvPr/>
        </p:nvSpPr>
        <p:spPr>
          <a:xfrm>
            <a:off x="4206240" y="4480560"/>
            <a:ext cx="5148072" cy="685800"/>
          </a:xfrm>
          <a:prstGeom prst="rect">
            <a:avLst/>
          </a:prstGeom>
          <a:solidFill>
            <a:srgbClr val="C97567"/>
          </a:solidFill>
          <a:ln/>
        </p:spPr>
      </p:sp>
      <p:sp>
        <p:nvSpPr>
          <p:cNvPr id="49" name="Text 47"/>
          <p:cNvSpPr txBox="1"/>
          <p:nvPr/>
        </p:nvSpPr>
        <p:spPr>
          <a:xfrm>
            <a:off x="4343400" y="4480560"/>
            <a:ext cx="4873752" cy="685800"/>
          </a:xfrm>
          <a:prstGeom prst="rect">
            <a:avLst/>
          </a:prstGeom>
          <a:noFill/>
          <a:ln/>
        </p:spPr>
        <p:txBody>
          <a:bodyPr wrap="square" lIns="0" tIns="0" rIns="0" bIns="0" rtlCol="0" anchor="ctr"/>
          <a:lstStyle/>
          <a:p>
            <a:pPr indent="0" marL="0">
              <a:lnSpc>
                <a:spcPts val="1350"/>
              </a:lnSpc>
              <a:buNone/>
            </a:pPr>
            <a:r>
              <a:rPr lang="en-US" sz="1050" dirty="0">
                <a:solidFill>
                  <a:srgbClr val="E8DCD4"/>
                </a:solidFill>
                <a:latin typeface="Calibri" pitchFamily="34" charset="0"/>
                <a:ea typeface="Calibri" pitchFamily="34" charset="-122"/>
                <a:cs typeface="Calibri" pitchFamily="34" charset="-120"/>
              </a:rPr>
              <a:t>Inversión integral calculada a 16 semanas (4 meses).</a:t>
            </a:r>
            <a:endParaRPr lang="en-US" sz="1050" dirty="0"/>
          </a:p>
        </p:txBody>
      </p:sp>
      <p:sp>
        <p:nvSpPr>
          <p:cNvPr id="50" name="Shape 48"/>
          <p:cNvSpPr/>
          <p:nvPr/>
        </p:nvSpPr>
        <p:spPr>
          <a:xfrm>
            <a:off x="9354312" y="4480560"/>
            <a:ext cx="2286000" cy="685800"/>
          </a:xfrm>
          <a:prstGeom prst="rect">
            <a:avLst/>
          </a:prstGeom>
          <a:solidFill>
            <a:srgbClr val="C97567"/>
          </a:solidFill>
          <a:ln/>
        </p:spPr>
      </p:sp>
      <p:sp>
        <p:nvSpPr>
          <p:cNvPr id="51" name="Text 49"/>
          <p:cNvSpPr txBox="1"/>
          <p:nvPr/>
        </p:nvSpPr>
        <p:spPr>
          <a:xfrm>
            <a:off x="9491472" y="4480560"/>
            <a:ext cx="2011680" cy="685800"/>
          </a:xfrm>
          <a:prstGeom prst="rect">
            <a:avLst/>
          </a:prstGeom>
          <a:noFill/>
          <a:ln/>
        </p:spPr>
        <p:txBody>
          <a:bodyPr wrap="square" lIns="0" tIns="0" rIns="0" bIns="0" rtlCol="0" anchor="ctr"/>
          <a:lstStyle/>
          <a:p>
            <a:pPr indent="0" marL="0">
              <a:lnSpc>
                <a:spcPts val="1600"/>
              </a:lnSpc>
              <a:buNone/>
            </a:pPr>
            <a:r>
              <a:rPr lang="en-US" sz="1300" b="1" dirty="0">
                <a:solidFill>
                  <a:srgbClr val="FBEDE8"/>
                </a:solidFill>
                <a:latin typeface="Calibri" pitchFamily="34" charset="0"/>
                <a:ea typeface="Calibri" pitchFamily="34" charset="-122"/>
                <a:cs typeface="Calibri" pitchFamily="34" charset="-120"/>
              </a:rPr>
              <a:t>$418,275.00 MXN</a:t>
            </a:r>
            <a:endParaRPr lang="en-US" sz="1300" dirty="0"/>
          </a:p>
        </p:txBody>
      </p:sp>
      <p:sp>
        <p:nvSpPr>
          <p:cNvPr id="52" name="Text 50"/>
          <p:cNvSpPr txBox="1"/>
          <p:nvPr/>
        </p:nvSpPr>
        <p:spPr>
          <a:xfrm>
            <a:off x="548640" y="5330952"/>
            <a:ext cx="11091672" cy="274320"/>
          </a:xfrm>
          <a:prstGeom prst="rect">
            <a:avLst/>
          </a:prstGeom>
          <a:noFill/>
          <a:ln/>
        </p:spPr>
        <p:txBody>
          <a:bodyPr wrap="square" lIns="0" tIns="0" rIns="0" bIns="0" rtlCol="0" anchor="ctr"/>
          <a:lstStyle/>
          <a:p>
            <a:pPr indent="0" marL="0">
              <a:lnSpc>
                <a:spcPts val="1200"/>
              </a:lnSpc>
              <a:buNone/>
            </a:pPr>
            <a:r>
              <a:rPr lang="en-US" sz="950" i="1" dirty="0">
                <a:solidFill>
                  <a:srgbClr val="8A776D"/>
                </a:solidFill>
                <a:latin typeface="Calibri" pitchFamily="34" charset="0"/>
                <a:ea typeface="Calibri" pitchFamily="34" charset="-122"/>
                <a:cs typeface="Calibri" pitchFamily="34" charset="-120"/>
              </a:rPr>
              <a:t>Nota: el desglose detallado con tarifas horarias y fórmulas automáticas se encuentra formalizado en la plantilla oficial de Smartsheet (Presupuesto_Monchis_Cafe.xlsx).</a:t>
            </a:r>
            <a:endParaRPr lang="en-US" sz="950" dirty="0"/>
          </a:p>
        </p:txBody>
      </p:sp>
      <p:sp>
        <p:nvSpPr>
          <p:cNvPr id="53" name="Shape 51"/>
          <p:cNvSpPr/>
          <p:nvPr/>
        </p:nvSpPr>
        <p:spPr>
          <a:xfrm>
            <a:off x="548640" y="5715000"/>
            <a:ext cx="9494471" cy="365760"/>
          </a:xfrm>
          <a:prstGeom prst="rect">
            <a:avLst/>
          </a:prstGeom>
          <a:solidFill>
            <a:srgbClr val="C97567"/>
          </a:solidFill>
          <a:ln/>
        </p:spPr>
      </p:sp>
      <p:sp>
        <p:nvSpPr>
          <p:cNvPr id="54" name="Text 52"/>
          <p:cNvSpPr txBox="1"/>
          <p:nvPr/>
        </p:nvSpPr>
        <p:spPr>
          <a:xfrm>
            <a:off x="548640" y="5715000"/>
            <a:ext cx="9494471"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85.6%</a:t>
            </a:r>
            <a:endParaRPr lang="en-US" sz="950" dirty="0"/>
          </a:p>
        </p:txBody>
      </p:sp>
      <p:sp>
        <p:nvSpPr>
          <p:cNvPr id="55" name="Shape 53"/>
          <p:cNvSpPr/>
          <p:nvPr/>
        </p:nvSpPr>
        <p:spPr>
          <a:xfrm>
            <a:off x="10043111" y="5715000"/>
            <a:ext cx="255108" cy="365760"/>
          </a:xfrm>
          <a:prstGeom prst="rect">
            <a:avLst/>
          </a:prstGeom>
          <a:solidFill>
            <a:srgbClr val="7C9473"/>
          </a:solidFill>
          <a:ln/>
        </p:spPr>
      </p:sp>
      <p:sp>
        <p:nvSpPr>
          <p:cNvPr id="56" name="Shape 54"/>
          <p:cNvSpPr/>
          <p:nvPr/>
        </p:nvSpPr>
        <p:spPr>
          <a:xfrm>
            <a:off x="10298220" y="5715000"/>
            <a:ext cx="332750" cy="365760"/>
          </a:xfrm>
          <a:prstGeom prst="rect">
            <a:avLst/>
          </a:prstGeom>
          <a:solidFill>
            <a:srgbClr val="E08D80"/>
          </a:solidFill>
          <a:ln/>
        </p:spPr>
      </p:sp>
      <p:sp>
        <p:nvSpPr>
          <p:cNvPr id="57" name="Shape 55"/>
          <p:cNvSpPr/>
          <p:nvPr/>
        </p:nvSpPr>
        <p:spPr>
          <a:xfrm>
            <a:off x="10630970" y="5715000"/>
            <a:ext cx="1009342" cy="365760"/>
          </a:xfrm>
          <a:prstGeom prst="rect">
            <a:avLst/>
          </a:prstGeom>
          <a:solidFill>
            <a:srgbClr val="34241C"/>
          </a:solidFill>
          <a:ln/>
        </p:spPr>
      </p:sp>
      <p:sp>
        <p:nvSpPr>
          <p:cNvPr id="58" name="Text 56"/>
          <p:cNvSpPr txBox="1"/>
          <p:nvPr/>
        </p:nvSpPr>
        <p:spPr>
          <a:xfrm>
            <a:off x="10630970" y="5715000"/>
            <a:ext cx="1009342"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9.1%</a:t>
            </a:r>
            <a:endParaRPr lang="en-US" sz="950" dirty="0"/>
          </a:p>
        </p:txBody>
      </p:sp>
      <p:sp>
        <p:nvSpPr>
          <p:cNvPr id="59" name="Text 57"/>
          <p:cNvSpPr txBox="1"/>
          <p:nvPr/>
        </p:nvSpPr>
        <p:spPr>
          <a:xfrm>
            <a:off x="548640" y="6135624"/>
            <a:ext cx="2651760" cy="201168"/>
          </a:xfrm>
          <a:prstGeom prst="rect">
            <a:avLst/>
          </a:prstGeom>
          <a:noFill/>
          <a:ln/>
        </p:spPr>
        <p:txBody>
          <a:bodyPr wrap="square" lIns="0" tIns="0" rIns="0" bIns="0" rtlCol="0" anchor="ctr"/>
          <a:lstStyle/>
          <a:p>
            <a:pPr indent="0" marL="0">
              <a:buNone/>
            </a:pPr>
            <a:r>
              <a:rPr lang="en-US" sz="900" dirty="0">
                <a:solidFill>
                  <a:srgbClr val="C97567"/>
                </a:solidFill>
                <a:latin typeface="Calibri" pitchFamily="34" charset="0"/>
                <a:ea typeface="Calibri" pitchFamily="34" charset="-122"/>
                <a:cs typeface="Calibri" pitchFamily="34" charset="-120"/>
              </a:rPr>
              <a:t>●  </a:t>
            </a:r>
            <a:pPr indent="0" marL="0">
              <a:buNone/>
            </a:pPr>
            <a:r>
              <a:rPr lang="en-US" sz="900" dirty="0">
                <a:solidFill>
                  <a:srgbClr val="8A776D"/>
                </a:solidFill>
                <a:latin typeface="Calibri" pitchFamily="34" charset="0"/>
                <a:ea typeface="Calibri" pitchFamily="34" charset="-122"/>
                <a:cs typeface="Calibri" pitchFamily="34" charset="-120"/>
              </a:rPr>
              <a:t>Recursos Humanos</a:t>
            </a:r>
            <a:endParaRPr lang="en-US" sz="900" dirty="0"/>
          </a:p>
        </p:txBody>
      </p:sp>
      <p:sp>
        <p:nvSpPr>
          <p:cNvPr id="60" name="Text 58"/>
          <p:cNvSpPr txBox="1"/>
          <p:nvPr/>
        </p:nvSpPr>
        <p:spPr>
          <a:xfrm>
            <a:off x="3319272" y="6135624"/>
            <a:ext cx="2651760" cy="201168"/>
          </a:xfrm>
          <a:prstGeom prst="rect">
            <a:avLst/>
          </a:prstGeom>
          <a:noFill/>
          <a:ln/>
        </p:spPr>
        <p:txBody>
          <a:bodyPr wrap="square" lIns="0" tIns="0" rIns="0" bIns="0" rtlCol="0" anchor="ctr"/>
          <a:lstStyle/>
          <a:p>
            <a:pPr indent="0" marL="0">
              <a:buNone/>
            </a:pPr>
            <a:r>
              <a:rPr lang="en-US" sz="900" dirty="0">
                <a:solidFill>
                  <a:srgbClr val="7C9473"/>
                </a:solidFill>
                <a:latin typeface="Calibri" pitchFamily="34" charset="0"/>
                <a:ea typeface="Calibri" pitchFamily="34" charset="-122"/>
                <a:cs typeface="Calibri" pitchFamily="34" charset="-120"/>
              </a:rPr>
              <a:t>●  </a:t>
            </a:r>
            <a:pPr indent="0" marL="0">
              <a:buNone/>
            </a:pPr>
            <a:r>
              <a:rPr lang="en-US" sz="900" dirty="0">
                <a:solidFill>
                  <a:srgbClr val="8A776D"/>
                </a:solidFill>
                <a:latin typeface="Calibri" pitchFamily="34" charset="0"/>
                <a:ea typeface="Calibri" pitchFamily="34" charset="-122"/>
                <a:cs typeface="Calibri" pitchFamily="34" charset="-120"/>
              </a:rPr>
              <a:t>Materiales y Equipos</a:t>
            </a:r>
            <a:endParaRPr lang="en-US" sz="900" dirty="0"/>
          </a:p>
        </p:txBody>
      </p:sp>
      <p:sp>
        <p:nvSpPr>
          <p:cNvPr id="61" name="Text 59"/>
          <p:cNvSpPr txBox="1"/>
          <p:nvPr/>
        </p:nvSpPr>
        <p:spPr>
          <a:xfrm>
            <a:off x="6089904" y="6135624"/>
            <a:ext cx="2651760" cy="201168"/>
          </a:xfrm>
          <a:prstGeom prst="rect">
            <a:avLst/>
          </a:prstGeom>
          <a:noFill/>
          <a:ln/>
        </p:spPr>
        <p:txBody>
          <a:bodyPr wrap="square" lIns="0" tIns="0" rIns="0" bIns="0" rtlCol="0" anchor="ctr"/>
          <a:lstStyle/>
          <a:p>
            <a:pPr indent="0" marL="0">
              <a:buNone/>
            </a:pPr>
            <a:r>
              <a:rPr lang="en-US" sz="900" dirty="0">
                <a:solidFill>
                  <a:srgbClr val="E08D80"/>
                </a:solidFill>
                <a:latin typeface="Calibri" pitchFamily="34" charset="0"/>
                <a:ea typeface="Calibri" pitchFamily="34" charset="-122"/>
                <a:cs typeface="Calibri" pitchFamily="34" charset="-120"/>
              </a:rPr>
              <a:t>●  </a:t>
            </a:r>
            <a:pPr indent="0" marL="0">
              <a:buNone/>
            </a:pPr>
            <a:r>
              <a:rPr lang="en-US" sz="900" dirty="0">
                <a:solidFill>
                  <a:srgbClr val="8A776D"/>
                </a:solidFill>
                <a:latin typeface="Calibri" pitchFamily="34" charset="0"/>
                <a:ea typeface="Calibri" pitchFamily="34" charset="-122"/>
                <a:cs typeface="Calibri" pitchFamily="34" charset="-120"/>
              </a:rPr>
              <a:t>Cloud y Licencias</a:t>
            </a:r>
            <a:endParaRPr lang="en-US" sz="900" dirty="0"/>
          </a:p>
        </p:txBody>
      </p:sp>
      <p:sp>
        <p:nvSpPr>
          <p:cNvPr id="62" name="Text 60"/>
          <p:cNvSpPr txBox="1"/>
          <p:nvPr/>
        </p:nvSpPr>
        <p:spPr>
          <a:xfrm>
            <a:off x="8860536" y="6135624"/>
            <a:ext cx="2651760" cy="201168"/>
          </a:xfrm>
          <a:prstGeom prst="rect">
            <a:avLst/>
          </a:prstGeom>
          <a:noFill/>
          <a:ln/>
        </p:spPr>
        <p:txBody>
          <a:bodyPr wrap="square" lIns="0" tIns="0" rIns="0" bIns="0" rtlCol="0" anchor="ctr"/>
          <a:lstStyle/>
          <a:p>
            <a:pPr indent="0" marL="0">
              <a:buNone/>
            </a:pPr>
            <a:r>
              <a:rPr lang="en-US" sz="900" dirty="0">
                <a:solidFill>
                  <a:srgbClr val="34241C"/>
                </a:solidFill>
                <a:latin typeface="Calibri" pitchFamily="34" charset="0"/>
                <a:ea typeface="Calibri" pitchFamily="34" charset="-122"/>
                <a:cs typeface="Calibri" pitchFamily="34" charset="-120"/>
              </a:rPr>
              <a:t>●  </a:t>
            </a:r>
            <a:pPr indent="0" marL="0">
              <a:buNone/>
            </a:pPr>
            <a:r>
              <a:rPr lang="en-US" sz="900" dirty="0">
                <a:solidFill>
                  <a:srgbClr val="8A776D"/>
                </a:solidFill>
                <a:latin typeface="Calibri" pitchFamily="34" charset="0"/>
                <a:ea typeface="Calibri" pitchFamily="34" charset="-122"/>
                <a:cs typeface="Calibri" pitchFamily="34" charset="-120"/>
              </a:rPr>
              <a:t>Contingencia</a:t>
            </a:r>
            <a:endParaRPr lang="en-US" sz="900" dirty="0"/>
          </a:p>
        </p:txBody>
      </p:sp>
      <p:sp>
        <p:nvSpPr>
          <p:cNvPr id="63" name="Text 61"/>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64" name="Text 62"/>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14. Modelado y Diseño: Diagrama de Casos de Uso</a:t>
            </a:r>
            <a:endParaRPr lang="en-US" sz="2500" dirty="0"/>
          </a:p>
        </p:txBody>
      </p:sp>
      <p:sp>
        <p:nvSpPr>
          <p:cNvPr id="4" name="Shape 2"/>
          <p:cNvSpPr/>
          <p:nvPr/>
        </p:nvSpPr>
        <p:spPr>
          <a:xfrm>
            <a:off x="548640" y="1645920"/>
            <a:ext cx="3520440" cy="4480560"/>
          </a:xfrm>
          <a:prstGeom prst="roundRect">
            <a:avLst>
              <a:gd name="adj" fmla="val 1818"/>
            </a:avLst>
          </a:prstGeom>
          <a:solidFill>
            <a:srgbClr val="FDF3EE"/>
          </a:solidFill>
          <a:ln w="12700"/>
        </p:spPr>
      </p:sp>
      <p:sp>
        <p:nvSpPr>
          <p:cNvPr id="5" name="Shape 3"/>
          <p:cNvSpPr/>
          <p:nvPr/>
        </p:nvSpPr>
        <p:spPr>
          <a:xfrm>
            <a:off x="548640" y="1645920"/>
            <a:ext cx="3520440" cy="384048"/>
          </a:xfrm>
          <a:prstGeom prst="roundRect">
            <a:avLst>
              <a:gd name="adj" fmla="val 14286"/>
            </a:avLst>
          </a:prstGeom>
          <a:solidFill>
            <a:srgbClr val="C97567"/>
          </a:solidFill>
          <a:ln/>
        </p:spPr>
      </p:sp>
      <p:sp>
        <p:nvSpPr>
          <p:cNvPr id="6" name="Shape 4"/>
          <p:cNvSpPr/>
          <p:nvPr/>
        </p:nvSpPr>
        <p:spPr>
          <a:xfrm>
            <a:off x="548640" y="1837944"/>
            <a:ext cx="3520440" cy="192024"/>
          </a:xfrm>
          <a:prstGeom prst="rect">
            <a:avLst/>
          </a:prstGeom>
          <a:solidFill>
            <a:srgbClr val="C97567"/>
          </a:solidFill>
          <a:ln/>
        </p:spPr>
      </p:sp>
      <p:sp>
        <p:nvSpPr>
          <p:cNvPr id="7" name="Shape 5"/>
          <p:cNvSpPr/>
          <p:nvPr/>
        </p:nvSpPr>
        <p:spPr>
          <a:xfrm>
            <a:off x="1851660" y="2240280"/>
            <a:ext cx="914400" cy="914400"/>
          </a:xfrm>
          <a:prstGeom prst="ellipse">
            <a:avLst/>
          </a:prstGeom>
          <a:solidFill>
            <a:srgbClr val="C97567"/>
          </a:solidFill>
          <a:ln/>
        </p:spPr>
      </p:sp>
      <p:pic>
        <p:nvPicPr>
          <p:cNvPr id="8" name="Image 0" descr="/home/claude/icons/usercog.png">    </p:cNvPr>
          <p:cNvPicPr>
            <a:picLocks noChangeAspect="1"/>
          </p:cNvPicPr>
          <p:nvPr/>
        </p:nvPicPr>
        <p:blipFill>
          <a:blip r:embed="rId1"/>
          <a:stretch>
            <a:fillRect/>
          </a:stretch>
        </p:blipFill>
        <p:spPr>
          <a:xfrm>
            <a:off x="1975104" y="2363724"/>
            <a:ext cx="667512" cy="667512"/>
          </a:xfrm>
          <a:prstGeom prst="rect">
            <a:avLst/>
          </a:prstGeom>
        </p:spPr>
      </p:pic>
      <p:sp>
        <p:nvSpPr>
          <p:cNvPr id="9" name="Text 6"/>
          <p:cNvSpPr txBox="1"/>
          <p:nvPr/>
        </p:nvSpPr>
        <p:spPr>
          <a:xfrm>
            <a:off x="685800" y="1645920"/>
            <a:ext cx="32461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Barista / Cajero (POS)</a:t>
            </a:r>
            <a:endParaRPr lang="en-US" sz="1300" dirty="0"/>
          </a:p>
        </p:txBody>
      </p:sp>
      <p:sp>
        <p:nvSpPr>
          <p:cNvPr id="10" name="Text 7"/>
          <p:cNvSpPr txBox="1"/>
          <p:nvPr/>
        </p:nvSpPr>
        <p:spPr>
          <a:xfrm>
            <a:off x="685800" y="3246120"/>
            <a:ext cx="3246120" cy="228600"/>
          </a:xfrm>
          <a:prstGeom prst="rect">
            <a:avLst/>
          </a:prstGeom>
          <a:noFill/>
          <a:ln/>
        </p:spPr>
        <p:txBody>
          <a:bodyPr wrap="square" lIns="0" tIns="0" rIns="0" bIns="0" rtlCol="0" anchor="ctr"/>
          <a:lstStyle/>
          <a:p>
            <a:pPr algn="ctr" indent="0" marL="0">
              <a:buNone/>
            </a:pPr>
            <a:r>
              <a:rPr lang="en-US" sz="950" i="1" dirty="0">
                <a:solidFill>
                  <a:srgbClr val="C97567"/>
                </a:solidFill>
                <a:latin typeface="Calibri" pitchFamily="34" charset="0"/>
                <a:ea typeface="Calibri" pitchFamily="34" charset="-122"/>
                <a:cs typeface="Calibri" pitchFamily="34" charset="-120"/>
              </a:rPr>
              <a:t>«actor»</a:t>
            </a:r>
            <a:endParaRPr lang="en-US" sz="950" dirty="0"/>
          </a:p>
        </p:txBody>
      </p:sp>
      <p:sp>
        <p:nvSpPr>
          <p:cNvPr id="11" name="Shape 8"/>
          <p:cNvSpPr/>
          <p:nvPr/>
        </p:nvSpPr>
        <p:spPr>
          <a:xfrm>
            <a:off x="804672" y="3675888"/>
            <a:ext cx="82296" cy="82296"/>
          </a:xfrm>
          <a:prstGeom prst="ellipse">
            <a:avLst/>
          </a:prstGeom>
          <a:solidFill>
            <a:srgbClr val="C97567"/>
          </a:solidFill>
          <a:ln/>
        </p:spPr>
      </p:sp>
      <p:sp>
        <p:nvSpPr>
          <p:cNvPr id="12" name="Text 9"/>
          <p:cNvSpPr txBox="1"/>
          <p:nvPr/>
        </p:nvSpPr>
        <p:spPr>
          <a:xfrm>
            <a:off x="987552" y="3611880"/>
            <a:ext cx="2880360" cy="548640"/>
          </a:xfrm>
          <a:prstGeom prst="rect">
            <a:avLst/>
          </a:prstGeom>
          <a:noFill/>
          <a:ln/>
        </p:spPr>
        <p:txBody>
          <a:bodyPr wrap="square" lIns="0" tIns="0" rIns="0" bIns="0" rtlCol="0" anchor="ctr"/>
          <a:lstStyle/>
          <a:p>
            <a:pPr indent="0" marL="0">
              <a:lnSpc>
                <a:spcPts val="1300"/>
              </a:lnSpc>
              <a:buNone/>
            </a:pPr>
            <a:r>
              <a:rPr lang="en-US" sz="1030" dirty="0">
                <a:solidFill>
                  <a:srgbClr val="5B4A41"/>
                </a:solidFill>
                <a:latin typeface="Calibri" pitchFamily="34" charset="0"/>
                <a:ea typeface="Calibri" pitchFamily="34" charset="-122"/>
                <a:cs typeface="Calibri" pitchFamily="34" charset="-120"/>
              </a:rPr>
              <a:t>Registrar orden con escaneo de código de barras.</a:t>
            </a:r>
            <a:endParaRPr lang="en-US" sz="1030" dirty="0"/>
          </a:p>
        </p:txBody>
      </p:sp>
      <p:sp>
        <p:nvSpPr>
          <p:cNvPr id="13" name="Shape 10"/>
          <p:cNvSpPr/>
          <p:nvPr/>
        </p:nvSpPr>
        <p:spPr>
          <a:xfrm>
            <a:off x="804672" y="4297680"/>
            <a:ext cx="82296" cy="82296"/>
          </a:xfrm>
          <a:prstGeom prst="ellipse">
            <a:avLst/>
          </a:prstGeom>
          <a:solidFill>
            <a:srgbClr val="C97567"/>
          </a:solidFill>
          <a:ln/>
        </p:spPr>
      </p:sp>
      <p:sp>
        <p:nvSpPr>
          <p:cNvPr id="14" name="Text 11"/>
          <p:cNvSpPr txBox="1"/>
          <p:nvPr/>
        </p:nvSpPr>
        <p:spPr>
          <a:xfrm>
            <a:off x="987552" y="4233672"/>
            <a:ext cx="2880360" cy="548640"/>
          </a:xfrm>
          <a:prstGeom prst="rect">
            <a:avLst/>
          </a:prstGeom>
          <a:noFill/>
          <a:ln/>
        </p:spPr>
        <p:txBody>
          <a:bodyPr wrap="square" lIns="0" tIns="0" rIns="0" bIns="0" rtlCol="0" anchor="ctr"/>
          <a:lstStyle/>
          <a:p>
            <a:pPr indent="0" marL="0">
              <a:lnSpc>
                <a:spcPts val="1300"/>
              </a:lnSpc>
              <a:buNone/>
            </a:pPr>
            <a:r>
              <a:rPr lang="en-US" sz="1030" dirty="0">
                <a:solidFill>
                  <a:srgbClr val="5B4A41"/>
                </a:solidFill>
                <a:latin typeface="Calibri" pitchFamily="34" charset="0"/>
                <a:ea typeface="Calibri" pitchFamily="34" charset="-122"/>
                <a:cs typeface="Calibri" pitchFamily="34" charset="-120"/>
              </a:rPr>
              <a:t>Aplicar pagos mixtos (Efectivo, Tarjeta, Puntos Monchis).</a:t>
            </a:r>
            <a:endParaRPr lang="en-US" sz="1030" dirty="0"/>
          </a:p>
        </p:txBody>
      </p:sp>
      <p:sp>
        <p:nvSpPr>
          <p:cNvPr id="15" name="Shape 12"/>
          <p:cNvSpPr/>
          <p:nvPr/>
        </p:nvSpPr>
        <p:spPr>
          <a:xfrm>
            <a:off x="804672" y="4919472"/>
            <a:ext cx="82296" cy="82296"/>
          </a:xfrm>
          <a:prstGeom prst="ellipse">
            <a:avLst/>
          </a:prstGeom>
          <a:solidFill>
            <a:srgbClr val="C97567"/>
          </a:solidFill>
          <a:ln/>
        </p:spPr>
      </p:sp>
      <p:sp>
        <p:nvSpPr>
          <p:cNvPr id="16" name="Text 13"/>
          <p:cNvSpPr txBox="1"/>
          <p:nvPr/>
        </p:nvSpPr>
        <p:spPr>
          <a:xfrm>
            <a:off x="987552" y="4855464"/>
            <a:ext cx="2880360" cy="548640"/>
          </a:xfrm>
          <a:prstGeom prst="rect">
            <a:avLst/>
          </a:prstGeom>
          <a:noFill/>
          <a:ln/>
        </p:spPr>
        <p:txBody>
          <a:bodyPr wrap="square" lIns="0" tIns="0" rIns="0" bIns="0" rtlCol="0" anchor="ctr"/>
          <a:lstStyle/>
          <a:p>
            <a:pPr indent="0" marL="0">
              <a:lnSpc>
                <a:spcPts val="1300"/>
              </a:lnSpc>
              <a:buNone/>
            </a:pPr>
            <a:r>
              <a:rPr lang="en-US" sz="1030" dirty="0">
                <a:solidFill>
                  <a:srgbClr val="5B4A41"/>
                </a:solidFill>
                <a:latin typeface="Calibri" pitchFamily="34" charset="0"/>
                <a:ea typeface="Calibri" pitchFamily="34" charset="-122"/>
                <a:cs typeface="Calibri" pitchFamily="34" charset="-120"/>
              </a:rPr>
              <a:t>Asignar bono ecológico si el cliente presenta termo reutilizable.</a:t>
            </a:r>
            <a:endParaRPr lang="en-US" sz="1030" dirty="0"/>
          </a:p>
        </p:txBody>
      </p:sp>
      <p:sp>
        <p:nvSpPr>
          <p:cNvPr id="17" name="Shape 14"/>
          <p:cNvSpPr/>
          <p:nvPr/>
        </p:nvSpPr>
        <p:spPr>
          <a:xfrm>
            <a:off x="804672" y="5541264"/>
            <a:ext cx="82296" cy="82296"/>
          </a:xfrm>
          <a:prstGeom prst="ellipse">
            <a:avLst/>
          </a:prstGeom>
          <a:solidFill>
            <a:srgbClr val="C97567"/>
          </a:solidFill>
          <a:ln/>
        </p:spPr>
      </p:sp>
      <p:sp>
        <p:nvSpPr>
          <p:cNvPr id="18" name="Text 15"/>
          <p:cNvSpPr txBox="1"/>
          <p:nvPr/>
        </p:nvSpPr>
        <p:spPr>
          <a:xfrm>
            <a:off x="987552" y="5477256"/>
            <a:ext cx="2880360" cy="548640"/>
          </a:xfrm>
          <a:prstGeom prst="rect">
            <a:avLst/>
          </a:prstGeom>
          <a:noFill/>
          <a:ln/>
        </p:spPr>
        <p:txBody>
          <a:bodyPr wrap="square" lIns="0" tIns="0" rIns="0" bIns="0" rtlCol="0" anchor="ctr"/>
          <a:lstStyle/>
          <a:p>
            <a:pPr indent="0" marL="0">
              <a:lnSpc>
                <a:spcPts val="1300"/>
              </a:lnSpc>
              <a:buNone/>
            </a:pPr>
            <a:r>
              <a:rPr lang="en-US" sz="1030" dirty="0">
                <a:solidFill>
                  <a:srgbClr val="5B4A41"/>
                </a:solidFill>
                <a:latin typeface="Calibri" pitchFamily="34" charset="0"/>
                <a:ea typeface="Calibri" pitchFamily="34" charset="-122"/>
                <a:cs typeface="Calibri" pitchFamily="34" charset="-120"/>
              </a:rPr>
              <a:t>Emitir ticket digital con QR de trazabilidad de finca.</a:t>
            </a:r>
            <a:endParaRPr lang="en-US" sz="1030" dirty="0"/>
          </a:p>
        </p:txBody>
      </p:sp>
      <p:sp>
        <p:nvSpPr>
          <p:cNvPr id="19" name="Shape 16"/>
          <p:cNvSpPr/>
          <p:nvPr/>
        </p:nvSpPr>
        <p:spPr>
          <a:xfrm>
            <a:off x="4343400" y="1645920"/>
            <a:ext cx="3520440" cy="4480560"/>
          </a:xfrm>
          <a:prstGeom prst="roundRect">
            <a:avLst>
              <a:gd name="adj" fmla="val 1818"/>
            </a:avLst>
          </a:prstGeom>
          <a:solidFill>
            <a:srgbClr val="FDF3EE"/>
          </a:solidFill>
          <a:ln w="12700"/>
        </p:spPr>
      </p:sp>
      <p:sp>
        <p:nvSpPr>
          <p:cNvPr id="20" name="Shape 17"/>
          <p:cNvSpPr/>
          <p:nvPr/>
        </p:nvSpPr>
        <p:spPr>
          <a:xfrm>
            <a:off x="4343400" y="1645920"/>
            <a:ext cx="3520440" cy="384048"/>
          </a:xfrm>
          <a:prstGeom prst="roundRect">
            <a:avLst>
              <a:gd name="adj" fmla="val 14286"/>
            </a:avLst>
          </a:prstGeom>
          <a:solidFill>
            <a:srgbClr val="E08D80"/>
          </a:solidFill>
          <a:ln/>
        </p:spPr>
      </p:sp>
      <p:sp>
        <p:nvSpPr>
          <p:cNvPr id="21" name="Shape 18"/>
          <p:cNvSpPr/>
          <p:nvPr/>
        </p:nvSpPr>
        <p:spPr>
          <a:xfrm>
            <a:off x="4343400" y="1837944"/>
            <a:ext cx="3520440" cy="192024"/>
          </a:xfrm>
          <a:prstGeom prst="rect">
            <a:avLst/>
          </a:prstGeom>
          <a:solidFill>
            <a:srgbClr val="E08D80"/>
          </a:solidFill>
          <a:ln/>
        </p:spPr>
      </p:sp>
      <p:sp>
        <p:nvSpPr>
          <p:cNvPr id="22" name="Shape 19"/>
          <p:cNvSpPr/>
          <p:nvPr/>
        </p:nvSpPr>
        <p:spPr>
          <a:xfrm>
            <a:off x="5646420" y="2240280"/>
            <a:ext cx="914400" cy="914400"/>
          </a:xfrm>
          <a:prstGeom prst="ellipse">
            <a:avLst/>
          </a:prstGeom>
          <a:solidFill>
            <a:srgbClr val="E08D80"/>
          </a:solidFill>
          <a:ln/>
        </p:spPr>
      </p:sp>
      <p:pic>
        <p:nvPicPr>
          <p:cNvPr id="23" name="Image 1" descr="/home/claude/icons/usertie.png">    </p:cNvPr>
          <p:cNvPicPr>
            <a:picLocks noChangeAspect="1"/>
          </p:cNvPicPr>
          <p:nvPr/>
        </p:nvPicPr>
        <p:blipFill>
          <a:blip r:embed="rId2"/>
          <a:stretch>
            <a:fillRect/>
          </a:stretch>
        </p:blipFill>
        <p:spPr>
          <a:xfrm>
            <a:off x="5769864" y="2363724"/>
            <a:ext cx="667512" cy="667512"/>
          </a:xfrm>
          <a:prstGeom prst="rect">
            <a:avLst/>
          </a:prstGeom>
        </p:spPr>
      </p:pic>
      <p:sp>
        <p:nvSpPr>
          <p:cNvPr id="24" name="Text 20"/>
          <p:cNvSpPr txBox="1"/>
          <p:nvPr/>
        </p:nvSpPr>
        <p:spPr>
          <a:xfrm>
            <a:off x="4480560" y="1645920"/>
            <a:ext cx="32461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Administrador / Dueño</a:t>
            </a:r>
            <a:endParaRPr lang="en-US" sz="1300" dirty="0"/>
          </a:p>
        </p:txBody>
      </p:sp>
      <p:sp>
        <p:nvSpPr>
          <p:cNvPr id="25" name="Text 21"/>
          <p:cNvSpPr txBox="1"/>
          <p:nvPr/>
        </p:nvSpPr>
        <p:spPr>
          <a:xfrm>
            <a:off x="4480560" y="3246120"/>
            <a:ext cx="3246120" cy="228600"/>
          </a:xfrm>
          <a:prstGeom prst="rect">
            <a:avLst/>
          </a:prstGeom>
          <a:noFill/>
          <a:ln/>
        </p:spPr>
        <p:txBody>
          <a:bodyPr wrap="square" lIns="0" tIns="0" rIns="0" bIns="0" rtlCol="0" anchor="ctr"/>
          <a:lstStyle/>
          <a:p>
            <a:pPr algn="ctr" indent="0" marL="0">
              <a:buNone/>
            </a:pPr>
            <a:r>
              <a:rPr lang="en-US" sz="950" i="1" dirty="0">
                <a:solidFill>
                  <a:srgbClr val="E08D80"/>
                </a:solidFill>
                <a:latin typeface="Calibri" pitchFamily="34" charset="0"/>
                <a:ea typeface="Calibri" pitchFamily="34" charset="-122"/>
                <a:cs typeface="Calibri" pitchFamily="34" charset="-120"/>
              </a:rPr>
              <a:t>«actor»</a:t>
            </a:r>
            <a:endParaRPr lang="en-US" sz="950" dirty="0"/>
          </a:p>
        </p:txBody>
      </p:sp>
      <p:sp>
        <p:nvSpPr>
          <p:cNvPr id="26" name="Shape 22"/>
          <p:cNvSpPr/>
          <p:nvPr/>
        </p:nvSpPr>
        <p:spPr>
          <a:xfrm>
            <a:off x="4599432" y="3675888"/>
            <a:ext cx="82296" cy="82296"/>
          </a:xfrm>
          <a:prstGeom prst="ellipse">
            <a:avLst/>
          </a:prstGeom>
          <a:solidFill>
            <a:srgbClr val="E08D80"/>
          </a:solidFill>
          <a:ln/>
        </p:spPr>
      </p:sp>
      <p:sp>
        <p:nvSpPr>
          <p:cNvPr id="27" name="Text 23"/>
          <p:cNvSpPr txBox="1"/>
          <p:nvPr/>
        </p:nvSpPr>
        <p:spPr>
          <a:xfrm>
            <a:off x="4782312" y="3611880"/>
            <a:ext cx="2880360" cy="548640"/>
          </a:xfrm>
          <a:prstGeom prst="rect">
            <a:avLst/>
          </a:prstGeom>
          <a:noFill/>
          <a:ln/>
        </p:spPr>
        <p:txBody>
          <a:bodyPr wrap="square" lIns="0" tIns="0" rIns="0" bIns="0" rtlCol="0" anchor="ctr"/>
          <a:lstStyle/>
          <a:p>
            <a:pPr indent="0" marL="0">
              <a:lnSpc>
                <a:spcPts val="1300"/>
              </a:lnSpc>
              <a:buNone/>
            </a:pPr>
            <a:r>
              <a:rPr lang="en-US" sz="1030" dirty="0">
                <a:solidFill>
                  <a:srgbClr val="5B4A41"/>
                </a:solidFill>
                <a:latin typeface="Calibri" pitchFamily="34" charset="0"/>
                <a:ea typeface="Calibri" pitchFamily="34" charset="-122"/>
                <a:cs typeface="Calibri" pitchFamily="34" charset="-120"/>
              </a:rPr>
              <a:t>Dar de alta lotes de café con fecha de tueste y origen.</a:t>
            </a:r>
            <a:endParaRPr lang="en-US" sz="1030" dirty="0"/>
          </a:p>
        </p:txBody>
      </p:sp>
      <p:sp>
        <p:nvSpPr>
          <p:cNvPr id="28" name="Shape 24"/>
          <p:cNvSpPr/>
          <p:nvPr/>
        </p:nvSpPr>
        <p:spPr>
          <a:xfrm>
            <a:off x="4599432" y="4297680"/>
            <a:ext cx="82296" cy="82296"/>
          </a:xfrm>
          <a:prstGeom prst="ellipse">
            <a:avLst/>
          </a:prstGeom>
          <a:solidFill>
            <a:srgbClr val="E08D80"/>
          </a:solidFill>
          <a:ln/>
        </p:spPr>
      </p:sp>
      <p:sp>
        <p:nvSpPr>
          <p:cNvPr id="29" name="Text 25"/>
          <p:cNvSpPr txBox="1"/>
          <p:nvPr/>
        </p:nvSpPr>
        <p:spPr>
          <a:xfrm>
            <a:off x="4782312" y="4233672"/>
            <a:ext cx="2880360" cy="548640"/>
          </a:xfrm>
          <a:prstGeom prst="rect">
            <a:avLst/>
          </a:prstGeom>
          <a:noFill/>
          <a:ln/>
        </p:spPr>
        <p:txBody>
          <a:bodyPr wrap="square" lIns="0" tIns="0" rIns="0" bIns="0" rtlCol="0" anchor="ctr"/>
          <a:lstStyle/>
          <a:p>
            <a:pPr indent="0" marL="0">
              <a:lnSpc>
                <a:spcPts val="1300"/>
              </a:lnSpc>
              <a:buNone/>
            </a:pPr>
            <a:r>
              <a:rPr lang="en-US" sz="1030" dirty="0">
                <a:solidFill>
                  <a:srgbClr val="5B4A41"/>
                </a:solidFill>
                <a:latin typeface="Calibri" pitchFamily="34" charset="0"/>
                <a:ea typeface="Calibri" pitchFamily="34" charset="-122"/>
                <a:cs typeface="Calibri" pitchFamily="34" charset="-120"/>
              </a:rPr>
              <a:t>Consultar panel de ventas con atribución UTM (Maps vs Instagram).</a:t>
            </a:r>
            <a:endParaRPr lang="en-US" sz="1030" dirty="0"/>
          </a:p>
        </p:txBody>
      </p:sp>
      <p:sp>
        <p:nvSpPr>
          <p:cNvPr id="30" name="Shape 26"/>
          <p:cNvSpPr/>
          <p:nvPr/>
        </p:nvSpPr>
        <p:spPr>
          <a:xfrm>
            <a:off x="4599432" y="4919472"/>
            <a:ext cx="82296" cy="82296"/>
          </a:xfrm>
          <a:prstGeom prst="ellipse">
            <a:avLst/>
          </a:prstGeom>
          <a:solidFill>
            <a:srgbClr val="E08D80"/>
          </a:solidFill>
          <a:ln/>
        </p:spPr>
      </p:sp>
      <p:sp>
        <p:nvSpPr>
          <p:cNvPr id="31" name="Text 27"/>
          <p:cNvSpPr txBox="1"/>
          <p:nvPr/>
        </p:nvSpPr>
        <p:spPr>
          <a:xfrm>
            <a:off x="4782312" y="4855464"/>
            <a:ext cx="2880360" cy="548640"/>
          </a:xfrm>
          <a:prstGeom prst="rect">
            <a:avLst/>
          </a:prstGeom>
          <a:noFill/>
          <a:ln/>
        </p:spPr>
        <p:txBody>
          <a:bodyPr wrap="square" lIns="0" tIns="0" rIns="0" bIns="0" rtlCol="0" anchor="ctr"/>
          <a:lstStyle/>
          <a:p>
            <a:pPr indent="0" marL="0">
              <a:lnSpc>
                <a:spcPts val="1300"/>
              </a:lnSpc>
              <a:buNone/>
            </a:pPr>
            <a:r>
              <a:rPr lang="en-US" sz="1030" dirty="0">
                <a:solidFill>
                  <a:srgbClr val="5B4A41"/>
                </a:solidFill>
                <a:latin typeface="Calibri" pitchFamily="34" charset="0"/>
                <a:ea typeface="Calibri" pitchFamily="34" charset="-122"/>
                <a:cs typeface="Calibri" pitchFamily="34" charset="-120"/>
              </a:rPr>
              <a:t>Supervisar mermas y auditoría de transacciones fallidas en DLQ.</a:t>
            </a:r>
            <a:endParaRPr lang="en-US" sz="1030" dirty="0"/>
          </a:p>
        </p:txBody>
      </p:sp>
      <p:sp>
        <p:nvSpPr>
          <p:cNvPr id="32" name="Shape 28"/>
          <p:cNvSpPr/>
          <p:nvPr/>
        </p:nvSpPr>
        <p:spPr>
          <a:xfrm>
            <a:off x="8138160" y="1645920"/>
            <a:ext cx="3520440" cy="4480560"/>
          </a:xfrm>
          <a:prstGeom prst="roundRect">
            <a:avLst>
              <a:gd name="adj" fmla="val 1818"/>
            </a:avLst>
          </a:prstGeom>
          <a:solidFill>
            <a:srgbClr val="FDF3EE"/>
          </a:solidFill>
          <a:ln w="12700"/>
        </p:spPr>
      </p:sp>
      <p:sp>
        <p:nvSpPr>
          <p:cNvPr id="33" name="Shape 29"/>
          <p:cNvSpPr/>
          <p:nvPr/>
        </p:nvSpPr>
        <p:spPr>
          <a:xfrm>
            <a:off x="8138160" y="1645920"/>
            <a:ext cx="3520440" cy="384048"/>
          </a:xfrm>
          <a:prstGeom prst="roundRect">
            <a:avLst>
              <a:gd name="adj" fmla="val 14286"/>
            </a:avLst>
          </a:prstGeom>
          <a:solidFill>
            <a:srgbClr val="5F7355"/>
          </a:solidFill>
          <a:ln/>
        </p:spPr>
      </p:sp>
      <p:sp>
        <p:nvSpPr>
          <p:cNvPr id="34" name="Shape 30"/>
          <p:cNvSpPr/>
          <p:nvPr/>
        </p:nvSpPr>
        <p:spPr>
          <a:xfrm>
            <a:off x="8138160" y="1837944"/>
            <a:ext cx="3520440" cy="192024"/>
          </a:xfrm>
          <a:prstGeom prst="rect">
            <a:avLst/>
          </a:prstGeom>
          <a:solidFill>
            <a:srgbClr val="5F7355"/>
          </a:solidFill>
          <a:ln/>
        </p:spPr>
      </p:sp>
      <p:sp>
        <p:nvSpPr>
          <p:cNvPr id="35" name="Shape 31"/>
          <p:cNvSpPr/>
          <p:nvPr/>
        </p:nvSpPr>
        <p:spPr>
          <a:xfrm>
            <a:off x="9441180" y="2240280"/>
            <a:ext cx="914400" cy="914400"/>
          </a:xfrm>
          <a:prstGeom prst="ellipse">
            <a:avLst/>
          </a:prstGeom>
          <a:solidFill>
            <a:srgbClr val="5F7355"/>
          </a:solidFill>
          <a:ln/>
        </p:spPr>
      </p:sp>
      <p:pic>
        <p:nvPicPr>
          <p:cNvPr id="36" name="Image 2" descr="/home/claude/icons/usergrad.png">    </p:cNvPr>
          <p:cNvPicPr>
            <a:picLocks noChangeAspect="1"/>
          </p:cNvPicPr>
          <p:nvPr/>
        </p:nvPicPr>
        <p:blipFill>
          <a:blip r:embed="rId3"/>
          <a:stretch>
            <a:fillRect/>
          </a:stretch>
        </p:blipFill>
        <p:spPr>
          <a:xfrm>
            <a:off x="9564624" y="2363724"/>
            <a:ext cx="667512" cy="667512"/>
          </a:xfrm>
          <a:prstGeom prst="rect">
            <a:avLst/>
          </a:prstGeom>
        </p:spPr>
      </p:pic>
      <p:sp>
        <p:nvSpPr>
          <p:cNvPr id="37" name="Text 32"/>
          <p:cNvSpPr txBox="1"/>
          <p:nvPr/>
        </p:nvSpPr>
        <p:spPr>
          <a:xfrm>
            <a:off x="8275320" y="1645920"/>
            <a:ext cx="32461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Cliente Eco-Consciente</a:t>
            </a:r>
            <a:endParaRPr lang="en-US" sz="1300" dirty="0"/>
          </a:p>
        </p:txBody>
      </p:sp>
      <p:sp>
        <p:nvSpPr>
          <p:cNvPr id="38" name="Text 33"/>
          <p:cNvSpPr txBox="1"/>
          <p:nvPr/>
        </p:nvSpPr>
        <p:spPr>
          <a:xfrm>
            <a:off x="8275320" y="3246120"/>
            <a:ext cx="3246120" cy="228600"/>
          </a:xfrm>
          <a:prstGeom prst="rect">
            <a:avLst/>
          </a:prstGeom>
          <a:noFill/>
          <a:ln/>
        </p:spPr>
        <p:txBody>
          <a:bodyPr wrap="square" lIns="0" tIns="0" rIns="0" bIns="0" rtlCol="0" anchor="ctr"/>
          <a:lstStyle/>
          <a:p>
            <a:pPr algn="ctr" indent="0" marL="0">
              <a:buNone/>
            </a:pPr>
            <a:r>
              <a:rPr lang="en-US" sz="950" i="1" dirty="0">
                <a:solidFill>
                  <a:srgbClr val="5F7355"/>
                </a:solidFill>
                <a:latin typeface="Calibri" pitchFamily="34" charset="0"/>
                <a:ea typeface="Calibri" pitchFamily="34" charset="-122"/>
                <a:cs typeface="Calibri" pitchFamily="34" charset="-120"/>
              </a:rPr>
              <a:t>«actor»</a:t>
            </a:r>
            <a:endParaRPr lang="en-US" sz="950" dirty="0"/>
          </a:p>
        </p:txBody>
      </p:sp>
      <p:sp>
        <p:nvSpPr>
          <p:cNvPr id="39" name="Shape 34"/>
          <p:cNvSpPr/>
          <p:nvPr/>
        </p:nvSpPr>
        <p:spPr>
          <a:xfrm>
            <a:off x="8394192" y="3675888"/>
            <a:ext cx="82296" cy="82296"/>
          </a:xfrm>
          <a:prstGeom prst="ellipse">
            <a:avLst/>
          </a:prstGeom>
          <a:solidFill>
            <a:srgbClr val="5F7355"/>
          </a:solidFill>
          <a:ln/>
        </p:spPr>
      </p:sp>
      <p:sp>
        <p:nvSpPr>
          <p:cNvPr id="40" name="Text 35"/>
          <p:cNvSpPr txBox="1"/>
          <p:nvPr/>
        </p:nvSpPr>
        <p:spPr>
          <a:xfrm>
            <a:off x="8577072" y="3611880"/>
            <a:ext cx="2880360" cy="548640"/>
          </a:xfrm>
          <a:prstGeom prst="rect">
            <a:avLst/>
          </a:prstGeom>
          <a:noFill/>
          <a:ln/>
        </p:spPr>
        <p:txBody>
          <a:bodyPr wrap="square" lIns="0" tIns="0" rIns="0" bIns="0" rtlCol="0" anchor="ctr"/>
          <a:lstStyle/>
          <a:p>
            <a:pPr indent="0" marL="0">
              <a:lnSpc>
                <a:spcPts val="1300"/>
              </a:lnSpc>
              <a:buNone/>
            </a:pPr>
            <a:r>
              <a:rPr lang="en-US" sz="1030" dirty="0">
                <a:solidFill>
                  <a:srgbClr val="5B4A41"/>
                </a:solidFill>
                <a:latin typeface="Calibri" pitchFamily="34" charset="0"/>
                <a:ea typeface="Calibri" pitchFamily="34" charset="-122"/>
                <a:cs typeface="Calibri" pitchFamily="34" charset="-120"/>
              </a:rPr>
              <a:t>Acumular sellos digitales y canjear cashback Monchis Rewards.</a:t>
            </a:r>
            <a:endParaRPr lang="en-US" sz="1030" dirty="0"/>
          </a:p>
        </p:txBody>
      </p:sp>
      <p:sp>
        <p:nvSpPr>
          <p:cNvPr id="41" name="Shape 36"/>
          <p:cNvSpPr/>
          <p:nvPr/>
        </p:nvSpPr>
        <p:spPr>
          <a:xfrm>
            <a:off x="8394192" y="4297680"/>
            <a:ext cx="82296" cy="82296"/>
          </a:xfrm>
          <a:prstGeom prst="ellipse">
            <a:avLst/>
          </a:prstGeom>
          <a:solidFill>
            <a:srgbClr val="5F7355"/>
          </a:solidFill>
          <a:ln/>
        </p:spPr>
      </p:sp>
      <p:sp>
        <p:nvSpPr>
          <p:cNvPr id="42" name="Text 37"/>
          <p:cNvSpPr txBox="1"/>
          <p:nvPr/>
        </p:nvSpPr>
        <p:spPr>
          <a:xfrm>
            <a:off x="8577072" y="4233672"/>
            <a:ext cx="2880360" cy="548640"/>
          </a:xfrm>
          <a:prstGeom prst="rect">
            <a:avLst/>
          </a:prstGeom>
          <a:noFill/>
          <a:ln/>
        </p:spPr>
        <p:txBody>
          <a:bodyPr wrap="square" lIns="0" tIns="0" rIns="0" bIns="0" rtlCol="0" anchor="ctr"/>
          <a:lstStyle/>
          <a:p>
            <a:pPr indent="0" marL="0">
              <a:lnSpc>
                <a:spcPts val="1300"/>
              </a:lnSpc>
              <a:buNone/>
            </a:pPr>
            <a:r>
              <a:rPr lang="en-US" sz="1030" dirty="0">
                <a:solidFill>
                  <a:srgbClr val="5B4A41"/>
                </a:solidFill>
                <a:latin typeface="Calibri" pitchFamily="34" charset="0"/>
                <a:ea typeface="Calibri" pitchFamily="34" charset="-122"/>
                <a:cs typeface="Calibri" pitchFamily="34" charset="-120"/>
              </a:rPr>
              <a:t>Consultar catálogo público prerenderizado con historia de fincas.</a:t>
            </a:r>
            <a:endParaRPr lang="en-US" sz="1030" dirty="0"/>
          </a:p>
        </p:txBody>
      </p:sp>
      <p:sp>
        <p:nvSpPr>
          <p:cNvPr id="43" name="Text 38"/>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44" name="Text 39"/>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14. Modelado y Diseño: Diagrama de Clases del Dominio (Prisma)</a:t>
            </a:r>
            <a:endParaRPr lang="en-US" sz="2500" dirty="0"/>
          </a:p>
        </p:txBody>
      </p:sp>
      <p:sp>
        <p:nvSpPr>
          <p:cNvPr id="4" name="Shape 2"/>
          <p:cNvSpPr/>
          <p:nvPr/>
        </p:nvSpPr>
        <p:spPr>
          <a:xfrm>
            <a:off x="548640" y="1645920"/>
            <a:ext cx="3017520" cy="1499616"/>
          </a:xfrm>
          <a:prstGeom prst="rect">
            <a:avLst/>
          </a:prstGeom>
          <a:solidFill>
            <a:srgbClr val="FFFFFF"/>
          </a:solidFill>
          <a:ln w="12700">
            <a:solidFill>
              <a:srgbClr val="E8DCD4"/>
            </a:solidFill>
            <a:prstDash val="solid"/>
          </a:ln>
        </p:spPr>
      </p:sp>
      <p:sp>
        <p:nvSpPr>
          <p:cNvPr id="5" name="Shape 3"/>
          <p:cNvSpPr/>
          <p:nvPr/>
        </p:nvSpPr>
        <p:spPr>
          <a:xfrm>
            <a:off x="548640" y="1645920"/>
            <a:ext cx="3017520" cy="365760"/>
          </a:xfrm>
          <a:prstGeom prst="rect">
            <a:avLst/>
          </a:prstGeom>
          <a:solidFill>
            <a:srgbClr val="C97567"/>
          </a:solidFill>
          <a:ln/>
        </p:spPr>
      </p:sp>
      <p:sp>
        <p:nvSpPr>
          <p:cNvPr id="6" name="Text 4"/>
          <p:cNvSpPr txBox="1"/>
          <p:nvPr/>
        </p:nvSpPr>
        <p:spPr>
          <a:xfrm>
            <a:off x="548640" y="1645920"/>
            <a:ext cx="3017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Product</a:t>
            </a:r>
            <a:endParaRPr lang="en-US" sz="1300" dirty="0"/>
          </a:p>
        </p:txBody>
      </p:sp>
      <p:sp>
        <p:nvSpPr>
          <p:cNvPr id="7" name="Text 5"/>
          <p:cNvSpPr txBox="1"/>
          <p:nvPr/>
        </p:nvSpPr>
        <p:spPr>
          <a:xfrm>
            <a:off x="685800" y="2066544"/>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id: String (UUID)</a:t>
            </a:r>
            <a:endParaRPr lang="en-US" sz="900" dirty="0"/>
          </a:p>
        </p:txBody>
      </p:sp>
      <p:sp>
        <p:nvSpPr>
          <p:cNvPr id="8" name="Text 6"/>
          <p:cNvSpPr txBox="1"/>
          <p:nvPr/>
        </p:nvSpPr>
        <p:spPr>
          <a:xfrm>
            <a:off x="685800" y="2322576"/>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name: String</a:t>
            </a:r>
            <a:endParaRPr lang="en-US" sz="900" dirty="0"/>
          </a:p>
        </p:txBody>
      </p:sp>
      <p:sp>
        <p:nvSpPr>
          <p:cNvPr id="9" name="Text 7"/>
          <p:cNvSpPr txBox="1"/>
          <p:nvPr/>
        </p:nvSpPr>
        <p:spPr>
          <a:xfrm>
            <a:off x="685800" y="2578608"/>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price: Decimal</a:t>
            </a:r>
            <a:endParaRPr lang="en-US" sz="900" dirty="0"/>
          </a:p>
        </p:txBody>
      </p:sp>
      <p:sp>
        <p:nvSpPr>
          <p:cNvPr id="10" name="Text 8"/>
          <p:cNvSpPr txBox="1"/>
          <p:nvPr/>
        </p:nvSpPr>
        <p:spPr>
          <a:xfrm>
            <a:off x="685800" y="2834640"/>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category: CategoryEnum</a:t>
            </a:r>
            <a:endParaRPr lang="en-US" sz="900" dirty="0"/>
          </a:p>
        </p:txBody>
      </p:sp>
      <p:sp>
        <p:nvSpPr>
          <p:cNvPr id="11" name="Shape 9"/>
          <p:cNvSpPr/>
          <p:nvPr/>
        </p:nvSpPr>
        <p:spPr>
          <a:xfrm>
            <a:off x="4480560" y="1645920"/>
            <a:ext cx="3017520" cy="1755648"/>
          </a:xfrm>
          <a:prstGeom prst="rect">
            <a:avLst/>
          </a:prstGeom>
          <a:solidFill>
            <a:srgbClr val="FFFFFF"/>
          </a:solidFill>
          <a:ln w="12700">
            <a:solidFill>
              <a:srgbClr val="E8DCD4"/>
            </a:solidFill>
            <a:prstDash val="solid"/>
          </a:ln>
        </p:spPr>
      </p:sp>
      <p:sp>
        <p:nvSpPr>
          <p:cNvPr id="12" name="Shape 10"/>
          <p:cNvSpPr/>
          <p:nvPr/>
        </p:nvSpPr>
        <p:spPr>
          <a:xfrm>
            <a:off x="4480560" y="1645920"/>
            <a:ext cx="3017520" cy="365760"/>
          </a:xfrm>
          <a:prstGeom prst="rect">
            <a:avLst/>
          </a:prstGeom>
          <a:solidFill>
            <a:srgbClr val="5F7355"/>
          </a:solidFill>
          <a:ln/>
        </p:spPr>
      </p:sp>
      <p:sp>
        <p:nvSpPr>
          <p:cNvPr id="13" name="Text 11"/>
          <p:cNvSpPr txBox="1"/>
          <p:nvPr/>
        </p:nvSpPr>
        <p:spPr>
          <a:xfrm>
            <a:off x="4480560" y="1645920"/>
            <a:ext cx="3017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CoffeeBatch</a:t>
            </a:r>
            <a:endParaRPr lang="en-US" sz="1300" dirty="0"/>
          </a:p>
        </p:txBody>
      </p:sp>
      <p:sp>
        <p:nvSpPr>
          <p:cNvPr id="14" name="Text 12"/>
          <p:cNvSpPr txBox="1"/>
          <p:nvPr/>
        </p:nvSpPr>
        <p:spPr>
          <a:xfrm>
            <a:off x="4617720" y="2066544"/>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id: String</a:t>
            </a:r>
            <a:endParaRPr lang="en-US" sz="900" dirty="0"/>
          </a:p>
        </p:txBody>
      </p:sp>
      <p:sp>
        <p:nvSpPr>
          <p:cNvPr id="15" name="Text 13"/>
          <p:cNvSpPr txBox="1"/>
          <p:nvPr/>
        </p:nvSpPr>
        <p:spPr>
          <a:xfrm>
            <a:off x="4617720" y="2322576"/>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farmName: String</a:t>
            </a:r>
            <a:endParaRPr lang="en-US" sz="900" dirty="0"/>
          </a:p>
        </p:txBody>
      </p:sp>
      <p:sp>
        <p:nvSpPr>
          <p:cNvPr id="16" name="Text 14"/>
          <p:cNvSpPr txBox="1"/>
          <p:nvPr/>
        </p:nvSpPr>
        <p:spPr>
          <a:xfrm>
            <a:off x="4617720" y="2578608"/>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altitudeMeters: Int</a:t>
            </a:r>
            <a:endParaRPr lang="en-US" sz="900" dirty="0"/>
          </a:p>
        </p:txBody>
      </p:sp>
      <p:sp>
        <p:nvSpPr>
          <p:cNvPr id="17" name="Text 15"/>
          <p:cNvSpPr txBox="1"/>
          <p:nvPr/>
        </p:nvSpPr>
        <p:spPr>
          <a:xfrm>
            <a:off x="4617720" y="2834640"/>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roastDate: DateTime</a:t>
            </a:r>
            <a:endParaRPr lang="en-US" sz="900" dirty="0"/>
          </a:p>
        </p:txBody>
      </p:sp>
      <p:sp>
        <p:nvSpPr>
          <p:cNvPr id="18" name="Text 16"/>
          <p:cNvSpPr txBox="1"/>
          <p:nvPr/>
        </p:nvSpPr>
        <p:spPr>
          <a:xfrm>
            <a:off x="4617720" y="3090672"/>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expiryDate: DateTime</a:t>
            </a:r>
            <a:endParaRPr lang="en-US" sz="900" dirty="0"/>
          </a:p>
        </p:txBody>
      </p:sp>
      <p:sp>
        <p:nvSpPr>
          <p:cNvPr id="19" name="Shape 17"/>
          <p:cNvSpPr/>
          <p:nvPr/>
        </p:nvSpPr>
        <p:spPr>
          <a:xfrm>
            <a:off x="548640" y="4334256"/>
            <a:ext cx="3017520" cy="1243584"/>
          </a:xfrm>
          <a:prstGeom prst="rect">
            <a:avLst/>
          </a:prstGeom>
          <a:solidFill>
            <a:srgbClr val="FFFFFF"/>
          </a:solidFill>
          <a:ln w="12700">
            <a:solidFill>
              <a:srgbClr val="E8DCD4"/>
            </a:solidFill>
            <a:prstDash val="solid"/>
          </a:ln>
        </p:spPr>
      </p:sp>
      <p:sp>
        <p:nvSpPr>
          <p:cNvPr id="20" name="Shape 18"/>
          <p:cNvSpPr/>
          <p:nvPr/>
        </p:nvSpPr>
        <p:spPr>
          <a:xfrm>
            <a:off x="548640" y="4334256"/>
            <a:ext cx="3017520" cy="365760"/>
          </a:xfrm>
          <a:prstGeom prst="rect">
            <a:avLst/>
          </a:prstGeom>
          <a:solidFill>
            <a:srgbClr val="C97567"/>
          </a:solidFill>
          <a:ln/>
        </p:spPr>
      </p:sp>
      <p:sp>
        <p:nvSpPr>
          <p:cNvPr id="21" name="Text 19"/>
          <p:cNvSpPr txBox="1"/>
          <p:nvPr/>
        </p:nvSpPr>
        <p:spPr>
          <a:xfrm>
            <a:off x="548640" y="4334256"/>
            <a:ext cx="3017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OrderItem</a:t>
            </a:r>
            <a:endParaRPr lang="en-US" sz="1300" dirty="0"/>
          </a:p>
        </p:txBody>
      </p:sp>
      <p:sp>
        <p:nvSpPr>
          <p:cNvPr id="22" name="Text 20"/>
          <p:cNvSpPr txBox="1"/>
          <p:nvPr/>
        </p:nvSpPr>
        <p:spPr>
          <a:xfrm>
            <a:off x="685800" y="4754880"/>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quantity: Int</a:t>
            </a:r>
            <a:endParaRPr lang="en-US" sz="900" dirty="0"/>
          </a:p>
        </p:txBody>
      </p:sp>
      <p:sp>
        <p:nvSpPr>
          <p:cNvPr id="23" name="Text 21"/>
          <p:cNvSpPr txBox="1"/>
          <p:nvPr/>
        </p:nvSpPr>
        <p:spPr>
          <a:xfrm>
            <a:off x="685800" y="5010912"/>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unitPrice: Decimal</a:t>
            </a:r>
            <a:endParaRPr lang="en-US" sz="900" dirty="0"/>
          </a:p>
        </p:txBody>
      </p:sp>
      <p:sp>
        <p:nvSpPr>
          <p:cNvPr id="24" name="Text 22"/>
          <p:cNvSpPr txBox="1"/>
          <p:nvPr/>
        </p:nvSpPr>
        <p:spPr>
          <a:xfrm>
            <a:off x="685800" y="5266944"/>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subtotal: Decimal</a:t>
            </a:r>
            <a:endParaRPr lang="en-US" sz="900" dirty="0"/>
          </a:p>
        </p:txBody>
      </p:sp>
      <p:sp>
        <p:nvSpPr>
          <p:cNvPr id="25" name="Shape 23"/>
          <p:cNvSpPr/>
          <p:nvPr/>
        </p:nvSpPr>
        <p:spPr>
          <a:xfrm>
            <a:off x="4480560" y="4334256"/>
            <a:ext cx="3017520" cy="1243584"/>
          </a:xfrm>
          <a:prstGeom prst="rect">
            <a:avLst/>
          </a:prstGeom>
          <a:solidFill>
            <a:srgbClr val="FFFFFF"/>
          </a:solidFill>
          <a:ln w="12700">
            <a:solidFill>
              <a:srgbClr val="E8DCD4"/>
            </a:solidFill>
            <a:prstDash val="solid"/>
          </a:ln>
        </p:spPr>
      </p:sp>
      <p:sp>
        <p:nvSpPr>
          <p:cNvPr id="26" name="Shape 24"/>
          <p:cNvSpPr/>
          <p:nvPr/>
        </p:nvSpPr>
        <p:spPr>
          <a:xfrm>
            <a:off x="4480560" y="4334256"/>
            <a:ext cx="3017520" cy="365760"/>
          </a:xfrm>
          <a:prstGeom prst="rect">
            <a:avLst/>
          </a:prstGeom>
          <a:solidFill>
            <a:srgbClr val="E08D80"/>
          </a:solidFill>
          <a:ln/>
        </p:spPr>
      </p:sp>
      <p:sp>
        <p:nvSpPr>
          <p:cNvPr id="27" name="Text 25"/>
          <p:cNvSpPr txBox="1"/>
          <p:nvPr/>
        </p:nvSpPr>
        <p:spPr>
          <a:xfrm>
            <a:off x="4480560" y="4334256"/>
            <a:ext cx="3017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Order</a:t>
            </a:r>
            <a:endParaRPr lang="en-US" sz="1300" dirty="0"/>
          </a:p>
        </p:txBody>
      </p:sp>
      <p:sp>
        <p:nvSpPr>
          <p:cNvPr id="28" name="Text 26"/>
          <p:cNvSpPr txBox="1"/>
          <p:nvPr/>
        </p:nvSpPr>
        <p:spPr>
          <a:xfrm>
            <a:off x="4617720" y="4754880"/>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totalAmount: Decimal</a:t>
            </a:r>
            <a:endParaRPr lang="en-US" sz="900" dirty="0"/>
          </a:p>
        </p:txBody>
      </p:sp>
      <p:sp>
        <p:nvSpPr>
          <p:cNvPr id="29" name="Text 27"/>
          <p:cNvSpPr txBox="1"/>
          <p:nvPr/>
        </p:nvSpPr>
        <p:spPr>
          <a:xfrm>
            <a:off x="4617720" y="5010912"/>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ecoBonusDiscount: Decimal</a:t>
            </a:r>
            <a:endParaRPr lang="en-US" sz="900" dirty="0"/>
          </a:p>
        </p:txBody>
      </p:sp>
      <p:sp>
        <p:nvSpPr>
          <p:cNvPr id="30" name="Text 28"/>
          <p:cNvSpPr txBox="1"/>
          <p:nvPr/>
        </p:nvSpPr>
        <p:spPr>
          <a:xfrm>
            <a:off x="4617720" y="5266944"/>
            <a:ext cx="2743200" cy="256032"/>
          </a:xfrm>
          <a:prstGeom prst="rect">
            <a:avLst/>
          </a:prstGeom>
          <a:noFill/>
          <a:ln/>
        </p:spPr>
        <p:txBody>
          <a:bodyPr wrap="square" lIns="0" tIns="0" rIns="0" bIns="0" rtlCol="0" anchor="ctr"/>
          <a:lstStyle/>
          <a:p>
            <a:pPr indent="0" marL="0">
              <a:buNone/>
            </a:pPr>
            <a:r>
              <a:rPr lang="en-US" sz="900" dirty="0">
                <a:solidFill>
                  <a:srgbClr val="5B4A41"/>
                </a:solidFill>
                <a:latin typeface="Consolas" pitchFamily="34" charset="0"/>
                <a:ea typeface="Consolas" pitchFamily="34" charset="-122"/>
                <a:cs typeface="Consolas" pitchFamily="34" charset="-120"/>
              </a:rPr>
              <a:t>paymentStatus: StatusEnum</a:t>
            </a:r>
            <a:endParaRPr lang="en-US" sz="900" dirty="0"/>
          </a:p>
        </p:txBody>
      </p:sp>
      <p:sp>
        <p:nvSpPr>
          <p:cNvPr id="31" name="Shape 29"/>
          <p:cNvSpPr/>
          <p:nvPr/>
        </p:nvSpPr>
        <p:spPr>
          <a:xfrm>
            <a:off x="3566160" y="2395728"/>
            <a:ext cx="914400" cy="128016"/>
          </a:xfrm>
          <a:prstGeom prst="line">
            <a:avLst/>
          </a:prstGeom>
          <a:noFill/>
          <a:ln w="19050">
            <a:solidFill>
              <a:srgbClr val="8A776D"/>
            </a:solidFill>
            <a:prstDash val="solid"/>
          </a:ln>
        </p:spPr>
      </p:sp>
      <p:sp>
        <p:nvSpPr>
          <p:cNvPr id="32" name="Text 30"/>
          <p:cNvSpPr txBox="1"/>
          <p:nvPr/>
        </p:nvSpPr>
        <p:spPr>
          <a:xfrm>
            <a:off x="3429000" y="2194560"/>
            <a:ext cx="457200" cy="201168"/>
          </a:xfrm>
          <a:prstGeom prst="rect">
            <a:avLst/>
          </a:prstGeom>
          <a:noFill/>
          <a:ln/>
        </p:spPr>
        <p:txBody>
          <a:bodyPr wrap="square" lIns="0" tIns="0" rIns="0" bIns="0" rtlCol="0" anchor="ctr"/>
          <a:lstStyle/>
          <a:p>
            <a:pPr algn="ctr" indent="0" marL="0">
              <a:buNone/>
            </a:pPr>
            <a:r>
              <a:rPr lang="en-US" sz="1000" b="1" dirty="0">
                <a:solidFill>
                  <a:srgbClr val="4B3B33"/>
                </a:solidFill>
                <a:latin typeface="Calibri" pitchFamily="34" charset="0"/>
                <a:ea typeface="Calibri" pitchFamily="34" charset="-122"/>
                <a:cs typeface="Calibri" pitchFamily="34" charset="-120"/>
              </a:rPr>
              <a:t>1</a:t>
            </a:r>
            <a:endParaRPr lang="en-US" sz="1000" dirty="0"/>
          </a:p>
        </p:txBody>
      </p:sp>
      <p:sp>
        <p:nvSpPr>
          <p:cNvPr id="33" name="Text 31"/>
          <p:cNvSpPr txBox="1"/>
          <p:nvPr/>
        </p:nvSpPr>
        <p:spPr>
          <a:xfrm>
            <a:off x="4160520" y="2322576"/>
            <a:ext cx="457200" cy="201168"/>
          </a:xfrm>
          <a:prstGeom prst="rect">
            <a:avLst/>
          </a:prstGeom>
          <a:noFill/>
          <a:ln/>
        </p:spPr>
        <p:txBody>
          <a:bodyPr wrap="square" lIns="0" tIns="0" rIns="0" bIns="0" rtlCol="0" anchor="ctr"/>
          <a:lstStyle/>
          <a:p>
            <a:pPr algn="ctr" indent="0" marL="0">
              <a:buNone/>
            </a:pPr>
            <a:r>
              <a:rPr lang="en-US" sz="1000" b="1" dirty="0">
                <a:solidFill>
                  <a:srgbClr val="4B3B33"/>
                </a:solidFill>
                <a:latin typeface="Calibri" pitchFamily="34" charset="0"/>
                <a:ea typeface="Calibri" pitchFamily="34" charset="-122"/>
                <a:cs typeface="Calibri" pitchFamily="34" charset="-120"/>
              </a:rPr>
              <a:t>*</a:t>
            </a:r>
            <a:endParaRPr lang="en-US" sz="1000" dirty="0"/>
          </a:p>
        </p:txBody>
      </p:sp>
      <p:sp>
        <p:nvSpPr>
          <p:cNvPr id="34" name="Shape 32"/>
          <p:cNvSpPr/>
          <p:nvPr/>
        </p:nvSpPr>
        <p:spPr>
          <a:xfrm>
            <a:off x="2057400" y="3145536"/>
            <a:ext cx="0" cy="1188720"/>
          </a:xfrm>
          <a:prstGeom prst="line">
            <a:avLst/>
          </a:prstGeom>
          <a:noFill/>
          <a:ln w="19050">
            <a:solidFill>
              <a:srgbClr val="8A776D"/>
            </a:solidFill>
            <a:prstDash val="solid"/>
          </a:ln>
        </p:spPr>
      </p:sp>
      <p:sp>
        <p:nvSpPr>
          <p:cNvPr id="35" name="Text 33"/>
          <p:cNvSpPr txBox="1"/>
          <p:nvPr/>
        </p:nvSpPr>
        <p:spPr>
          <a:xfrm>
            <a:off x="1920240" y="2944368"/>
            <a:ext cx="457200" cy="201168"/>
          </a:xfrm>
          <a:prstGeom prst="rect">
            <a:avLst/>
          </a:prstGeom>
          <a:noFill/>
          <a:ln/>
        </p:spPr>
        <p:txBody>
          <a:bodyPr wrap="square" lIns="0" tIns="0" rIns="0" bIns="0" rtlCol="0" anchor="ctr"/>
          <a:lstStyle/>
          <a:p>
            <a:pPr algn="ctr" indent="0" marL="0">
              <a:buNone/>
            </a:pPr>
            <a:r>
              <a:rPr lang="en-US" sz="1000" b="1" dirty="0">
                <a:solidFill>
                  <a:srgbClr val="4B3B33"/>
                </a:solidFill>
                <a:latin typeface="Calibri" pitchFamily="34" charset="0"/>
                <a:ea typeface="Calibri" pitchFamily="34" charset="-122"/>
                <a:cs typeface="Calibri" pitchFamily="34" charset="-120"/>
              </a:rPr>
              <a:t>1</a:t>
            </a:r>
            <a:endParaRPr lang="en-US" sz="1000" dirty="0"/>
          </a:p>
        </p:txBody>
      </p:sp>
      <p:sp>
        <p:nvSpPr>
          <p:cNvPr id="36" name="Text 34"/>
          <p:cNvSpPr txBox="1"/>
          <p:nvPr/>
        </p:nvSpPr>
        <p:spPr>
          <a:xfrm>
            <a:off x="1737360" y="4133088"/>
            <a:ext cx="457200" cy="201168"/>
          </a:xfrm>
          <a:prstGeom prst="rect">
            <a:avLst/>
          </a:prstGeom>
          <a:noFill/>
          <a:ln/>
        </p:spPr>
        <p:txBody>
          <a:bodyPr wrap="square" lIns="0" tIns="0" rIns="0" bIns="0" rtlCol="0" anchor="ctr"/>
          <a:lstStyle/>
          <a:p>
            <a:pPr algn="ctr" indent="0" marL="0">
              <a:buNone/>
            </a:pPr>
            <a:r>
              <a:rPr lang="en-US" sz="1000" b="1" dirty="0">
                <a:solidFill>
                  <a:srgbClr val="4B3B33"/>
                </a:solidFill>
                <a:latin typeface="Calibri" pitchFamily="34" charset="0"/>
                <a:ea typeface="Calibri" pitchFamily="34" charset="-122"/>
                <a:cs typeface="Calibri" pitchFamily="34" charset="-120"/>
              </a:rPr>
              <a:t>*</a:t>
            </a:r>
            <a:endParaRPr lang="en-US" sz="1000" dirty="0"/>
          </a:p>
        </p:txBody>
      </p:sp>
      <p:sp>
        <p:nvSpPr>
          <p:cNvPr id="37" name="Shape 35"/>
          <p:cNvSpPr/>
          <p:nvPr/>
        </p:nvSpPr>
        <p:spPr>
          <a:xfrm>
            <a:off x="3566160" y="4956048"/>
            <a:ext cx="914400" cy="0"/>
          </a:xfrm>
          <a:prstGeom prst="line">
            <a:avLst/>
          </a:prstGeom>
          <a:noFill/>
          <a:ln w="19050">
            <a:solidFill>
              <a:srgbClr val="8A776D"/>
            </a:solidFill>
            <a:prstDash val="solid"/>
          </a:ln>
        </p:spPr>
      </p:sp>
      <p:sp>
        <p:nvSpPr>
          <p:cNvPr id="38" name="Text 36"/>
          <p:cNvSpPr txBox="1"/>
          <p:nvPr/>
        </p:nvSpPr>
        <p:spPr>
          <a:xfrm>
            <a:off x="3429000" y="4754880"/>
            <a:ext cx="457200" cy="201168"/>
          </a:xfrm>
          <a:prstGeom prst="rect">
            <a:avLst/>
          </a:prstGeom>
          <a:noFill/>
          <a:ln/>
        </p:spPr>
        <p:txBody>
          <a:bodyPr wrap="square" lIns="0" tIns="0" rIns="0" bIns="0" rtlCol="0" anchor="ctr"/>
          <a:lstStyle/>
          <a:p>
            <a:pPr algn="ctr" indent="0" marL="0">
              <a:buNone/>
            </a:pPr>
            <a:r>
              <a:rPr lang="en-US" sz="1000" b="1" dirty="0">
                <a:solidFill>
                  <a:srgbClr val="4B3B33"/>
                </a:solidFill>
                <a:latin typeface="Calibri" pitchFamily="34" charset="0"/>
                <a:ea typeface="Calibri" pitchFamily="34" charset="-122"/>
                <a:cs typeface="Calibri" pitchFamily="34" charset="-120"/>
              </a:rPr>
              <a:t>*</a:t>
            </a:r>
            <a:endParaRPr lang="en-US" sz="1000" dirty="0"/>
          </a:p>
        </p:txBody>
      </p:sp>
      <p:sp>
        <p:nvSpPr>
          <p:cNvPr id="39" name="Text 37"/>
          <p:cNvSpPr txBox="1"/>
          <p:nvPr/>
        </p:nvSpPr>
        <p:spPr>
          <a:xfrm>
            <a:off x="4160520" y="4754880"/>
            <a:ext cx="457200" cy="201168"/>
          </a:xfrm>
          <a:prstGeom prst="rect">
            <a:avLst/>
          </a:prstGeom>
          <a:noFill/>
          <a:ln/>
        </p:spPr>
        <p:txBody>
          <a:bodyPr wrap="square" lIns="0" tIns="0" rIns="0" bIns="0" rtlCol="0" anchor="ctr"/>
          <a:lstStyle/>
          <a:p>
            <a:pPr algn="ctr" indent="0" marL="0">
              <a:buNone/>
            </a:pPr>
            <a:r>
              <a:rPr lang="en-US" sz="1000" b="1" dirty="0">
                <a:solidFill>
                  <a:srgbClr val="4B3B33"/>
                </a:solidFill>
                <a:latin typeface="Calibri" pitchFamily="34" charset="0"/>
                <a:ea typeface="Calibri" pitchFamily="34" charset="-122"/>
                <a:cs typeface="Calibri" pitchFamily="34" charset="-120"/>
              </a:rPr>
              <a:t>1</a:t>
            </a:r>
            <a:endParaRPr lang="en-US" sz="1000" dirty="0"/>
          </a:p>
        </p:txBody>
      </p:sp>
      <p:sp>
        <p:nvSpPr>
          <p:cNvPr id="40" name="Shape 38"/>
          <p:cNvSpPr/>
          <p:nvPr/>
        </p:nvSpPr>
        <p:spPr>
          <a:xfrm>
            <a:off x="7772400" y="1645920"/>
            <a:ext cx="3867912" cy="4297680"/>
          </a:xfrm>
          <a:prstGeom prst="roundRect">
            <a:avLst>
              <a:gd name="adj" fmla="val 1655"/>
            </a:avLst>
          </a:prstGeom>
          <a:solidFill>
            <a:srgbClr val="FDF3EE"/>
          </a:solidFill>
          <a:ln w="12700"/>
        </p:spPr>
      </p:sp>
      <p:sp>
        <p:nvSpPr>
          <p:cNvPr id="41" name="Text 39"/>
          <p:cNvSpPr txBox="1"/>
          <p:nvPr/>
        </p:nvSpPr>
        <p:spPr>
          <a:xfrm>
            <a:off x="8001000" y="1828800"/>
            <a:ext cx="3429000" cy="274320"/>
          </a:xfrm>
          <a:prstGeom prst="rect">
            <a:avLst/>
          </a:prstGeom>
          <a:noFill/>
          <a:ln/>
        </p:spPr>
        <p:txBody>
          <a:bodyPr wrap="square" lIns="0" tIns="0" rIns="0" bIns="0" rtlCol="0" anchor="ctr"/>
          <a:lstStyle/>
          <a:p>
            <a:pPr indent="0" marL="0">
              <a:buNone/>
            </a:pPr>
            <a:r>
              <a:rPr lang="en-US" sz="1050" b="1" spc="50" kern="0" dirty="0">
                <a:solidFill>
                  <a:srgbClr val="C97567"/>
                </a:solidFill>
                <a:latin typeface="Calibri" pitchFamily="34" charset="0"/>
                <a:ea typeface="Calibri" pitchFamily="34" charset="-122"/>
                <a:cs typeface="Calibri" pitchFamily="34" charset="-120"/>
              </a:rPr>
              <a:t>LECTURA DEL MODELO</a:t>
            </a:r>
            <a:endParaRPr lang="en-US" sz="1050" dirty="0"/>
          </a:p>
        </p:txBody>
      </p:sp>
      <p:sp>
        <p:nvSpPr>
          <p:cNvPr id="42" name="Text 40"/>
          <p:cNvSpPr txBox="1"/>
          <p:nvPr/>
        </p:nvSpPr>
        <p:spPr>
          <a:xfrm>
            <a:off x="8001000" y="2194560"/>
            <a:ext cx="3429000" cy="777240"/>
          </a:xfrm>
          <a:prstGeom prst="rect">
            <a:avLst/>
          </a:prstGeom>
          <a:noFill/>
          <a:ln/>
        </p:spPr>
        <p:txBody>
          <a:bodyPr wrap="square" lIns="0" tIns="0" rIns="0" bIns="0" rtlCol="0" anchor="ctr"/>
          <a:lstStyle/>
          <a:p>
            <a:pPr indent="0" marL="0">
              <a:lnSpc>
                <a:spcPts val="1450"/>
              </a:lnSpc>
              <a:buNone/>
            </a:pPr>
            <a:r>
              <a:rPr lang="en-US" sz="1050" dirty="0">
                <a:solidFill>
                  <a:srgbClr val="C97567"/>
                </a:solidFill>
                <a:latin typeface="Calibri" pitchFamily="34" charset="0"/>
                <a:ea typeface="Calibri" pitchFamily="34" charset="-122"/>
                <a:cs typeface="Calibri" pitchFamily="34" charset="-120"/>
              </a:rPr>
              <a:t>●  </a:t>
            </a:r>
            <a:pPr indent="0" marL="0">
              <a:lnSpc>
                <a:spcPts val="1450"/>
              </a:lnSpc>
              <a:buNone/>
            </a:pPr>
            <a:r>
              <a:rPr lang="en-US" sz="1050" dirty="0">
                <a:solidFill>
                  <a:srgbClr val="5B4A41"/>
                </a:solidFill>
                <a:latin typeface="Calibri" pitchFamily="34" charset="0"/>
                <a:ea typeface="Calibri" pitchFamily="34" charset="-122"/>
                <a:cs typeface="Calibri" pitchFamily="34" charset="-120"/>
              </a:rPr>
              <a:t>Un Product puede tener muchos lotes (CoffeeBatch) — trazabilidad de finca, altura y tueste.</a:t>
            </a:r>
            <a:endParaRPr lang="en-US" sz="1050" dirty="0"/>
          </a:p>
        </p:txBody>
      </p:sp>
      <p:sp>
        <p:nvSpPr>
          <p:cNvPr id="43" name="Text 41"/>
          <p:cNvSpPr txBox="1"/>
          <p:nvPr/>
        </p:nvSpPr>
        <p:spPr>
          <a:xfrm>
            <a:off x="8001000" y="3108960"/>
            <a:ext cx="3429000" cy="777240"/>
          </a:xfrm>
          <a:prstGeom prst="rect">
            <a:avLst/>
          </a:prstGeom>
          <a:noFill/>
          <a:ln/>
        </p:spPr>
        <p:txBody>
          <a:bodyPr wrap="square" lIns="0" tIns="0" rIns="0" bIns="0" rtlCol="0" anchor="ctr"/>
          <a:lstStyle/>
          <a:p>
            <a:pPr indent="0" marL="0">
              <a:lnSpc>
                <a:spcPts val="1450"/>
              </a:lnSpc>
              <a:buNone/>
            </a:pPr>
            <a:r>
              <a:rPr lang="en-US" sz="1050" dirty="0">
                <a:solidFill>
                  <a:srgbClr val="C97567"/>
                </a:solidFill>
                <a:latin typeface="Calibri" pitchFamily="34" charset="0"/>
                <a:ea typeface="Calibri" pitchFamily="34" charset="-122"/>
                <a:cs typeface="Calibri" pitchFamily="34" charset="-120"/>
              </a:rPr>
              <a:t>●  </a:t>
            </a:r>
            <a:pPr indent="0" marL="0">
              <a:lnSpc>
                <a:spcPts val="1450"/>
              </a:lnSpc>
              <a:buNone/>
            </a:pPr>
            <a:r>
              <a:rPr lang="en-US" sz="1050" dirty="0">
                <a:solidFill>
                  <a:srgbClr val="5B4A41"/>
                </a:solidFill>
                <a:latin typeface="Calibri" pitchFamily="34" charset="0"/>
                <a:ea typeface="Calibri" pitchFamily="34" charset="-122"/>
                <a:cs typeface="Calibri" pitchFamily="34" charset="-120"/>
              </a:rPr>
              <a:t>Un Product aparece en muchos OrderItem, aplicando control PEPS de caducidad automático.</a:t>
            </a:r>
            <a:endParaRPr lang="en-US" sz="1050" dirty="0"/>
          </a:p>
        </p:txBody>
      </p:sp>
      <p:sp>
        <p:nvSpPr>
          <p:cNvPr id="44" name="Text 42"/>
          <p:cNvSpPr txBox="1"/>
          <p:nvPr/>
        </p:nvSpPr>
        <p:spPr>
          <a:xfrm>
            <a:off x="8001000" y="4023360"/>
            <a:ext cx="3429000" cy="777240"/>
          </a:xfrm>
          <a:prstGeom prst="rect">
            <a:avLst/>
          </a:prstGeom>
          <a:noFill/>
          <a:ln/>
        </p:spPr>
        <p:txBody>
          <a:bodyPr wrap="square" lIns="0" tIns="0" rIns="0" bIns="0" rtlCol="0" anchor="ctr"/>
          <a:lstStyle/>
          <a:p>
            <a:pPr indent="0" marL="0">
              <a:lnSpc>
                <a:spcPts val="1450"/>
              </a:lnSpc>
              <a:buNone/>
            </a:pPr>
            <a:r>
              <a:rPr lang="en-US" sz="1050" dirty="0">
                <a:solidFill>
                  <a:srgbClr val="C97567"/>
                </a:solidFill>
                <a:latin typeface="Calibri" pitchFamily="34" charset="0"/>
                <a:ea typeface="Calibri" pitchFamily="34" charset="-122"/>
                <a:cs typeface="Calibri" pitchFamily="34" charset="-120"/>
              </a:rPr>
              <a:t>●  </a:t>
            </a:r>
            <a:pPr indent="0" marL="0">
              <a:lnSpc>
                <a:spcPts val="1450"/>
              </a:lnSpc>
              <a:buNone/>
            </a:pPr>
            <a:r>
              <a:rPr lang="en-US" sz="1050" dirty="0">
                <a:solidFill>
                  <a:srgbClr val="5B4A41"/>
                </a:solidFill>
                <a:latin typeface="Calibri" pitchFamily="34" charset="0"/>
                <a:ea typeface="Calibri" pitchFamily="34" charset="-122"/>
                <a:cs typeface="Calibri" pitchFamily="34" charset="-120"/>
              </a:rPr>
              <a:t>Muchos OrderItem se agregan a un único Order, que registra el bono ecológico aplicado.</a:t>
            </a:r>
            <a:endParaRPr lang="en-US" sz="1050" dirty="0"/>
          </a:p>
        </p:txBody>
      </p:sp>
      <p:sp>
        <p:nvSpPr>
          <p:cNvPr id="45" name="Text 43"/>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46" name="Text 44"/>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15. Modelado y Diseño: Diagrama de Secuencia (Patrón Saga y Reversas)</a:t>
            </a:r>
            <a:endParaRPr lang="en-US" sz="2500" dirty="0"/>
          </a:p>
        </p:txBody>
      </p:sp>
      <p:sp>
        <p:nvSpPr>
          <p:cNvPr id="4" name="Shape 2"/>
          <p:cNvSpPr/>
          <p:nvPr/>
        </p:nvSpPr>
        <p:spPr>
          <a:xfrm>
            <a:off x="182880" y="1554480"/>
            <a:ext cx="1554480" cy="365760"/>
          </a:xfrm>
          <a:prstGeom prst="roundRect">
            <a:avLst>
              <a:gd name="adj" fmla="val 15000"/>
            </a:avLst>
          </a:prstGeom>
          <a:solidFill>
            <a:srgbClr val="34241C"/>
          </a:solidFill>
          <a:ln/>
        </p:spPr>
      </p:sp>
      <p:sp>
        <p:nvSpPr>
          <p:cNvPr id="5" name="Text 3"/>
          <p:cNvSpPr txBox="1"/>
          <p:nvPr/>
        </p:nvSpPr>
        <p:spPr>
          <a:xfrm>
            <a:off x="182880" y="1554480"/>
            <a:ext cx="15544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Barista / POS</a:t>
            </a:r>
            <a:endParaRPr lang="en-US" sz="1000" dirty="0"/>
          </a:p>
        </p:txBody>
      </p:sp>
      <p:sp>
        <p:nvSpPr>
          <p:cNvPr id="6" name="Shape 4"/>
          <p:cNvSpPr/>
          <p:nvPr/>
        </p:nvSpPr>
        <p:spPr>
          <a:xfrm>
            <a:off x="960120" y="1920240"/>
            <a:ext cx="914" cy="4054450"/>
          </a:xfrm>
          <a:prstGeom prst="line">
            <a:avLst/>
          </a:prstGeom>
          <a:noFill/>
          <a:ln w="12700">
            <a:solidFill>
              <a:srgbClr val="D9C7BC"/>
            </a:solidFill>
            <a:prstDash val="dash"/>
          </a:ln>
        </p:spPr>
      </p:sp>
      <p:sp>
        <p:nvSpPr>
          <p:cNvPr id="7" name="Shape 5"/>
          <p:cNvSpPr/>
          <p:nvPr/>
        </p:nvSpPr>
        <p:spPr>
          <a:xfrm>
            <a:off x="2468880" y="1554480"/>
            <a:ext cx="1554480" cy="365760"/>
          </a:xfrm>
          <a:prstGeom prst="roundRect">
            <a:avLst>
              <a:gd name="adj" fmla="val 15000"/>
            </a:avLst>
          </a:prstGeom>
          <a:solidFill>
            <a:srgbClr val="34241C"/>
          </a:solidFill>
          <a:ln/>
        </p:spPr>
      </p:sp>
      <p:sp>
        <p:nvSpPr>
          <p:cNvPr id="8" name="Text 6"/>
          <p:cNvSpPr txBox="1"/>
          <p:nvPr/>
        </p:nvSpPr>
        <p:spPr>
          <a:xfrm>
            <a:off x="2468880" y="1554480"/>
            <a:ext cx="15544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API Gateway</a:t>
            </a:r>
            <a:endParaRPr lang="en-US" sz="1000" dirty="0"/>
          </a:p>
        </p:txBody>
      </p:sp>
      <p:sp>
        <p:nvSpPr>
          <p:cNvPr id="9" name="Shape 7"/>
          <p:cNvSpPr/>
          <p:nvPr/>
        </p:nvSpPr>
        <p:spPr>
          <a:xfrm>
            <a:off x="3246120" y="1920240"/>
            <a:ext cx="914" cy="4054450"/>
          </a:xfrm>
          <a:prstGeom prst="line">
            <a:avLst/>
          </a:prstGeom>
          <a:noFill/>
          <a:ln w="12700">
            <a:solidFill>
              <a:srgbClr val="D9C7BC"/>
            </a:solidFill>
            <a:prstDash val="dash"/>
          </a:ln>
        </p:spPr>
      </p:sp>
      <p:sp>
        <p:nvSpPr>
          <p:cNvPr id="10" name="Shape 8"/>
          <p:cNvSpPr/>
          <p:nvPr/>
        </p:nvSpPr>
        <p:spPr>
          <a:xfrm>
            <a:off x="4754880" y="1554480"/>
            <a:ext cx="1554480" cy="365760"/>
          </a:xfrm>
          <a:prstGeom prst="roundRect">
            <a:avLst>
              <a:gd name="adj" fmla="val 15000"/>
            </a:avLst>
          </a:prstGeom>
          <a:solidFill>
            <a:srgbClr val="34241C"/>
          </a:solidFill>
          <a:ln/>
        </p:spPr>
      </p:sp>
      <p:sp>
        <p:nvSpPr>
          <p:cNvPr id="11" name="Text 9"/>
          <p:cNvSpPr txBox="1"/>
          <p:nvPr/>
        </p:nvSpPr>
        <p:spPr>
          <a:xfrm>
            <a:off x="4754880" y="1554480"/>
            <a:ext cx="15544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RabbitMQ Bus</a:t>
            </a:r>
            <a:endParaRPr lang="en-US" sz="1000" dirty="0"/>
          </a:p>
        </p:txBody>
      </p:sp>
      <p:sp>
        <p:nvSpPr>
          <p:cNvPr id="12" name="Shape 10"/>
          <p:cNvSpPr/>
          <p:nvPr/>
        </p:nvSpPr>
        <p:spPr>
          <a:xfrm>
            <a:off x="5532120" y="1920240"/>
            <a:ext cx="914" cy="4054450"/>
          </a:xfrm>
          <a:prstGeom prst="line">
            <a:avLst/>
          </a:prstGeom>
          <a:noFill/>
          <a:ln w="12700">
            <a:solidFill>
              <a:srgbClr val="D9C7BC"/>
            </a:solidFill>
            <a:prstDash val="dash"/>
          </a:ln>
        </p:spPr>
      </p:sp>
      <p:sp>
        <p:nvSpPr>
          <p:cNvPr id="13" name="Shape 11"/>
          <p:cNvSpPr/>
          <p:nvPr/>
        </p:nvSpPr>
        <p:spPr>
          <a:xfrm>
            <a:off x="7132320" y="1554480"/>
            <a:ext cx="1554480" cy="365760"/>
          </a:xfrm>
          <a:prstGeom prst="roundRect">
            <a:avLst>
              <a:gd name="adj" fmla="val 15000"/>
            </a:avLst>
          </a:prstGeom>
          <a:solidFill>
            <a:srgbClr val="34241C"/>
          </a:solidFill>
          <a:ln/>
        </p:spPr>
      </p:sp>
      <p:sp>
        <p:nvSpPr>
          <p:cNvPr id="14" name="Text 12"/>
          <p:cNvSpPr txBox="1"/>
          <p:nvPr/>
        </p:nvSpPr>
        <p:spPr>
          <a:xfrm>
            <a:off x="7132320" y="1554480"/>
            <a:ext cx="15544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Saga Orchestrator</a:t>
            </a:r>
            <a:endParaRPr lang="en-US" sz="1000" dirty="0"/>
          </a:p>
        </p:txBody>
      </p:sp>
      <p:sp>
        <p:nvSpPr>
          <p:cNvPr id="15" name="Shape 13"/>
          <p:cNvSpPr/>
          <p:nvPr/>
        </p:nvSpPr>
        <p:spPr>
          <a:xfrm>
            <a:off x="7909560" y="1920240"/>
            <a:ext cx="914" cy="4054450"/>
          </a:xfrm>
          <a:prstGeom prst="line">
            <a:avLst/>
          </a:prstGeom>
          <a:noFill/>
          <a:ln w="12700">
            <a:solidFill>
              <a:srgbClr val="D9C7BC"/>
            </a:solidFill>
            <a:prstDash val="dash"/>
          </a:ln>
        </p:spPr>
      </p:sp>
      <p:sp>
        <p:nvSpPr>
          <p:cNvPr id="16" name="Shape 14"/>
          <p:cNvSpPr/>
          <p:nvPr/>
        </p:nvSpPr>
        <p:spPr>
          <a:xfrm>
            <a:off x="9646920" y="1554480"/>
            <a:ext cx="1554480" cy="365760"/>
          </a:xfrm>
          <a:prstGeom prst="roundRect">
            <a:avLst>
              <a:gd name="adj" fmla="val 15000"/>
            </a:avLst>
          </a:prstGeom>
          <a:solidFill>
            <a:srgbClr val="34241C"/>
          </a:solidFill>
          <a:ln/>
        </p:spPr>
      </p:sp>
      <p:sp>
        <p:nvSpPr>
          <p:cNvPr id="17" name="Text 15"/>
          <p:cNvSpPr txBox="1"/>
          <p:nvPr/>
        </p:nvSpPr>
        <p:spPr>
          <a:xfrm>
            <a:off x="9646920" y="1554480"/>
            <a:ext cx="15544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Inventory / DB</a:t>
            </a:r>
            <a:endParaRPr lang="en-US" sz="1000" dirty="0"/>
          </a:p>
        </p:txBody>
      </p:sp>
      <p:sp>
        <p:nvSpPr>
          <p:cNvPr id="18" name="Shape 16"/>
          <p:cNvSpPr/>
          <p:nvPr/>
        </p:nvSpPr>
        <p:spPr>
          <a:xfrm>
            <a:off x="10424160" y="1920240"/>
            <a:ext cx="914" cy="4054450"/>
          </a:xfrm>
          <a:prstGeom prst="line">
            <a:avLst/>
          </a:prstGeom>
          <a:noFill/>
          <a:ln w="12700">
            <a:solidFill>
              <a:srgbClr val="D9C7BC"/>
            </a:solidFill>
            <a:prstDash val="dash"/>
          </a:ln>
        </p:spPr>
      </p:sp>
      <p:sp>
        <p:nvSpPr>
          <p:cNvPr id="19" name="Shape 17"/>
          <p:cNvSpPr/>
          <p:nvPr/>
        </p:nvSpPr>
        <p:spPr>
          <a:xfrm>
            <a:off x="960120" y="2240280"/>
            <a:ext cx="2286000" cy="914"/>
          </a:xfrm>
          <a:prstGeom prst="line">
            <a:avLst/>
          </a:prstGeom>
          <a:noFill/>
          <a:ln w="22225">
            <a:solidFill>
              <a:srgbClr val="C97567"/>
            </a:solidFill>
            <a:prstDash val="solid"/>
            <a:tailEnd type="triangle"/>
          </a:ln>
        </p:spPr>
      </p:sp>
      <p:sp>
        <p:nvSpPr>
          <p:cNvPr id="20" name="Text 18"/>
          <p:cNvSpPr txBox="1"/>
          <p:nvPr/>
        </p:nvSpPr>
        <p:spPr>
          <a:xfrm>
            <a:off x="960120" y="2011680"/>
            <a:ext cx="2286000" cy="210312"/>
          </a:xfrm>
          <a:prstGeom prst="rect">
            <a:avLst/>
          </a:prstGeom>
          <a:noFill/>
          <a:ln/>
        </p:spPr>
        <p:txBody>
          <a:bodyPr wrap="square" lIns="0" tIns="0" rIns="0" bIns="0" rtlCol="0" anchor="ctr"/>
          <a:lstStyle/>
          <a:p>
            <a:pPr algn="ctr" indent="0" marL="0">
              <a:buNone/>
            </a:pPr>
            <a:r>
              <a:rPr lang="en-US" sz="870" b="1" dirty="0">
                <a:solidFill>
                  <a:srgbClr val="4B3B33"/>
                </a:solidFill>
                <a:latin typeface="Calibri" pitchFamily="34" charset="0"/>
                <a:ea typeface="Calibri" pitchFamily="34" charset="-122"/>
                <a:cs typeface="Calibri" pitchFamily="34" charset="-120"/>
              </a:rPr>
              <a:t>1. Enviar Venta (Items + Pagos)</a:t>
            </a:r>
            <a:endParaRPr lang="en-US" sz="870" dirty="0"/>
          </a:p>
        </p:txBody>
      </p:sp>
      <p:sp>
        <p:nvSpPr>
          <p:cNvPr id="21" name="Shape 19"/>
          <p:cNvSpPr/>
          <p:nvPr/>
        </p:nvSpPr>
        <p:spPr>
          <a:xfrm>
            <a:off x="3246120" y="2624328"/>
            <a:ext cx="2286000" cy="914"/>
          </a:xfrm>
          <a:prstGeom prst="line">
            <a:avLst/>
          </a:prstGeom>
          <a:noFill/>
          <a:ln w="22225">
            <a:solidFill>
              <a:srgbClr val="C97567"/>
            </a:solidFill>
            <a:prstDash val="solid"/>
            <a:tailEnd type="triangle"/>
          </a:ln>
        </p:spPr>
      </p:sp>
      <p:sp>
        <p:nvSpPr>
          <p:cNvPr id="22" name="Text 20"/>
          <p:cNvSpPr txBox="1"/>
          <p:nvPr/>
        </p:nvSpPr>
        <p:spPr>
          <a:xfrm>
            <a:off x="3246120" y="2395728"/>
            <a:ext cx="2286000" cy="210312"/>
          </a:xfrm>
          <a:prstGeom prst="rect">
            <a:avLst/>
          </a:prstGeom>
          <a:noFill/>
          <a:ln/>
        </p:spPr>
        <p:txBody>
          <a:bodyPr wrap="square" lIns="0" tIns="0" rIns="0" bIns="0" rtlCol="0" anchor="ctr"/>
          <a:lstStyle/>
          <a:p>
            <a:pPr algn="ctr" indent="0" marL="0">
              <a:buNone/>
            </a:pPr>
            <a:r>
              <a:rPr lang="en-US" sz="870" b="1" dirty="0">
                <a:solidFill>
                  <a:srgbClr val="4B3B33"/>
                </a:solidFill>
                <a:latin typeface="Calibri" pitchFamily="34" charset="0"/>
                <a:ea typeface="Calibri" pitchFamily="34" charset="-122"/>
                <a:cs typeface="Calibri" pitchFamily="34" charset="-120"/>
              </a:rPr>
              <a:t>2. Emitir Evento 'OrderPlaced'</a:t>
            </a:r>
            <a:endParaRPr lang="en-US" sz="870" dirty="0"/>
          </a:p>
        </p:txBody>
      </p:sp>
      <p:sp>
        <p:nvSpPr>
          <p:cNvPr id="23" name="Shape 21"/>
          <p:cNvSpPr/>
          <p:nvPr/>
        </p:nvSpPr>
        <p:spPr>
          <a:xfrm>
            <a:off x="5532120" y="3008376"/>
            <a:ext cx="2377440" cy="914"/>
          </a:xfrm>
          <a:prstGeom prst="line">
            <a:avLst/>
          </a:prstGeom>
          <a:noFill/>
          <a:ln w="22225">
            <a:solidFill>
              <a:srgbClr val="C97567"/>
            </a:solidFill>
            <a:prstDash val="solid"/>
            <a:tailEnd type="triangle"/>
          </a:ln>
        </p:spPr>
      </p:sp>
      <p:sp>
        <p:nvSpPr>
          <p:cNvPr id="24" name="Text 22"/>
          <p:cNvSpPr txBox="1"/>
          <p:nvPr/>
        </p:nvSpPr>
        <p:spPr>
          <a:xfrm>
            <a:off x="5532120" y="2779776"/>
            <a:ext cx="2377440" cy="210312"/>
          </a:xfrm>
          <a:prstGeom prst="rect">
            <a:avLst/>
          </a:prstGeom>
          <a:noFill/>
          <a:ln/>
        </p:spPr>
        <p:txBody>
          <a:bodyPr wrap="square" lIns="0" tIns="0" rIns="0" bIns="0" rtlCol="0" anchor="ctr"/>
          <a:lstStyle/>
          <a:p>
            <a:pPr algn="ctr" indent="0" marL="0">
              <a:buNone/>
            </a:pPr>
            <a:r>
              <a:rPr lang="en-US" sz="870" b="1" dirty="0">
                <a:solidFill>
                  <a:srgbClr val="4B3B33"/>
                </a:solidFill>
                <a:latin typeface="Calibri" pitchFamily="34" charset="0"/>
                <a:ea typeface="Calibri" pitchFamily="34" charset="-122"/>
                <a:cs typeface="Calibri" pitchFamily="34" charset="-120"/>
              </a:rPr>
              <a:t>3. Consumir Evento</a:t>
            </a:r>
            <a:endParaRPr lang="en-US" sz="870" dirty="0"/>
          </a:p>
        </p:txBody>
      </p:sp>
      <p:sp>
        <p:nvSpPr>
          <p:cNvPr id="25" name="Shape 23"/>
          <p:cNvSpPr/>
          <p:nvPr/>
        </p:nvSpPr>
        <p:spPr>
          <a:xfrm>
            <a:off x="7909560" y="3392424"/>
            <a:ext cx="2514600" cy="914"/>
          </a:xfrm>
          <a:prstGeom prst="line">
            <a:avLst/>
          </a:prstGeom>
          <a:noFill/>
          <a:ln w="22225">
            <a:solidFill>
              <a:srgbClr val="C97567"/>
            </a:solidFill>
            <a:prstDash val="solid"/>
            <a:tailEnd type="triangle"/>
          </a:ln>
        </p:spPr>
      </p:sp>
      <p:sp>
        <p:nvSpPr>
          <p:cNvPr id="26" name="Text 24"/>
          <p:cNvSpPr txBox="1"/>
          <p:nvPr/>
        </p:nvSpPr>
        <p:spPr>
          <a:xfrm>
            <a:off x="7909560" y="3163824"/>
            <a:ext cx="2514600" cy="210312"/>
          </a:xfrm>
          <a:prstGeom prst="rect">
            <a:avLst/>
          </a:prstGeom>
          <a:noFill/>
          <a:ln/>
        </p:spPr>
        <p:txBody>
          <a:bodyPr wrap="square" lIns="0" tIns="0" rIns="0" bIns="0" rtlCol="0" anchor="ctr"/>
          <a:lstStyle/>
          <a:p>
            <a:pPr algn="ctr" indent="0" marL="0">
              <a:buNone/>
            </a:pPr>
            <a:r>
              <a:rPr lang="en-US" sz="870" b="1" dirty="0">
                <a:solidFill>
                  <a:srgbClr val="4B3B33"/>
                </a:solidFill>
                <a:latin typeface="Calibri" pitchFamily="34" charset="0"/>
                <a:ea typeface="Calibri" pitchFamily="34" charset="-122"/>
                <a:cs typeface="Calibri" pitchFamily="34" charset="-120"/>
              </a:rPr>
              <a:t>4. Bloquear Stock (valida lote PEPS)</a:t>
            </a:r>
            <a:endParaRPr lang="en-US" sz="870" dirty="0"/>
          </a:p>
        </p:txBody>
      </p:sp>
      <p:sp>
        <p:nvSpPr>
          <p:cNvPr id="27" name="Shape 25"/>
          <p:cNvSpPr/>
          <p:nvPr/>
        </p:nvSpPr>
        <p:spPr>
          <a:xfrm flipH="1">
            <a:off x="7909560" y="3776472"/>
            <a:ext cx="2514600" cy="914"/>
          </a:xfrm>
          <a:prstGeom prst="line">
            <a:avLst/>
          </a:prstGeom>
          <a:noFill/>
          <a:ln w="22225">
            <a:solidFill>
              <a:srgbClr val="5F7355"/>
            </a:solidFill>
            <a:prstDash val="dash"/>
            <a:tailEnd type="triangle"/>
          </a:ln>
        </p:spPr>
      </p:sp>
      <p:sp>
        <p:nvSpPr>
          <p:cNvPr id="28" name="Text 26"/>
          <p:cNvSpPr txBox="1"/>
          <p:nvPr/>
        </p:nvSpPr>
        <p:spPr>
          <a:xfrm>
            <a:off x="7909560" y="3547872"/>
            <a:ext cx="2514600" cy="210312"/>
          </a:xfrm>
          <a:prstGeom prst="rect">
            <a:avLst/>
          </a:prstGeom>
          <a:noFill/>
          <a:ln/>
        </p:spPr>
        <p:txBody>
          <a:bodyPr wrap="square" lIns="0" tIns="0" rIns="0" bIns="0" rtlCol="0" anchor="ctr"/>
          <a:lstStyle/>
          <a:p>
            <a:pPr algn="ctr" indent="0" marL="0">
              <a:buNone/>
            </a:pPr>
            <a:r>
              <a:rPr lang="en-US" sz="870" b="1" dirty="0">
                <a:solidFill>
                  <a:srgbClr val="4B3B33"/>
                </a:solidFill>
                <a:latin typeface="Calibri" pitchFamily="34" charset="0"/>
                <a:ea typeface="Calibri" pitchFamily="34" charset="-122"/>
                <a:cs typeface="Calibri" pitchFamily="34" charset="-120"/>
              </a:rPr>
              <a:t>Stock OK</a:t>
            </a:r>
            <a:endParaRPr lang="en-US" sz="870" dirty="0"/>
          </a:p>
        </p:txBody>
      </p:sp>
      <p:sp>
        <p:nvSpPr>
          <p:cNvPr id="29" name="Shape 27"/>
          <p:cNvSpPr/>
          <p:nvPr/>
        </p:nvSpPr>
        <p:spPr>
          <a:xfrm>
            <a:off x="457200" y="4045306"/>
            <a:ext cx="11274552" cy="1792224"/>
          </a:xfrm>
          <a:prstGeom prst="rect">
            <a:avLst/>
          </a:prstGeom>
          <a:solidFill>
            <a:srgbClr val="F3D9D3"/>
          </a:solidFill>
          <a:ln/>
        </p:spPr>
      </p:sp>
      <p:sp>
        <p:nvSpPr>
          <p:cNvPr id="30" name="Text 28"/>
          <p:cNvSpPr txBox="1"/>
          <p:nvPr/>
        </p:nvSpPr>
        <p:spPr>
          <a:xfrm>
            <a:off x="594360" y="4100170"/>
            <a:ext cx="5486400" cy="201168"/>
          </a:xfrm>
          <a:prstGeom prst="rect">
            <a:avLst/>
          </a:prstGeom>
          <a:noFill/>
          <a:ln/>
        </p:spPr>
        <p:txBody>
          <a:bodyPr wrap="square" lIns="0" tIns="0" rIns="0" bIns="0" rtlCol="0" anchor="ctr"/>
          <a:lstStyle/>
          <a:p>
            <a:pPr indent="0" marL="0">
              <a:buNone/>
            </a:pPr>
            <a:r>
              <a:rPr lang="en-US" sz="850" b="1" spc="100" kern="0" dirty="0">
                <a:solidFill>
                  <a:srgbClr val="C97567"/>
                </a:solidFill>
                <a:latin typeface="Calibri" pitchFamily="34" charset="0"/>
                <a:ea typeface="Calibri" pitchFamily="34" charset="-122"/>
                <a:cs typeface="Calibri" pitchFamily="34" charset="-120"/>
              </a:rPr>
              <a:t>ESCENARIO DE FALLO EN PASARELA DE COBRO</a:t>
            </a:r>
            <a:endParaRPr lang="en-US" sz="850" dirty="0"/>
          </a:p>
        </p:txBody>
      </p:sp>
      <p:sp>
        <p:nvSpPr>
          <p:cNvPr id="31" name="Shape 29"/>
          <p:cNvSpPr/>
          <p:nvPr/>
        </p:nvSpPr>
        <p:spPr>
          <a:xfrm>
            <a:off x="960120" y="4045306"/>
            <a:ext cx="914" cy="1792224"/>
          </a:xfrm>
          <a:prstGeom prst="line">
            <a:avLst/>
          </a:prstGeom>
          <a:noFill/>
          <a:ln w="12700">
            <a:solidFill>
              <a:srgbClr val="E3B7AC"/>
            </a:solidFill>
            <a:prstDash val="dash"/>
          </a:ln>
        </p:spPr>
      </p:sp>
      <p:sp>
        <p:nvSpPr>
          <p:cNvPr id="32" name="Shape 30"/>
          <p:cNvSpPr/>
          <p:nvPr/>
        </p:nvSpPr>
        <p:spPr>
          <a:xfrm>
            <a:off x="3246120" y="4045306"/>
            <a:ext cx="914" cy="1792224"/>
          </a:xfrm>
          <a:prstGeom prst="line">
            <a:avLst/>
          </a:prstGeom>
          <a:noFill/>
          <a:ln w="12700">
            <a:solidFill>
              <a:srgbClr val="E3B7AC"/>
            </a:solidFill>
            <a:prstDash val="dash"/>
          </a:ln>
        </p:spPr>
      </p:sp>
      <p:sp>
        <p:nvSpPr>
          <p:cNvPr id="33" name="Shape 31"/>
          <p:cNvSpPr/>
          <p:nvPr/>
        </p:nvSpPr>
        <p:spPr>
          <a:xfrm>
            <a:off x="5532120" y="4045306"/>
            <a:ext cx="914" cy="1792224"/>
          </a:xfrm>
          <a:prstGeom prst="line">
            <a:avLst/>
          </a:prstGeom>
          <a:noFill/>
          <a:ln w="12700">
            <a:solidFill>
              <a:srgbClr val="E3B7AC"/>
            </a:solidFill>
            <a:prstDash val="dash"/>
          </a:ln>
        </p:spPr>
      </p:sp>
      <p:sp>
        <p:nvSpPr>
          <p:cNvPr id="34" name="Shape 32"/>
          <p:cNvSpPr/>
          <p:nvPr/>
        </p:nvSpPr>
        <p:spPr>
          <a:xfrm>
            <a:off x="7909560" y="4045306"/>
            <a:ext cx="914" cy="1792224"/>
          </a:xfrm>
          <a:prstGeom prst="line">
            <a:avLst/>
          </a:prstGeom>
          <a:noFill/>
          <a:ln w="12700">
            <a:solidFill>
              <a:srgbClr val="E3B7AC"/>
            </a:solidFill>
            <a:prstDash val="dash"/>
          </a:ln>
        </p:spPr>
      </p:sp>
      <p:sp>
        <p:nvSpPr>
          <p:cNvPr id="35" name="Shape 33"/>
          <p:cNvSpPr/>
          <p:nvPr/>
        </p:nvSpPr>
        <p:spPr>
          <a:xfrm>
            <a:off x="10424160" y="4045306"/>
            <a:ext cx="914" cy="1792224"/>
          </a:xfrm>
          <a:prstGeom prst="line">
            <a:avLst/>
          </a:prstGeom>
          <a:noFill/>
          <a:ln w="12700">
            <a:solidFill>
              <a:srgbClr val="E3B7AC"/>
            </a:solidFill>
            <a:prstDash val="dash"/>
          </a:ln>
        </p:spPr>
      </p:sp>
      <p:sp>
        <p:nvSpPr>
          <p:cNvPr id="36" name="Shape 34"/>
          <p:cNvSpPr/>
          <p:nvPr/>
        </p:nvSpPr>
        <p:spPr>
          <a:xfrm flipH="1">
            <a:off x="5532120" y="4411066"/>
            <a:ext cx="2377440" cy="914"/>
          </a:xfrm>
          <a:prstGeom prst="line">
            <a:avLst/>
          </a:prstGeom>
          <a:noFill/>
          <a:ln w="22225">
            <a:solidFill>
              <a:srgbClr val="C97567"/>
            </a:solidFill>
            <a:prstDash val="solid"/>
            <a:tailEnd type="triangle"/>
          </a:ln>
        </p:spPr>
      </p:sp>
      <p:sp>
        <p:nvSpPr>
          <p:cNvPr id="37" name="Text 35"/>
          <p:cNvSpPr txBox="1"/>
          <p:nvPr/>
        </p:nvSpPr>
        <p:spPr>
          <a:xfrm>
            <a:off x="5532120" y="4182466"/>
            <a:ext cx="2377440" cy="210312"/>
          </a:xfrm>
          <a:prstGeom prst="rect">
            <a:avLst/>
          </a:prstGeom>
          <a:noFill/>
          <a:ln/>
        </p:spPr>
        <p:txBody>
          <a:bodyPr wrap="square" lIns="0" tIns="0" rIns="0" bIns="0" rtlCol="0" anchor="ctr"/>
          <a:lstStyle/>
          <a:p>
            <a:pPr algn="ctr" indent="0" marL="0">
              <a:buNone/>
            </a:pPr>
            <a:r>
              <a:rPr lang="en-US" sz="870" b="1" dirty="0">
                <a:solidFill>
                  <a:srgbClr val="4B3B33"/>
                </a:solidFill>
                <a:latin typeface="Calibri" pitchFamily="34" charset="0"/>
                <a:ea typeface="Calibri" pitchFamily="34" charset="-122"/>
                <a:cs typeface="Calibri" pitchFamily="34" charset="-120"/>
              </a:rPr>
              <a:t>5. Emitir Compensación 'RevertStockEvent' (PaymentFailed)</a:t>
            </a:r>
            <a:endParaRPr lang="en-US" sz="870" dirty="0"/>
          </a:p>
        </p:txBody>
      </p:sp>
      <p:sp>
        <p:nvSpPr>
          <p:cNvPr id="38" name="Shape 36"/>
          <p:cNvSpPr/>
          <p:nvPr/>
        </p:nvSpPr>
        <p:spPr>
          <a:xfrm>
            <a:off x="7909560" y="4795114"/>
            <a:ext cx="2514600" cy="914"/>
          </a:xfrm>
          <a:prstGeom prst="line">
            <a:avLst/>
          </a:prstGeom>
          <a:noFill/>
          <a:ln w="22225">
            <a:solidFill>
              <a:srgbClr val="C97567"/>
            </a:solidFill>
            <a:prstDash val="solid"/>
            <a:tailEnd type="triangle"/>
          </a:ln>
        </p:spPr>
      </p:sp>
      <p:sp>
        <p:nvSpPr>
          <p:cNvPr id="39" name="Text 37"/>
          <p:cNvSpPr txBox="1"/>
          <p:nvPr/>
        </p:nvSpPr>
        <p:spPr>
          <a:xfrm>
            <a:off x="7909560" y="4566514"/>
            <a:ext cx="2514600" cy="210312"/>
          </a:xfrm>
          <a:prstGeom prst="rect">
            <a:avLst/>
          </a:prstGeom>
          <a:noFill/>
          <a:ln/>
        </p:spPr>
        <p:txBody>
          <a:bodyPr wrap="square" lIns="0" tIns="0" rIns="0" bIns="0" rtlCol="0" anchor="ctr"/>
          <a:lstStyle/>
          <a:p>
            <a:pPr algn="ctr" indent="0" marL="0">
              <a:buNone/>
            </a:pPr>
            <a:r>
              <a:rPr lang="en-US" sz="870" b="1" dirty="0">
                <a:solidFill>
                  <a:srgbClr val="4B3B33"/>
                </a:solidFill>
                <a:latin typeface="Calibri" pitchFamily="34" charset="0"/>
                <a:ea typeface="Calibri" pitchFamily="34" charset="-122"/>
                <a:cs typeface="Calibri" pitchFamily="34" charset="-120"/>
              </a:rPr>
              <a:t>6. Desbloquea Stock (Reversa Saga)</a:t>
            </a:r>
            <a:endParaRPr lang="en-US" sz="870" dirty="0"/>
          </a:p>
        </p:txBody>
      </p:sp>
      <p:sp>
        <p:nvSpPr>
          <p:cNvPr id="40" name="Shape 38"/>
          <p:cNvSpPr/>
          <p:nvPr/>
        </p:nvSpPr>
        <p:spPr>
          <a:xfrm flipH="1">
            <a:off x="3246120" y="5179162"/>
            <a:ext cx="2286000" cy="914"/>
          </a:xfrm>
          <a:prstGeom prst="line">
            <a:avLst/>
          </a:prstGeom>
          <a:noFill/>
          <a:ln w="22225">
            <a:solidFill>
              <a:srgbClr val="C97567"/>
            </a:solidFill>
            <a:prstDash val="solid"/>
            <a:tailEnd type="triangle"/>
          </a:ln>
        </p:spPr>
      </p:sp>
      <p:sp>
        <p:nvSpPr>
          <p:cNvPr id="41" name="Text 39"/>
          <p:cNvSpPr txBox="1"/>
          <p:nvPr/>
        </p:nvSpPr>
        <p:spPr>
          <a:xfrm>
            <a:off x="3246120" y="4950562"/>
            <a:ext cx="2286000" cy="210312"/>
          </a:xfrm>
          <a:prstGeom prst="rect">
            <a:avLst/>
          </a:prstGeom>
          <a:noFill/>
          <a:ln/>
        </p:spPr>
        <p:txBody>
          <a:bodyPr wrap="square" lIns="0" tIns="0" rIns="0" bIns="0" rtlCol="0" anchor="ctr"/>
          <a:lstStyle/>
          <a:p>
            <a:pPr algn="ctr" indent="0" marL="0">
              <a:buNone/>
            </a:pPr>
            <a:r>
              <a:rPr lang="en-US" sz="870" b="1" dirty="0">
                <a:solidFill>
                  <a:srgbClr val="4B3B33"/>
                </a:solidFill>
                <a:latin typeface="Calibri" pitchFamily="34" charset="0"/>
                <a:ea typeface="Calibri" pitchFamily="34" charset="-122"/>
                <a:cs typeface="Calibri" pitchFamily="34" charset="-120"/>
              </a:rPr>
              <a:t>7. Notificar (WebSocket / SSE)</a:t>
            </a:r>
            <a:endParaRPr lang="en-US" sz="870" dirty="0"/>
          </a:p>
        </p:txBody>
      </p:sp>
      <p:sp>
        <p:nvSpPr>
          <p:cNvPr id="42" name="Shape 40"/>
          <p:cNvSpPr/>
          <p:nvPr/>
        </p:nvSpPr>
        <p:spPr>
          <a:xfrm flipH="1">
            <a:off x="960120" y="5563210"/>
            <a:ext cx="2286000" cy="914"/>
          </a:xfrm>
          <a:prstGeom prst="line">
            <a:avLst/>
          </a:prstGeom>
          <a:noFill/>
          <a:ln w="22225">
            <a:solidFill>
              <a:srgbClr val="C97567"/>
            </a:solidFill>
            <a:prstDash val="solid"/>
            <a:tailEnd type="triangle"/>
          </a:ln>
        </p:spPr>
      </p:sp>
      <p:sp>
        <p:nvSpPr>
          <p:cNvPr id="43" name="Text 41"/>
          <p:cNvSpPr txBox="1"/>
          <p:nvPr/>
        </p:nvSpPr>
        <p:spPr>
          <a:xfrm>
            <a:off x="960120" y="5334610"/>
            <a:ext cx="2286000" cy="210312"/>
          </a:xfrm>
          <a:prstGeom prst="rect">
            <a:avLst/>
          </a:prstGeom>
          <a:noFill/>
          <a:ln/>
        </p:spPr>
        <p:txBody>
          <a:bodyPr wrap="square" lIns="0" tIns="0" rIns="0" bIns="0" rtlCol="0" anchor="ctr"/>
          <a:lstStyle/>
          <a:p>
            <a:pPr algn="ctr" indent="0" marL="0">
              <a:buNone/>
            </a:pPr>
            <a:r>
              <a:rPr lang="en-US" sz="870" b="1" dirty="0">
                <a:solidFill>
                  <a:srgbClr val="4B3B33"/>
                </a:solidFill>
                <a:latin typeface="Calibri" pitchFamily="34" charset="0"/>
                <a:ea typeface="Calibri" pitchFamily="34" charset="-122"/>
                <a:cs typeface="Calibri" pitchFamily="34" charset="-120"/>
              </a:rPr>
              <a:t>7. Alerta POS: 'Venta Revertida'</a:t>
            </a:r>
            <a:endParaRPr lang="en-US" sz="870" dirty="0"/>
          </a:p>
        </p:txBody>
      </p:sp>
      <p:sp>
        <p:nvSpPr>
          <p:cNvPr id="44" name="Shape 42"/>
          <p:cNvSpPr/>
          <p:nvPr/>
        </p:nvSpPr>
        <p:spPr>
          <a:xfrm>
            <a:off x="548640" y="6066130"/>
            <a:ext cx="11091672" cy="502920"/>
          </a:xfrm>
          <a:prstGeom prst="roundRect">
            <a:avLst>
              <a:gd name="adj" fmla="val 12727"/>
            </a:avLst>
          </a:prstGeom>
          <a:solidFill>
            <a:srgbClr val="FDF3EE"/>
          </a:solidFill>
          <a:ln w="12700"/>
        </p:spPr>
      </p:sp>
      <p:sp>
        <p:nvSpPr>
          <p:cNvPr id="45" name="Text 43"/>
          <p:cNvSpPr txBox="1"/>
          <p:nvPr/>
        </p:nvSpPr>
        <p:spPr>
          <a:xfrm>
            <a:off x="777240" y="6102706"/>
            <a:ext cx="10607040" cy="429768"/>
          </a:xfrm>
          <a:prstGeom prst="rect">
            <a:avLst/>
          </a:prstGeom>
          <a:noFill/>
          <a:ln/>
        </p:spPr>
        <p:txBody>
          <a:bodyPr wrap="square" lIns="0" tIns="0" rIns="0" bIns="0" rtlCol="0" anchor="ctr"/>
          <a:lstStyle/>
          <a:p>
            <a:pPr indent="0" marL="0">
              <a:lnSpc>
                <a:spcPts val="1350"/>
              </a:lnSpc>
              <a:buNone/>
            </a:pPr>
            <a:r>
              <a:rPr lang="en-US" sz="1050" b="1" dirty="0">
                <a:solidFill>
                  <a:srgbClr val="4B3B33"/>
                </a:solidFill>
                <a:latin typeface="Calibri" pitchFamily="34" charset="0"/>
                <a:ea typeface="Calibri" pitchFamily="34" charset="-122"/>
                <a:cs typeface="Calibri" pitchFamily="34" charset="-120"/>
              </a:rPr>
              <a:t>Garantía de negocio:  </a:t>
            </a:r>
            <a:pPr indent="0" marL="0">
              <a:lnSpc>
                <a:spcPts val="1350"/>
              </a:lnSpc>
              <a:buNone/>
            </a:pPr>
            <a:r>
              <a:rPr lang="en-US" sz="1050" dirty="0">
                <a:solidFill>
                  <a:srgbClr val="5B4A41"/>
                </a:solidFill>
                <a:latin typeface="Calibri" pitchFamily="34" charset="0"/>
                <a:ea typeface="Calibri" pitchFamily="34" charset="-122"/>
                <a:cs typeface="Calibri" pitchFamily="34" charset="-120"/>
              </a:rPr>
              <a:t>erradica discrepancias entre inventario físico y contable, aun si se pierde conexión con la pasarela bancaria.</a:t>
            </a:r>
            <a:endParaRPr lang="en-US" sz="1050" dirty="0"/>
          </a:p>
        </p:txBody>
      </p:sp>
      <p:sp>
        <p:nvSpPr>
          <p:cNvPr id="46" name="Text 44"/>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47" name="Text 45"/>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1E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C97567"/>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4B3B33"/>
                </a:solidFill>
                <a:latin typeface="Cambria" pitchFamily="34" charset="0"/>
                <a:ea typeface="Cambria" pitchFamily="34" charset="-122"/>
                <a:cs typeface="Cambria" pitchFamily="34" charset="-120"/>
              </a:rPr>
              <a:t>16. Modelado y Diseño: Wireframe y Arquitectura de Pantallas</a:t>
            </a:r>
            <a:endParaRPr lang="en-US" sz="2500" dirty="0"/>
          </a:p>
        </p:txBody>
      </p:sp>
      <p:sp>
        <p:nvSpPr>
          <p:cNvPr id="4" name="Shape 2"/>
          <p:cNvSpPr/>
          <p:nvPr/>
        </p:nvSpPr>
        <p:spPr>
          <a:xfrm>
            <a:off x="548640" y="1508760"/>
            <a:ext cx="7040880" cy="4709160"/>
          </a:xfrm>
          <a:prstGeom prst="roundRect">
            <a:avLst>
              <a:gd name="adj" fmla="val 971"/>
            </a:avLst>
          </a:prstGeom>
          <a:solidFill>
            <a:srgbClr val="FFFFFF"/>
          </a:solidFill>
          <a:ln w="12700"/>
        </p:spPr>
      </p:sp>
      <p:sp>
        <p:nvSpPr>
          <p:cNvPr id="5" name="Shape 3"/>
          <p:cNvSpPr/>
          <p:nvPr/>
        </p:nvSpPr>
        <p:spPr>
          <a:xfrm>
            <a:off x="548640" y="1508760"/>
            <a:ext cx="7040880" cy="502920"/>
          </a:xfrm>
          <a:prstGeom prst="rect">
            <a:avLst/>
          </a:prstGeom>
          <a:solidFill>
            <a:srgbClr val="F3D9D3"/>
          </a:solidFill>
          <a:ln/>
        </p:spPr>
      </p:sp>
      <p:sp>
        <p:nvSpPr>
          <p:cNvPr id="6" name="Text 4"/>
          <p:cNvSpPr txBox="1"/>
          <p:nvPr/>
        </p:nvSpPr>
        <p:spPr>
          <a:xfrm>
            <a:off x="731520" y="1508760"/>
            <a:ext cx="2743200" cy="502920"/>
          </a:xfrm>
          <a:prstGeom prst="rect">
            <a:avLst/>
          </a:prstGeom>
          <a:noFill/>
          <a:ln/>
        </p:spPr>
        <p:txBody>
          <a:bodyPr wrap="square" lIns="0" tIns="0" rIns="0" bIns="0" rtlCol="0" anchor="ctr"/>
          <a:lstStyle/>
          <a:p>
            <a:pPr indent="0" marL="0">
              <a:buNone/>
            </a:pPr>
            <a:r>
              <a:rPr lang="en-US" sz="1300" b="1" dirty="0">
                <a:solidFill>
                  <a:srgbClr val="4B3B33"/>
                </a:solidFill>
                <a:latin typeface="Cambria" pitchFamily="34" charset="0"/>
                <a:ea typeface="Cambria" pitchFamily="34" charset="-122"/>
                <a:cs typeface="Cambria" pitchFamily="34" charset="-120"/>
              </a:rPr>
              <a:t>☕  MONCHIS CAFÉ POS</a:t>
            </a:r>
            <a:endParaRPr lang="en-US" sz="1300" dirty="0"/>
          </a:p>
        </p:txBody>
      </p:sp>
      <p:sp>
        <p:nvSpPr>
          <p:cNvPr id="7" name="Text 5"/>
          <p:cNvSpPr txBox="1"/>
          <p:nvPr/>
        </p:nvSpPr>
        <p:spPr>
          <a:xfrm>
            <a:off x="3474720" y="1508760"/>
            <a:ext cx="2011680" cy="502920"/>
          </a:xfrm>
          <a:prstGeom prst="rect">
            <a:avLst/>
          </a:prstGeom>
          <a:noFill/>
          <a:ln/>
        </p:spPr>
        <p:txBody>
          <a:bodyPr wrap="square" lIns="0" tIns="0" rIns="0" bIns="0" rtlCol="0" anchor="ctr"/>
          <a:lstStyle/>
          <a:p>
            <a:pPr indent="0" marL="0">
              <a:buNone/>
            </a:pPr>
            <a:r>
              <a:rPr lang="en-US" sz="1000" dirty="0">
                <a:solidFill>
                  <a:srgbClr val="5B4A41"/>
                </a:solidFill>
                <a:latin typeface="Calibri" pitchFamily="34" charset="0"/>
                <a:ea typeface="Calibri" pitchFamily="34" charset="-122"/>
                <a:cs typeface="Calibri" pitchFamily="34" charset="-120"/>
              </a:rPr>
              <a:t>Barista: Ernesto</a:t>
            </a:r>
            <a:endParaRPr lang="en-US" sz="1000" dirty="0"/>
          </a:p>
        </p:txBody>
      </p:sp>
      <p:sp>
        <p:nvSpPr>
          <p:cNvPr id="8" name="Text 6"/>
          <p:cNvSpPr txBox="1"/>
          <p:nvPr/>
        </p:nvSpPr>
        <p:spPr>
          <a:xfrm>
            <a:off x="6400800" y="1508760"/>
            <a:ext cx="1005840" cy="502920"/>
          </a:xfrm>
          <a:prstGeom prst="rect">
            <a:avLst/>
          </a:prstGeom>
          <a:noFill/>
          <a:ln/>
        </p:spPr>
        <p:txBody>
          <a:bodyPr wrap="square" lIns="0" tIns="0" rIns="0" bIns="0" rtlCol="0" anchor="ctr"/>
          <a:lstStyle/>
          <a:p>
            <a:pPr algn="r" indent="0" marL="0">
              <a:buNone/>
            </a:pPr>
            <a:r>
              <a:rPr lang="en-US" sz="1000" dirty="0">
                <a:solidFill>
                  <a:srgbClr val="5B4A41"/>
                </a:solidFill>
                <a:latin typeface="Calibri" pitchFamily="34" charset="0"/>
                <a:ea typeface="Calibri" pitchFamily="34" charset="-122"/>
                <a:cs typeface="Calibri" pitchFamily="34" charset="-120"/>
              </a:rPr>
              <a:t>14:35 PM</a:t>
            </a:r>
            <a:endParaRPr lang="en-US" sz="1000" dirty="0"/>
          </a:p>
        </p:txBody>
      </p:sp>
      <p:sp>
        <p:nvSpPr>
          <p:cNvPr id="9" name="Text 7"/>
          <p:cNvSpPr txBox="1"/>
          <p:nvPr/>
        </p:nvSpPr>
        <p:spPr>
          <a:xfrm>
            <a:off x="731520" y="2194560"/>
            <a:ext cx="3794760" cy="228600"/>
          </a:xfrm>
          <a:prstGeom prst="rect">
            <a:avLst/>
          </a:prstGeom>
          <a:noFill/>
          <a:ln/>
        </p:spPr>
        <p:txBody>
          <a:bodyPr wrap="square" lIns="0" tIns="0" rIns="0" bIns="0" rtlCol="0" anchor="ctr"/>
          <a:lstStyle/>
          <a:p>
            <a:pPr indent="0" marL="0">
              <a:buNone/>
            </a:pPr>
            <a:r>
              <a:rPr lang="en-US" sz="900" b="1" spc="100" kern="0" dirty="0">
                <a:solidFill>
                  <a:srgbClr val="C97567"/>
                </a:solidFill>
                <a:latin typeface="Calibri" pitchFamily="34" charset="0"/>
                <a:ea typeface="Calibri" pitchFamily="34" charset="-122"/>
                <a:cs typeface="Calibri" pitchFamily="34" charset="-120"/>
              </a:rPr>
              <a:t>CATEGORÍAS DE CAFÉ</a:t>
            </a:r>
            <a:endParaRPr lang="en-US" sz="900" dirty="0"/>
          </a:p>
        </p:txBody>
      </p:sp>
      <p:sp>
        <p:nvSpPr>
          <p:cNvPr id="10" name="Shape 8"/>
          <p:cNvSpPr/>
          <p:nvPr/>
        </p:nvSpPr>
        <p:spPr>
          <a:xfrm>
            <a:off x="731520" y="2468880"/>
            <a:ext cx="1188720" cy="329184"/>
          </a:xfrm>
          <a:prstGeom prst="roundRect">
            <a:avLst>
              <a:gd name="adj" fmla="val 50000"/>
            </a:avLst>
          </a:prstGeom>
          <a:solidFill>
            <a:srgbClr val="C97567"/>
          </a:solidFill>
          <a:ln w="12700"/>
        </p:spPr>
      </p:sp>
      <p:sp>
        <p:nvSpPr>
          <p:cNvPr id="11" name="Text 9"/>
          <p:cNvSpPr txBox="1"/>
          <p:nvPr/>
        </p:nvSpPr>
        <p:spPr>
          <a:xfrm>
            <a:off x="731520" y="2468880"/>
            <a:ext cx="118872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Espresso</a:t>
            </a:r>
            <a:endParaRPr lang="en-US" sz="900" dirty="0"/>
          </a:p>
        </p:txBody>
      </p:sp>
      <p:sp>
        <p:nvSpPr>
          <p:cNvPr id="12" name="Shape 10"/>
          <p:cNvSpPr/>
          <p:nvPr/>
        </p:nvSpPr>
        <p:spPr>
          <a:xfrm>
            <a:off x="2057400" y="2468880"/>
            <a:ext cx="1188720" cy="329184"/>
          </a:xfrm>
          <a:prstGeom prst="roundRect">
            <a:avLst>
              <a:gd name="adj" fmla="val 50000"/>
            </a:avLst>
          </a:prstGeom>
          <a:solidFill>
            <a:srgbClr val="FDF3EE"/>
          </a:solidFill>
          <a:ln w="12700">
            <a:solidFill>
              <a:srgbClr val="E8DCD4"/>
            </a:solidFill>
            <a:prstDash val="solid"/>
          </a:ln>
        </p:spPr>
      </p:sp>
      <p:sp>
        <p:nvSpPr>
          <p:cNvPr id="13" name="Text 11"/>
          <p:cNvSpPr txBox="1"/>
          <p:nvPr/>
        </p:nvSpPr>
        <p:spPr>
          <a:xfrm>
            <a:off x="2057400" y="2468880"/>
            <a:ext cx="1188720" cy="329184"/>
          </a:xfrm>
          <a:prstGeom prst="rect">
            <a:avLst/>
          </a:prstGeom>
          <a:noFill/>
          <a:ln/>
        </p:spPr>
        <p:txBody>
          <a:bodyPr wrap="square" lIns="0" tIns="0" rIns="0" bIns="0" rtlCol="0" anchor="ctr"/>
          <a:lstStyle/>
          <a:p>
            <a:pPr algn="ctr" indent="0" marL="0">
              <a:buNone/>
            </a:pPr>
            <a:r>
              <a:rPr lang="en-US" sz="900" b="1" dirty="0">
                <a:solidFill>
                  <a:srgbClr val="5B4A41"/>
                </a:solidFill>
                <a:latin typeface="Calibri" pitchFamily="34" charset="0"/>
                <a:ea typeface="Calibri" pitchFamily="34" charset="-122"/>
                <a:cs typeface="Calibri" pitchFamily="34" charset="-120"/>
              </a:rPr>
              <a:t>Latte</a:t>
            </a:r>
            <a:endParaRPr lang="en-US" sz="900" dirty="0"/>
          </a:p>
        </p:txBody>
      </p:sp>
      <p:sp>
        <p:nvSpPr>
          <p:cNvPr id="14" name="Shape 12"/>
          <p:cNvSpPr/>
          <p:nvPr/>
        </p:nvSpPr>
        <p:spPr>
          <a:xfrm>
            <a:off x="3383280" y="2468880"/>
            <a:ext cx="1188720" cy="329184"/>
          </a:xfrm>
          <a:prstGeom prst="roundRect">
            <a:avLst>
              <a:gd name="adj" fmla="val 50000"/>
            </a:avLst>
          </a:prstGeom>
          <a:solidFill>
            <a:srgbClr val="FDF3EE"/>
          </a:solidFill>
          <a:ln w="12700">
            <a:solidFill>
              <a:srgbClr val="E8DCD4"/>
            </a:solidFill>
            <a:prstDash val="solid"/>
          </a:ln>
        </p:spPr>
      </p:sp>
      <p:sp>
        <p:nvSpPr>
          <p:cNvPr id="15" name="Text 13"/>
          <p:cNvSpPr txBox="1"/>
          <p:nvPr/>
        </p:nvSpPr>
        <p:spPr>
          <a:xfrm>
            <a:off x="3383280" y="2468880"/>
            <a:ext cx="1188720" cy="329184"/>
          </a:xfrm>
          <a:prstGeom prst="rect">
            <a:avLst/>
          </a:prstGeom>
          <a:noFill/>
          <a:ln/>
        </p:spPr>
        <p:txBody>
          <a:bodyPr wrap="square" lIns="0" tIns="0" rIns="0" bIns="0" rtlCol="0" anchor="ctr"/>
          <a:lstStyle/>
          <a:p>
            <a:pPr algn="ctr" indent="0" marL="0">
              <a:buNone/>
            </a:pPr>
            <a:r>
              <a:rPr lang="en-US" sz="900" b="1" dirty="0">
                <a:solidFill>
                  <a:srgbClr val="5B4A41"/>
                </a:solidFill>
                <a:latin typeface="Calibri" pitchFamily="34" charset="0"/>
                <a:ea typeface="Calibri" pitchFamily="34" charset="-122"/>
                <a:cs typeface="Calibri" pitchFamily="34" charset="-120"/>
              </a:rPr>
              <a:t>Cold Brew</a:t>
            </a:r>
            <a:endParaRPr lang="en-US" sz="900" dirty="0"/>
          </a:p>
        </p:txBody>
      </p:sp>
      <p:sp>
        <p:nvSpPr>
          <p:cNvPr id="16" name="Shape 14"/>
          <p:cNvSpPr/>
          <p:nvPr/>
        </p:nvSpPr>
        <p:spPr>
          <a:xfrm>
            <a:off x="731520" y="2971800"/>
            <a:ext cx="1805940" cy="868680"/>
          </a:xfrm>
          <a:prstGeom prst="roundRect">
            <a:avLst>
              <a:gd name="adj" fmla="val 6316"/>
            </a:avLst>
          </a:prstGeom>
          <a:solidFill>
            <a:srgbClr val="FDF3EE"/>
          </a:solidFill>
          <a:ln w="12700">
            <a:solidFill>
              <a:srgbClr val="E8DCD4"/>
            </a:solidFill>
            <a:prstDash val="solid"/>
          </a:ln>
        </p:spPr>
      </p:sp>
      <p:sp>
        <p:nvSpPr>
          <p:cNvPr id="17" name="Text 15"/>
          <p:cNvSpPr txBox="1"/>
          <p:nvPr/>
        </p:nvSpPr>
        <p:spPr>
          <a:xfrm>
            <a:off x="868680" y="3081528"/>
            <a:ext cx="1531620" cy="274320"/>
          </a:xfrm>
          <a:prstGeom prst="rect">
            <a:avLst/>
          </a:prstGeom>
          <a:noFill/>
          <a:ln/>
        </p:spPr>
        <p:txBody>
          <a:bodyPr wrap="square" lIns="0" tIns="0" rIns="0" bIns="0" rtlCol="0" anchor="ctr"/>
          <a:lstStyle/>
          <a:p>
            <a:pPr indent="0" marL="0">
              <a:buNone/>
            </a:pPr>
            <a:r>
              <a:rPr lang="en-US" sz="1050" b="1" dirty="0">
                <a:solidFill>
                  <a:srgbClr val="4B3B33"/>
                </a:solidFill>
                <a:latin typeface="Calibri" pitchFamily="34" charset="0"/>
                <a:ea typeface="Calibri" pitchFamily="34" charset="-122"/>
                <a:cs typeface="Calibri" pitchFamily="34" charset="-120"/>
              </a:rPr>
              <a:t>Americano</a:t>
            </a:r>
            <a:endParaRPr lang="en-US" sz="1050" dirty="0"/>
          </a:p>
        </p:txBody>
      </p:sp>
      <p:sp>
        <p:nvSpPr>
          <p:cNvPr id="18" name="Text 16"/>
          <p:cNvSpPr txBox="1"/>
          <p:nvPr/>
        </p:nvSpPr>
        <p:spPr>
          <a:xfrm>
            <a:off x="868680" y="3383280"/>
            <a:ext cx="1531620" cy="320040"/>
          </a:xfrm>
          <a:prstGeom prst="rect">
            <a:avLst/>
          </a:prstGeom>
          <a:noFill/>
          <a:ln/>
        </p:spPr>
        <p:txBody>
          <a:bodyPr wrap="square" lIns="0" tIns="0" rIns="0" bIns="0" rtlCol="0" anchor="ctr"/>
          <a:lstStyle/>
          <a:p>
            <a:pPr indent="0" marL="0">
              <a:buNone/>
            </a:pPr>
            <a:r>
              <a:rPr lang="en-US" sz="1300" b="1" dirty="0">
                <a:solidFill>
                  <a:srgbClr val="C97567"/>
                </a:solidFill>
                <a:latin typeface="Cambria" pitchFamily="34" charset="0"/>
                <a:ea typeface="Cambria" pitchFamily="34" charset="-122"/>
                <a:cs typeface="Cambria" pitchFamily="34" charset="-120"/>
              </a:rPr>
              <a:t>$45.00</a:t>
            </a:r>
            <a:endParaRPr lang="en-US" sz="1300" dirty="0"/>
          </a:p>
        </p:txBody>
      </p:sp>
      <p:sp>
        <p:nvSpPr>
          <p:cNvPr id="19" name="Shape 17"/>
          <p:cNvSpPr/>
          <p:nvPr/>
        </p:nvSpPr>
        <p:spPr>
          <a:xfrm>
            <a:off x="2720340" y="2971800"/>
            <a:ext cx="1805940" cy="868680"/>
          </a:xfrm>
          <a:prstGeom prst="roundRect">
            <a:avLst>
              <a:gd name="adj" fmla="val 6316"/>
            </a:avLst>
          </a:prstGeom>
          <a:solidFill>
            <a:srgbClr val="FDF3EE"/>
          </a:solidFill>
          <a:ln w="12700">
            <a:solidFill>
              <a:srgbClr val="E8DCD4"/>
            </a:solidFill>
            <a:prstDash val="solid"/>
          </a:ln>
        </p:spPr>
      </p:sp>
      <p:sp>
        <p:nvSpPr>
          <p:cNvPr id="20" name="Text 18"/>
          <p:cNvSpPr txBox="1"/>
          <p:nvPr/>
        </p:nvSpPr>
        <p:spPr>
          <a:xfrm>
            <a:off x="2857500" y="3081528"/>
            <a:ext cx="1531620" cy="274320"/>
          </a:xfrm>
          <a:prstGeom prst="rect">
            <a:avLst/>
          </a:prstGeom>
          <a:noFill/>
          <a:ln/>
        </p:spPr>
        <p:txBody>
          <a:bodyPr wrap="square" lIns="0" tIns="0" rIns="0" bIns="0" rtlCol="0" anchor="ctr"/>
          <a:lstStyle/>
          <a:p>
            <a:pPr indent="0" marL="0">
              <a:buNone/>
            </a:pPr>
            <a:r>
              <a:rPr lang="en-US" sz="1050" b="1" dirty="0">
                <a:solidFill>
                  <a:srgbClr val="4B3B33"/>
                </a:solidFill>
                <a:latin typeface="Calibri" pitchFamily="34" charset="0"/>
                <a:ea typeface="Calibri" pitchFamily="34" charset="-122"/>
                <a:cs typeface="Calibri" pitchFamily="34" charset="-120"/>
              </a:rPr>
              <a:t>Flat White</a:t>
            </a:r>
            <a:endParaRPr lang="en-US" sz="1050" dirty="0"/>
          </a:p>
        </p:txBody>
      </p:sp>
      <p:sp>
        <p:nvSpPr>
          <p:cNvPr id="21" name="Text 19"/>
          <p:cNvSpPr txBox="1"/>
          <p:nvPr/>
        </p:nvSpPr>
        <p:spPr>
          <a:xfrm>
            <a:off x="2857500" y="3383280"/>
            <a:ext cx="1531620" cy="320040"/>
          </a:xfrm>
          <a:prstGeom prst="rect">
            <a:avLst/>
          </a:prstGeom>
          <a:noFill/>
          <a:ln/>
        </p:spPr>
        <p:txBody>
          <a:bodyPr wrap="square" lIns="0" tIns="0" rIns="0" bIns="0" rtlCol="0" anchor="ctr"/>
          <a:lstStyle/>
          <a:p>
            <a:pPr indent="0" marL="0">
              <a:buNone/>
            </a:pPr>
            <a:r>
              <a:rPr lang="en-US" sz="1300" b="1" dirty="0">
                <a:solidFill>
                  <a:srgbClr val="C97567"/>
                </a:solidFill>
                <a:latin typeface="Cambria" pitchFamily="34" charset="0"/>
                <a:ea typeface="Cambria" pitchFamily="34" charset="-122"/>
                <a:cs typeface="Cambria" pitchFamily="34" charset="-120"/>
              </a:rPr>
              <a:t>$60.00</a:t>
            </a:r>
            <a:endParaRPr lang="en-US" sz="1300" dirty="0"/>
          </a:p>
        </p:txBody>
      </p:sp>
      <p:sp>
        <p:nvSpPr>
          <p:cNvPr id="22" name="Shape 20"/>
          <p:cNvSpPr/>
          <p:nvPr/>
        </p:nvSpPr>
        <p:spPr>
          <a:xfrm>
            <a:off x="731520" y="3977640"/>
            <a:ext cx="1805940" cy="868680"/>
          </a:xfrm>
          <a:prstGeom prst="roundRect">
            <a:avLst>
              <a:gd name="adj" fmla="val 6316"/>
            </a:avLst>
          </a:prstGeom>
          <a:solidFill>
            <a:srgbClr val="FDF3EE"/>
          </a:solidFill>
          <a:ln w="12700">
            <a:solidFill>
              <a:srgbClr val="E8DCD4"/>
            </a:solidFill>
            <a:prstDash val="solid"/>
          </a:ln>
        </p:spPr>
      </p:sp>
      <p:sp>
        <p:nvSpPr>
          <p:cNvPr id="23" name="Text 21"/>
          <p:cNvSpPr txBox="1"/>
          <p:nvPr/>
        </p:nvSpPr>
        <p:spPr>
          <a:xfrm>
            <a:off x="868680" y="4087368"/>
            <a:ext cx="1531620" cy="274320"/>
          </a:xfrm>
          <a:prstGeom prst="rect">
            <a:avLst/>
          </a:prstGeom>
          <a:noFill/>
          <a:ln/>
        </p:spPr>
        <p:txBody>
          <a:bodyPr wrap="square" lIns="0" tIns="0" rIns="0" bIns="0" rtlCol="0" anchor="ctr"/>
          <a:lstStyle/>
          <a:p>
            <a:pPr indent="0" marL="0">
              <a:buNone/>
            </a:pPr>
            <a:r>
              <a:rPr lang="en-US" sz="1050" b="1" dirty="0">
                <a:solidFill>
                  <a:srgbClr val="4B3B33"/>
                </a:solidFill>
                <a:latin typeface="Calibri" pitchFamily="34" charset="0"/>
                <a:ea typeface="Calibri" pitchFamily="34" charset="-122"/>
                <a:cs typeface="Calibri" pitchFamily="34" charset="-120"/>
              </a:rPr>
              <a:t>Mocha</a:t>
            </a:r>
            <a:endParaRPr lang="en-US" sz="1050" dirty="0"/>
          </a:p>
        </p:txBody>
      </p:sp>
      <p:sp>
        <p:nvSpPr>
          <p:cNvPr id="24" name="Text 22"/>
          <p:cNvSpPr txBox="1"/>
          <p:nvPr/>
        </p:nvSpPr>
        <p:spPr>
          <a:xfrm>
            <a:off x="868680" y="4389120"/>
            <a:ext cx="1531620" cy="320040"/>
          </a:xfrm>
          <a:prstGeom prst="rect">
            <a:avLst/>
          </a:prstGeom>
          <a:noFill/>
          <a:ln/>
        </p:spPr>
        <p:txBody>
          <a:bodyPr wrap="square" lIns="0" tIns="0" rIns="0" bIns="0" rtlCol="0" anchor="ctr"/>
          <a:lstStyle/>
          <a:p>
            <a:pPr indent="0" marL="0">
              <a:buNone/>
            </a:pPr>
            <a:r>
              <a:rPr lang="en-US" sz="1300" b="1" dirty="0">
                <a:solidFill>
                  <a:srgbClr val="C97567"/>
                </a:solidFill>
                <a:latin typeface="Cambria" pitchFamily="34" charset="0"/>
                <a:ea typeface="Cambria" pitchFamily="34" charset="-122"/>
                <a:cs typeface="Cambria" pitchFamily="34" charset="-120"/>
              </a:rPr>
              <a:t>$68.00</a:t>
            </a:r>
            <a:endParaRPr lang="en-US" sz="1300" dirty="0"/>
          </a:p>
        </p:txBody>
      </p:sp>
      <p:sp>
        <p:nvSpPr>
          <p:cNvPr id="25" name="Shape 23"/>
          <p:cNvSpPr/>
          <p:nvPr/>
        </p:nvSpPr>
        <p:spPr>
          <a:xfrm>
            <a:off x="2720340" y="3977640"/>
            <a:ext cx="1805940" cy="868680"/>
          </a:xfrm>
          <a:prstGeom prst="roundRect">
            <a:avLst>
              <a:gd name="adj" fmla="val 6316"/>
            </a:avLst>
          </a:prstGeom>
          <a:solidFill>
            <a:srgbClr val="FDF3EE"/>
          </a:solidFill>
          <a:ln w="12700">
            <a:solidFill>
              <a:srgbClr val="E8DCD4"/>
            </a:solidFill>
            <a:prstDash val="solid"/>
          </a:ln>
        </p:spPr>
      </p:sp>
      <p:sp>
        <p:nvSpPr>
          <p:cNvPr id="26" name="Text 24"/>
          <p:cNvSpPr txBox="1"/>
          <p:nvPr/>
        </p:nvSpPr>
        <p:spPr>
          <a:xfrm>
            <a:off x="2857500" y="4087368"/>
            <a:ext cx="1531620" cy="274320"/>
          </a:xfrm>
          <a:prstGeom prst="rect">
            <a:avLst/>
          </a:prstGeom>
          <a:noFill/>
          <a:ln/>
        </p:spPr>
        <p:txBody>
          <a:bodyPr wrap="square" lIns="0" tIns="0" rIns="0" bIns="0" rtlCol="0" anchor="ctr"/>
          <a:lstStyle/>
          <a:p>
            <a:pPr indent="0" marL="0">
              <a:buNone/>
            </a:pPr>
            <a:r>
              <a:rPr lang="en-US" sz="1050" b="1" dirty="0">
                <a:solidFill>
                  <a:srgbClr val="4B3B33"/>
                </a:solidFill>
                <a:latin typeface="Calibri" pitchFamily="34" charset="0"/>
                <a:ea typeface="Calibri" pitchFamily="34" charset="-122"/>
                <a:cs typeface="Calibri" pitchFamily="34" charset="-120"/>
              </a:rPr>
              <a:t>Pour Over</a:t>
            </a:r>
            <a:endParaRPr lang="en-US" sz="1050" dirty="0"/>
          </a:p>
        </p:txBody>
      </p:sp>
      <p:sp>
        <p:nvSpPr>
          <p:cNvPr id="27" name="Text 25"/>
          <p:cNvSpPr txBox="1"/>
          <p:nvPr/>
        </p:nvSpPr>
        <p:spPr>
          <a:xfrm>
            <a:off x="2857500" y="4389120"/>
            <a:ext cx="1531620" cy="320040"/>
          </a:xfrm>
          <a:prstGeom prst="rect">
            <a:avLst/>
          </a:prstGeom>
          <a:noFill/>
          <a:ln/>
        </p:spPr>
        <p:txBody>
          <a:bodyPr wrap="square" lIns="0" tIns="0" rIns="0" bIns="0" rtlCol="0" anchor="ctr"/>
          <a:lstStyle/>
          <a:p>
            <a:pPr indent="0" marL="0">
              <a:buNone/>
            </a:pPr>
            <a:r>
              <a:rPr lang="en-US" sz="1300" b="1" dirty="0">
                <a:solidFill>
                  <a:srgbClr val="C97567"/>
                </a:solidFill>
                <a:latin typeface="Cambria" pitchFamily="34" charset="0"/>
                <a:ea typeface="Cambria" pitchFamily="34" charset="-122"/>
                <a:cs typeface="Cambria" pitchFamily="34" charset="-120"/>
              </a:rPr>
              <a:t>$75.00</a:t>
            </a:r>
            <a:endParaRPr lang="en-US" sz="1300" dirty="0"/>
          </a:p>
        </p:txBody>
      </p:sp>
      <p:sp>
        <p:nvSpPr>
          <p:cNvPr id="28" name="Shape 26"/>
          <p:cNvSpPr/>
          <p:nvPr/>
        </p:nvSpPr>
        <p:spPr>
          <a:xfrm>
            <a:off x="731520" y="5029200"/>
            <a:ext cx="3611880" cy="365760"/>
          </a:xfrm>
          <a:prstGeom prst="roundRect">
            <a:avLst>
              <a:gd name="adj" fmla="val 15000"/>
            </a:avLst>
          </a:prstGeom>
          <a:solidFill>
            <a:srgbClr val="E5EADB"/>
          </a:solidFill>
          <a:ln/>
        </p:spPr>
      </p:sp>
      <p:sp>
        <p:nvSpPr>
          <p:cNvPr id="29" name="Text 27"/>
          <p:cNvSpPr txBox="1"/>
          <p:nvPr/>
        </p:nvSpPr>
        <p:spPr>
          <a:xfrm>
            <a:off x="731520" y="5029200"/>
            <a:ext cx="3611880" cy="365760"/>
          </a:xfrm>
          <a:prstGeom prst="rect">
            <a:avLst/>
          </a:prstGeom>
          <a:noFill/>
          <a:ln/>
        </p:spPr>
        <p:txBody>
          <a:bodyPr wrap="square" lIns="0" tIns="0" rIns="0" bIns="0" rtlCol="0" anchor="ctr"/>
          <a:lstStyle/>
          <a:p>
            <a:pPr algn="ctr" indent="0" marL="0">
              <a:buNone/>
            </a:pPr>
            <a:r>
              <a:rPr lang="en-US" sz="950" b="1" dirty="0">
                <a:solidFill>
                  <a:srgbClr val="5F7355"/>
                </a:solidFill>
                <a:latin typeface="Calibri" pitchFamily="34" charset="0"/>
                <a:ea typeface="Calibri" pitchFamily="34" charset="-122"/>
                <a:cs typeface="Calibri" pitchFamily="34" charset="-120"/>
              </a:rPr>
              <a:t>▤  Escanear Lote / Finca (QR)</a:t>
            </a:r>
            <a:endParaRPr lang="en-US" sz="950" dirty="0"/>
          </a:p>
        </p:txBody>
      </p:sp>
      <p:sp>
        <p:nvSpPr>
          <p:cNvPr id="30" name="Shape 28"/>
          <p:cNvSpPr/>
          <p:nvPr/>
        </p:nvSpPr>
        <p:spPr>
          <a:xfrm>
            <a:off x="4709160" y="2194560"/>
            <a:ext cx="2697480" cy="3840480"/>
          </a:xfrm>
          <a:prstGeom prst="roundRect">
            <a:avLst>
              <a:gd name="adj" fmla="val 1695"/>
            </a:avLst>
          </a:prstGeom>
          <a:solidFill>
            <a:srgbClr val="FDF3EE"/>
          </a:solidFill>
          <a:ln w="12700"/>
        </p:spPr>
      </p:sp>
      <p:sp>
        <p:nvSpPr>
          <p:cNvPr id="31" name="Text 29"/>
          <p:cNvSpPr txBox="1"/>
          <p:nvPr/>
        </p:nvSpPr>
        <p:spPr>
          <a:xfrm>
            <a:off x="4892040" y="2331720"/>
            <a:ext cx="2331720" cy="228600"/>
          </a:xfrm>
          <a:prstGeom prst="rect">
            <a:avLst/>
          </a:prstGeom>
          <a:noFill/>
          <a:ln/>
        </p:spPr>
        <p:txBody>
          <a:bodyPr wrap="square" lIns="0" tIns="0" rIns="0" bIns="0" rtlCol="0" anchor="ctr"/>
          <a:lstStyle/>
          <a:p>
            <a:pPr indent="0" marL="0">
              <a:buNone/>
            </a:pPr>
            <a:r>
              <a:rPr lang="en-US" sz="950" b="1" spc="100" kern="0" dirty="0">
                <a:solidFill>
                  <a:srgbClr val="C97567"/>
                </a:solidFill>
                <a:latin typeface="Calibri" pitchFamily="34" charset="0"/>
                <a:ea typeface="Calibri" pitchFamily="34" charset="-122"/>
                <a:cs typeface="Calibri" pitchFamily="34" charset="-120"/>
              </a:rPr>
              <a:t>ORDEN ACTUAL #1042</a:t>
            </a:r>
            <a:endParaRPr lang="en-US" sz="950" dirty="0"/>
          </a:p>
        </p:txBody>
      </p:sp>
      <p:sp>
        <p:nvSpPr>
          <p:cNvPr id="32" name="Text 30"/>
          <p:cNvSpPr txBox="1"/>
          <p:nvPr/>
        </p:nvSpPr>
        <p:spPr>
          <a:xfrm>
            <a:off x="4892040" y="2633472"/>
            <a:ext cx="2331720" cy="228600"/>
          </a:xfrm>
          <a:prstGeom prst="rect">
            <a:avLst/>
          </a:prstGeom>
          <a:noFill/>
          <a:ln/>
        </p:spPr>
        <p:txBody>
          <a:bodyPr wrap="square" lIns="0" tIns="0" rIns="0" bIns="0" rtlCol="0" anchor="ctr"/>
          <a:lstStyle/>
          <a:p>
            <a:pPr indent="0" marL="0">
              <a:buNone/>
            </a:pPr>
            <a:r>
              <a:rPr lang="en-US" sz="1050" b="1" dirty="0">
                <a:solidFill>
                  <a:srgbClr val="4B3B33"/>
                </a:solidFill>
                <a:latin typeface="Calibri" pitchFamily="34" charset="0"/>
                <a:ea typeface="Calibri" pitchFamily="34" charset="-122"/>
                <a:cs typeface="Calibri" pitchFamily="34" charset="-120"/>
              </a:rPr>
              <a:t>1× Latte Orgánico Chiapas</a:t>
            </a:r>
            <a:endParaRPr lang="en-US" sz="1050" dirty="0"/>
          </a:p>
        </p:txBody>
      </p:sp>
      <p:sp>
        <p:nvSpPr>
          <p:cNvPr id="33" name="Text 31"/>
          <p:cNvSpPr txBox="1"/>
          <p:nvPr/>
        </p:nvSpPr>
        <p:spPr>
          <a:xfrm>
            <a:off x="4892040" y="2862072"/>
            <a:ext cx="1783080" cy="201168"/>
          </a:xfrm>
          <a:prstGeom prst="rect">
            <a:avLst/>
          </a:prstGeom>
          <a:noFill/>
          <a:ln/>
        </p:spPr>
        <p:txBody>
          <a:bodyPr wrap="square" lIns="0" tIns="0" rIns="0" bIns="0" rtlCol="0" anchor="ctr"/>
          <a:lstStyle/>
          <a:p>
            <a:pPr indent="0" marL="0">
              <a:buNone/>
            </a:pPr>
            <a:r>
              <a:rPr lang="en-US" sz="900" i="1" dirty="0">
                <a:solidFill>
                  <a:srgbClr val="8A776D"/>
                </a:solidFill>
                <a:latin typeface="Calibri" pitchFamily="34" charset="0"/>
                <a:ea typeface="Calibri" pitchFamily="34" charset="-122"/>
                <a:cs typeface="Calibri" pitchFamily="34" charset="-120"/>
              </a:rPr>
              <a:t>Lote #A-24 (Tueste 3d)</a:t>
            </a:r>
            <a:endParaRPr lang="en-US" sz="900" dirty="0"/>
          </a:p>
        </p:txBody>
      </p:sp>
      <p:sp>
        <p:nvSpPr>
          <p:cNvPr id="34" name="Text 32"/>
          <p:cNvSpPr txBox="1"/>
          <p:nvPr/>
        </p:nvSpPr>
        <p:spPr>
          <a:xfrm>
            <a:off x="6492240" y="2633472"/>
            <a:ext cx="731520" cy="228600"/>
          </a:xfrm>
          <a:prstGeom prst="rect">
            <a:avLst/>
          </a:prstGeom>
          <a:noFill/>
          <a:ln/>
        </p:spPr>
        <p:txBody>
          <a:bodyPr wrap="square" lIns="0" tIns="0" rIns="0" bIns="0" rtlCol="0" anchor="ctr"/>
          <a:lstStyle/>
          <a:p>
            <a:pPr algn="r" indent="0" marL="0">
              <a:buNone/>
            </a:pPr>
            <a:r>
              <a:rPr lang="en-US" sz="1050" b="1" dirty="0">
                <a:solidFill>
                  <a:srgbClr val="4B3B33"/>
                </a:solidFill>
                <a:latin typeface="Calibri" pitchFamily="34" charset="0"/>
                <a:ea typeface="Calibri" pitchFamily="34" charset="-122"/>
                <a:cs typeface="Calibri" pitchFamily="34" charset="-120"/>
              </a:rPr>
              <a:t>$65.00</a:t>
            </a:r>
            <a:endParaRPr lang="en-US" sz="1050" dirty="0"/>
          </a:p>
        </p:txBody>
      </p:sp>
      <p:sp>
        <p:nvSpPr>
          <p:cNvPr id="35" name="Shape 33"/>
          <p:cNvSpPr/>
          <p:nvPr/>
        </p:nvSpPr>
        <p:spPr>
          <a:xfrm>
            <a:off x="4892040" y="3154680"/>
            <a:ext cx="2331720" cy="9144"/>
          </a:xfrm>
          <a:prstGeom prst="rect">
            <a:avLst/>
          </a:prstGeom>
          <a:solidFill>
            <a:srgbClr val="E8DCD4"/>
          </a:solidFill>
          <a:ln/>
        </p:spPr>
      </p:sp>
      <p:sp>
        <p:nvSpPr>
          <p:cNvPr id="36" name="Text 34"/>
          <p:cNvSpPr txBox="1"/>
          <p:nvPr/>
        </p:nvSpPr>
        <p:spPr>
          <a:xfrm>
            <a:off x="4892040" y="3246120"/>
            <a:ext cx="1600200" cy="256032"/>
          </a:xfrm>
          <a:prstGeom prst="rect">
            <a:avLst/>
          </a:prstGeom>
          <a:noFill/>
          <a:ln/>
        </p:spPr>
        <p:txBody>
          <a:bodyPr wrap="square" lIns="0" tIns="0" rIns="0" bIns="0" rtlCol="0" anchor="ctr"/>
          <a:lstStyle/>
          <a:p>
            <a:pPr indent="0" marL="0">
              <a:buNone/>
            </a:pPr>
            <a:r>
              <a:rPr lang="en-US" sz="1000" dirty="0">
                <a:solidFill>
                  <a:srgbClr val="5B4A41"/>
                </a:solidFill>
                <a:latin typeface="Calibri" pitchFamily="34" charset="0"/>
                <a:ea typeface="Calibri" pitchFamily="34" charset="-122"/>
                <a:cs typeface="Calibri" pitchFamily="34" charset="-120"/>
              </a:rPr>
              <a:t>Subtotal</a:t>
            </a:r>
            <a:endParaRPr lang="en-US" sz="1000" dirty="0"/>
          </a:p>
        </p:txBody>
      </p:sp>
      <p:sp>
        <p:nvSpPr>
          <p:cNvPr id="37" name="Text 35"/>
          <p:cNvSpPr txBox="1"/>
          <p:nvPr/>
        </p:nvSpPr>
        <p:spPr>
          <a:xfrm>
            <a:off x="6492240" y="3246120"/>
            <a:ext cx="731520" cy="256032"/>
          </a:xfrm>
          <a:prstGeom prst="rect">
            <a:avLst/>
          </a:prstGeom>
          <a:noFill/>
          <a:ln/>
        </p:spPr>
        <p:txBody>
          <a:bodyPr wrap="square" lIns="0" tIns="0" rIns="0" bIns="0" rtlCol="0" anchor="ctr"/>
          <a:lstStyle/>
          <a:p>
            <a:pPr algn="r" indent="0" marL="0">
              <a:buNone/>
            </a:pPr>
            <a:r>
              <a:rPr lang="en-US" sz="1000" dirty="0">
                <a:solidFill>
                  <a:srgbClr val="5B4A41"/>
                </a:solidFill>
                <a:latin typeface="Calibri" pitchFamily="34" charset="0"/>
                <a:ea typeface="Calibri" pitchFamily="34" charset="-122"/>
                <a:cs typeface="Calibri" pitchFamily="34" charset="-120"/>
              </a:rPr>
              <a:t>$65.00</a:t>
            </a:r>
            <a:endParaRPr lang="en-US" sz="1000" dirty="0"/>
          </a:p>
        </p:txBody>
      </p:sp>
      <p:sp>
        <p:nvSpPr>
          <p:cNvPr id="38" name="Text 36"/>
          <p:cNvSpPr txBox="1"/>
          <p:nvPr/>
        </p:nvSpPr>
        <p:spPr>
          <a:xfrm>
            <a:off x="4892040" y="3520440"/>
            <a:ext cx="1600200" cy="256032"/>
          </a:xfrm>
          <a:prstGeom prst="rect">
            <a:avLst/>
          </a:prstGeom>
          <a:noFill/>
          <a:ln/>
        </p:spPr>
        <p:txBody>
          <a:bodyPr wrap="square" lIns="0" tIns="0" rIns="0" bIns="0" rtlCol="0" anchor="ctr"/>
          <a:lstStyle/>
          <a:p>
            <a:pPr indent="0" marL="0">
              <a:buNone/>
            </a:pPr>
            <a:r>
              <a:rPr lang="en-US" sz="1000" b="1" dirty="0">
                <a:solidFill>
                  <a:srgbClr val="5F7355"/>
                </a:solidFill>
                <a:latin typeface="Calibri" pitchFamily="34" charset="0"/>
                <a:ea typeface="Calibri" pitchFamily="34" charset="-122"/>
                <a:cs typeface="Calibri" pitchFamily="34" charset="-120"/>
              </a:rPr>
              <a:t>✓ Bono Termo Eco</a:t>
            </a:r>
            <a:endParaRPr lang="en-US" sz="1000" dirty="0"/>
          </a:p>
        </p:txBody>
      </p:sp>
      <p:sp>
        <p:nvSpPr>
          <p:cNvPr id="39" name="Text 37"/>
          <p:cNvSpPr txBox="1"/>
          <p:nvPr/>
        </p:nvSpPr>
        <p:spPr>
          <a:xfrm>
            <a:off x="6492240" y="3520440"/>
            <a:ext cx="731520" cy="256032"/>
          </a:xfrm>
          <a:prstGeom prst="rect">
            <a:avLst/>
          </a:prstGeom>
          <a:noFill/>
          <a:ln/>
        </p:spPr>
        <p:txBody>
          <a:bodyPr wrap="square" lIns="0" tIns="0" rIns="0" bIns="0" rtlCol="0" anchor="ctr"/>
          <a:lstStyle/>
          <a:p>
            <a:pPr algn="r" indent="0" marL="0">
              <a:buNone/>
            </a:pPr>
            <a:r>
              <a:rPr lang="en-US" sz="1000" b="1" dirty="0">
                <a:solidFill>
                  <a:srgbClr val="5F7355"/>
                </a:solidFill>
                <a:latin typeface="Calibri" pitchFamily="34" charset="0"/>
                <a:ea typeface="Calibri" pitchFamily="34" charset="-122"/>
                <a:cs typeface="Calibri" pitchFamily="34" charset="-120"/>
              </a:rPr>
              <a:t>-$5.00</a:t>
            </a:r>
            <a:endParaRPr lang="en-US" sz="1000" dirty="0"/>
          </a:p>
        </p:txBody>
      </p:sp>
      <p:sp>
        <p:nvSpPr>
          <p:cNvPr id="40" name="Shape 38"/>
          <p:cNvSpPr/>
          <p:nvPr/>
        </p:nvSpPr>
        <p:spPr>
          <a:xfrm>
            <a:off x="4892040" y="3813048"/>
            <a:ext cx="2331720" cy="384048"/>
          </a:xfrm>
          <a:prstGeom prst="rect">
            <a:avLst/>
          </a:prstGeom>
          <a:solidFill>
            <a:srgbClr val="C97567"/>
          </a:solidFill>
          <a:ln/>
        </p:spPr>
      </p:sp>
      <p:sp>
        <p:nvSpPr>
          <p:cNvPr id="41" name="Text 39"/>
          <p:cNvSpPr txBox="1"/>
          <p:nvPr/>
        </p:nvSpPr>
        <p:spPr>
          <a:xfrm>
            <a:off x="5029200" y="3813048"/>
            <a:ext cx="141732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TOTAL A COBRAR</a:t>
            </a:r>
            <a:endParaRPr lang="en-US" sz="1050" dirty="0"/>
          </a:p>
        </p:txBody>
      </p:sp>
      <p:sp>
        <p:nvSpPr>
          <p:cNvPr id="42" name="Text 40"/>
          <p:cNvSpPr txBox="1"/>
          <p:nvPr/>
        </p:nvSpPr>
        <p:spPr>
          <a:xfrm>
            <a:off x="6355080" y="3813048"/>
            <a:ext cx="868680" cy="384048"/>
          </a:xfrm>
          <a:prstGeom prst="rect">
            <a:avLst/>
          </a:prstGeom>
          <a:noFill/>
          <a:ln/>
        </p:spPr>
        <p:txBody>
          <a:bodyPr wrap="square" lIns="0" tIns="0" rIns="0" bIns="0" rtlCol="0" anchor="ctr"/>
          <a:lstStyle/>
          <a:p>
            <a:pPr algn="r" indent="0" marL="0">
              <a:buNone/>
            </a:pPr>
            <a:r>
              <a:rPr lang="en-US" sz="1400" b="1" dirty="0">
                <a:solidFill>
                  <a:srgbClr val="FFFFFF"/>
                </a:solidFill>
                <a:latin typeface="Cambria" pitchFamily="34" charset="0"/>
                <a:ea typeface="Cambria" pitchFamily="34" charset="-122"/>
                <a:cs typeface="Cambria" pitchFamily="34" charset="-120"/>
              </a:rPr>
              <a:t>$60.00</a:t>
            </a:r>
            <a:endParaRPr lang="en-US" sz="1400" dirty="0"/>
          </a:p>
        </p:txBody>
      </p:sp>
      <p:sp>
        <p:nvSpPr>
          <p:cNvPr id="43" name="Shape 41"/>
          <p:cNvSpPr/>
          <p:nvPr/>
        </p:nvSpPr>
        <p:spPr>
          <a:xfrm>
            <a:off x="4892040" y="4343400"/>
            <a:ext cx="1120140" cy="329184"/>
          </a:xfrm>
          <a:prstGeom prst="roundRect">
            <a:avLst>
              <a:gd name="adj" fmla="val 13889"/>
            </a:avLst>
          </a:prstGeom>
          <a:solidFill>
            <a:srgbClr val="FFFFFF"/>
          </a:solidFill>
          <a:ln w="12700">
            <a:solidFill>
              <a:srgbClr val="C97567"/>
            </a:solidFill>
            <a:prstDash val="solid"/>
          </a:ln>
        </p:spPr>
      </p:sp>
      <p:sp>
        <p:nvSpPr>
          <p:cNvPr id="44" name="Text 42"/>
          <p:cNvSpPr txBox="1"/>
          <p:nvPr/>
        </p:nvSpPr>
        <p:spPr>
          <a:xfrm>
            <a:off x="4892040" y="4343400"/>
            <a:ext cx="1120140" cy="329184"/>
          </a:xfrm>
          <a:prstGeom prst="rect">
            <a:avLst/>
          </a:prstGeom>
          <a:noFill/>
          <a:ln/>
        </p:spPr>
        <p:txBody>
          <a:bodyPr wrap="square" lIns="0" tIns="0" rIns="0" bIns="0" rtlCol="0" anchor="ctr"/>
          <a:lstStyle/>
          <a:p>
            <a:pPr algn="ctr" indent="0" marL="0">
              <a:buNone/>
            </a:pPr>
            <a:r>
              <a:rPr lang="en-US" sz="850" b="1" dirty="0">
                <a:solidFill>
                  <a:srgbClr val="C97567"/>
                </a:solidFill>
                <a:latin typeface="Calibri" pitchFamily="34" charset="0"/>
                <a:ea typeface="Calibri" pitchFamily="34" charset="-122"/>
                <a:cs typeface="Calibri" pitchFamily="34" charset="-120"/>
              </a:rPr>
              <a:t>EFECTIVO</a:t>
            </a:r>
            <a:endParaRPr lang="en-US" sz="850" dirty="0"/>
          </a:p>
        </p:txBody>
      </p:sp>
      <p:sp>
        <p:nvSpPr>
          <p:cNvPr id="45" name="Shape 43"/>
          <p:cNvSpPr/>
          <p:nvPr/>
        </p:nvSpPr>
        <p:spPr>
          <a:xfrm>
            <a:off x="6103620" y="4343400"/>
            <a:ext cx="1120140" cy="329184"/>
          </a:xfrm>
          <a:prstGeom prst="roundRect">
            <a:avLst>
              <a:gd name="adj" fmla="val 13889"/>
            </a:avLst>
          </a:prstGeom>
          <a:solidFill>
            <a:srgbClr val="FFFFFF"/>
          </a:solidFill>
          <a:ln w="12700">
            <a:solidFill>
              <a:srgbClr val="C97567"/>
            </a:solidFill>
            <a:prstDash val="solid"/>
          </a:ln>
        </p:spPr>
      </p:sp>
      <p:sp>
        <p:nvSpPr>
          <p:cNvPr id="46" name="Text 44"/>
          <p:cNvSpPr txBox="1"/>
          <p:nvPr/>
        </p:nvSpPr>
        <p:spPr>
          <a:xfrm>
            <a:off x="6103620" y="4343400"/>
            <a:ext cx="1120140" cy="329184"/>
          </a:xfrm>
          <a:prstGeom prst="rect">
            <a:avLst/>
          </a:prstGeom>
          <a:noFill/>
          <a:ln/>
        </p:spPr>
        <p:txBody>
          <a:bodyPr wrap="square" lIns="0" tIns="0" rIns="0" bIns="0" rtlCol="0" anchor="ctr"/>
          <a:lstStyle/>
          <a:p>
            <a:pPr algn="ctr" indent="0" marL="0">
              <a:buNone/>
            </a:pPr>
            <a:r>
              <a:rPr lang="en-US" sz="850" b="1" dirty="0">
                <a:solidFill>
                  <a:srgbClr val="C97567"/>
                </a:solidFill>
                <a:latin typeface="Calibri" pitchFamily="34" charset="0"/>
                <a:ea typeface="Calibri" pitchFamily="34" charset="-122"/>
                <a:cs typeface="Calibri" pitchFamily="34" charset="-120"/>
              </a:rPr>
              <a:t>TARJETA</a:t>
            </a:r>
            <a:endParaRPr lang="en-US" sz="850" dirty="0"/>
          </a:p>
        </p:txBody>
      </p:sp>
      <p:sp>
        <p:nvSpPr>
          <p:cNvPr id="47" name="Shape 45"/>
          <p:cNvSpPr/>
          <p:nvPr/>
        </p:nvSpPr>
        <p:spPr>
          <a:xfrm>
            <a:off x="4892040" y="4745736"/>
            <a:ext cx="1120140" cy="329184"/>
          </a:xfrm>
          <a:prstGeom prst="roundRect">
            <a:avLst>
              <a:gd name="adj" fmla="val 13889"/>
            </a:avLst>
          </a:prstGeom>
          <a:solidFill>
            <a:srgbClr val="FFFFFF"/>
          </a:solidFill>
          <a:ln w="12700">
            <a:solidFill>
              <a:srgbClr val="C97567"/>
            </a:solidFill>
            <a:prstDash val="solid"/>
          </a:ln>
        </p:spPr>
      </p:sp>
      <p:sp>
        <p:nvSpPr>
          <p:cNvPr id="48" name="Text 46"/>
          <p:cNvSpPr txBox="1"/>
          <p:nvPr/>
        </p:nvSpPr>
        <p:spPr>
          <a:xfrm>
            <a:off x="4892040" y="4745736"/>
            <a:ext cx="1120140" cy="329184"/>
          </a:xfrm>
          <a:prstGeom prst="rect">
            <a:avLst/>
          </a:prstGeom>
          <a:noFill/>
          <a:ln/>
        </p:spPr>
        <p:txBody>
          <a:bodyPr wrap="square" lIns="0" tIns="0" rIns="0" bIns="0" rtlCol="0" anchor="ctr"/>
          <a:lstStyle/>
          <a:p>
            <a:pPr algn="ctr" indent="0" marL="0">
              <a:buNone/>
            </a:pPr>
            <a:r>
              <a:rPr lang="en-US" sz="850" b="1" dirty="0">
                <a:solidFill>
                  <a:srgbClr val="C97567"/>
                </a:solidFill>
                <a:latin typeface="Calibri" pitchFamily="34" charset="0"/>
                <a:ea typeface="Calibri" pitchFamily="34" charset="-122"/>
                <a:cs typeface="Calibri" pitchFamily="34" charset="-120"/>
              </a:rPr>
              <a:t>SPEI QR</a:t>
            </a:r>
            <a:endParaRPr lang="en-US" sz="850" dirty="0"/>
          </a:p>
        </p:txBody>
      </p:sp>
      <p:sp>
        <p:nvSpPr>
          <p:cNvPr id="49" name="Shape 47"/>
          <p:cNvSpPr/>
          <p:nvPr/>
        </p:nvSpPr>
        <p:spPr>
          <a:xfrm>
            <a:off x="6103620" y="4745736"/>
            <a:ext cx="1120140" cy="329184"/>
          </a:xfrm>
          <a:prstGeom prst="roundRect">
            <a:avLst>
              <a:gd name="adj" fmla="val 13889"/>
            </a:avLst>
          </a:prstGeom>
          <a:solidFill>
            <a:srgbClr val="FFFFFF"/>
          </a:solidFill>
          <a:ln w="12700">
            <a:solidFill>
              <a:srgbClr val="C97567"/>
            </a:solidFill>
            <a:prstDash val="solid"/>
          </a:ln>
        </p:spPr>
      </p:sp>
      <p:sp>
        <p:nvSpPr>
          <p:cNvPr id="50" name="Text 48"/>
          <p:cNvSpPr txBox="1"/>
          <p:nvPr/>
        </p:nvSpPr>
        <p:spPr>
          <a:xfrm>
            <a:off x="6103620" y="4745736"/>
            <a:ext cx="1120140" cy="329184"/>
          </a:xfrm>
          <a:prstGeom prst="rect">
            <a:avLst/>
          </a:prstGeom>
          <a:noFill/>
          <a:ln/>
        </p:spPr>
        <p:txBody>
          <a:bodyPr wrap="square" lIns="0" tIns="0" rIns="0" bIns="0" rtlCol="0" anchor="ctr"/>
          <a:lstStyle/>
          <a:p>
            <a:pPr algn="ctr" indent="0" marL="0">
              <a:buNone/>
            </a:pPr>
            <a:r>
              <a:rPr lang="en-US" sz="850" b="1" dirty="0">
                <a:solidFill>
                  <a:srgbClr val="C97567"/>
                </a:solidFill>
                <a:latin typeface="Calibri" pitchFamily="34" charset="0"/>
                <a:ea typeface="Calibri" pitchFamily="34" charset="-122"/>
                <a:cs typeface="Calibri" pitchFamily="34" charset="-120"/>
              </a:rPr>
              <a:t>PUNTOS</a:t>
            </a:r>
            <a:endParaRPr lang="en-US" sz="850" dirty="0"/>
          </a:p>
        </p:txBody>
      </p:sp>
      <p:sp>
        <p:nvSpPr>
          <p:cNvPr id="51" name="Shape 49"/>
          <p:cNvSpPr/>
          <p:nvPr/>
        </p:nvSpPr>
        <p:spPr>
          <a:xfrm>
            <a:off x="4892040" y="5239512"/>
            <a:ext cx="2331720" cy="365760"/>
          </a:xfrm>
          <a:prstGeom prst="roundRect">
            <a:avLst>
              <a:gd name="adj" fmla="val 15000"/>
            </a:avLst>
          </a:prstGeom>
          <a:solidFill>
            <a:srgbClr val="34241C"/>
          </a:solidFill>
          <a:ln/>
        </p:spPr>
      </p:sp>
      <p:sp>
        <p:nvSpPr>
          <p:cNvPr id="52" name="Text 50"/>
          <p:cNvSpPr txBox="1"/>
          <p:nvPr/>
        </p:nvSpPr>
        <p:spPr>
          <a:xfrm>
            <a:off x="4892040" y="5239512"/>
            <a:ext cx="233172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COBRAR E IMPRIMIR TICKET</a:t>
            </a:r>
            <a:endParaRPr lang="en-US" sz="950" dirty="0"/>
          </a:p>
        </p:txBody>
      </p:sp>
      <p:sp>
        <p:nvSpPr>
          <p:cNvPr id="53" name="Text 51"/>
          <p:cNvSpPr txBox="1"/>
          <p:nvPr/>
        </p:nvSpPr>
        <p:spPr>
          <a:xfrm>
            <a:off x="7863840" y="1508760"/>
            <a:ext cx="3749040" cy="457200"/>
          </a:xfrm>
          <a:prstGeom prst="rect">
            <a:avLst/>
          </a:prstGeom>
          <a:noFill/>
          <a:ln/>
        </p:spPr>
        <p:txBody>
          <a:bodyPr wrap="square" lIns="0" tIns="0" rIns="0" bIns="0" rtlCol="0" anchor="ctr"/>
          <a:lstStyle/>
          <a:p>
            <a:pPr indent="0" marL="0">
              <a:lnSpc>
                <a:spcPts val="1400"/>
              </a:lnSpc>
              <a:buNone/>
            </a:pPr>
            <a:r>
              <a:rPr lang="en-US" sz="1100" b="1" spc="50" kern="0" dirty="0">
                <a:solidFill>
                  <a:srgbClr val="C97567"/>
                </a:solidFill>
                <a:latin typeface="Calibri" pitchFamily="34" charset="0"/>
                <a:ea typeface="Calibri" pitchFamily="34" charset="-122"/>
                <a:cs typeface="Calibri" pitchFamily="34" charset="-120"/>
              </a:rPr>
              <a:t>PRINCIPIOS DE DISEÑO UI/UX IMPLEMENTADOS</a:t>
            </a:r>
            <a:endParaRPr lang="en-US" sz="1100" dirty="0"/>
          </a:p>
        </p:txBody>
      </p:sp>
      <p:sp>
        <p:nvSpPr>
          <p:cNvPr id="54" name="Shape 52"/>
          <p:cNvSpPr/>
          <p:nvPr/>
        </p:nvSpPr>
        <p:spPr>
          <a:xfrm>
            <a:off x="7863840" y="2286000"/>
            <a:ext cx="530352" cy="530352"/>
          </a:xfrm>
          <a:prstGeom prst="ellipse">
            <a:avLst/>
          </a:prstGeom>
          <a:solidFill>
            <a:srgbClr val="C97567"/>
          </a:solidFill>
          <a:ln/>
        </p:spPr>
      </p:sp>
      <p:pic>
        <p:nvPicPr>
          <p:cNvPr id="55" name="Image 0" descr="/home/claude/monchis2/icons/qrcode.png">    </p:cNvPr>
          <p:cNvPicPr>
            <a:picLocks noChangeAspect="1"/>
          </p:cNvPicPr>
          <p:nvPr/>
        </p:nvPicPr>
        <p:blipFill>
          <a:blip r:embed="rId1"/>
          <a:stretch>
            <a:fillRect/>
          </a:stretch>
        </p:blipFill>
        <p:spPr>
          <a:xfrm>
            <a:off x="7935438" y="2357598"/>
            <a:ext cx="387157" cy="387157"/>
          </a:xfrm>
          <a:prstGeom prst="rect">
            <a:avLst/>
          </a:prstGeom>
        </p:spPr>
      </p:pic>
      <p:sp>
        <p:nvSpPr>
          <p:cNvPr id="56" name="Text 53"/>
          <p:cNvSpPr txBox="1"/>
          <p:nvPr/>
        </p:nvSpPr>
        <p:spPr>
          <a:xfrm>
            <a:off x="8622792" y="2011680"/>
            <a:ext cx="3063240" cy="292608"/>
          </a:xfrm>
          <a:prstGeom prst="rect">
            <a:avLst/>
          </a:prstGeom>
          <a:noFill/>
          <a:ln/>
        </p:spPr>
        <p:txBody>
          <a:bodyPr wrap="square" lIns="0" tIns="0" rIns="0" bIns="0" rtlCol="0" anchor="ctr"/>
          <a:lstStyle/>
          <a:p>
            <a:pPr indent="0" marL="0">
              <a:buNone/>
            </a:pPr>
            <a:r>
              <a:rPr lang="en-US" sz="1200" b="1" dirty="0">
                <a:solidFill>
                  <a:srgbClr val="4B3B33"/>
                </a:solidFill>
                <a:latin typeface="Cambria" pitchFamily="34" charset="0"/>
                <a:ea typeface="Cambria" pitchFamily="34" charset="-122"/>
                <a:cs typeface="Cambria" pitchFamily="34" charset="-120"/>
              </a:rPr>
              <a:t>Optimización Táctil en Mostrador</a:t>
            </a:r>
            <a:endParaRPr lang="en-US" sz="1200" dirty="0"/>
          </a:p>
        </p:txBody>
      </p:sp>
      <p:sp>
        <p:nvSpPr>
          <p:cNvPr id="57" name="Text 54"/>
          <p:cNvSpPr txBox="1"/>
          <p:nvPr/>
        </p:nvSpPr>
        <p:spPr>
          <a:xfrm>
            <a:off x="8622792" y="2304288"/>
            <a:ext cx="3063240" cy="841248"/>
          </a:xfrm>
          <a:prstGeom prst="rect">
            <a:avLst/>
          </a:prstGeom>
          <a:noFill/>
          <a:ln/>
        </p:spPr>
        <p:txBody>
          <a:bodyPr wrap="square" lIns="0" tIns="0" rIns="0" bIns="0" rtlCol="0" anchor="ctr"/>
          <a:lstStyle/>
          <a:p>
            <a:pPr indent="0" marL="0">
              <a:lnSpc>
                <a:spcPts val="1450"/>
              </a:lnSpc>
              <a:buNone/>
            </a:pPr>
            <a:r>
              <a:rPr lang="en-US" sz="1000" dirty="0">
                <a:solidFill>
                  <a:srgbClr val="5B4A41"/>
                </a:solidFill>
                <a:latin typeface="Calibri" pitchFamily="34" charset="0"/>
                <a:ea typeface="Calibri" pitchFamily="34" charset="-122"/>
                <a:cs typeface="Calibri" pitchFamily="34" charset="-120"/>
              </a:rPr>
              <a:t>Botones con área mínima de 48×48px y teclado numérico para cálculo instantáneo de cambio.</a:t>
            </a:r>
            <a:endParaRPr lang="en-US" sz="1000" dirty="0"/>
          </a:p>
        </p:txBody>
      </p:sp>
      <p:sp>
        <p:nvSpPr>
          <p:cNvPr id="58" name="Shape 55"/>
          <p:cNvSpPr/>
          <p:nvPr/>
        </p:nvSpPr>
        <p:spPr>
          <a:xfrm>
            <a:off x="7863840" y="3072384"/>
            <a:ext cx="3749040" cy="9144"/>
          </a:xfrm>
          <a:prstGeom prst="rect">
            <a:avLst/>
          </a:prstGeom>
          <a:solidFill>
            <a:srgbClr val="E8DCD4"/>
          </a:solidFill>
          <a:ln/>
        </p:spPr>
      </p:sp>
      <p:sp>
        <p:nvSpPr>
          <p:cNvPr id="59" name="Shape 56"/>
          <p:cNvSpPr/>
          <p:nvPr/>
        </p:nvSpPr>
        <p:spPr>
          <a:xfrm>
            <a:off x="7863840" y="3456432"/>
            <a:ext cx="530352" cy="530352"/>
          </a:xfrm>
          <a:prstGeom prst="ellipse">
            <a:avLst/>
          </a:prstGeom>
          <a:solidFill>
            <a:srgbClr val="C97567"/>
          </a:solidFill>
          <a:ln/>
        </p:spPr>
      </p:sp>
      <p:pic>
        <p:nvPicPr>
          <p:cNvPr id="60" name="Image 1" descr="/home/claude/monchis2/icons/mughot.png">    </p:cNvPr>
          <p:cNvPicPr>
            <a:picLocks noChangeAspect="1"/>
          </p:cNvPicPr>
          <p:nvPr/>
        </p:nvPicPr>
        <p:blipFill>
          <a:blip r:embed="rId2"/>
          <a:stretch>
            <a:fillRect/>
          </a:stretch>
        </p:blipFill>
        <p:spPr>
          <a:xfrm>
            <a:off x="7935438" y="3528030"/>
            <a:ext cx="387157" cy="387157"/>
          </a:xfrm>
          <a:prstGeom prst="rect">
            <a:avLst/>
          </a:prstGeom>
        </p:spPr>
      </p:pic>
      <p:sp>
        <p:nvSpPr>
          <p:cNvPr id="61" name="Text 57"/>
          <p:cNvSpPr txBox="1"/>
          <p:nvPr/>
        </p:nvSpPr>
        <p:spPr>
          <a:xfrm>
            <a:off x="8622792" y="3182112"/>
            <a:ext cx="3063240" cy="292608"/>
          </a:xfrm>
          <a:prstGeom prst="rect">
            <a:avLst/>
          </a:prstGeom>
          <a:noFill/>
          <a:ln/>
        </p:spPr>
        <p:txBody>
          <a:bodyPr wrap="square" lIns="0" tIns="0" rIns="0" bIns="0" rtlCol="0" anchor="ctr"/>
          <a:lstStyle/>
          <a:p>
            <a:pPr indent="0" marL="0">
              <a:buNone/>
            </a:pPr>
            <a:r>
              <a:rPr lang="en-US" sz="1200" b="1" dirty="0">
                <a:solidFill>
                  <a:srgbClr val="4B3B33"/>
                </a:solidFill>
                <a:latin typeface="Cambria" pitchFamily="34" charset="0"/>
                <a:ea typeface="Cambria" pitchFamily="34" charset="-122"/>
                <a:cs typeface="Cambria" pitchFamily="34" charset="-120"/>
              </a:rPr>
              <a:t>Paleta de Color Pastel Cálida</a:t>
            </a:r>
            <a:endParaRPr lang="en-US" sz="1200" dirty="0"/>
          </a:p>
        </p:txBody>
      </p:sp>
      <p:sp>
        <p:nvSpPr>
          <p:cNvPr id="62" name="Text 58"/>
          <p:cNvSpPr txBox="1"/>
          <p:nvPr/>
        </p:nvSpPr>
        <p:spPr>
          <a:xfrm>
            <a:off x="8622792" y="3474720"/>
            <a:ext cx="3063240" cy="841248"/>
          </a:xfrm>
          <a:prstGeom prst="rect">
            <a:avLst/>
          </a:prstGeom>
          <a:noFill/>
          <a:ln/>
        </p:spPr>
        <p:txBody>
          <a:bodyPr wrap="square" lIns="0" tIns="0" rIns="0" bIns="0" rtlCol="0" anchor="ctr"/>
          <a:lstStyle/>
          <a:p>
            <a:pPr indent="0" marL="0">
              <a:lnSpc>
                <a:spcPts val="1450"/>
              </a:lnSpc>
              <a:buNone/>
            </a:pPr>
            <a:r>
              <a:rPr lang="en-US" sz="1000" dirty="0">
                <a:solidFill>
                  <a:srgbClr val="5B4A41"/>
                </a:solidFill>
                <a:latin typeface="Calibri" pitchFamily="34" charset="0"/>
                <a:ea typeface="Calibri" pitchFamily="34" charset="-122"/>
                <a:cs typeface="Calibri" pitchFamily="34" charset="-120"/>
              </a:rPr>
              <a:t>Tonos café suaves, crema y menta que reducen la fatiga visual del barista en jornadas largas.</a:t>
            </a:r>
            <a:endParaRPr lang="en-US" sz="1000" dirty="0"/>
          </a:p>
        </p:txBody>
      </p:sp>
      <p:sp>
        <p:nvSpPr>
          <p:cNvPr id="63" name="Shape 59"/>
          <p:cNvSpPr/>
          <p:nvPr/>
        </p:nvSpPr>
        <p:spPr>
          <a:xfrm>
            <a:off x="7863840" y="4242816"/>
            <a:ext cx="3749040" cy="9144"/>
          </a:xfrm>
          <a:prstGeom prst="rect">
            <a:avLst/>
          </a:prstGeom>
          <a:solidFill>
            <a:srgbClr val="E8DCD4"/>
          </a:solidFill>
          <a:ln/>
        </p:spPr>
      </p:sp>
      <p:sp>
        <p:nvSpPr>
          <p:cNvPr id="64" name="Shape 60"/>
          <p:cNvSpPr/>
          <p:nvPr/>
        </p:nvSpPr>
        <p:spPr>
          <a:xfrm>
            <a:off x="7863840" y="4626864"/>
            <a:ext cx="530352" cy="530352"/>
          </a:xfrm>
          <a:prstGeom prst="ellipse">
            <a:avLst/>
          </a:prstGeom>
          <a:solidFill>
            <a:srgbClr val="C97567"/>
          </a:solidFill>
          <a:ln/>
        </p:spPr>
      </p:sp>
      <p:pic>
        <p:nvPicPr>
          <p:cNvPr id="65" name="Image 2" descr="/home/claude/icons/shield.png">    </p:cNvPr>
          <p:cNvPicPr>
            <a:picLocks noChangeAspect="1"/>
          </p:cNvPicPr>
          <p:nvPr/>
        </p:nvPicPr>
        <p:blipFill>
          <a:blip r:embed="rId3"/>
          <a:stretch>
            <a:fillRect/>
          </a:stretch>
        </p:blipFill>
        <p:spPr>
          <a:xfrm>
            <a:off x="7935438" y="4698462"/>
            <a:ext cx="387157" cy="387157"/>
          </a:xfrm>
          <a:prstGeom prst="rect">
            <a:avLst/>
          </a:prstGeom>
        </p:spPr>
      </p:pic>
      <p:sp>
        <p:nvSpPr>
          <p:cNvPr id="66" name="Text 61"/>
          <p:cNvSpPr txBox="1"/>
          <p:nvPr/>
        </p:nvSpPr>
        <p:spPr>
          <a:xfrm>
            <a:off x="8622792" y="4352544"/>
            <a:ext cx="3063240" cy="292608"/>
          </a:xfrm>
          <a:prstGeom prst="rect">
            <a:avLst/>
          </a:prstGeom>
          <a:noFill/>
          <a:ln/>
        </p:spPr>
        <p:txBody>
          <a:bodyPr wrap="square" lIns="0" tIns="0" rIns="0" bIns="0" rtlCol="0" anchor="ctr"/>
          <a:lstStyle/>
          <a:p>
            <a:pPr indent="0" marL="0">
              <a:buNone/>
            </a:pPr>
            <a:r>
              <a:rPr lang="en-US" sz="1200" b="1" dirty="0">
                <a:solidFill>
                  <a:srgbClr val="4B3B33"/>
                </a:solidFill>
                <a:latin typeface="Cambria" pitchFamily="34" charset="0"/>
                <a:ea typeface="Cambria" pitchFamily="34" charset="-122"/>
                <a:cs typeface="Cambria" pitchFamily="34" charset="-120"/>
              </a:rPr>
              <a:t>Accesibilidad Web WCAG 2.1 AA</a:t>
            </a:r>
            <a:endParaRPr lang="en-US" sz="1200" dirty="0"/>
          </a:p>
        </p:txBody>
      </p:sp>
      <p:sp>
        <p:nvSpPr>
          <p:cNvPr id="67" name="Text 62"/>
          <p:cNvSpPr txBox="1"/>
          <p:nvPr/>
        </p:nvSpPr>
        <p:spPr>
          <a:xfrm>
            <a:off x="8622792" y="4645152"/>
            <a:ext cx="3063240" cy="841248"/>
          </a:xfrm>
          <a:prstGeom prst="rect">
            <a:avLst/>
          </a:prstGeom>
          <a:noFill/>
          <a:ln/>
        </p:spPr>
        <p:txBody>
          <a:bodyPr wrap="square" lIns="0" tIns="0" rIns="0" bIns="0" rtlCol="0" anchor="ctr"/>
          <a:lstStyle/>
          <a:p>
            <a:pPr indent="0" marL="0">
              <a:lnSpc>
                <a:spcPts val="1450"/>
              </a:lnSpc>
              <a:buNone/>
            </a:pPr>
            <a:r>
              <a:rPr lang="en-US" sz="1000" dirty="0">
                <a:solidFill>
                  <a:srgbClr val="5B4A41"/>
                </a:solidFill>
                <a:latin typeface="Calibri" pitchFamily="34" charset="0"/>
                <a:ea typeface="Calibri" pitchFamily="34" charset="-122"/>
                <a:cs typeface="Calibri" pitchFamily="34" charset="-120"/>
              </a:rPr>
              <a:t>Contraste superior a 4.5:1, etiquetas semánticas y compatibilidad con prefers-reduced-motion.</a:t>
            </a:r>
            <a:endParaRPr lang="en-US" sz="1000" dirty="0"/>
          </a:p>
        </p:txBody>
      </p:sp>
      <p:sp>
        <p:nvSpPr>
          <p:cNvPr id="68" name="Shape 63"/>
          <p:cNvSpPr/>
          <p:nvPr/>
        </p:nvSpPr>
        <p:spPr>
          <a:xfrm>
            <a:off x="7863840" y="5413248"/>
            <a:ext cx="3749040" cy="9144"/>
          </a:xfrm>
          <a:prstGeom prst="rect">
            <a:avLst/>
          </a:prstGeom>
          <a:solidFill>
            <a:srgbClr val="E8DCD4"/>
          </a:solidFill>
          <a:ln/>
        </p:spPr>
      </p:sp>
      <p:sp>
        <p:nvSpPr>
          <p:cNvPr id="69" name="Shape 64"/>
          <p:cNvSpPr/>
          <p:nvPr/>
        </p:nvSpPr>
        <p:spPr>
          <a:xfrm>
            <a:off x="7863840" y="5797296"/>
            <a:ext cx="530352" cy="530352"/>
          </a:xfrm>
          <a:prstGeom prst="ellipse">
            <a:avLst/>
          </a:prstGeom>
          <a:solidFill>
            <a:srgbClr val="C97567"/>
          </a:solidFill>
          <a:ln/>
        </p:spPr>
      </p:sp>
      <p:pic>
        <p:nvPicPr>
          <p:cNvPr id="70" name="Image 3" descr="/home/claude/monchis2/icons/leaf.png">    </p:cNvPr>
          <p:cNvPicPr>
            <a:picLocks noChangeAspect="1"/>
          </p:cNvPicPr>
          <p:nvPr/>
        </p:nvPicPr>
        <p:blipFill>
          <a:blip r:embed="rId4"/>
          <a:stretch>
            <a:fillRect/>
          </a:stretch>
        </p:blipFill>
        <p:spPr>
          <a:xfrm>
            <a:off x="7935438" y="5868894"/>
            <a:ext cx="387157" cy="387157"/>
          </a:xfrm>
          <a:prstGeom prst="rect">
            <a:avLst/>
          </a:prstGeom>
        </p:spPr>
      </p:pic>
      <p:sp>
        <p:nvSpPr>
          <p:cNvPr id="71" name="Text 65"/>
          <p:cNvSpPr txBox="1"/>
          <p:nvPr/>
        </p:nvSpPr>
        <p:spPr>
          <a:xfrm>
            <a:off x="8622792" y="5522976"/>
            <a:ext cx="3063240" cy="292608"/>
          </a:xfrm>
          <a:prstGeom prst="rect">
            <a:avLst/>
          </a:prstGeom>
          <a:noFill/>
          <a:ln/>
        </p:spPr>
        <p:txBody>
          <a:bodyPr wrap="square" lIns="0" tIns="0" rIns="0" bIns="0" rtlCol="0" anchor="ctr"/>
          <a:lstStyle/>
          <a:p>
            <a:pPr indent="0" marL="0">
              <a:buNone/>
            </a:pPr>
            <a:r>
              <a:rPr lang="en-US" sz="1200" b="1" dirty="0">
                <a:solidFill>
                  <a:srgbClr val="4B3B33"/>
                </a:solidFill>
                <a:latin typeface="Cambria" pitchFamily="34" charset="0"/>
                <a:ea typeface="Cambria" pitchFamily="34" charset="-122"/>
                <a:cs typeface="Cambria" pitchFamily="34" charset="-120"/>
              </a:rPr>
              <a:t>Transparencia en Pantalla</a:t>
            </a:r>
            <a:endParaRPr lang="en-US" sz="1200" dirty="0"/>
          </a:p>
        </p:txBody>
      </p:sp>
      <p:sp>
        <p:nvSpPr>
          <p:cNvPr id="72" name="Text 66"/>
          <p:cNvSpPr txBox="1"/>
          <p:nvPr/>
        </p:nvSpPr>
        <p:spPr>
          <a:xfrm>
            <a:off x="8622792" y="5815584"/>
            <a:ext cx="3063240" cy="841248"/>
          </a:xfrm>
          <a:prstGeom prst="rect">
            <a:avLst/>
          </a:prstGeom>
          <a:noFill/>
          <a:ln/>
        </p:spPr>
        <p:txBody>
          <a:bodyPr wrap="square" lIns="0" tIns="0" rIns="0" bIns="0" rtlCol="0" anchor="ctr"/>
          <a:lstStyle/>
          <a:p>
            <a:pPr indent="0" marL="0">
              <a:lnSpc>
                <a:spcPts val="1450"/>
              </a:lnSpc>
              <a:buNone/>
            </a:pPr>
            <a:r>
              <a:rPr lang="en-US" sz="1000" dirty="0">
                <a:solidFill>
                  <a:srgbClr val="5B4A41"/>
                </a:solidFill>
                <a:latin typeface="Calibri" pitchFamily="34" charset="0"/>
                <a:ea typeface="Calibri" pitchFamily="34" charset="-122"/>
                <a:cs typeface="Calibri" pitchFamily="34" charset="-120"/>
              </a:rPr>
              <a:t>Visualización inmediata del bono ecológico (-$5.00) y el origen del lote antes de confirmar.</a:t>
            </a:r>
            <a:endParaRPr lang="en-US" sz="1000" dirty="0"/>
          </a:p>
        </p:txBody>
      </p:sp>
      <p:sp>
        <p:nvSpPr>
          <p:cNvPr id="73" name="Text 67"/>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8A776D"/>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74" name="Text 68"/>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8A776D"/>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4241C"/>
        </a:solidFill>
      </p:bgPr>
    </p:bg>
    <p:spTree>
      <p:nvGrpSpPr>
        <p:cNvPr id="1" name=""/>
        <p:cNvGrpSpPr/>
        <p:nvPr/>
      </p:nvGrpSpPr>
      <p:grpSpPr>
        <a:xfrm>
          <a:off x="0" y="0"/>
          <a:ext cx="0" cy="0"/>
          <a:chOff x="0" y="0"/>
          <a:chExt cx="0" cy="0"/>
        </a:xfrm>
      </p:grpSpPr>
      <p:sp>
        <p:nvSpPr>
          <p:cNvPr id="2" name="Text 0"/>
          <p:cNvSpPr txBox="1"/>
          <p:nvPr/>
        </p:nvSpPr>
        <p:spPr>
          <a:xfrm>
            <a:off x="548640" y="292608"/>
            <a:ext cx="10058400" cy="274320"/>
          </a:xfrm>
          <a:prstGeom prst="rect">
            <a:avLst/>
          </a:prstGeom>
          <a:noFill/>
          <a:ln/>
        </p:spPr>
        <p:txBody>
          <a:bodyPr wrap="square" lIns="0" tIns="0" rIns="0" bIns="0" rtlCol="0" anchor="ctr"/>
          <a:lstStyle/>
          <a:p>
            <a:pPr algn="l" indent="0" marL="0">
              <a:buNone/>
            </a:pPr>
            <a:r>
              <a:rPr lang="en-US" sz="1050" b="1" spc="200" kern="0" dirty="0">
                <a:solidFill>
                  <a:srgbClr val="E08D80"/>
                </a:solidFill>
                <a:latin typeface="Calibri" pitchFamily="34" charset="0"/>
                <a:ea typeface="Calibri" pitchFamily="34" charset="-122"/>
                <a:cs typeface="Calibri" pitchFamily="34" charset="-120"/>
              </a:rPr>
              <a:t>PRODUCTO INTEGRADOR — ADMINISTRACIÓN DE PROYECTOS</a:t>
            </a:r>
            <a:endParaRPr lang="en-US" sz="10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algn="l" indent="0" marL="0">
              <a:buNone/>
            </a:pPr>
            <a:r>
              <a:rPr lang="en-US" sz="2500" b="1" dirty="0">
                <a:solidFill>
                  <a:srgbClr val="F3E9E3"/>
                </a:solidFill>
                <a:latin typeface="Cambria" pitchFamily="34" charset="0"/>
                <a:ea typeface="Cambria" pitchFamily="34" charset="-122"/>
                <a:cs typeface="Cambria" pitchFamily="34" charset="-120"/>
              </a:rPr>
              <a:t>17. Conclusiones y Defensa del Proyecto</a:t>
            </a:r>
            <a:endParaRPr lang="en-US" sz="2500" dirty="0"/>
          </a:p>
        </p:txBody>
      </p:sp>
      <p:sp>
        <p:nvSpPr>
          <p:cNvPr id="4" name="Shape 2"/>
          <p:cNvSpPr/>
          <p:nvPr/>
        </p:nvSpPr>
        <p:spPr>
          <a:xfrm>
            <a:off x="548640" y="1737360"/>
            <a:ext cx="658368" cy="658368"/>
          </a:xfrm>
          <a:prstGeom prst="ellipse">
            <a:avLst/>
          </a:prstGeom>
          <a:solidFill>
            <a:srgbClr val="C97567"/>
          </a:solidFill>
          <a:ln/>
        </p:spPr>
      </p:sp>
      <p:pic>
        <p:nvPicPr>
          <p:cNvPr id="5" name="Image 0" descr="/home/claude/icons/check.png">    </p:cNvPr>
          <p:cNvPicPr>
            <a:picLocks noChangeAspect="1"/>
          </p:cNvPicPr>
          <p:nvPr/>
        </p:nvPicPr>
        <p:blipFill>
          <a:blip r:embed="rId1"/>
          <a:stretch>
            <a:fillRect/>
          </a:stretch>
        </p:blipFill>
        <p:spPr>
          <a:xfrm>
            <a:off x="637520" y="1826240"/>
            <a:ext cx="480609" cy="480609"/>
          </a:xfrm>
          <a:prstGeom prst="rect">
            <a:avLst/>
          </a:prstGeom>
        </p:spPr>
      </p:pic>
      <p:sp>
        <p:nvSpPr>
          <p:cNvPr id="6" name="Text 3"/>
          <p:cNvSpPr txBox="1"/>
          <p:nvPr/>
        </p:nvSpPr>
        <p:spPr>
          <a:xfrm>
            <a:off x="1463040" y="1691640"/>
            <a:ext cx="10058400" cy="320040"/>
          </a:xfrm>
          <a:prstGeom prst="rect">
            <a:avLst/>
          </a:prstGeom>
          <a:noFill/>
          <a:ln/>
        </p:spPr>
        <p:txBody>
          <a:bodyPr wrap="square" lIns="0" tIns="0" rIns="0" bIns="0" rtlCol="0" anchor="ctr"/>
          <a:lstStyle/>
          <a:p>
            <a:pPr indent="0" marL="0">
              <a:buNone/>
            </a:pPr>
            <a:r>
              <a:rPr lang="en-US" sz="1550" b="1" dirty="0">
                <a:solidFill>
                  <a:srgbClr val="F3E9E3"/>
                </a:solidFill>
                <a:latin typeface="Cambria" pitchFamily="34" charset="0"/>
                <a:ea typeface="Cambria" pitchFamily="34" charset="-122"/>
                <a:cs typeface="Cambria" pitchFamily="34" charset="-120"/>
              </a:rPr>
              <a:t>Viabilidad Técnica y Operativa</a:t>
            </a:r>
            <a:endParaRPr lang="en-US" sz="1550" dirty="0"/>
          </a:p>
        </p:txBody>
      </p:sp>
      <p:sp>
        <p:nvSpPr>
          <p:cNvPr id="7" name="Text 4"/>
          <p:cNvSpPr txBox="1"/>
          <p:nvPr/>
        </p:nvSpPr>
        <p:spPr>
          <a:xfrm>
            <a:off x="1463040" y="2057400"/>
            <a:ext cx="10058400" cy="640080"/>
          </a:xfrm>
          <a:prstGeom prst="rect">
            <a:avLst/>
          </a:prstGeom>
          <a:noFill/>
          <a:ln/>
        </p:spPr>
        <p:txBody>
          <a:bodyPr wrap="square" lIns="0" tIns="0" rIns="0" bIns="0" rtlCol="0" anchor="ctr"/>
          <a:lstStyle/>
          <a:p>
            <a:pPr indent="0" marL="0">
              <a:lnSpc>
                <a:spcPts val="1450"/>
              </a:lnSpc>
              <a:buNone/>
            </a:pPr>
            <a:r>
              <a:rPr lang="en-US" sz="1100" dirty="0">
                <a:solidFill>
                  <a:srgbClr val="C9B8AD"/>
                </a:solidFill>
                <a:latin typeface="Calibri" pitchFamily="34" charset="0"/>
                <a:ea typeface="Calibri" pitchFamily="34" charset="-122"/>
                <a:cs typeface="Calibri" pitchFamily="34" charset="-120"/>
              </a:rPr>
              <a:t>Integra metodologías ágiles SCRUM y estimación formal COCOMO Intermedio (EAF: 0.795), garantizando la entrega de los 8 Sprints en 16 semanas con alta disciplina arquitectónica.</a:t>
            </a:r>
            <a:endParaRPr lang="en-US" sz="1100" dirty="0"/>
          </a:p>
        </p:txBody>
      </p:sp>
      <p:sp>
        <p:nvSpPr>
          <p:cNvPr id="8" name="Shape 5"/>
          <p:cNvSpPr/>
          <p:nvPr/>
        </p:nvSpPr>
        <p:spPr>
          <a:xfrm>
            <a:off x="548640" y="2606040"/>
            <a:ext cx="11091672" cy="9144"/>
          </a:xfrm>
          <a:prstGeom prst="rect">
            <a:avLst/>
          </a:prstGeom>
          <a:solidFill>
            <a:srgbClr val="44342A"/>
          </a:solidFill>
          <a:ln/>
        </p:spPr>
      </p:sp>
      <p:sp>
        <p:nvSpPr>
          <p:cNvPr id="9" name="Shape 6"/>
          <p:cNvSpPr/>
          <p:nvPr/>
        </p:nvSpPr>
        <p:spPr>
          <a:xfrm>
            <a:off x="548640" y="2788920"/>
            <a:ext cx="658368" cy="658368"/>
          </a:xfrm>
          <a:prstGeom prst="ellipse">
            <a:avLst/>
          </a:prstGeom>
          <a:solidFill>
            <a:srgbClr val="C97567"/>
          </a:solidFill>
          <a:ln/>
        </p:spPr>
      </p:sp>
      <p:pic>
        <p:nvPicPr>
          <p:cNvPr id="10" name="Image 1" descr="/home/claude/monchis2/icons/leaf.png">    </p:cNvPr>
          <p:cNvPicPr>
            <a:picLocks noChangeAspect="1"/>
          </p:cNvPicPr>
          <p:nvPr/>
        </p:nvPicPr>
        <p:blipFill>
          <a:blip r:embed="rId2"/>
          <a:stretch>
            <a:fillRect/>
          </a:stretch>
        </p:blipFill>
        <p:spPr>
          <a:xfrm>
            <a:off x="637520" y="2877800"/>
            <a:ext cx="480609" cy="480609"/>
          </a:xfrm>
          <a:prstGeom prst="rect">
            <a:avLst/>
          </a:prstGeom>
        </p:spPr>
      </p:pic>
      <p:sp>
        <p:nvSpPr>
          <p:cNvPr id="11" name="Text 7"/>
          <p:cNvSpPr txBox="1"/>
          <p:nvPr/>
        </p:nvSpPr>
        <p:spPr>
          <a:xfrm>
            <a:off x="1463040" y="2743200"/>
            <a:ext cx="10058400" cy="320040"/>
          </a:xfrm>
          <a:prstGeom prst="rect">
            <a:avLst/>
          </a:prstGeom>
          <a:noFill/>
          <a:ln/>
        </p:spPr>
        <p:txBody>
          <a:bodyPr wrap="square" lIns="0" tIns="0" rIns="0" bIns="0" rtlCol="0" anchor="ctr"/>
          <a:lstStyle/>
          <a:p>
            <a:pPr indent="0" marL="0">
              <a:buNone/>
            </a:pPr>
            <a:r>
              <a:rPr lang="en-US" sz="1550" b="1" dirty="0">
                <a:solidFill>
                  <a:srgbClr val="F3E9E3"/>
                </a:solidFill>
                <a:latin typeface="Cambria" pitchFamily="34" charset="0"/>
                <a:ea typeface="Cambria" pitchFamily="34" charset="-122"/>
                <a:cs typeface="Cambria" pitchFamily="34" charset="-120"/>
              </a:rPr>
              <a:t>Alineación con la Agenda 2030 (ODS)</a:t>
            </a:r>
            <a:endParaRPr lang="en-US" sz="1550" dirty="0"/>
          </a:p>
        </p:txBody>
      </p:sp>
      <p:sp>
        <p:nvSpPr>
          <p:cNvPr id="12" name="Text 8"/>
          <p:cNvSpPr txBox="1"/>
          <p:nvPr/>
        </p:nvSpPr>
        <p:spPr>
          <a:xfrm>
            <a:off x="1463040" y="3108960"/>
            <a:ext cx="10058400" cy="640080"/>
          </a:xfrm>
          <a:prstGeom prst="rect">
            <a:avLst/>
          </a:prstGeom>
          <a:noFill/>
          <a:ln/>
        </p:spPr>
        <p:txBody>
          <a:bodyPr wrap="square" lIns="0" tIns="0" rIns="0" bIns="0" rtlCol="0" anchor="ctr"/>
          <a:lstStyle/>
          <a:p>
            <a:pPr indent="0" marL="0">
              <a:lnSpc>
                <a:spcPts val="1450"/>
              </a:lnSpc>
              <a:buNone/>
            </a:pPr>
            <a:r>
              <a:rPr lang="en-US" sz="1100" dirty="0">
                <a:solidFill>
                  <a:srgbClr val="C9B8AD"/>
                </a:solidFill>
                <a:latin typeface="Calibri" pitchFamily="34" charset="0"/>
                <a:ea typeface="Calibri" pitchFamily="34" charset="-122"/>
                <a:cs typeface="Calibri" pitchFamily="34" charset="-120"/>
              </a:rPr>
              <a:t>El desarrollo de software sustentable no es teórico: desvía más de 4,500 vasos plásticos semestrales (ODS 12), agiliza la microeconomía de especialidad (ODS 8) y protege datos con arquitectura Zero Trust (ODS 16).</a:t>
            </a:r>
            <a:endParaRPr lang="en-US" sz="1100" dirty="0"/>
          </a:p>
        </p:txBody>
      </p:sp>
      <p:sp>
        <p:nvSpPr>
          <p:cNvPr id="13" name="Shape 9"/>
          <p:cNvSpPr/>
          <p:nvPr/>
        </p:nvSpPr>
        <p:spPr>
          <a:xfrm>
            <a:off x="548640" y="3657600"/>
            <a:ext cx="11091672" cy="9144"/>
          </a:xfrm>
          <a:prstGeom prst="rect">
            <a:avLst/>
          </a:prstGeom>
          <a:solidFill>
            <a:srgbClr val="44342A"/>
          </a:solidFill>
          <a:ln/>
        </p:spPr>
      </p:sp>
      <p:sp>
        <p:nvSpPr>
          <p:cNvPr id="14" name="Shape 10"/>
          <p:cNvSpPr/>
          <p:nvPr/>
        </p:nvSpPr>
        <p:spPr>
          <a:xfrm>
            <a:off x="548640" y="3840480"/>
            <a:ext cx="658368" cy="658368"/>
          </a:xfrm>
          <a:prstGeom prst="ellipse">
            <a:avLst/>
          </a:prstGeom>
          <a:solidFill>
            <a:srgbClr val="C97567"/>
          </a:solidFill>
          <a:ln/>
        </p:spPr>
      </p:sp>
      <p:pic>
        <p:nvPicPr>
          <p:cNvPr id="15" name="Image 2" descr="/home/claude/icons/shield.png">    </p:cNvPr>
          <p:cNvPicPr>
            <a:picLocks noChangeAspect="1"/>
          </p:cNvPicPr>
          <p:nvPr/>
        </p:nvPicPr>
        <p:blipFill>
          <a:blip r:embed="rId3"/>
          <a:stretch>
            <a:fillRect/>
          </a:stretch>
        </p:blipFill>
        <p:spPr>
          <a:xfrm>
            <a:off x="637520" y="3929360"/>
            <a:ext cx="480609" cy="480609"/>
          </a:xfrm>
          <a:prstGeom prst="rect">
            <a:avLst/>
          </a:prstGeom>
        </p:spPr>
      </p:pic>
      <p:sp>
        <p:nvSpPr>
          <p:cNvPr id="16" name="Text 11"/>
          <p:cNvSpPr txBox="1"/>
          <p:nvPr/>
        </p:nvSpPr>
        <p:spPr>
          <a:xfrm>
            <a:off x="1463040" y="3794760"/>
            <a:ext cx="10058400" cy="320040"/>
          </a:xfrm>
          <a:prstGeom prst="rect">
            <a:avLst/>
          </a:prstGeom>
          <a:noFill/>
          <a:ln/>
        </p:spPr>
        <p:txBody>
          <a:bodyPr wrap="square" lIns="0" tIns="0" rIns="0" bIns="0" rtlCol="0" anchor="ctr"/>
          <a:lstStyle/>
          <a:p>
            <a:pPr indent="0" marL="0">
              <a:buNone/>
            </a:pPr>
            <a:r>
              <a:rPr lang="en-US" sz="1550" b="1" dirty="0">
                <a:solidFill>
                  <a:srgbClr val="F3E9E3"/>
                </a:solidFill>
                <a:latin typeface="Cambria" pitchFamily="34" charset="0"/>
                <a:ea typeface="Cambria" pitchFamily="34" charset="-122"/>
                <a:cs typeface="Cambria" pitchFamily="34" charset="-120"/>
              </a:rPr>
              <a:t>Resiliencia Transaccional y Financiera</a:t>
            </a:r>
            <a:endParaRPr lang="en-US" sz="1550" dirty="0"/>
          </a:p>
        </p:txBody>
      </p:sp>
      <p:sp>
        <p:nvSpPr>
          <p:cNvPr id="17" name="Text 12"/>
          <p:cNvSpPr txBox="1"/>
          <p:nvPr/>
        </p:nvSpPr>
        <p:spPr>
          <a:xfrm>
            <a:off x="1463040" y="4160520"/>
            <a:ext cx="10058400" cy="640080"/>
          </a:xfrm>
          <a:prstGeom prst="rect">
            <a:avLst/>
          </a:prstGeom>
          <a:noFill/>
          <a:ln/>
        </p:spPr>
        <p:txBody>
          <a:bodyPr wrap="square" lIns="0" tIns="0" rIns="0" bIns="0" rtlCol="0" anchor="ctr"/>
          <a:lstStyle/>
          <a:p>
            <a:pPr indent="0" marL="0">
              <a:lnSpc>
                <a:spcPts val="1450"/>
              </a:lnSpc>
              <a:buNone/>
            </a:pPr>
            <a:r>
              <a:rPr lang="en-US" sz="1100" dirty="0">
                <a:solidFill>
                  <a:srgbClr val="C9B8AD"/>
                </a:solidFill>
                <a:latin typeface="Calibri" pitchFamily="34" charset="0"/>
                <a:ea typeface="Calibri" pitchFamily="34" charset="-122"/>
                <a:cs typeface="Calibri" pitchFamily="34" charset="-120"/>
              </a:rPr>
              <a:t>El Patrón Saga con RabbitMQ elimina pérdidas de inventario por caídas de pasarela, protegiendo la inversión integral presupuestada de $418,275 MXN.</a:t>
            </a:r>
            <a:endParaRPr lang="en-US" sz="1100" dirty="0"/>
          </a:p>
        </p:txBody>
      </p:sp>
      <p:sp>
        <p:nvSpPr>
          <p:cNvPr id="18" name="Shape 13"/>
          <p:cNvSpPr/>
          <p:nvPr/>
        </p:nvSpPr>
        <p:spPr>
          <a:xfrm>
            <a:off x="548640" y="4709160"/>
            <a:ext cx="11091672" cy="9144"/>
          </a:xfrm>
          <a:prstGeom prst="rect">
            <a:avLst/>
          </a:prstGeom>
          <a:solidFill>
            <a:srgbClr val="44342A"/>
          </a:solidFill>
          <a:ln/>
        </p:spPr>
      </p:sp>
      <p:sp>
        <p:nvSpPr>
          <p:cNvPr id="19" name="Shape 14"/>
          <p:cNvSpPr/>
          <p:nvPr/>
        </p:nvSpPr>
        <p:spPr>
          <a:xfrm>
            <a:off x="548640" y="4892040"/>
            <a:ext cx="658368" cy="658368"/>
          </a:xfrm>
          <a:prstGeom prst="ellipse">
            <a:avLst/>
          </a:prstGeom>
          <a:solidFill>
            <a:srgbClr val="C97567"/>
          </a:solidFill>
          <a:ln/>
        </p:spPr>
      </p:sp>
      <p:pic>
        <p:nvPicPr>
          <p:cNvPr id="20" name="Image 3" descr="/home/claude/monchis2/icons/cloud.png">    </p:cNvPr>
          <p:cNvPicPr>
            <a:picLocks noChangeAspect="1"/>
          </p:cNvPicPr>
          <p:nvPr/>
        </p:nvPicPr>
        <p:blipFill>
          <a:blip r:embed="rId4"/>
          <a:stretch>
            <a:fillRect/>
          </a:stretch>
        </p:blipFill>
        <p:spPr>
          <a:xfrm>
            <a:off x="637520" y="4980920"/>
            <a:ext cx="480609" cy="480609"/>
          </a:xfrm>
          <a:prstGeom prst="rect">
            <a:avLst/>
          </a:prstGeom>
        </p:spPr>
      </p:pic>
      <p:sp>
        <p:nvSpPr>
          <p:cNvPr id="21" name="Text 15"/>
          <p:cNvSpPr txBox="1"/>
          <p:nvPr/>
        </p:nvSpPr>
        <p:spPr>
          <a:xfrm>
            <a:off x="1463040" y="4846320"/>
            <a:ext cx="10058400" cy="320040"/>
          </a:xfrm>
          <a:prstGeom prst="rect">
            <a:avLst/>
          </a:prstGeom>
          <a:noFill/>
          <a:ln/>
        </p:spPr>
        <p:txBody>
          <a:bodyPr wrap="square" lIns="0" tIns="0" rIns="0" bIns="0" rtlCol="0" anchor="ctr"/>
          <a:lstStyle/>
          <a:p>
            <a:pPr indent="0" marL="0">
              <a:buNone/>
            </a:pPr>
            <a:r>
              <a:rPr lang="en-US" sz="1550" b="1" dirty="0">
                <a:solidFill>
                  <a:srgbClr val="F3E9E3"/>
                </a:solidFill>
                <a:latin typeface="Cambria" pitchFamily="34" charset="0"/>
                <a:ea typeface="Cambria" pitchFamily="34" charset="-122"/>
                <a:cs typeface="Cambria" pitchFamily="34" charset="-120"/>
              </a:rPr>
              <a:t>Estado Actual y Próximos Pasos</a:t>
            </a:r>
            <a:endParaRPr lang="en-US" sz="1550" dirty="0"/>
          </a:p>
        </p:txBody>
      </p:sp>
      <p:sp>
        <p:nvSpPr>
          <p:cNvPr id="22" name="Text 16"/>
          <p:cNvSpPr txBox="1"/>
          <p:nvPr/>
        </p:nvSpPr>
        <p:spPr>
          <a:xfrm>
            <a:off x="1463040" y="5212080"/>
            <a:ext cx="10058400" cy="640080"/>
          </a:xfrm>
          <a:prstGeom prst="rect">
            <a:avLst/>
          </a:prstGeom>
          <a:noFill/>
          <a:ln/>
        </p:spPr>
        <p:txBody>
          <a:bodyPr wrap="square" lIns="0" tIns="0" rIns="0" bIns="0" rtlCol="0" anchor="ctr"/>
          <a:lstStyle/>
          <a:p>
            <a:pPr indent="0" marL="0">
              <a:lnSpc>
                <a:spcPts val="1450"/>
              </a:lnSpc>
              <a:buNone/>
            </a:pPr>
            <a:r>
              <a:rPr lang="en-US" sz="1100" dirty="0">
                <a:solidFill>
                  <a:srgbClr val="C9B8AD"/>
                </a:solidFill>
                <a:latin typeface="Calibri" pitchFamily="34" charset="0"/>
                <a:ea typeface="Calibri" pitchFamily="34" charset="-122"/>
                <a:cs typeface="Calibri" pitchFamily="34" charset="-120"/>
              </a:rPr>
              <a:t>Monorepo configurado, especificaciones y requerimientos formalizados bajo normas APA 7, listos para pruebas automatizadas multicapa y despliegue en Google Cloud Platform.</a:t>
            </a:r>
            <a:endParaRPr lang="en-US" sz="1100" dirty="0"/>
          </a:p>
        </p:txBody>
      </p:sp>
      <p:sp>
        <p:nvSpPr>
          <p:cNvPr id="23" name="Text 17"/>
          <p:cNvSpPr txBox="1"/>
          <p:nvPr/>
        </p:nvSpPr>
        <p:spPr>
          <a:xfrm>
            <a:off x="548640" y="6035040"/>
            <a:ext cx="11091672" cy="365760"/>
          </a:xfrm>
          <a:prstGeom prst="rect">
            <a:avLst/>
          </a:prstGeom>
          <a:noFill/>
          <a:ln/>
        </p:spPr>
        <p:txBody>
          <a:bodyPr wrap="square" lIns="0" tIns="0" rIns="0" bIns="0" rtlCol="0" anchor="ctr"/>
          <a:lstStyle/>
          <a:p>
            <a:pPr indent="0" marL="0">
              <a:buNone/>
            </a:pPr>
            <a:r>
              <a:rPr lang="en-US" sz="1400" i="1" dirty="0">
                <a:solidFill>
                  <a:srgbClr val="E08D80"/>
                </a:solidFill>
                <a:latin typeface="Cambria" pitchFamily="34" charset="0"/>
                <a:ea typeface="Cambria" pitchFamily="34" charset="-122"/>
                <a:cs typeface="Cambria" pitchFamily="34" charset="-120"/>
              </a:rPr>
              <a:t>Gracias por su atención — quedo a sus órdenes para cualquier pregunta.</a:t>
            </a:r>
            <a:endParaRPr lang="en-US" sz="1400" dirty="0"/>
          </a:p>
        </p:txBody>
      </p:sp>
      <p:sp>
        <p:nvSpPr>
          <p:cNvPr id="24" name="Text 18"/>
          <p:cNvSpPr txBox="1"/>
          <p:nvPr/>
        </p:nvSpPr>
        <p:spPr>
          <a:xfrm>
            <a:off x="548640" y="6492240"/>
            <a:ext cx="7315200" cy="256032"/>
          </a:xfrm>
          <a:prstGeom prst="rect">
            <a:avLst/>
          </a:prstGeom>
          <a:noFill/>
          <a:ln/>
        </p:spPr>
        <p:txBody>
          <a:bodyPr wrap="square" lIns="0" tIns="0" rIns="0" bIns="0" rtlCol="0" anchor="ctr"/>
          <a:lstStyle/>
          <a:p>
            <a:pPr algn="l" indent="0" marL="0">
              <a:buNone/>
            </a:pPr>
            <a:r>
              <a:rPr lang="en-US" sz="850" dirty="0">
                <a:solidFill>
                  <a:srgbClr val="B9A99C"/>
                </a:solidFill>
                <a:latin typeface="Calibri" pitchFamily="34" charset="0"/>
                <a:ea typeface="Calibri" pitchFamily="34" charset="-122"/>
                <a:cs typeface="Calibri" pitchFamily="34" charset="-120"/>
              </a:rPr>
              <a:t>Monchis Café — Producto Integrador · Administración de Proyectos</a:t>
            </a:r>
            <a:endParaRPr lang="en-US" sz="850" dirty="0"/>
          </a:p>
        </p:txBody>
      </p:sp>
      <p:sp>
        <p:nvSpPr>
          <p:cNvPr id="25" name="Text 19"/>
          <p:cNvSpPr txBox="1"/>
          <p:nvPr/>
        </p:nvSpPr>
        <p:spPr>
          <a:xfrm>
            <a:off x="11183112" y="6492240"/>
            <a:ext cx="548640" cy="256032"/>
          </a:xfrm>
          <a:prstGeom prst="rect">
            <a:avLst/>
          </a:prstGeom>
          <a:noFill/>
          <a:ln/>
        </p:spPr>
        <p:txBody>
          <a:bodyPr wrap="square" lIns="0" tIns="0" rIns="0" bIns="0" rtlCol="0" anchor="ctr"/>
          <a:lstStyle/>
          <a:p>
            <a:pPr algn="r" indent="0" marL="0">
              <a:buNone/>
            </a:pPr>
            <a:r>
              <a:rPr lang="en-US" sz="850" dirty="0">
                <a:solidFill>
                  <a:srgbClr val="B9A99C"/>
                </a:solidFill>
                <a:latin typeface="Calibri" pitchFamily="34" charset="0"/>
                <a:ea typeface="Calibri" pitchFamily="34" charset="-122"/>
                <a:cs typeface="Calibri" pitchFamily="34" charset="-120"/>
              </a:rPr>
              <a:t>20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2026-09-08T21:10:24Z</dcterms:created>
  <dcterms:modified xsi:type="dcterms:W3CDTF">2026-09-08T21:10:24Z</dcterms:modified>
</cp:coreProperties>
</file>