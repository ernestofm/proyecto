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DEFENSA ORAL (Minuto 0:00 - 0:45):</a:t>
            </a:r>
          </a:p>
          <a:p>
            <a:r>
              <a:t>Buenos días, profesor Gabriel Navarro y compañeros. Presento la resolución formal de la Actividad 2.2: 'Problemas COCOMO Intermedio'. En esta entrega abordamos la estimación de software con rigor matemático, calibrando el esfuerzo nominal mediante los 15 conductores de coste (EAF), evaluando el tiempo de desarrollo (TDEV) y determinando los costos económicos en Pesos Mexicanos (MXN). Toda la formulación está sincronizada con una hoja de cálculo completamente automatizada con celdas y matrices vinculadas.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DEFENSA ORAL (Minuto 0:45 - 1:30):</a:t>
            </a:r>
          </a:p>
          <a:p>
            <a:r>
              <a:t>Es crucial entender la diferencia con respecto a la Actividad 2.1. En el COCOMO Básico, el coeficiente 'a' era de 2.4 para orgánico porque funcionaba como una constante global agregada. Al pasar al COCOMO Intermedio, Barry Boehm recalibró estas constantes: el modo Orgánico sube a 3.2 y el Empotrado se reduce a 2.8. La razón matemática es que los 15 conductores de coste (EAF) son quienes ahora modulan de manera individualizada el esfuerzo real. Además, el tiempo de desarrollo (TDEV) debe calcularse rigurosamente utilizando el PM ajustado y no el nominal.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DEFENSA ORAL (Minuto 1:30 - 2:15):</a:t>
            </a:r>
          </a:p>
          <a:p>
            <a:r>
              <a:t>Los 15 conductores de coste de Boehm se organizan en 4 cuadrantes. La escala consta de 6 niveles: Muy Bajo (1), Bajo (2), Nominal (3 con valor 1.00), Alto (4), Muy Alto (5) y Extra Alto (6). Nótese un detalle fundamental: en los conductores de producto y hardware, un mayor nivel incrementa el costo (&gt;1.00); en cambio, en las cualidades del personal (como ACAP y PCAP), una alta capacidad abarata el esfuerzo (0.71), mientras que un personal novato lo penaliza severamente (hasta 1.46). El EAF resultante es la multiplicación acumulada de estos 15 factores.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DEFENSA ORAL (Minuto 2:15 - 3:00):</a:t>
            </a:r>
          </a:p>
          <a:p>
            <a:r>
              <a:t>En el Problema I validamos el ejemplo resuelto de la diapositiva 5. Con 50 KLOC y modo Semiacoplado, el esfuerzo nominal es 239.87 PM. Los factores RELY=1.15, DATA=1.00 y restricciones de tiempo=1.00 generan un EAF de 1.15. Por tanto, el esfuerzo ajustado es 275.85 PM, lo que coincide al redondear con los 276 persona-mes oficiales. Además, demostramos el cálculo de TDEV: aplicando c=2.50 y d=0.35 sobre los 275.85 PM ajustados (donde 275.8452 elevado a la 0.35 da 7.1488), obtenemos 17.87 meses de calendario conforme a la metodología COCOMO Intermedio.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DEFENSA ORAL (Minuto 3:00 - 3:45):</a:t>
            </a:r>
          </a:p>
          <a:p>
            <a:r>
              <a:t>En el Problema II duplicamos el tamaño a 100 KLOC. El esfuerzo nominal pasa a 521.34 PM. Al aplicar los 5 conductores, el EAF alcanza 1.4601 (+46% sobre el nominal), debido a la alta confiabilidad (1.40) y apremios de tiempo de ejecución (1.11). El esfuerzo ajustado final es de 761.23 Personas-Mes. El tiempo de desarrollo formal TDEV, calculado con c=2.50 y d=0.35 sobre el esfuerzo ajustado (761.23 PM, cuya potencia da 10.1984), resulta en exactamente 25.50 meses (~2.13 años) de calendario.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DEFENSA ORAL (Minuto 3:45 - 4:30):</a:t>
            </a:r>
          </a:p>
          <a:p>
            <a:r>
              <a:t>En el Problema III se solicita explícitamente el tiempo de desarrollo para un sistema empotrado de 300 KLOC. El esfuerzo nominal es de 2,628.47 PM. Al evaluar los conductores, la baja capacidad del analista (ACAP=1.46) representa el mayor castigo individual (+46%), que en sinergia con DATA=1.16 y RELY=1.15 eleva el EAF a 1.6555. Esto dispara el esfuerzo ajustado a 4,351.42 PM. Al aplicar la fórmula TDEV = 2.5 * (4,351.42)^0.32, el tiempo requerido es de 36.50 meses, equivalentes a poco más de 3 años continuos de desarrollo.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DEFENSA ORAL (Minuto 4:30 - 5:15):</a:t>
            </a:r>
          </a:p>
          <a:p>
            <a:r>
              <a:t>En el Problema IV estimamos el costo de un proyecto orgánico de 20 KLOC a una tarifa de $10,000 MXN por persona-mes. El esfuerzo nominal es 74.34 PM. Aquí observamos una compensación interesante: DATA (1.16), TIME (1.11) y ACAP (1.46) penalizan, pero RELY (0.75), CPLX (0.85) y VIRT (0.87) amortiguan el impacto, dejando un EAF neto de 1.0426. El esfuerzo ajustado resultante es 77.51 PM. Al multiplicarlo por $10,000 obtenemos exactamente $775,112.50 MXN (o $775,112 MXN sin centavos). Además, respaldamos formalmente el cálculo del tiempo de desarrollo (TDEV): aplicando 2.50 * (77.51)^0.38 (donde la potencia da 5.2235) obtenemos 13.06 meses, demostrando la factibilidad temporal del proyecto.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DEFENSA ORAL (Minuto 5:15 - 6:00):</a:t>
            </a:r>
          </a:p>
          <a:p>
            <a:r>
              <a:t>El Problema V representa un megaproyecto empotrado de 311 KLOC a $25,000 MXN por persona-mes. A los 7 factores anteriores se suma SCED=1.04 por restricciones de cronograma, resultando en un EAF de 1.0843. El esfuerzo ajustado alcanza 2,976.03 PM. El tiempo estimado de desarrollo es de 32.32 meses (~2.69 años). Multiplicando el esfuerzo por los $25,000 por PM obtenemos una inversión de $74,400,715.42 MXN ($74,400,715 MXN sin centavos). Esta cifra ilustra la magnitud económica y el nivel de riesgo que demanda una gobernanza rigurosa en proyectos embebidos de gran escala.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DEFENSA ORAL (Minuto 6:00 - 6:45):</a:t>
            </a:r>
          </a:p>
          <a:p>
            <a:r>
              <a:t>Esta matriz consolida los 5 problemas de la actividad. Destacamos la consistencia metodológica de la columna TDEV, donde cada valor se obtiene formalmente a partir del PM ajustado correspondiente: 17.87 meses para el Problema I, 25.50 meses para el Problema II, 36.50 meses para el Problema III, 13.06 meses para el Problema IV y 32.32 meses para el Problema V. El formato de la columna TDEV se encuentra unificado en 'Meses', los costos se especifican con su desglose decimal exacto y su expresión entera sin centavos en MXN, y las celdas resaltadas en verde destacan las respuestas oficiales solicitadas por la cátedra.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DEFENSA ORAL (Minuto 6:45 - 7:30):</a:t>
            </a:r>
          </a:p>
          <a:p>
            <a:r>
              <a:t>Para concluir nuestra defensa, extraemos cuatro lecciones cardinales de ingeniería de software. Primero: el factor humano es crítico; un analista novato (ACAP=1.46) representó el mayor sobrecosto individual en el caso de 300 KLOC. Segundo: los conductores interactúan en un delicado equilibrio; en el Problema IV factores favorables compensaron factores negativos. Tercero: en proyectos de 300 KLOC o más, el modelo empotrado impone un crecimiento superlineal por deseconomías de escala bajo la ley de potencia. Y cuarto: la automatización rigurosa en Excel elimina errores de desfase y habilita simulaciones de mitigación en tiempo real. Muchas gracias.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DEFENSA ORAL (Minuto 7:30 - 8:00):</a:t>
            </a:r>
          </a:p>
          <a:p>
            <a:r>
              <a:t>Esta diapositiva final sintetiza la transición metodológica entre la Actividad 2.1 y la 2.2. Demuestra cómo el modelo COCOMO evoluciona desde una simple regla de tamaño hacia un framework integral de gobernanza de proyectos de software. Con esto dejamos completamente resuelta la actividad con los máximos criterios de exactitud, diseño profesional y claridad expositiva. Quedo atento a sus preguntas, Dr. Gabriel Navarro.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731520"/>
            <a:ext cx="10728655" cy="5394960"/>
          </a:xfrm>
          <a:prstGeom prst="roundRect">
            <a:avLst/>
          </a:prstGeom>
          <a:solidFill>
            <a:srgbClr val="FFFDFB"/>
          </a:solidFill>
          <a:ln w="12700">
            <a:solidFill>
              <a:srgbClr val="E8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onchis_logo_badge.png"/>
          <p:cNvPicPr>
            <a:picLocks noChangeAspect="1"/>
          </p:cNvPicPr>
          <p:nvPr/>
        </p:nvPicPr>
        <p:blipFill>
          <a:blip r:embed="rId2"/>
          <a:stretch>
            <a:fillRect/>
          </a:stretch>
        </p:blipFill>
        <p:spPr>
          <a:xfrm>
            <a:off x="8503920" y="1097280"/>
            <a:ext cx="2377440" cy="2377440"/>
          </a:xfrm>
          <a:prstGeom prst="rect">
            <a:avLst/>
          </a:prstGeom>
        </p:spPr>
      </p:pic>
      <p:sp>
        <p:nvSpPr>
          <p:cNvPr id="5" name="TextBox 4"/>
          <p:cNvSpPr txBox="1"/>
          <p:nvPr/>
        </p:nvSpPr>
        <p:spPr>
          <a:xfrm>
            <a:off x="1188720" y="1051560"/>
            <a:ext cx="7132320" cy="320040"/>
          </a:xfrm>
          <a:prstGeom prst="rect">
            <a:avLst/>
          </a:prstGeom>
          <a:noFill/>
        </p:spPr>
        <p:txBody>
          <a:bodyPr wrap="square">
            <a:spAutoFit/>
          </a:bodyPr>
          <a:lstStyle/>
          <a:p>
            <a:pPr>
              <a:defRPr sz="1150" b="1">
                <a:solidFill>
                  <a:srgbClr val="C97567"/>
                </a:solidFill>
                <a:latin typeface="Calibri"/>
              </a:defRPr>
            </a:pPr>
            <a:r>
              <a:t>INGENIERÍA DE SOFTWARE &amp; ADMINISTRACIÓN DE PROYECTOS</a:t>
            </a:r>
          </a:p>
        </p:txBody>
      </p:sp>
      <p:sp>
        <p:nvSpPr>
          <p:cNvPr id="6" name="TextBox 5"/>
          <p:cNvSpPr txBox="1"/>
          <p:nvPr/>
        </p:nvSpPr>
        <p:spPr>
          <a:xfrm>
            <a:off x="1188720" y="1371600"/>
            <a:ext cx="7132320" cy="731520"/>
          </a:xfrm>
          <a:prstGeom prst="rect">
            <a:avLst/>
          </a:prstGeom>
          <a:noFill/>
        </p:spPr>
        <p:txBody>
          <a:bodyPr wrap="square">
            <a:spAutoFit/>
          </a:bodyPr>
          <a:lstStyle/>
          <a:p>
            <a:pPr>
              <a:defRPr sz="2400" b="1">
                <a:solidFill>
                  <a:srgbClr val="4A3B32"/>
                </a:solidFill>
                <a:latin typeface="Cambria"/>
              </a:defRPr>
            </a:pPr>
            <a:r>
              <a:t>ACTIVIDAD 2.2: COCOMO INTERMEDIO</a:t>
            </a:r>
          </a:p>
        </p:txBody>
      </p:sp>
      <p:sp>
        <p:nvSpPr>
          <p:cNvPr id="7" name="Rectangle 6"/>
          <p:cNvSpPr/>
          <p:nvPr/>
        </p:nvSpPr>
        <p:spPr>
          <a:xfrm>
            <a:off x="1188720" y="2148840"/>
            <a:ext cx="2377440" cy="36576"/>
          </a:xfrm>
          <a:prstGeom prst="rect">
            <a:avLst/>
          </a:prstGeom>
          <a:solidFill>
            <a:srgbClr val="C975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20" y="2331720"/>
            <a:ext cx="7132320" cy="868680"/>
          </a:xfrm>
          <a:prstGeom prst="rect">
            <a:avLst/>
          </a:prstGeom>
          <a:noFill/>
        </p:spPr>
        <p:txBody>
          <a:bodyPr wrap="square">
            <a:spAutoFit/>
          </a:bodyPr>
          <a:lstStyle/>
          <a:p>
            <a:pPr>
              <a:defRPr sz="1350">
                <a:solidFill>
                  <a:srgbClr val="4A3B32"/>
                </a:solidFill>
                <a:latin typeface="Calibri"/>
              </a:defRPr>
            </a:pPr>
            <a:r>
              <a:t>Resolución Rigurosa de Casos de Estudio, Calibración de Conductores de Coste (EAF), Ecuaciones de Boehm y Hoja de Cálculo Automatizada</a:t>
            </a:r>
          </a:p>
        </p:txBody>
      </p:sp>
      <p:sp>
        <p:nvSpPr>
          <p:cNvPr id="9" name="TextBox 8"/>
          <p:cNvSpPr txBox="1"/>
          <p:nvPr/>
        </p:nvSpPr>
        <p:spPr>
          <a:xfrm>
            <a:off x="1188720" y="3337560"/>
            <a:ext cx="9601200" cy="2468880"/>
          </a:xfrm>
          <a:prstGeom prst="rect">
            <a:avLst/>
          </a:prstGeom>
          <a:noFill/>
        </p:spPr>
        <p:txBody>
          <a:bodyPr wrap="square">
            <a:spAutoFit/>
          </a:bodyPr>
          <a:lstStyle/>
          <a:p>
            <a:pPr>
              <a:spcAft>
                <a:spcPts val="800"/>
              </a:spcAft>
              <a:defRPr sz="1250" b="1">
                <a:solidFill>
                  <a:srgbClr val="4A3B32"/>
                </a:solidFill>
                <a:latin typeface="Calibri"/>
              </a:defRPr>
            </a:pPr>
            <a:r>
              <a:t>• Alumno: Ernesto Fierro                                      • Docente: Dr. Gabriel Navarro Salcedo</a:t>
            </a:r>
          </a:p>
          <a:p>
            <a:pPr>
              <a:spcAft>
                <a:spcPts val="800"/>
              </a:spcAft>
              <a:defRPr sz="1200">
                <a:solidFill>
                  <a:srgbClr val="4A3B32"/>
                </a:solidFill>
                <a:latin typeface="Calibri"/>
              </a:defRPr>
            </a:pPr>
            <a:r>
              <a:t>• Materia: Administración de Proyectos de Software       • Fecha de Entrega: Octubre de 2026</a:t>
            </a:r>
          </a:p>
          <a:p>
            <a:pPr>
              <a:spcAft>
                <a:spcPts val="800"/>
              </a:spcAft>
              <a:defRPr sz="1200">
                <a:solidFill>
                  <a:srgbClr val="4A3B32"/>
                </a:solidFill>
                <a:latin typeface="Calibri"/>
              </a:defRPr>
            </a:pPr>
            <a:r>
              <a:t>• Componentes Entregables: Presentación Ejecutiva (.pptx) y Hoja de Cálculo Automatizada (.xlsx)</a:t>
            </a:r>
          </a:p>
          <a:p>
            <a:pPr>
              <a:defRPr sz="1100" i="1">
                <a:solidFill>
                  <a:srgbClr val="8A7A6D"/>
                </a:solidFill>
                <a:latin typeface="Calibri"/>
              </a:defRPr>
            </a:pPr>
            <a:r>
              <a:t>• Supuesto Económico: Las unidades monetarias se expresan en Pesos Mexicanos (MXN) para coherencia con la Actividad 2.1.</a:t>
            </a:r>
          </a:p>
        </p:txBody>
      </p:sp>
      <p:sp>
        <p:nvSpPr>
          <p:cNvPr id="10" name="Rectangle 9"/>
          <p:cNvSpPr/>
          <p:nvPr/>
        </p:nvSpPr>
        <p:spPr>
          <a:xfrm>
            <a:off x="731520" y="6400800"/>
            <a:ext cx="10728655" cy="13716"/>
          </a:xfrm>
          <a:prstGeom prst="rect">
            <a:avLst/>
          </a:prstGeom>
          <a:solidFill>
            <a:srgbClr val="E8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6446520"/>
            <a:ext cx="8229600" cy="274320"/>
          </a:xfrm>
          <a:prstGeom prst="rect">
            <a:avLst/>
          </a:prstGeom>
          <a:noFill/>
        </p:spPr>
        <p:txBody>
          <a:bodyPr wrap="none" lIns="0" tIns="0" rIns="0" bIns="0">
            <a:spAutoFit/>
          </a:bodyPr>
          <a:lstStyle/>
          <a:p>
            <a:pPr>
              <a:defRPr sz="950">
                <a:solidFill>
                  <a:srgbClr val="8A7A6D"/>
                </a:solidFill>
                <a:latin typeface="Calibri"/>
              </a:defRPr>
            </a:pPr>
            <a:r>
              <a:t>Actividad 2.2: Problemas COCOMO Intermedio · Ernesto Fierro · Dr. Gabriel Navarro Salcedo</a:t>
            </a:r>
          </a:p>
        </p:txBody>
      </p:sp>
      <p:sp>
        <p:nvSpPr>
          <p:cNvPr id="12" name="TextBox 11"/>
          <p:cNvSpPr txBox="1"/>
          <p:nvPr/>
        </p:nvSpPr>
        <p:spPr>
          <a:xfrm>
            <a:off x="9144000" y="6446520"/>
            <a:ext cx="2316175" cy="274320"/>
          </a:xfrm>
          <a:prstGeom prst="rect">
            <a:avLst/>
          </a:prstGeom>
          <a:noFill/>
        </p:spPr>
        <p:txBody>
          <a:bodyPr wrap="none" lIns="0" tIns="0" rIns="0" bIns="0">
            <a:spAutoFit/>
          </a:bodyPr>
          <a:lstStyle/>
          <a:p>
            <a:pPr algn="r">
              <a:defRPr sz="950">
                <a:solidFill>
                  <a:srgbClr val="8A7A6D"/>
                </a:solidFill>
                <a:latin typeface="Calibri"/>
              </a:defRPr>
            </a:pPr>
            <a:r>
              <a:t>Diapositiva 1 de 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274320"/>
          </a:xfrm>
          <a:prstGeom prst="rect">
            <a:avLst/>
          </a:prstGeom>
          <a:noFill/>
        </p:spPr>
        <p:txBody>
          <a:bodyPr wrap="square" lIns="0" tIns="0" rIns="0" bIns="0">
            <a:spAutoFit/>
          </a:bodyPr>
          <a:lstStyle/>
          <a:p>
            <a:pPr>
              <a:defRPr sz="1050" b="1">
                <a:solidFill>
                  <a:srgbClr val="C97567"/>
                </a:solidFill>
                <a:latin typeface="Calibri"/>
              </a:defRPr>
            </a:pPr>
            <a:r>
              <a:t>ACTIVIDAD 2.2 · MODELO COCOMO INTERMEDIO · ADMINISTRACIÓN DE PROYECTOS</a:t>
            </a:r>
          </a:p>
        </p:txBody>
      </p:sp>
      <p:sp>
        <p:nvSpPr>
          <p:cNvPr id="4" name="TextBox 3"/>
          <p:cNvSpPr txBox="1"/>
          <p:nvPr/>
        </p:nvSpPr>
        <p:spPr>
          <a:xfrm>
            <a:off x="731520" y="594360"/>
            <a:ext cx="10728655" cy="594360"/>
          </a:xfrm>
          <a:prstGeom prst="rect">
            <a:avLst/>
          </a:prstGeom>
          <a:noFill/>
        </p:spPr>
        <p:txBody>
          <a:bodyPr wrap="square" lIns="0" tIns="0" rIns="0" bIns="0">
            <a:spAutoFit/>
          </a:bodyPr>
          <a:lstStyle/>
          <a:p>
            <a:pPr>
              <a:defRPr sz="2200" b="1">
                <a:solidFill>
                  <a:srgbClr val="4A3B32"/>
                </a:solidFill>
                <a:latin typeface="Cambria"/>
              </a:defRPr>
            </a:pPr>
            <a:r>
              <a:t>Fundamentación Teórica del Modelo COCOMO Intermedio</a:t>
            </a:r>
          </a:p>
        </p:txBody>
      </p:sp>
      <p:sp>
        <p:nvSpPr>
          <p:cNvPr id="5" name="Rectangle 4"/>
          <p:cNvSpPr/>
          <p:nvPr/>
        </p:nvSpPr>
        <p:spPr>
          <a:xfrm>
            <a:off x="731520" y="1207008"/>
            <a:ext cx="10728655" cy="32004"/>
          </a:xfrm>
          <a:prstGeom prst="rect">
            <a:avLst/>
          </a:prstGeom>
          <a:solidFill>
            <a:srgbClr val="C975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5120640" cy="4892040"/>
          </a:xfrm>
          <a:prstGeom prst="roundRect">
            <a:avLst/>
          </a:prstGeom>
          <a:solidFill>
            <a:srgbClr val="FFFDFB"/>
          </a:solidFill>
          <a:ln w="12700">
            <a:solidFill>
              <a:srgbClr val="E8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554480"/>
            <a:ext cx="4663440" cy="4526280"/>
          </a:xfrm>
          <a:prstGeom prst="rect">
            <a:avLst/>
          </a:prstGeom>
          <a:noFill/>
        </p:spPr>
        <p:txBody>
          <a:bodyPr wrap="square">
            <a:spAutoFit/>
          </a:bodyPr>
          <a:lstStyle/>
          <a:p>
            <a:pPr>
              <a:spcAft>
                <a:spcPts val="1000"/>
              </a:spcAft>
              <a:defRPr sz="1400" b="1">
                <a:solidFill>
                  <a:srgbClr val="4A3B32"/>
                </a:solidFill>
                <a:latin typeface="Cambria"/>
              </a:defRPr>
            </a:pPr>
            <a:r>
              <a:t>Evolución Algorítmica (Barry W. Boehm, 1981)</a:t>
            </a:r>
          </a:p>
          <a:p>
            <a:pPr>
              <a:spcAft>
                <a:spcPts val="1400"/>
              </a:spcAft>
              <a:defRPr sz="1150">
                <a:solidFill>
                  <a:srgbClr val="4A3B32"/>
                </a:solidFill>
                <a:latin typeface="Calibri"/>
              </a:defRPr>
            </a:pPr>
            <a:r>
              <a:t>A diferencia del Modelo Básico —que únicamente toma el tamaño (KLOC) como variable independiente—, el Modelo COCOMO Intermedio introduce el Factor de Ajuste del Esfuerzo (EAF) derivado de una matriz de 15 atributos del proyecto, del producto, de la plataforma y del personal.</a:t>
            </a:r>
          </a:p>
          <a:p>
            <a:pPr>
              <a:defRPr sz="1200" b="1">
                <a:solidFill>
                  <a:srgbClr val="C97567"/>
                </a:solidFill>
                <a:latin typeface="Calibri"/>
              </a:defRPr>
            </a:pPr>
            <a:r>
              <a:t>Ecuación de Esfuerzo Ajustado (Personas-Mes):</a:t>
            </a:r>
          </a:p>
          <a:p>
            <a:pPr>
              <a:spcAft>
                <a:spcPts val="1200"/>
              </a:spcAft>
              <a:defRPr sz="1400" b="1">
                <a:solidFill>
                  <a:srgbClr val="4A3B32"/>
                </a:solidFill>
                <a:latin typeface="Consolas"/>
              </a:defRPr>
            </a:pPr>
            <a:r>
              <a:t>PM = a · EAF · (KLOC)^b</a:t>
            </a:r>
          </a:p>
          <a:p>
            <a:pPr>
              <a:defRPr sz="1200" b="1">
                <a:solidFill>
                  <a:srgbClr val="C97567"/>
                </a:solidFill>
                <a:latin typeface="Calibri"/>
              </a:defRPr>
            </a:pPr>
            <a:r>
              <a:t>Ecuación de Tiempo de Desarrollo (Meses):</a:t>
            </a:r>
          </a:p>
          <a:p>
            <a:pPr>
              <a:spcAft>
                <a:spcPts val="1200"/>
              </a:spcAft>
              <a:defRPr sz="1400" b="1">
                <a:solidFill>
                  <a:srgbClr val="4A3B32"/>
                </a:solidFill>
                <a:latin typeface="Consolas"/>
              </a:defRPr>
            </a:pPr>
            <a:r>
              <a:t>TDEV = c · (PM_ajustado)^d</a:t>
            </a:r>
          </a:p>
          <a:p>
            <a:pPr>
              <a:defRPr sz="1200" b="1">
                <a:solidFill>
                  <a:srgbClr val="C97567"/>
                </a:solidFill>
                <a:latin typeface="Calibri"/>
              </a:defRPr>
            </a:pPr>
            <a:r>
              <a:t>Factor de Ajuste del Esfuerzo (EAF):</a:t>
            </a:r>
          </a:p>
          <a:p>
            <a:pPr>
              <a:defRPr sz="1300" b="1">
                <a:solidFill>
                  <a:srgbClr val="4A3B32"/>
                </a:solidFill>
                <a:latin typeface="Consolas"/>
              </a:defRPr>
            </a:pPr>
            <a:r>
              <a:t>EAF = ∏ (f_i)   para i = 1 hasta 15</a:t>
            </a:r>
          </a:p>
        </p:txBody>
      </p:sp>
      <p:sp>
        <p:nvSpPr>
          <p:cNvPr id="8" name="Rounded Rectangle 7"/>
          <p:cNvSpPr/>
          <p:nvPr/>
        </p:nvSpPr>
        <p:spPr>
          <a:xfrm>
            <a:off x="6080760" y="1371600"/>
            <a:ext cx="5376672" cy="4892040"/>
          </a:xfrm>
          <a:prstGeom prst="roundRect">
            <a:avLst/>
          </a:prstGeom>
          <a:solidFill>
            <a:srgbClr val="FFFDFB"/>
          </a:solidFill>
          <a:ln w="12700">
            <a:solidFill>
              <a:srgbClr val="E8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554480"/>
            <a:ext cx="4919472" cy="4526280"/>
          </a:xfrm>
          <a:prstGeom prst="rect">
            <a:avLst/>
          </a:prstGeom>
          <a:noFill/>
        </p:spPr>
        <p:txBody>
          <a:bodyPr wrap="square">
            <a:spAutoFit/>
          </a:bodyPr>
          <a:lstStyle/>
          <a:p>
            <a:pPr>
              <a:spcAft>
                <a:spcPts val="1000"/>
              </a:spcAft>
              <a:defRPr sz="1400" b="1">
                <a:solidFill>
                  <a:srgbClr val="4A3B32"/>
                </a:solidFill>
                <a:latin typeface="Cambria"/>
              </a:defRPr>
            </a:pPr>
            <a:r>
              <a:t>Tabla Oficial de Coeficientes de Calibración</a:t>
            </a:r>
          </a:p>
        </p:txBody>
      </p:sp>
      <p:graphicFrame>
        <p:nvGraphicFramePr>
          <p:cNvPr id="10" name="Table 9"/>
          <p:cNvGraphicFramePr>
            <a:graphicFrameLocks noGrp="1"/>
          </p:cNvGraphicFramePr>
          <p:nvPr/>
        </p:nvGraphicFramePr>
        <p:xfrm>
          <a:off x="6309360" y="2011680"/>
          <a:ext cx="4919472" cy="1737360"/>
        </p:xfrm>
        <a:graphic>
          <a:graphicData uri="http://schemas.openxmlformats.org/drawingml/2006/table">
            <a:tbl>
              <a:tblPr firstRow="1" bandRow="1">
                <a:tableStyleId>{5C22544A-7EE6-4342-B048-85BDC9FD1C3A}</a:tableStyleId>
              </a:tblPr>
              <a:tblGrid>
                <a:gridCol w="1627632"/>
                <a:gridCol w="822960"/>
                <a:gridCol w="822960"/>
                <a:gridCol w="822960"/>
                <a:gridCol w="822960"/>
              </a:tblGrid>
              <a:tr h="434340">
                <a:tc>
                  <a:txBody>
                    <a:bodyPr/>
                    <a:lstStyle/>
                    <a:p>
                      <a:pPr algn="ctr">
                        <a:defRPr sz="1050" b="1">
                          <a:solidFill>
                            <a:srgbClr val="FFFFFF"/>
                          </a:solidFill>
                          <a:latin typeface="Calibri"/>
                        </a:defRPr>
                      </a:pPr>
                      <a:r>
                        <a:t>Modo Software</a:t>
                      </a:r>
                    </a:p>
                  </a:txBody>
                  <a:tcPr>
                    <a:solidFill>
                      <a:srgbClr val="4A3B32"/>
                    </a:solidFill>
                  </a:tcPr>
                </a:tc>
                <a:tc>
                  <a:txBody>
                    <a:bodyPr/>
                    <a:lstStyle/>
                    <a:p>
                      <a:pPr algn="ctr">
                        <a:defRPr sz="1050" b="1">
                          <a:solidFill>
                            <a:srgbClr val="FFFFFF"/>
                          </a:solidFill>
                          <a:latin typeface="Calibri"/>
                        </a:defRPr>
                      </a:pPr>
                      <a:r>
                        <a:t>a (PM)</a:t>
                      </a:r>
                    </a:p>
                  </a:txBody>
                  <a:tcPr>
                    <a:solidFill>
                      <a:srgbClr val="4A3B32"/>
                    </a:solidFill>
                  </a:tcPr>
                </a:tc>
                <a:tc>
                  <a:txBody>
                    <a:bodyPr/>
                    <a:lstStyle/>
                    <a:p>
                      <a:pPr algn="ctr">
                        <a:defRPr sz="1050" b="1">
                          <a:solidFill>
                            <a:srgbClr val="FFFFFF"/>
                          </a:solidFill>
                          <a:latin typeface="Calibri"/>
                        </a:defRPr>
                      </a:pPr>
                      <a:r>
                        <a:t>b (PM)</a:t>
                      </a:r>
                    </a:p>
                  </a:txBody>
                  <a:tcPr>
                    <a:solidFill>
                      <a:srgbClr val="4A3B32"/>
                    </a:solidFill>
                  </a:tcPr>
                </a:tc>
                <a:tc>
                  <a:txBody>
                    <a:bodyPr/>
                    <a:lstStyle/>
                    <a:p>
                      <a:pPr algn="ctr">
                        <a:defRPr sz="1050" b="1">
                          <a:solidFill>
                            <a:srgbClr val="FFFFFF"/>
                          </a:solidFill>
                          <a:latin typeface="Calibri"/>
                        </a:defRPr>
                      </a:pPr>
                      <a:r>
                        <a:t>c (TDEV)</a:t>
                      </a:r>
                    </a:p>
                  </a:txBody>
                  <a:tcPr>
                    <a:solidFill>
                      <a:srgbClr val="4A3B32"/>
                    </a:solidFill>
                  </a:tcPr>
                </a:tc>
                <a:tc>
                  <a:txBody>
                    <a:bodyPr/>
                    <a:lstStyle/>
                    <a:p>
                      <a:pPr algn="ctr">
                        <a:defRPr sz="1050" b="1">
                          <a:solidFill>
                            <a:srgbClr val="FFFFFF"/>
                          </a:solidFill>
                          <a:latin typeface="Calibri"/>
                        </a:defRPr>
                      </a:pPr>
                      <a:r>
                        <a:t>d (TDEV)</a:t>
                      </a:r>
                    </a:p>
                  </a:txBody>
                  <a:tcPr>
                    <a:solidFill>
                      <a:srgbClr val="4A3B32"/>
                    </a:solidFill>
                  </a:tcPr>
                </a:tc>
              </a:tr>
              <a:tr h="434340">
                <a:tc>
                  <a:txBody>
                    <a:bodyPr/>
                    <a:lstStyle/>
                    <a:p>
                      <a:pPr algn="l">
                        <a:defRPr sz="1000">
                          <a:solidFill>
                            <a:srgbClr val="4A3B32"/>
                          </a:solidFill>
                          <a:latin typeface="Calibri"/>
                        </a:defRPr>
                      </a:pPr>
                      <a:r>
                        <a:t>Orgánico</a:t>
                      </a:r>
                    </a:p>
                  </a:txBody>
                  <a:tcPr>
                    <a:solidFill>
                      <a:srgbClr val="F7F2EE"/>
                    </a:solidFill>
                  </a:tcPr>
                </a:tc>
                <a:tc>
                  <a:txBody>
                    <a:bodyPr/>
                    <a:lstStyle/>
                    <a:p>
                      <a:pPr algn="ctr">
                        <a:defRPr sz="1000">
                          <a:solidFill>
                            <a:srgbClr val="4A3B32"/>
                          </a:solidFill>
                          <a:latin typeface="Calibri"/>
                        </a:defRPr>
                      </a:pPr>
                      <a:r>
                        <a:t>3.20</a:t>
                      </a:r>
                    </a:p>
                  </a:txBody>
                  <a:tcPr>
                    <a:solidFill>
                      <a:srgbClr val="F7F2EE"/>
                    </a:solidFill>
                  </a:tcPr>
                </a:tc>
                <a:tc>
                  <a:txBody>
                    <a:bodyPr/>
                    <a:lstStyle/>
                    <a:p>
                      <a:pPr algn="ctr">
                        <a:defRPr sz="1000">
                          <a:solidFill>
                            <a:srgbClr val="4A3B32"/>
                          </a:solidFill>
                          <a:latin typeface="Calibri"/>
                        </a:defRPr>
                      </a:pPr>
                      <a:r>
                        <a:t>1.05</a:t>
                      </a:r>
                    </a:p>
                  </a:txBody>
                  <a:tcPr>
                    <a:solidFill>
                      <a:srgbClr val="F7F2EE"/>
                    </a:solidFill>
                  </a:tcPr>
                </a:tc>
                <a:tc>
                  <a:txBody>
                    <a:bodyPr/>
                    <a:lstStyle/>
                    <a:p>
                      <a:pPr algn="ctr">
                        <a:defRPr sz="1000">
                          <a:solidFill>
                            <a:srgbClr val="4A3B32"/>
                          </a:solidFill>
                          <a:latin typeface="Calibri"/>
                        </a:defRPr>
                      </a:pPr>
                      <a:r>
                        <a:t>2.50</a:t>
                      </a:r>
                    </a:p>
                  </a:txBody>
                  <a:tcPr>
                    <a:solidFill>
                      <a:srgbClr val="F7F2EE"/>
                    </a:solidFill>
                  </a:tcPr>
                </a:tc>
                <a:tc>
                  <a:txBody>
                    <a:bodyPr/>
                    <a:lstStyle/>
                    <a:p>
                      <a:pPr algn="ctr">
                        <a:defRPr sz="1000">
                          <a:solidFill>
                            <a:srgbClr val="4A3B32"/>
                          </a:solidFill>
                          <a:latin typeface="Calibri"/>
                        </a:defRPr>
                      </a:pPr>
                      <a:r>
                        <a:t>0.38</a:t>
                      </a:r>
                    </a:p>
                  </a:txBody>
                  <a:tcPr>
                    <a:solidFill>
                      <a:srgbClr val="F7F2EE"/>
                    </a:solidFill>
                  </a:tcPr>
                </a:tc>
              </a:tr>
              <a:tr h="434340">
                <a:tc>
                  <a:txBody>
                    <a:bodyPr/>
                    <a:lstStyle/>
                    <a:p>
                      <a:pPr algn="l">
                        <a:defRPr sz="1000">
                          <a:solidFill>
                            <a:srgbClr val="4A3B32"/>
                          </a:solidFill>
                          <a:latin typeface="Calibri"/>
                        </a:defRPr>
                      </a:pPr>
                      <a:r>
                        <a:t>Semiacoplado</a:t>
                      </a:r>
                    </a:p>
                  </a:txBody>
                  <a:tcPr>
                    <a:solidFill>
                      <a:srgbClr val="FFFDFB"/>
                    </a:solidFill>
                  </a:tcPr>
                </a:tc>
                <a:tc>
                  <a:txBody>
                    <a:bodyPr/>
                    <a:lstStyle/>
                    <a:p>
                      <a:pPr algn="ctr">
                        <a:defRPr sz="1000">
                          <a:solidFill>
                            <a:srgbClr val="4A3B32"/>
                          </a:solidFill>
                          <a:latin typeface="Calibri"/>
                        </a:defRPr>
                      </a:pPr>
                      <a:r>
                        <a:t>3.00</a:t>
                      </a:r>
                    </a:p>
                  </a:txBody>
                  <a:tcPr>
                    <a:solidFill>
                      <a:srgbClr val="FFFDFB"/>
                    </a:solidFill>
                  </a:tcPr>
                </a:tc>
                <a:tc>
                  <a:txBody>
                    <a:bodyPr/>
                    <a:lstStyle/>
                    <a:p>
                      <a:pPr algn="ctr">
                        <a:defRPr sz="1000">
                          <a:solidFill>
                            <a:srgbClr val="4A3B32"/>
                          </a:solidFill>
                          <a:latin typeface="Calibri"/>
                        </a:defRPr>
                      </a:pPr>
                      <a:r>
                        <a:t>1.12</a:t>
                      </a:r>
                    </a:p>
                  </a:txBody>
                  <a:tcPr>
                    <a:solidFill>
                      <a:srgbClr val="FFFDFB"/>
                    </a:solidFill>
                  </a:tcPr>
                </a:tc>
                <a:tc>
                  <a:txBody>
                    <a:bodyPr/>
                    <a:lstStyle/>
                    <a:p>
                      <a:pPr algn="ctr">
                        <a:defRPr sz="1000">
                          <a:solidFill>
                            <a:srgbClr val="4A3B32"/>
                          </a:solidFill>
                          <a:latin typeface="Calibri"/>
                        </a:defRPr>
                      </a:pPr>
                      <a:r>
                        <a:t>2.50</a:t>
                      </a:r>
                    </a:p>
                  </a:txBody>
                  <a:tcPr>
                    <a:solidFill>
                      <a:srgbClr val="FFFDFB"/>
                    </a:solidFill>
                  </a:tcPr>
                </a:tc>
                <a:tc>
                  <a:txBody>
                    <a:bodyPr/>
                    <a:lstStyle/>
                    <a:p>
                      <a:pPr algn="ctr">
                        <a:defRPr sz="1000">
                          <a:solidFill>
                            <a:srgbClr val="4A3B32"/>
                          </a:solidFill>
                          <a:latin typeface="Calibri"/>
                        </a:defRPr>
                      </a:pPr>
                      <a:r>
                        <a:t>0.35</a:t>
                      </a:r>
                    </a:p>
                  </a:txBody>
                  <a:tcPr>
                    <a:solidFill>
                      <a:srgbClr val="FFFDFB"/>
                    </a:solidFill>
                  </a:tcPr>
                </a:tc>
              </a:tr>
              <a:tr h="434340">
                <a:tc>
                  <a:txBody>
                    <a:bodyPr/>
                    <a:lstStyle/>
                    <a:p>
                      <a:pPr algn="l">
                        <a:defRPr sz="1000">
                          <a:solidFill>
                            <a:srgbClr val="4A3B32"/>
                          </a:solidFill>
                          <a:latin typeface="Calibri"/>
                        </a:defRPr>
                      </a:pPr>
                      <a:r>
                        <a:t>Empotrado (Embebido)</a:t>
                      </a:r>
                    </a:p>
                  </a:txBody>
                  <a:tcPr>
                    <a:solidFill>
                      <a:srgbClr val="F7F2EE"/>
                    </a:solidFill>
                  </a:tcPr>
                </a:tc>
                <a:tc>
                  <a:txBody>
                    <a:bodyPr/>
                    <a:lstStyle/>
                    <a:p>
                      <a:pPr algn="ctr">
                        <a:defRPr sz="1000">
                          <a:solidFill>
                            <a:srgbClr val="4A3B32"/>
                          </a:solidFill>
                          <a:latin typeface="Calibri"/>
                        </a:defRPr>
                      </a:pPr>
                      <a:r>
                        <a:t>2.80</a:t>
                      </a:r>
                    </a:p>
                  </a:txBody>
                  <a:tcPr>
                    <a:solidFill>
                      <a:srgbClr val="F7F2EE"/>
                    </a:solidFill>
                  </a:tcPr>
                </a:tc>
                <a:tc>
                  <a:txBody>
                    <a:bodyPr/>
                    <a:lstStyle/>
                    <a:p>
                      <a:pPr algn="ctr">
                        <a:defRPr sz="1000">
                          <a:solidFill>
                            <a:srgbClr val="4A3B32"/>
                          </a:solidFill>
                          <a:latin typeface="Calibri"/>
                        </a:defRPr>
                      </a:pPr>
                      <a:r>
                        <a:t>1.20</a:t>
                      </a:r>
                    </a:p>
                  </a:txBody>
                  <a:tcPr>
                    <a:solidFill>
                      <a:srgbClr val="F7F2EE"/>
                    </a:solidFill>
                  </a:tcPr>
                </a:tc>
                <a:tc>
                  <a:txBody>
                    <a:bodyPr/>
                    <a:lstStyle/>
                    <a:p>
                      <a:pPr algn="ctr">
                        <a:defRPr sz="1000">
                          <a:solidFill>
                            <a:srgbClr val="4A3B32"/>
                          </a:solidFill>
                          <a:latin typeface="Calibri"/>
                        </a:defRPr>
                      </a:pPr>
                      <a:r>
                        <a:t>2.50</a:t>
                      </a:r>
                    </a:p>
                  </a:txBody>
                  <a:tcPr>
                    <a:solidFill>
                      <a:srgbClr val="F7F2EE"/>
                    </a:solidFill>
                  </a:tcPr>
                </a:tc>
                <a:tc>
                  <a:txBody>
                    <a:bodyPr/>
                    <a:lstStyle/>
                    <a:p>
                      <a:pPr algn="ctr">
                        <a:defRPr sz="1000">
                          <a:solidFill>
                            <a:srgbClr val="4A3B32"/>
                          </a:solidFill>
                          <a:latin typeface="Calibri"/>
                        </a:defRPr>
                      </a:pPr>
                      <a:r>
                        <a:t>0.32</a:t>
                      </a:r>
                    </a:p>
                  </a:txBody>
                  <a:tcPr>
                    <a:solidFill>
                      <a:srgbClr val="F7F2EE"/>
                    </a:solidFill>
                  </a:tcPr>
                </a:tc>
              </a:tr>
            </a:tbl>
          </a:graphicData>
        </a:graphic>
      </p:graphicFrame>
      <p:sp>
        <p:nvSpPr>
          <p:cNvPr id="11" name="Rounded Rectangle 10"/>
          <p:cNvSpPr/>
          <p:nvPr/>
        </p:nvSpPr>
        <p:spPr>
          <a:xfrm>
            <a:off x="6309360" y="3931920"/>
            <a:ext cx="4919472" cy="2148840"/>
          </a:xfrm>
          <a:prstGeom prst="roundRect">
            <a:avLst/>
          </a:prstGeom>
          <a:solidFill>
            <a:srgbClr val="F3D9D3"/>
          </a:solidFill>
          <a:ln w="12700">
            <a:solidFill>
              <a:srgbClr val="D98C7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4005072"/>
            <a:ext cx="4663440" cy="1965960"/>
          </a:xfrm>
          <a:prstGeom prst="rect">
            <a:avLst/>
          </a:prstGeom>
          <a:noFill/>
        </p:spPr>
        <p:txBody>
          <a:bodyPr wrap="square">
            <a:spAutoFit/>
          </a:bodyPr>
          <a:lstStyle/>
          <a:p>
            <a:pPr>
              <a:spcAft>
                <a:spcPts val="400"/>
              </a:spcAft>
              <a:defRPr sz="1100" b="1">
                <a:solidFill>
                  <a:srgbClr val="C97567"/>
                </a:solidFill>
                <a:latin typeface="Cambria"/>
              </a:defRPr>
            </a:pPr>
            <a:r>
              <a:t>Justificación Metodológica: ¿Por qué cambian los coeficientes?</a:t>
            </a:r>
          </a:p>
          <a:p>
            <a:pPr>
              <a:spcAft>
                <a:spcPts val="400"/>
              </a:spcAft>
              <a:defRPr sz="1050">
                <a:solidFill>
                  <a:srgbClr val="4A3B32"/>
                </a:solidFill>
                <a:latin typeface="Calibri"/>
              </a:defRPr>
            </a:pPr>
            <a:r>
              <a:t>• En la Actividad 2.1 (Modelo Básico), el modo Orgánico utilizaba a = 2.40 y Empotrado a = 3.60, porque ese único coeficiente absorbía el promedio de la complejidad.</a:t>
            </a:r>
          </a:p>
          <a:p>
            <a:pPr>
              <a:defRPr sz="1050">
                <a:solidFill>
                  <a:srgbClr val="4A3B32"/>
                </a:solidFill>
                <a:latin typeface="Calibri"/>
              </a:defRPr>
            </a:pPr>
            <a:r>
              <a:t>• En el Modelo Intermedio, Boehm recalibra empíricamente las constantes (a = 3.20 en Orgánico y a = 2.80 en Empotrado) para que el factor EAF sea quien ajuste directamente la dispersión ambiental del proyecto.</a:t>
            </a:r>
          </a:p>
        </p:txBody>
      </p:sp>
      <p:sp>
        <p:nvSpPr>
          <p:cNvPr id="13" name="Rectangle 12"/>
          <p:cNvSpPr/>
          <p:nvPr/>
        </p:nvSpPr>
        <p:spPr>
          <a:xfrm>
            <a:off x="731520" y="6400800"/>
            <a:ext cx="10728655" cy="13716"/>
          </a:xfrm>
          <a:prstGeom prst="rect">
            <a:avLst/>
          </a:prstGeom>
          <a:solidFill>
            <a:srgbClr val="E8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6446520"/>
            <a:ext cx="8229600" cy="274320"/>
          </a:xfrm>
          <a:prstGeom prst="rect">
            <a:avLst/>
          </a:prstGeom>
          <a:noFill/>
        </p:spPr>
        <p:txBody>
          <a:bodyPr wrap="none" lIns="0" tIns="0" rIns="0" bIns="0">
            <a:spAutoFit/>
          </a:bodyPr>
          <a:lstStyle/>
          <a:p>
            <a:pPr>
              <a:defRPr sz="950">
                <a:solidFill>
                  <a:srgbClr val="8A7A6D"/>
                </a:solidFill>
                <a:latin typeface="Calibri"/>
              </a:defRPr>
            </a:pPr>
            <a:r>
              <a:t>Actividad 2.2: Problemas COCOMO Intermedio · Ernesto Fierro · Dr. Gabriel Navarro Salcedo</a:t>
            </a:r>
          </a:p>
        </p:txBody>
      </p:sp>
      <p:sp>
        <p:nvSpPr>
          <p:cNvPr id="15" name="TextBox 14"/>
          <p:cNvSpPr txBox="1"/>
          <p:nvPr/>
        </p:nvSpPr>
        <p:spPr>
          <a:xfrm>
            <a:off x="9144000" y="6446520"/>
            <a:ext cx="2316175" cy="274320"/>
          </a:xfrm>
          <a:prstGeom prst="rect">
            <a:avLst/>
          </a:prstGeom>
          <a:noFill/>
        </p:spPr>
        <p:txBody>
          <a:bodyPr wrap="none" lIns="0" tIns="0" rIns="0" bIns="0">
            <a:spAutoFit/>
          </a:bodyPr>
          <a:lstStyle/>
          <a:p>
            <a:pPr algn="r">
              <a:defRPr sz="950">
                <a:solidFill>
                  <a:srgbClr val="8A7A6D"/>
                </a:solidFill>
                <a:latin typeface="Calibri"/>
              </a:defRPr>
            </a:pPr>
            <a:r>
              <a:t>Diapositiva 2 de 11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274320"/>
          </a:xfrm>
          <a:prstGeom prst="rect">
            <a:avLst/>
          </a:prstGeom>
          <a:noFill/>
        </p:spPr>
        <p:txBody>
          <a:bodyPr wrap="square" lIns="0" tIns="0" rIns="0" bIns="0">
            <a:spAutoFit/>
          </a:bodyPr>
          <a:lstStyle/>
          <a:p>
            <a:pPr>
              <a:defRPr sz="1050" b="1">
                <a:solidFill>
                  <a:srgbClr val="C97567"/>
                </a:solidFill>
                <a:latin typeface="Calibri"/>
              </a:defRPr>
            </a:pPr>
            <a:r>
              <a:t>ACTIVIDAD 2.2 · MODELO COCOMO INTERMEDIO · ADMINISTRACIÓN DE PROYECTOS</a:t>
            </a:r>
          </a:p>
        </p:txBody>
      </p:sp>
      <p:sp>
        <p:nvSpPr>
          <p:cNvPr id="4" name="TextBox 3"/>
          <p:cNvSpPr txBox="1"/>
          <p:nvPr/>
        </p:nvSpPr>
        <p:spPr>
          <a:xfrm>
            <a:off x="731520" y="594360"/>
            <a:ext cx="10728655" cy="594360"/>
          </a:xfrm>
          <a:prstGeom prst="rect">
            <a:avLst/>
          </a:prstGeom>
          <a:noFill/>
        </p:spPr>
        <p:txBody>
          <a:bodyPr wrap="square" lIns="0" tIns="0" rIns="0" bIns="0">
            <a:spAutoFit/>
          </a:bodyPr>
          <a:lstStyle/>
          <a:p>
            <a:pPr>
              <a:defRPr sz="2200" b="1">
                <a:solidFill>
                  <a:srgbClr val="4A3B32"/>
                </a:solidFill>
                <a:latin typeface="Cambria"/>
              </a:defRPr>
            </a:pPr>
            <a:r>
              <a:t>Los 15 Conductores de Coste (Cost Drivers) y el Multiplicador EAF</a:t>
            </a:r>
          </a:p>
        </p:txBody>
      </p:sp>
      <p:sp>
        <p:nvSpPr>
          <p:cNvPr id="5" name="Rectangle 4"/>
          <p:cNvSpPr/>
          <p:nvPr/>
        </p:nvSpPr>
        <p:spPr>
          <a:xfrm>
            <a:off x="731520" y="1207008"/>
            <a:ext cx="10728655" cy="32004"/>
          </a:xfrm>
          <a:prstGeom prst="rect">
            <a:avLst/>
          </a:prstGeom>
          <a:solidFill>
            <a:srgbClr val="C975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5120640" cy="2331720"/>
          </a:xfrm>
          <a:prstGeom prst="roundRect">
            <a:avLst/>
          </a:prstGeom>
          <a:solidFill>
            <a:srgbClr val="FFFDFB"/>
          </a:solidFill>
          <a:ln w="12700">
            <a:solidFill>
              <a:srgbClr val="E8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81328"/>
            <a:ext cx="4754880" cy="2112264"/>
          </a:xfrm>
          <a:prstGeom prst="rect">
            <a:avLst/>
          </a:prstGeom>
          <a:noFill/>
        </p:spPr>
        <p:txBody>
          <a:bodyPr wrap="square">
            <a:spAutoFit/>
          </a:bodyPr>
          <a:lstStyle/>
          <a:p>
            <a:pPr>
              <a:spcAft>
                <a:spcPts val="500"/>
              </a:spcAft>
              <a:defRPr sz="1400" b="1">
                <a:solidFill>
                  <a:srgbClr val="4A3B32"/>
                </a:solidFill>
                <a:latin typeface="Cambria"/>
              </a:defRPr>
            </a:pPr>
            <a:r>
              <a:t>1. Cualidades del Producto</a:t>
            </a:r>
          </a:p>
          <a:p>
            <a:pPr>
              <a:spcAft>
                <a:spcPts val="300"/>
              </a:spcAft>
              <a:defRPr sz="1200" b="1">
                <a:solidFill>
                  <a:srgbClr val="4A3B32"/>
                </a:solidFill>
                <a:latin typeface="Calibri"/>
              </a:defRPr>
            </a:pPr>
            <a:r>
              <a:t>• [RELY] Confiabilidad requerida del software </a:t>
            </a:r>
            <a:r>
              <a:rPr b="0">
                <a:solidFill>
                  <a:srgbClr val="8A7A6D"/>
                </a:solidFill>
              </a:rPr>
              <a:t>(0.75 a 1.40)</a:t>
            </a:r>
          </a:p>
          <a:p>
            <a:pPr>
              <a:spcAft>
                <a:spcPts val="300"/>
              </a:spcAft>
              <a:defRPr sz="1200" b="1">
                <a:solidFill>
                  <a:srgbClr val="4A3B32"/>
                </a:solidFill>
                <a:latin typeface="Calibri"/>
              </a:defRPr>
            </a:pPr>
            <a:r>
              <a:t>• [DATA] Tamaño de la base de datos </a:t>
            </a:r>
            <a:r>
              <a:rPr b="0">
                <a:solidFill>
                  <a:srgbClr val="8A7A6D"/>
                </a:solidFill>
              </a:rPr>
              <a:t>(0.94 a 1.16)</a:t>
            </a:r>
          </a:p>
          <a:p>
            <a:pPr>
              <a:spcAft>
                <a:spcPts val="300"/>
              </a:spcAft>
              <a:defRPr sz="1200" b="1">
                <a:solidFill>
                  <a:srgbClr val="4A3B32"/>
                </a:solidFill>
                <a:latin typeface="Calibri"/>
              </a:defRPr>
            </a:pPr>
            <a:r>
              <a:t>• [CPLX] Complejidad del producto </a:t>
            </a:r>
            <a:r>
              <a:rPr b="0">
                <a:solidFill>
                  <a:srgbClr val="8A7A6D"/>
                </a:solidFill>
              </a:rPr>
              <a:t>(0.70 a 1.65)</a:t>
            </a:r>
          </a:p>
        </p:txBody>
      </p:sp>
      <p:sp>
        <p:nvSpPr>
          <p:cNvPr id="8" name="Rounded Rectangle 7"/>
          <p:cNvSpPr/>
          <p:nvPr/>
        </p:nvSpPr>
        <p:spPr>
          <a:xfrm>
            <a:off x="6080760" y="1371600"/>
            <a:ext cx="5376672" cy="2331720"/>
          </a:xfrm>
          <a:prstGeom prst="roundRect">
            <a:avLst/>
          </a:prstGeom>
          <a:solidFill>
            <a:srgbClr val="FFFDFB"/>
          </a:solidFill>
          <a:ln w="12700">
            <a:solidFill>
              <a:srgbClr val="E8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63640" y="1481328"/>
            <a:ext cx="5010912" cy="2112264"/>
          </a:xfrm>
          <a:prstGeom prst="rect">
            <a:avLst/>
          </a:prstGeom>
          <a:noFill/>
        </p:spPr>
        <p:txBody>
          <a:bodyPr wrap="square">
            <a:spAutoFit/>
          </a:bodyPr>
          <a:lstStyle/>
          <a:p>
            <a:pPr>
              <a:spcAft>
                <a:spcPts val="500"/>
              </a:spcAft>
              <a:defRPr sz="1400" b="1">
                <a:solidFill>
                  <a:srgbClr val="4A3B32"/>
                </a:solidFill>
                <a:latin typeface="Cambria"/>
              </a:defRPr>
            </a:pPr>
            <a:r>
              <a:t>2. Cualidades de la Plataforma / Hardware</a:t>
            </a:r>
          </a:p>
          <a:p>
            <a:pPr>
              <a:spcAft>
                <a:spcPts val="300"/>
              </a:spcAft>
              <a:defRPr sz="1200" b="1">
                <a:solidFill>
                  <a:srgbClr val="4A3B32"/>
                </a:solidFill>
                <a:latin typeface="Calibri"/>
              </a:defRPr>
            </a:pPr>
            <a:r>
              <a:t>• [TIME] Apremios de tiempo de ejecución (Run-time) </a:t>
            </a:r>
            <a:r>
              <a:rPr b="0">
                <a:solidFill>
                  <a:srgbClr val="8A7A6D"/>
                </a:solidFill>
              </a:rPr>
              <a:t>(1.00 a 1.66)</a:t>
            </a:r>
          </a:p>
          <a:p>
            <a:pPr>
              <a:spcAft>
                <a:spcPts val="300"/>
              </a:spcAft>
              <a:defRPr sz="1200" b="1">
                <a:solidFill>
                  <a:srgbClr val="4A3B32"/>
                </a:solidFill>
                <a:latin typeface="Calibri"/>
              </a:defRPr>
            </a:pPr>
            <a:r>
              <a:t>• [STOR] Apremios de memoria principal </a:t>
            </a:r>
            <a:r>
              <a:rPr b="0">
                <a:solidFill>
                  <a:srgbClr val="8A7A6D"/>
                </a:solidFill>
              </a:rPr>
              <a:t>(1.00 a 1.56)</a:t>
            </a:r>
          </a:p>
          <a:p>
            <a:pPr>
              <a:spcAft>
                <a:spcPts val="300"/>
              </a:spcAft>
              <a:defRPr sz="1200" b="1">
                <a:solidFill>
                  <a:srgbClr val="4A3B32"/>
                </a:solidFill>
                <a:latin typeface="Calibri"/>
              </a:defRPr>
            </a:pPr>
            <a:r>
              <a:t>• [VIRT] Volatilidad de la máquina virtual </a:t>
            </a:r>
            <a:r>
              <a:rPr b="0">
                <a:solidFill>
                  <a:srgbClr val="8A7A6D"/>
                </a:solidFill>
              </a:rPr>
              <a:t>(0.87 a 1.30)</a:t>
            </a:r>
          </a:p>
          <a:p>
            <a:pPr>
              <a:spcAft>
                <a:spcPts val="300"/>
              </a:spcAft>
              <a:defRPr sz="1200" b="1">
                <a:solidFill>
                  <a:srgbClr val="4A3B32"/>
                </a:solidFill>
                <a:latin typeface="Calibri"/>
              </a:defRPr>
            </a:pPr>
            <a:r>
              <a:t>• [TURN] Tiempo de respuesta (Turnaround time) </a:t>
            </a:r>
            <a:r>
              <a:rPr b="0">
                <a:solidFill>
                  <a:srgbClr val="8A7A6D"/>
                </a:solidFill>
              </a:rPr>
              <a:t>(0.87 a 1.15)</a:t>
            </a:r>
          </a:p>
        </p:txBody>
      </p:sp>
      <p:sp>
        <p:nvSpPr>
          <p:cNvPr id="10" name="Rounded Rectangle 9"/>
          <p:cNvSpPr/>
          <p:nvPr/>
        </p:nvSpPr>
        <p:spPr>
          <a:xfrm>
            <a:off x="731520" y="3886200"/>
            <a:ext cx="5120640" cy="2377440"/>
          </a:xfrm>
          <a:prstGeom prst="roundRect">
            <a:avLst/>
          </a:prstGeom>
          <a:solidFill>
            <a:srgbClr val="FFFDFB"/>
          </a:solidFill>
          <a:ln w="12700">
            <a:solidFill>
              <a:srgbClr val="E8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995928"/>
            <a:ext cx="4754880" cy="2157984"/>
          </a:xfrm>
          <a:prstGeom prst="rect">
            <a:avLst/>
          </a:prstGeom>
          <a:noFill/>
        </p:spPr>
        <p:txBody>
          <a:bodyPr wrap="square">
            <a:spAutoFit/>
          </a:bodyPr>
          <a:lstStyle/>
          <a:p>
            <a:pPr>
              <a:spcAft>
                <a:spcPts val="500"/>
              </a:spcAft>
              <a:defRPr sz="1400" b="1">
                <a:solidFill>
                  <a:srgbClr val="4A3B32"/>
                </a:solidFill>
                <a:latin typeface="Cambria"/>
              </a:defRPr>
            </a:pPr>
            <a:r>
              <a:t>3. Cualidades del Personal (Human Factors)</a:t>
            </a:r>
          </a:p>
          <a:p>
            <a:pPr>
              <a:spcAft>
                <a:spcPts val="300"/>
              </a:spcAft>
              <a:defRPr sz="1200" b="1">
                <a:solidFill>
                  <a:srgbClr val="4A3B32"/>
                </a:solidFill>
                <a:latin typeface="Calibri"/>
              </a:defRPr>
            </a:pPr>
            <a:r>
              <a:t>• [ACAP] Capacidad del analista de sistemas </a:t>
            </a:r>
            <a:r>
              <a:rPr b="0">
                <a:solidFill>
                  <a:srgbClr val="8A7A6D"/>
                </a:solidFill>
              </a:rPr>
              <a:t>(1.46 a 0.71)</a:t>
            </a:r>
          </a:p>
          <a:p>
            <a:pPr>
              <a:spcAft>
                <a:spcPts val="300"/>
              </a:spcAft>
              <a:defRPr sz="1200" b="1">
                <a:solidFill>
                  <a:srgbClr val="4A3B32"/>
                </a:solidFill>
                <a:latin typeface="Calibri"/>
              </a:defRPr>
            </a:pPr>
            <a:r>
              <a:t>• [AEXP] Experiencia en el tipo de aplicación </a:t>
            </a:r>
            <a:r>
              <a:rPr b="0">
                <a:solidFill>
                  <a:srgbClr val="8A7A6D"/>
                </a:solidFill>
              </a:rPr>
              <a:t>(1.29 a 0.82)</a:t>
            </a:r>
          </a:p>
          <a:p>
            <a:pPr>
              <a:spcAft>
                <a:spcPts val="300"/>
              </a:spcAft>
              <a:defRPr sz="1200" b="1">
                <a:solidFill>
                  <a:srgbClr val="4A3B32"/>
                </a:solidFill>
                <a:latin typeface="Calibri"/>
              </a:defRPr>
            </a:pPr>
            <a:r>
              <a:t>• [PCAP] Capacidad de los programadores </a:t>
            </a:r>
            <a:r>
              <a:rPr b="0">
                <a:solidFill>
                  <a:srgbClr val="8A7A6D"/>
                </a:solidFill>
              </a:rPr>
              <a:t>(1.42 a 0.70)</a:t>
            </a:r>
          </a:p>
          <a:p>
            <a:pPr>
              <a:spcAft>
                <a:spcPts val="300"/>
              </a:spcAft>
              <a:defRPr sz="1200" b="1">
                <a:solidFill>
                  <a:srgbClr val="4A3B32"/>
                </a:solidFill>
                <a:latin typeface="Calibri"/>
              </a:defRPr>
            </a:pPr>
            <a:r>
              <a:t>• [VEXP] Experiencia en la plataforma virtual </a:t>
            </a:r>
            <a:r>
              <a:rPr b="0">
                <a:solidFill>
                  <a:srgbClr val="8A7A6D"/>
                </a:solidFill>
              </a:rPr>
              <a:t>(1.21 a 0.90)</a:t>
            </a:r>
          </a:p>
          <a:p>
            <a:pPr>
              <a:spcAft>
                <a:spcPts val="300"/>
              </a:spcAft>
              <a:defRPr sz="1200" b="1">
                <a:solidFill>
                  <a:srgbClr val="4A3B32"/>
                </a:solidFill>
                <a:latin typeface="Calibri"/>
              </a:defRPr>
            </a:pPr>
            <a:r>
              <a:t>• [LEXP] Experiencia en lenguaje de programación </a:t>
            </a:r>
            <a:r>
              <a:rPr b="0">
                <a:solidFill>
                  <a:srgbClr val="8A7A6D"/>
                </a:solidFill>
              </a:rPr>
              <a:t>(1.14 a 0.95)</a:t>
            </a:r>
          </a:p>
        </p:txBody>
      </p:sp>
      <p:sp>
        <p:nvSpPr>
          <p:cNvPr id="12" name="Rounded Rectangle 11"/>
          <p:cNvSpPr/>
          <p:nvPr/>
        </p:nvSpPr>
        <p:spPr>
          <a:xfrm>
            <a:off x="6080760" y="3886200"/>
            <a:ext cx="5376672" cy="2377440"/>
          </a:xfrm>
          <a:prstGeom prst="roundRect">
            <a:avLst/>
          </a:prstGeom>
          <a:solidFill>
            <a:srgbClr val="FFFDFB"/>
          </a:solidFill>
          <a:ln w="12700">
            <a:solidFill>
              <a:srgbClr val="E8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63640" y="3995928"/>
            <a:ext cx="5010912" cy="2157984"/>
          </a:xfrm>
          <a:prstGeom prst="rect">
            <a:avLst/>
          </a:prstGeom>
          <a:noFill/>
        </p:spPr>
        <p:txBody>
          <a:bodyPr wrap="square">
            <a:spAutoFit/>
          </a:bodyPr>
          <a:lstStyle/>
          <a:p>
            <a:pPr>
              <a:spcAft>
                <a:spcPts val="500"/>
              </a:spcAft>
              <a:defRPr sz="1400" b="1">
                <a:solidFill>
                  <a:srgbClr val="4A3B32"/>
                </a:solidFill>
                <a:latin typeface="Cambria"/>
              </a:defRPr>
            </a:pPr>
            <a:r>
              <a:t>4. Cualidades del Proyecto</a:t>
            </a:r>
          </a:p>
          <a:p>
            <a:pPr>
              <a:spcAft>
                <a:spcPts val="300"/>
              </a:spcAft>
              <a:defRPr sz="1200" b="1">
                <a:solidFill>
                  <a:srgbClr val="4A3B32"/>
                </a:solidFill>
                <a:latin typeface="Calibri"/>
              </a:defRPr>
            </a:pPr>
            <a:r>
              <a:t>• [TOOL] Uso de herramientas modernas de software </a:t>
            </a:r>
            <a:r>
              <a:rPr b="0">
                <a:solidFill>
                  <a:srgbClr val="8A7A6D"/>
                </a:solidFill>
              </a:rPr>
              <a:t>(1.24 a 0.82)</a:t>
            </a:r>
          </a:p>
          <a:p>
            <a:pPr>
              <a:spcAft>
                <a:spcPts val="300"/>
              </a:spcAft>
              <a:defRPr sz="1200" b="1">
                <a:solidFill>
                  <a:srgbClr val="4A3B32"/>
                </a:solidFill>
                <a:latin typeface="Calibri"/>
              </a:defRPr>
            </a:pPr>
            <a:r>
              <a:t>• [MODP] Uso de métodos de ingeniería de software </a:t>
            </a:r>
            <a:r>
              <a:rPr b="0">
                <a:solidFill>
                  <a:srgbClr val="8A7A6D"/>
                </a:solidFill>
              </a:rPr>
              <a:t>(1.24 a 0.82)</a:t>
            </a:r>
          </a:p>
          <a:p>
            <a:pPr>
              <a:spcAft>
                <a:spcPts val="300"/>
              </a:spcAft>
              <a:defRPr sz="1200" b="1">
                <a:solidFill>
                  <a:srgbClr val="4A3B32"/>
                </a:solidFill>
                <a:latin typeface="Calibri"/>
              </a:defRPr>
            </a:pPr>
            <a:r>
              <a:t>• [SCED] Restricciones de cronograma de desarrollo </a:t>
            </a:r>
            <a:r>
              <a:rPr b="0">
                <a:solidFill>
                  <a:srgbClr val="8A7A6D"/>
                </a:solidFill>
              </a:rPr>
              <a:t>(1.23 – 1.00 – 1.10)</a:t>
            </a:r>
          </a:p>
        </p:txBody>
      </p:sp>
      <p:sp>
        <p:nvSpPr>
          <p:cNvPr id="14" name="Rectangle 13"/>
          <p:cNvSpPr/>
          <p:nvPr/>
        </p:nvSpPr>
        <p:spPr>
          <a:xfrm>
            <a:off x="731520" y="6400800"/>
            <a:ext cx="10728655" cy="13716"/>
          </a:xfrm>
          <a:prstGeom prst="rect">
            <a:avLst/>
          </a:prstGeom>
          <a:solidFill>
            <a:srgbClr val="E8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446520"/>
            <a:ext cx="8229600" cy="274320"/>
          </a:xfrm>
          <a:prstGeom prst="rect">
            <a:avLst/>
          </a:prstGeom>
          <a:noFill/>
        </p:spPr>
        <p:txBody>
          <a:bodyPr wrap="none" lIns="0" tIns="0" rIns="0" bIns="0">
            <a:spAutoFit/>
          </a:bodyPr>
          <a:lstStyle/>
          <a:p>
            <a:pPr>
              <a:defRPr sz="950">
                <a:solidFill>
                  <a:srgbClr val="8A7A6D"/>
                </a:solidFill>
                <a:latin typeface="Calibri"/>
              </a:defRPr>
            </a:pPr>
            <a:r>
              <a:t>Actividad 2.2: Problemas COCOMO Intermedio · Ernesto Fierro · Dr. Gabriel Navarro Salcedo</a:t>
            </a:r>
          </a:p>
        </p:txBody>
      </p:sp>
      <p:sp>
        <p:nvSpPr>
          <p:cNvPr id="16" name="TextBox 15"/>
          <p:cNvSpPr txBox="1"/>
          <p:nvPr/>
        </p:nvSpPr>
        <p:spPr>
          <a:xfrm>
            <a:off x="9144000" y="6446520"/>
            <a:ext cx="2316175" cy="274320"/>
          </a:xfrm>
          <a:prstGeom prst="rect">
            <a:avLst/>
          </a:prstGeom>
          <a:noFill/>
        </p:spPr>
        <p:txBody>
          <a:bodyPr wrap="none" lIns="0" tIns="0" rIns="0" bIns="0">
            <a:spAutoFit/>
          </a:bodyPr>
          <a:lstStyle/>
          <a:p>
            <a:pPr algn="r">
              <a:defRPr sz="950">
                <a:solidFill>
                  <a:srgbClr val="8A7A6D"/>
                </a:solidFill>
                <a:latin typeface="Calibri"/>
              </a:defRPr>
            </a:pPr>
            <a:r>
              <a:t>Diapositiva 3 de 11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274320"/>
          </a:xfrm>
          <a:prstGeom prst="rect">
            <a:avLst/>
          </a:prstGeom>
          <a:noFill/>
        </p:spPr>
        <p:txBody>
          <a:bodyPr wrap="square" lIns="0" tIns="0" rIns="0" bIns="0">
            <a:spAutoFit/>
          </a:bodyPr>
          <a:lstStyle/>
          <a:p>
            <a:pPr>
              <a:defRPr sz="1050" b="1">
                <a:solidFill>
                  <a:srgbClr val="C97567"/>
                </a:solidFill>
                <a:latin typeface="Calibri"/>
              </a:defRPr>
            </a:pPr>
            <a:r>
              <a:t>ACTIVIDAD 2.2 · MODELO COCOMO INTERMEDIO · ADMINISTRACIÓN DE PROYECTOS</a:t>
            </a:r>
          </a:p>
        </p:txBody>
      </p:sp>
      <p:sp>
        <p:nvSpPr>
          <p:cNvPr id="4" name="TextBox 3"/>
          <p:cNvSpPr txBox="1"/>
          <p:nvPr/>
        </p:nvSpPr>
        <p:spPr>
          <a:xfrm>
            <a:off x="731520" y="594360"/>
            <a:ext cx="10728655" cy="594360"/>
          </a:xfrm>
          <a:prstGeom prst="rect">
            <a:avLst/>
          </a:prstGeom>
          <a:noFill/>
        </p:spPr>
        <p:txBody>
          <a:bodyPr wrap="square" lIns="0" tIns="0" rIns="0" bIns="0">
            <a:spAutoFit/>
          </a:bodyPr>
          <a:lstStyle/>
          <a:p>
            <a:pPr>
              <a:defRPr sz="2200" b="1">
                <a:solidFill>
                  <a:srgbClr val="4A3B32"/>
                </a:solidFill>
                <a:latin typeface="Cambria"/>
              </a:defRPr>
            </a:pPr>
            <a:r>
              <a:t>Problema I — Caso Resuelto de Referencia (50 KLOC Semiacoplado)</a:t>
            </a:r>
          </a:p>
        </p:txBody>
      </p:sp>
      <p:sp>
        <p:nvSpPr>
          <p:cNvPr id="5" name="Rectangle 4"/>
          <p:cNvSpPr/>
          <p:nvPr/>
        </p:nvSpPr>
        <p:spPr>
          <a:xfrm>
            <a:off x="731520" y="1207008"/>
            <a:ext cx="10728655" cy="32004"/>
          </a:xfrm>
          <a:prstGeom prst="rect">
            <a:avLst/>
          </a:prstGeom>
          <a:solidFill>
            <a:srgbClr val="C975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5120640" cy="4892040"/>
          </a:xfrm>
          <a:prstGeom prst="roundRect">
            <a:avLst/>
          </a:prstGeom>
          <a:solidFill>
            <a:srgbClr val="FFFDFB"/>
          </a:solidFill>
          <a:ln w="12700">
            <a:solidFill>
              <a:srgbClr val="E8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508760"/>
            <a:ext cx="4663440" cy="2743200"/>
          </a:xfrm>
          <a:prstGeom prst="rect">
            <a:avLst/>
          </a:prstGeom>
          <a:noFill/>
        </p:spPr>
        <p:txBody>
          <a:bodyPr wrap="square">
            <a:spAutoFit/>
          </a:bodyPr>
          <a:lstStyle/>
          <a:p>
            <a:pPr>
              <a:spcAft>
                <a:spcPts val="600"/>
              </a:spcAft>
              <a:defRPr sz="1300" b="1">
                <a:solidFill>
                  <a:srgbClr val="C97567"/>
                </a:solidFill>
                <a:latin typeface="Cambria"/>
              </a:defRPr>
            </a:pPr>
            <a:r>
              <a:t>1. ENUNCIADO OFICIAL (Cátedra Diapositiva 5):</a:t>
            </a:r>
          </a:p>
          <a:p>
            <a:pPr>
              <a:spcAft>
                <a:spcPts val="1200"/>
              </a:spcAft>
              <a:defRPr sz="1150" i="1">
                <a:solidFill>
                  <a:srgbClr val="4A3B32"/>
                </a:solidFill>
                <a:latin typeface="Calibri"/>
              </a:defRPr>
            </a:pPr>
            <a:r>
              <a:t>«Supongamos que tienes un proyecto de software con un tamaño de 50 KLOC, y es un proyecto semiacoplado. Además, tienes las siguientes variables de predicción: confiabilidad requerida (4), tamaño de base de datos (3), y restricciones de tiempo (3). Quieres saber cuánto esfuerzo se requiere para completar el proyecto.»</a:t>
            </a:r>
          </a:p>
          <a:p>
            <a:pPr>
              <a:spcAft>
                <a:spcPts val="600"/>
              </a:spcAft>
              <a:defRPr sz="1300" b="1">
                <a:solidFill>
                  <a:srgbClr val="4A3B32"/>
                </a:solidFill>
                <a:latin typeface="Cambria"/>
              </a:defRPr>
            </a:pPr>
            <a:r>
              <a:t>2. VARIABLES DE PREDICCIÓN IDENTIFICADAS:</a:t>
            </a:r>
          </a:p>
          <a:p>
            <a:pPr>
              <a:spcAft>
                <a:spcPts val="300"/>
              </a:spcAft>
              <a:defRPr sz="1150" b="1">
                <a:solidFill>
                  <a:srgbClr val="4A3B32"/>
                </a:solidFill>
                <a:latin typeface="Calibri"/>
              </a:defRPr>
            </a:pPr>
            <a:r>
              <a:t>• Confiabilidad Requerida (RELY): </a:t>
            </a:r>
            <a:r>
              <a:rPr b="0">
                <a:solidFill>
                  <a:srgbClr val="C97567"/>
                </a:solidFill>
              </a:rPr>
              <a:t>Posición (4) [Alto] = 1.15</a:t>
            </a:r>
          </a:p>
          <a:p>
            <a:pPr>
              <a:spcAft>
                <a:spcPts val="300"/>
              </a:spcAft>
              <a:defRPr sz="1150" b="1">
                <a:solidFill>
                  <a:srgbClr val="4A3B32"/>
                </a:solidFill>
                <a:latin typeface="Calibri"/>
              </a:defRPr>
            </a:pPr>
            <a:r>
              <a:t>• Tamaño de Base de Datos (DATA): </a:t>
            </a:r>
            <a:r>
              <a:rPr b="0">
                <a:solidFill>
                  <a:srgbClr val="C97567"/>
                </a:solidFill>
              </a:rPr>
              <a:t>Posición (3) [Nominal] = 1.00</a:t>
            </a:r>
          </a:p>
          <a:p>
            <a:pPr>
              <a:spcAft>
                <a:spcPts val="300"/>
              </a:spcAft>
              <a:defRPr sz="1150" b="1">
                <a:solidFill>
                  <a:srgbClr val="4A3B32"/>
                </a:solidFill>
                <a:latin typeface="Calibri"/>
              </a:defRPr>
            </a:pPr>
            <a:r>
              <a:t>• Restricciones de Tiempo: </a:t>
            </a:r>
            <a:r>
              <a:rPr b="0">
                <a:solidFill>
                  <a:srgbClr val="C97567"/>
                </a:solidFill>
              </a:rPr>
              <a:t>Posición (3) [Nominal] = 1.00</a:t>
            </a:r>
          </a:p>
        </p:txBody>
      </p:sp>
      <p:sp>
        <p:nvSpPr>
          <p:cNvPr id="8" name="Rounded Rectangle 7"/>
          <p:cNvSpPr/>
          <p:nvPr/>
        </p:nvSpPr>
        <p:spPr>
          <a:xfrm>
            <a:off x="960120" y="4297680"/>
            <a:ext cx="4663440" cy="1783080"/>
          </a:xfrm>
          <a:prstGeom prst="roundRect">
            <a:avLst/>
          </a:prstGeom>
          <a:solidFill>
            <a:srgbClr val="FEF3E1"/>
          </a:solidFill>
          <a:ln w="12700">
            <a:solidFill>
              <a:srgbClr val="E6C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4343400"/>
            <a:ext cx="4480560" cy="1645920"/>
          </a:xfrm>
          <a:prstGeom prst="rect">
            <a:avLst/>
          </a:prstGeom>
          <a:noFill/>
        </p:spPr>
        <p:txBody>
          <a:bodyPr wrap="square">
            <a:spAutoFit/>
          </a:bodyPr>
          <a:lstStyle/>
          <a:p>
            <a:pPr>
              <a:spcAft>
                <a:spcPts val="400"/>
              </a:spcAft>
              <a:defRPr sz="1100" b="1">
                <a:solidFill>
                  <a:srgbClr val="8C5A28"/>
                </a:solidFill>
                <a:latin typeface="Cambria"/>
              </a:defRPr>
            </a:pPr>
            <a:r>
              <a:t>Aclaración Técnica sobre «Restricciones de Tiempo»:</a:t>
            </a:r>
          </a:p>
          <a:p>
            <a:pPr>
              <a:defRPr sz="1050">
                <a:solidFill>
                  <a:srgbClr val="4A3B32"/>
                </a:solidFill>
                <a:latin typeface="Calibri"/>
              </a:defRPr>
            </a:pPr>
            <a:r>
              <a:t>El enunciado literal señala 'restricciones de tiempo (3)'. En la taxonomía COCOMO de Boehm, la posición (3) [Nominal = 1.00] aplica tanto para TIME (apremios de tiempo de ejecución de CPU) como para SCED (restricciones de calendario de desarrollo). En ambos casos el multiplicador es 1.00 neutro, sin alterar el producto.</a:t>
            </a:r>
          </a:p>
        </p:txBody>
      </p:sp>
      <p:sp>
        <p:nvSpPr>
          <p:cNvPr id="10" name="Rounded Rectangle 9"/>
          <p:cNvSpPr/>
          <p:nvPr/>
        </p:nvSpPr>
        <p:spPr>
          <a:xfrm>
            <a:off x="6080760" y="1371600"/>
            <a:ext cx="5376672" cy="4892040"/>
          </a:xfrm>
          <a:prstGeom prst="roundRect">
            <a:avLst/>
          </a:prstGeom>
          <a:solidFill>
            <a:srgbClr val="FFFDFB"/>
          </a:solidFill>
          <a:ln w="12700">
            <a:solidFill>
              <a:srgbClr val="E8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508760"/>
            <a:ext cx="4919472" cy="3291840"/>
          </a:xfrm>
          <a:prstGeom prst="rect">
            <a:avLst/>
          </a:prstGeom>
          <a:noFill/>
        </p:spPr>
        <p:txBody>
          <a:bodyPr wrap="square">
            <a:spAutoFit/>
          </a:bodyPr>
          <a:lstStyle/>
          <a:p>
            <a:pPr>
              <a:spcAft>
                <a:spcPts val="800"/>
              </a:spcAft>
              <a:defRPr sz="1300" b="1">
                <a:solidFill>
                  <a:srgbClr val="4A3B32"/>
                </a:solidFill>
                <a:latin typeface="Cambria"/>
              </a:defRPr>
            </a:pPr>
            <a:r>
              <a:t>3. MODELADO Y RESOLUCIÓN ALGORÍTMICA:</a:t>
            </a:r>
          </a:p>
          <a:p>
            <a:pPr>
              <a:spcAft>
                <a:spcPts val="600"/>
              </a:spcAft>
              <a:defRPr sz="1150" b="1">
                <a:solidFill>
                  <a:srgbClr val="4A3B32"/>
                </a:solidFill>
                <a:latin typeface="Calibri"/>
              </a:defRPr>
            </a:pPr>
            <a:r>
              <a:t>• Paso 1: Parámetros Semiacoplado: </a:t>
            </a:r>
            <a:r>
              <a:rPr b="0">
                <a:solidFill>
                  <a:srgbClr val="C97567"/>
                </a:solidFill>
              </a:rPr>
              <a:t>a = 3.00, b = 1.12 | c = 2.50, d = 0.35</a:t>
            </a:r>
          </a:p>
          <a:p>
            <a:pPr>
              <a:spcAft>
                <a:spcPts val="600"/>
              </a:spcAft>
              <a:defRPr sz="1150" b="1">
                <a:solidFill>
                  <a:srgbClr val="4A3B32"/>
                </a:solidFill>
                <a:latin typeface="Calibri"/>
              </a:defRPr>
            </a:pPr>
            <a:r>
              <a:t>• Paso 2: Esfuerzo Nominal (PM_nom): </a:t>
            </a:r>
            <a:r>
              <a:rPr b="0">
                <a:solidFill>
                  <a:srgbClr val="C97567"/>
                </a:solidFill>
              </a:rPr>
              <a:t>PM_nom = 3.0 · (50)^1.12 = 3.0 · 79.9551 = 239.8654 PM</a:t>
            </a:r>
          </a:p>
          <a:p>
            <a:pPr>
              <a:spcAft>
                <a:spcPts val="600"/>
              </a:spcAft>
              <a:defRPr sz="1150" b="1">
                <a:solidFill>
                  <a:srgbClr val="4A3B32"/>
                </a:solidFill>
                <a:latin typeface="Calibri"/>
              </a:defRPr>
            </a:pPr>
            <a:r>
              <a:t>• Paso 3: Cálculo del EAF: </a:t>
            </a:r>
            <a:r>
              <a:rPr b="0">
                <a:solidFill>
                  <a:srgbClr val="C97567"/>
                </a:solidFill>
              </a:rPr>
              <a:t>EAF = 1.15 · 1.00 · 1.00 = 1.1500 (+15.0% de esfuerzo)</a:t>
            </a:r>
          </a:p>
          <a:p>
            <a:pPr>
              <a:spcAft>
                <a:spcPts val="600"/>
              </a:spcAft>
              <a:defRPr sz="1150" b="1">
                <a:solidFill>
                  <a:srgbClr val="4A3B32"/>
                </a:solidFill>
                <a:latin typeface="Calibri"/>
              </a:defRPr>
            </a:pPr>
            <a:r>
              <a:t>• Paso 4: Esfuerzo Ajustado (PM_ajustado): </a:t>
            </a:r>
            <a:r>
              <a:rPr b="0">
                <a:solidFill>
                  <a:srgbClr val="C97567"/>
                </a:solidFill>
              </a:rPr>
              <a:t>PM = 239.8654 · 1.1500 = 275.8452 ≈ 275.85 PM</a:t>
            </a:r>
          </a:p>
          <a:p>
            <a:pPr>
              <a:spcAft>
                <a:spcPts val="600"/>
              </a:spcAft>
              <a:defRPr sz="1150" b="1">
                <a:solidFill>
                  <a:srgbClr val="4A3B32"/>
                </a:solidFill>
                <a:latin typeface="Calibri"/>
              </a:defRPr>
            </a:pPr>
            <a:r>
              <a:t>• Paso 5: Tiempo de Desarrollo (TDEV): </a:t>
            </a:r>
            <a:r>
              <a:rPr b="0">
                <a:solidFill>
                  <a:srgbClr val="C97567"/>
                </a:solidFill>
              </a:rPr>
              <a:t>TDEV = 2.50 · (275.8452)^0.35 = 2.5 · 7.1488 = 17.87 Meses</a:t>
            </a:r>
          </a:p>
        </p:txBody>
      </p:sp>
      <p:sp>
        <p:nvSpPr>
          <p:cNvPr id="12" name="Rounded Rectangle 11"/>
          <p:cNvSpPr/>
          <p:nvPr/>
        </p:nvSpPr>
        <p:spPr>
          <a:xfrm>
            <a:off x="6309360" y="4892040"/>
            <a:ext cx="4919472" cy="1188720"/>
          </a:xfrm>
          <a:prstGeom prst="roundRect">
            <a:avLst/>
          </a:prstGeom>
          <a:solidFill>
            <a:srgbClr val="EEF1E9"/>
          </a:solidFill>
          <a:ln w="19050">
            <a:solidFill>
              <a:srgbClr val="7C94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4956048"/>
            <a:ext cx="4663440" cy="1051560"/>
          </a:xfrm>
          <a:prstGeom prst="rect">
            <a:avLst/>
          </a:prstGeom>
          <a:noFill/>
        </p:spPr>
        <p:txBody>
          <a:bodyPr wrap="square">
            <a:spAutoFit/>
          </a:bodyPr>
          <a:lstStyle/>
          <a:p>
            <a:pPr>
              <a:spcAft>
                <a:spcPts val="200"/>
              </a:spcAft>
              <a:defRPr sz="1300" b="1">
                <a:solidFill>
                  <a:srgbClr val="5F7355"/>
                </a:solidFill>
                <a:latin typeface="Cambria"/>
              </a:defRPr>
            </a:pPr>
            <a:r>
              <a:t>✔ RESULTADO OFICIAL CONFIRMADO:</a:t>
            </a:r>
          </a:p>
          <a:p>
            <a:pPr>
              <a:defRPr sz="1400" b="1">
                <a:solidFill>
                  <a:srgbClr val="4A3B32"/>
                </a:solidFill>
                <a:latin typeface="Calibri"/>
              </a:defRPr>
            </a:pPr>
            <a:r>
              <a:t>Esfuerzo Requerido: 275.85 Personas-Mes (~276 PM)</a:t>
            </a:r>
            <a:br/>
            <a:r>
              <a:t>Tiempo de Desarrollo Calculado: 17.87 Meses (~1.49 años)</a:t>
            </a:r>
          </a:p>
        </p:txBody>
      </p:sp>
      <p:sp>
        <p:nvSpPr>
          <p:cNvPr id="14" name="Rectangle 13"/>
          <p:cNvSpPr/>
          <p:nvPr/>
        </p:nvSpPr>
        <p:spPr>
          <a:xfrm>
            <a:off x="731520" y="6400800"/>
            <a:ext cx="10728655" cy="13716"/>
          </a:xfrm>
          <a:prstGeom prst="rect">
            <a:avLst/>
          </a:prstGeom>
          <a:solidFill>
            <a:srgbClr val="E8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446520"/>
            <a:ext cx="8229600" cy="274320"/>
          </a:xfrm>
          <a:prstGeom prst="rect">
            <a:avLst/>
          </a:prstGeom>
          <a:noFill/>
        </p:spPr>
        <p:txBody>
          <a:bodyPr wrap="none" lIns="0" tIns="0" rIns="0" bIns="0">
            <a:spAutoFit/>
          </a:bodyPr>
          <a:lstStyle/>
          <a:p>
            <a:pPr>
              <a:defRPr sz="950">
                <a:solidFill>
                  <a:srgbClr val="8A7A6D"/>
                </a:solidFill>
                <a:latin typeface="Calibri"/>
              </a:defRPr>
            </a:pPr>
            <a:r>
              <a:t>Actividad 2.2: Problemas COCOMO Intermedio · Ernesto Fierro · Dr. Gabriel Navarro Salcedo</a:t>
            </a:r>
          </a:p>
        </p:txBody>
      </p:sp>
      <p:sp>
        <p:nvSpPr>
          <p:cNvPr id="16" name="TextBox 15"/>
          <p:cNvSpPr txBox="1"/>
          <p:nvPr/>
        </p:nvSpPr>
        <p:spPr>
          <a:xfrm>
            <a:off x="9144000" y="6446520"/>
            <a:ext cx="2316175" cy="274320"/>
          </a:xfrm>
          <a:prstGeom prst="rect">
            <a:avLst/>
          </a:prstGeom>
          <a:noFill/>
        </p:spPr>
        <p:txBody>
          <a:bodyPr wrap="none" lIns="0" tIns="0" rIns="0" bIns="0">
            <a:spAutoFit/>
          </a:bodyPr>
          <a:lstStyle/>
          <a:p>
            <a:pPr algn="r">
              <a:defRPr sz="950">
                <a:solidFill>
                  <a:srgbClr val="8A7A6D"/>
                </a:solidFill>
                <a:latin typeface="Calibri"/>
              </a:defRPr>
            </a:pPr>
            <a:r>
              <a:t>Diapositiva 4 de 11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274320"/>
          </a:xfrm>
          <a:prstGeom prst="rect">
            <a:avLst/>
          </a:prstGeom>
          <a:noFill/>
        </p:spPr>
        <p:txBody>
          <a:bodyPr wrap="square" lIns="0" tIns="0" rIns="0" bIns="0">
            <a:spAutoFit/>
          </a:bodyPr>
          <a:lstStyle/>
          <a:p>
            <a:pPr>
              <a:defRPr sz="1050" b="1">
                <a:solidFill>
                  <a:srgbClr val="C97567"/>
                </a:solidFill>
                <a:latin typeface="Calibri"/>
              </a:defRPr>
            </a:pPr>
            <a:r>
              <a:t>ACTIVIDAD 2.2 · MODELO COCOMO INTERMEDIO · ADMINISTRACIÓN DE PROYECTOS</a:t>
            </a:r>
          </a:p>
        </p:txBody>
      </p:sp>
      <p:sp>
        <p:nvSpPr>
          <p:cNvPr id="4" name="TextBox 3"/>
          <p:cNvSpPr txBox="1"/>
          <p:nvPr/>
        </p:nvSpPr>
        <p:spPr>
          <a:xfrm>
            <a:off x="731520" y="594360"/>
            <a:ext cx="10728655" cy="594360"/>
          </a:xfrm>
          <a:prstGeom prst="rect">
            <a:avLst/>
          </a:prstGeom>
          <a:noFill/>
        </p:spPr>
        <p:txBody>
          <a:bodyPr wrap="square" lIns="0" tIns="0" rIns="0" bIns="0">
            <a:spAutoFit/>
          </a:bodyPr>
          <a:lstStyle/>
          <a:p>
            <a:pPr>
              <a:defRPr sz="2200" b="1">
                <a:solidFill>
                  <a:srgbClr val="4A3B32"/>
                </a:solidFill>
                <a:latin typeface="Cambria"/>
              </a:defRPr>
            </a:pPr>
            <a:r>
              <a:t>Problema II — Proyecto Semiacoplado (100 KLOC)</a:t>
            </a:r>
          </a:p>
        </p:txBody>
      </p:sp>
      <p:sp>
        <p:nvSpPr>
          <p:cNvPr id="5" name="Rectangle 4"/>
          <p:cNvSpPr/>
          <p:nvPr/>
        </p:nvSpPr>
        <p:spPr>
          <a:xfrm>
            <a:off x="731520" y="1207008"/>
            <a:ext cx="10728655" cy="32004"/>
          </a:xfrm>
          <a:prstGeom prst="rect">
            <a:avLst/>
          </a:prstGeom>
          <a:solidFill>
            <a:srgbClr val="C975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5120640" cy="4892040"/>
          </a:xfrm>
          <a:prstGeom prst="roundRect">
            <a:avLst/>
          </a:prstGeom>
          <a:solidFill>
            <a:srgbClr val="FFFDFB"/>
          </a:solidFill>
          <a:ln w="12700">
            <a:solidFill>
              <a:srgbClr val="E8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508760"/>
            <a:ext cx="4663440" cy="4526280"/>
          </a:xfrm>
          <a:prstGeom prst="rect">
            <a:avLst/>
          </a:prstGeom>
          <a:noFill/>
        </p:spPr>
        <p:txBody>
          <a:bodyPr wrap="square">
            <a:spAutoFit/>
          </a:bodyPr>
          <a:lstStyle/>
          <a:p>
            <a:pPr>
              <a:spcAft>
                <a:spcPts val="600"/>
              </a:spcAft>
              <a:defRPr sz="1300" b="1">
                <a:solidFill>
                  <a:srgbClr val="C97567"/>
                </a:solidFill>
                <a:latin typeface="Cambria"/>
              </a:defRPr>
            </a:pPr>
            <a:r>
              <a:t>1. ENUNCIADO OFICIAL (Cátedra Diapositiva 7):</a:t>
            </a:r>
          </a:p>
          <a:p>
            <a:pPr>
              <a:spcAft>
                <a:spcPts val="1200"/>
              </a:spcAft>
              <a:defRPr sz="1150" i="1">
                <a:solidFill>
                  <a:srgbClr val="4A3B32"/>
                </a:solidFill>
                <a:latin typeface="Calibri"/>
              </a:defRPr>
            </a:pPr>
            <a:r>
              <a:t>«Supongamos que tienes un proyecto de software con un tamaño de 100 KLOC, y es un proyecto de tipo Semi Acoplado. Además, tienes las siguientes variables de predicción: Confiabilidad requerida: 5, Tamaño de base de datos: 4, Complejidad del producto: 3, Apremios de funcionamiento Run-time: 4, Volatilidad de la memoria virtual: 2. Se requiere saber cuánto esfuerzo se requiere para completar el proyecto.»</a:t>
            </a:r>
          </a:p>
          <a:p>
            <a:pPr>
              <a:spcAft>
                <a:spcPts val="600"/>
              </a:spcAft>
              <a:defRPr sz="1300" b="1">
                <a:solidFill>
                  <a:srgbClr val="4A3B32"/>
                </a:solidFill>
                <a:latin typeface="Cambria"/>
              </a:defRPr>
            </a:pPr>
            <a:r>
              <a:t>2. VARIABLES DE PREDICCIÓN IDENTIFICADAS:</a:t>
            </a:r>
          </a:p>
          <a:p>
            <a:pPr>
              <a:spcAft>
                <a:spcPts val="300"/>
              </a:spcAft>
              <a:defRPr sz="1150" b="1">
                <a:solidFill>
                  <a:srgbClr val="4A3B32"/>
                </a:solidFill>
                <a:latin typeface="Calibri"/>
              </a:defRPr>
            </a:pPr>
            <a:r>
              <a:t>• Confiabilidad Requerida (RELY): </a:t>
            </a:r>
            <a:r>
              <a:rPr b="0">
                <a:solidFill>
                  <a:srgbClr val="C97567"/>
                </a:solidFill>
              </a:rPr>
              <a:t>Posición (5) [Muy Alto] = 1.40</a:t>
            </a:r>
          </a:p>
          <a:p>
            <a:pPr>
              <a:spcAft>
                <a:spcPts val="300"/>
              </a:spcAft>
              <a:defRPr sz="1150" b="1">
                <a:solidFill>
                  <a:srgbClr val="4A3B32"/>
                </a:solidFill>
                <a:latin typeface="Calibri"/>
              </a:defRPr>
            </a:pPr>
            <a:r>
              <a:t>• Tamaño Base de Datos (DATA): </a:t>
            </a:r>
            <a:r>
              <a:rPr b="0">
                <a:solidFill>
                  <a:srgbClr val="C97567"/>
                </a:solidFill>
              </a:rPr>
              <a:t>Posición (4) [Alto] = 1.08</a:t>
            </a:r>
          </a:p>
          <a:p>
            <a:pPr>
              <a:spcAft>
                <a:spcPts val="300"/>
              </a:spcAft>
              <a:defRPr sz="1150" b="1">
                <a:solidFill>
                  <a:srgbClr val="4A3B32"/>
                </a:solidFill>
                <a:latin typeface="Calibri"/>
              </a:defRPr>
            </a:pPr>
            <a:r>
              <a:t>• Complejidad del Producto (CPLX): </a:t>
            </a:r>
            <a:r>
              <a:rPr b="0">
                <a:solidFill>
                  <a:srgbClr val="C97567"/>
                </a:solidFill>
              </a:rPr>
              <a:t>Posición (3) [Nominal] = 1.00</a:t>
            </a:r>
          </a:p>
          <a:p>
            <a:pPr>
              <a:spcAft>
                <a:spcPts val="300"/>
              </a:spcAft>
              <a:defRPr sz="1150" b="1">
                <a:solidFill>
                  <a:srgbClr val="4A3B32"/>
                </a:solidFill>
                <a:latin typeface="Calibri"/>
              </a:defRPr>
            </a:pPr>
            <a:r>
              <a:t>• Apremios Run-time (TIME): </a:t>
            </a:r>
            <a:r>
              <a:rPr b="0">
                <a:solidFill>
                  <a:srgbClr val="C97567"/>
                </a:solidFill>
              </a:rPr>
              <a:t>Posición (4) [Alto] = 1.11</a:t>
            </a:r>
          </a:p>
          <a:p>
            <a:pPr>
              <a:spcAft>
                <a:spcPts val="300"/>
              </a:spcAft>
              <a:defRPr sz="1150" b="1">
                <a:solidFill>
                  <a:srgbClr val="4A3B32"/>
                </a:solidFill>
                <a:latin typeface="Calibri"/>
              </a:defRPr>
            </a:pPr>
            <a:r>
              <a:t>• Volatilidad Plataforma Virtual (VIRT): </a:t>
            </a:r>
            <a:r>
              <a:rPr b="0">
                <a:solidFill>
                  <a:srgbClr val="C97567"/>
                </a:solidFill>
              </a:rPr>
              <a:t>Posición (2) [Bajo] = 0.87</a:t>
            </a:r>
          </a:p>
          <a:p>
            <a:pPr>
              <a:spcBef>
                <a:spcPts val="800"/>
              </a:spcBef>
              <a:defRPr sz="1050" i="1">
                <a:solidFill>
                  <a:srgbClr val="8A7A6D"/>
                </a:solidFill>
                <a:latin typeface="Calibri"/>
              </a:defRPr>
            </a:pPr>
            <a:r>
              <a:t>Análisis: La confiabilidad crítica (1.40) y las restricciones de CPU (1.11) penalizan fuertemente, amortiguadas apenas por la baja volatilidad (0.87).</a:t>
            </a:r>
          </a:p>
        </p:txBody>
      </p:sp>
      <p:sp>
        <p:nvSpPr>
          <p:cNvPr id="8" name="Rounded Rectangle 7"/>
          <p:cNvSpPr/>
          <p:nvPr/>
        </p:nvSpPr>
        <p:spPr>
          <a:xfrm>
            <a:off x="6080760" y="1371600"/>
            <a:ext cx="5376672" cy="4892040"/>
          </a:xfrm>
          <a:prstGeom prst="roundRect">
            <a:avLst/>
          </a:prstGeom>
          <a:solidFill>
            <a:srgbClr val="FFFDFB"/>
          </a:solidFill>
          <a:ln w="12700">
            <a:solidFill>
              <a:srgbClr val="E8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508760"/>
            <a:ext cx="4919472" cy="3291840"/>
          </a:xfrm>
          <a:prstGeom prst="rect">
            <a:avLst/>
          </a:prstGeom>
          <a:noFill/>
        </p:spPr>
        <p:txBody>
          <a:bodyPr wrap="square">
            <a:spAutoFit/>
          </a:bodyPr>
          <a:lstStyle/>
          <a:p>
            <a:pPr>
              <a:spcAft>
                <a:spcPts val="800"/>
              </a:spcAft>
              <a:defRPr sz="1300" b="1">
                <a:solidFill>
                  <a:srgbClr val="4A3B32"/>
                </a:solidFill>
                <a:latin typeface="Cambria"/>
              </a:defRPr>
            </a:pPr>
            <a:r>
              <a:t>3. MODELADO Y RESOLUCIÓN ALGORÍTMICA:</a:t>
            </a:r>
          </a:p>
          <a:p>
            <a:pPr>
              <a:spcAft>
                <a:spcPts val="600"/>
              </a:spcAft>
              <a:defRPr sz="1150" b="1">
                <a:solidFill>
                  <a:srgbClr val="4A3B32"/>
                </a:solidFill>
                <a:latin typeface="Calibri"/>
              </a:defRPr>
            </a:pPr>
            <a:r>
              <a:t>• Paso 1: Coeficientes Semiacoplado: </a:t>
            </a:r>
            <a:r>
              <a:rPr b="0">
                <a:solidFill>
                  <a:srgbClr val="C97567"/>
                </a:solidFill>
              </a:rPr>
              <a:t>a = 3.00, b = 1.12 | c = 2.50, d = 0.35</a:t>
            </a:r>
          </a:p>
          <a:p>
            <a:pPr>
              <a:spcAft>
                <a:spcPts val="600"/>
              </a:spcAft>
              <a:defRPr sz="1150" b="1">
                <a:solidFill>
                  <a:srgbClr val="4A3B32"/>
                </a:solidFill>
                <a:latin typeface="Calibri"/>
              </a:defRPr>
            </a:pPr>
            <a:r>
              <a:t>• Paso 2: Esfuerzo Nominal (PM_nom): </a:t>
            </a:r>
            <a:r>
              <a:rPr b="0">
                <a:solidFill>
                  <a:srgbClr val="C97567"/>
                </a:solidFill>
              </a:rPr>
              <a:t>PM_nom = 3.0 · (100)^1.12 = 3.0 · 173.7801 = 521.3402 PM</a:t>
            </a:r>
          </a:p>
          <a:p>
            <a:pPr>
              <a:spcAft>
                <a:spcPts val="600"/>
              </a:spcAft>
              <a:defRPr sz="1150" b="1">
                <a:solidFill>
                  <a:srgbClr val="4A3B32"/>
                </a:solidFill>
                <a:latin typeface="Calibri"/>
              </a:defRPr>
            </a:pPr>
            <a:r>
              <a:t>• Paso 3: Cálculo del EAF: </a:t>
            </a:r>
            <a:r>
              <a:rPr b="0">
                <a:solidFill>
                  <a:srgbClr val="C97567"/>
                </a:solidFill>
              </a:rPr>
              <a:t>EAF = 1.40 · 1.08 · 1.00 · 1.11 · 0.87 = 1.460138 ≈ 1.4601</a:t>
            </a:r>
          </a:p>
          <a:p>
            <a:pPr>
              <a:spcAft>
                <a:spcPts val="600"/>
              </a:spcAft>
              <a:defRPr sz="1150" b="1">
                <a:solidFill>
                  <a:srgbClr val="4A3B32"/>
                </a:solidFill>
                <a:latin typeface="Calibri"/>
              </a:defRPr>
            </a:pPr>
            <a:r>
              <a:t>• Paso 4: Esfuerzo Ajustado (PM_ajustado): </a:t>
            </a:r>
            <a:r>
              <a:rPr b="0">
                <a:solidFill>
                  <a:srgbClr val="C97567"/>
                </a:solidFill>
              </a:rPr>
              <a:t>PM = 521.3402 · 1.460138 = 761.2289 ≈ 761.23 PM</a:t>
            </a:r>
          </a:p>
          <a:p>
            <a:pPr>
              <a:spcAft>
                <a:spcPts val="600"/>
              </a:spcAft>
              <a:defRPr sz="1150" b="1">
                <a:solidFill>
                  <a:srgbClr val="4A3B32"/>
                </a:solidFill>
                <a:latin typeface="Calibri"/>
              </a:defRPr>
            </a:pPr>
            <a:r>
              <a:t>• Paso 5: Tiempo de Desarrollo (TDEV): </a:t>
            </a:r>
            <a:r>
              <a:rPr b="0">
                <a:solidFill>
                  <a:srgbClr val="C97567"/>
                </a:solidFill>
              </a:rPr>
              <a:t>TDEV = 2.50 · (761.2289)^0.35 = 2.5 · 10.1984 = 25.50 Meses</a:t>
            </a:r>
          </a:p>
        </p:txBody>
      </p:sp>
      <p:sp>
        <p:nvSpPr>
          <p:cNvPr id="10" name="Rounded Rectangle 9"/>
          <p:cNvSpPr/>
          <p:nvPr/>
        </p:nvSpPr>
        <p:spPr>
          <a:xfrm>
            <a:off x="6309360" y="4892040"/>
            <a:ext cx="4919472" cy="1188720"/>
          </a:xfrm>
          <a:prstGeom prst="roundRect">
            <a:avLst/>
          </a:prstGeom>
          <a:solidFill>
            <a:srgbClr val="EEF1E9"/>
          </a:solidFill>
          <a:ln w="19050">
            <a:solidFill>
              <a:srgbClr val="7C94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4956048"/>
            <a:ext cx="4663440" cy="1051560"/>
          </a:xfrm>
          <a:prstGeom prst="rect">
            <a:avLst/>
          </a:prstGeom>
          <a:noFill/>
        </p:spPr>
        <p:txBody>
          <a:bodyPr wrap="square">
            <a:spAutoFit/>
          </a:bodyPr>
          <a:lstStyle/>
          <a:p>
            <a:pPr>
              <a:spcAft>
                <a:spcPts val="200"/>
              </a:spcAft>
              <a:defRPr sz="1300" b="1">
                <a:solidFill>
                  <a:srgbClr val="5F7355"/>
                </a:solidFill>
                <a:latin typeface="Cambria"/>
              </a:defRPr>
            </a:pPr>
            <a:r>
              <a:t>✔ RESPUESTA OFICIAL (ESFUERZO):</a:t>
            </a:r>
          </a:p>
          <a:p>
            <a:pPr>
              <a:defRPr sz="1400" b="1">
                <a:solidFill>
                  <a:srgbClr val="4A3B32"/>
                </a:solidFill>
                <a:latin typeface="Calibri"/>
              </a:defRPr>
            </a:pPr>
            <a:r>
              <a:t>Esfuerzo Requerido: 761.23 Personas-Mes (~761 PM)</a:t>
            </a:r>
            <a:br/>
            <a:r>
              <a:t>Duración Estimada: 25.50 Meses (~2.13 años)</a:t>
            </a:r>
          </a:p>
        </p:txBody>
      </p:sp>
      <p:sp>
        <p:nvSpPr>
          <p:cNvPr id="12" name="Rectangle 11"/>
          <p:cNvSpPr/>
          <p:nvPr/>
        </p:nvSpPr>
        <p:spPr>
          <a:xfrm>
            <a:off x="731520" y="6400800"/>
            <a:ext cx="10728655" cy="13716"/>
          </a:xfrm>
          <a:prstGeom prst="rect">
            <a:avLst/>
          </a:prstGeom>
          <a:solidFill>
            <a:srgbClr val="E8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6446520"/>
            <a:ext cx="8229600" cy="274320"/>
          </a:xfrm>
          <a:prstGeom prst="rect">
            <a:avLst/>
          </a:prstGeom>
          <a:noFill/>
        </p:spPr>
        <p:txBody>
          <a:bodyPr wrap="none" lIns="0" tIns="0" rIns="0" bIns="0">
            <a:spAutoFit/>
          </a:bodyPr>
          <a:lstStyle/>
          <a:p>
            <a:pPr>
              <a:defRPr sz="950">
                <a:solidFill>
                  <a:srgbClr val="8A7A6D"/>
                </a:solidFill>
                <a:latin typeface="Calibri"/>
              </a:defRPr>
            </a:pPr>
            <a:r>
              <a:t>Actividad 2.2: Problemas COCOMO Intermedio · Ernesto Fierro · Dr. Gabriel Navarro Salcedo</a:t>
            </a:r>
          </a:p>
        </p:txBody>
      </p:sp>
      <p:sp>
        <p:nvSpPr>
          <p:cNvPr id="14" name="TextBox 13"/>
          <p:cNvSpPr txBox="1"/>
          <p:nvPr/>
        </p:nvSpPr>
        <p:spPr>
          <a:xfrm>
            <a:off x="9144000" y="6446520"/>
            <a:ext cx="2316175" cy="274320"/>
          </a:xfrm>
          <a:prstGeom prst="rect">
            <a:avLst/>
          </a:prstGeom>
          <a:noFill/>
        </p:spPr>
        <p:txBody>
          <a:bodyPr wrap="none" lIns="0" tIns="0" rIns="0" bIns="0">
            <a:spAutoFit/>
          </a:bodyPr>
          <a:lstStyle/>
          <a:p>
            <a:pPr algn="r">
              <a:defRPr sz="950">
                <a:solidFill>
                  <a:srgbClr val="8A7A6D"/>
                </a:solidFill>
                <a:latin typeface="Calibri"/>
              </a:defRPr>
            </a:pPr>
            <a:r>
              <a:t>Diapositiva 5 de 11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274320"/>
          </a:xfrm>
          <a:prstGeom prst="rect">
            <a:avLst/>
          </a:prstGeom>
          <a:noFill/>
        </p:spPr>
        <p:txBody>
          <a:bodyPr wrap="square" lIns="0" tIns="0" rIns="0" bIns="0">
            <a:spAutoFit/>
          </a:bodyPr>
          <a:lstStyle/>
          <a:p>
            <a:pPr>
              <a:defRPr sz="1050" b="1">
                <a:solidFill>
                  <a:srgbClr val="C97567"/>
                </a:solidFill>
                <a:latin typeface="Calibri"/>
              </a:defRPr>
            </a:pPr>
            <a:r>
              <a:t>ACTIVIDAD 2.2 · MODELO COCOMO INTERMEDIO · ADMINISTRACIÓN DE PROYECTOS</a:t>
            </a:r>
          </a:p>
        </p:txBody>
      </p:sp>
      <p:sp>
        <p:nvSpPr>
          <p:cNvPr id="4" name="TextBox 3"/>
          <p:cNvSpPr txBox="1"/>
          <p:nvPr/>
        </p:nvSpPr>
        <p:spPr>
          <a:xfrm>
            <a:off x="731520" y="594360"/>
            <a:ext cx="10728655" cy="594360"/>
          </a:xfrm>
          <a:prstGeom prst="rect">
            <a:avLst/>
          </a:prstGeom>
          <a:noFill/>
        </p:spPr>
        <p:txBody>
          <a:bodyPr wrap="square" lIns="0" tIns="0" rIns="0" bIns="0">
            <a:spAutoFit/>
          </a:bodyPr>
          <a:lstStyle/>
          <a:p>
            <a:pPr>
              <a:defRPr sz="2200" b="1">
                <a:solidFill>
                  <a:srgbClr val="4A3B32"/>
                </a:solidFill>
                <a:latin typeface="Cambria"/>
              </a:defRPr>
            </a:pPr>
            <a:r>
              <a:t>Problema III — Proyecto Empotrado / Embebido (300 KLOC)</a:t>
            </a:r>
          </a:p>
        </p:txBody>
      </p:sp>
      <p:sp>
        <p:nvSpPr>
          <p:cNvPr id="5" name="Rectangle 4"/>
          <p:cNvSpPr/>
          <p:nvPr/>
        </p:nvSpPr>
        <p:spPr>
          <a:xfrm>
            <a:off x="731520" y="1207008"/>
            <a:ext cx="10728655" cy="32004"/>
          </a:xfrm>
          <a:prstGeom prst="rect">
            <a:avLst/>
          </a:prstGeom>
          <a:solidFill>
            <a:srgbClr val="C975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5120640" cy="4892040"/>
          </a:xfrm>
          <a:prstGeom prst="roundRect">
            <a:avLst/>
          </a:prstGeom>
          <a:solidFill>
            <a:srgbClr val="FFFDFB"/>
          </a:solidFill>
          <a:ln w="12700">
            <a:solidFill>
              <a:srgbClr val="E8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508760"/>
            <a:ext cx="4663440" cy="4526280"/>
          </a:xfrm>
          <a:prstGeom prst="rect">
            <a:avLst/>
          </a:prstGeom>
          <a:noFill/>
        </p:spPr>
        <p:txBody>
          <a:bodyPr wrap="square">
            <a:spAutoFit/>
          </a:bodyPr>
          <a:lstStyle/>
          <a:p>
            <a:pPr>
              <a:spcAft>
                <a:spcPts val="600"/>
              </a:spcAft>
              <a:defRPr sz="1300" b="1">
                <a:solidFill>
                  <a:srgbClr val="C97567"/>
                </a:solidFill>
                <a:latin typeface="Cambria"/>
              </a:defRPr>
            </a:pPr>
            <a:r>
              <a:t>1. ENUNCIADO OFICIAL (Cátedra Diapositiva 8):</a:t>
            </a:r>
          </a:p>
          <a:p>
            <a:pPr>
              <a:spcAft>
                <a:spcPts val="1200"/>
              </a:spcAft>
              <a:defRPr sz="1150" i="1">
                <a:solidFill>
                  <a:srgbClr val="4A3B32"/>
                </a:solidFill>
                <a:latin typeface="Calibri"/>
              </a:defRPr>
            </a:pPr>
            <a:r>
              <a:t>«Tienes un proyecto de software con un tamaño de 300 KLOC, y es un proyecto empotrado. Además, tienes las siguientes variables de predicción: Confiabilidad requerida: 4, Tamaño de base de datos: 5, Complejidad del producto: 2, Capacidad del analista: 1, Volatilidad de la memoria virtual: 3. Quieres saber cuánto tiempo tomará completar el proyecto.»</a:t>
            </a:r>
          </a:p>
          <a:p>
            <a:pPr>
              <a:spcAft>
                <a:spcPts val="600"/>
              </a:spcAft>
              <a:defRPr sz="1300" b="1">
                <a:solidFill>
                  <a:srgbClr val="4A3B32"/>
                </a:solidFill>
                <a:latin typeface="Cambria"/>
              </a:defRPr>
            </a:pPr>
            <a:r>
              <a:t>2. VARIABLES DE PREDICCIÓN IDENTIFICADAS:</a:t>
            </a:r>
          </a:p>
          <a:p>
            <a:pPr>
              <a:spcAft>
                <a:spcPts val="300"/>
              </a:spcAft>
              <a:defRPr sz="1150" b="1">
                <a:solidFill>
                  <a:srgbClr val="4A3B32"/>
                </a:solidFill>
                <a:latin typeface="Calibri"/>
              </a:defRPr>
            </a:pPr>
            <a:r>
              <a:t>• Confiabilidad Requerida (RELY): </a:t>
            </a:r>
            <a:r>
              <a:rPr b="0">
                <a:solidFill>
                  <a:srgbClr val="C97567"/>
                </a:solidFill>
              </a:rPr>
              <a:t>Posición (4) [Alto] = 1.15</a:t>
            </a:r>
          </a:p>
          <a:p>
            <a:pPr>
              <a:spcAft>
                <a:spcPts val="300"/>
              </a:spcAft>
              <a:defRPr sz="1150" b="1">
                <a:solidFill>
                  <a:srgbClr val="4A3B32"/>
                </a:solidFill>
                <a:latin typeface="Calibri"/>
              </a:defRPr>
            </a:pPr>
            <a:r>
              <a:t>• Tamaño Base de Datos (DATA): </a:t>
            </a:r>
            <a:r>
              <a:rPr b="0">
                <a:solidFill>
                  <a:srgbClr val="C97567"/>
                </a:solidFill>
              </a:rPr>
              <a:t>Posición (5) [Muy Alto] = 1.16</a:t>
            </a:r>
          </a:p>
          <a:p>
            <a:pPr>
              <a:spcAft>
                <a:spcPts val="300"/>
              </a:spcAft>
              <a:defRPr sz="1150" b="1">
                <a:solidFill>
                  <a:srgbClr val="4A3B32"/>
                </a:solidFill>
                <a:latin typeface="Calibri"/>
              </a:defRPr>
            </a:pPr>
            <a:r>
              <a:t>• Complejidad del Producto (CPLX): </a:t>
            </a:r>
            <a:r>
              <a:rPr b="0">
                <a:solidFill>
                  <a:srgbClr val="C97567"/>
                </a:solidFill>
              </a:rPr>
              <a:t>Posición (2) [Bajo] = 0.85</a:t>
            </a:r>
          </a:p>
          <a:p>
            <a:pPr>
              <a:spcAft>
                <a:spcPts val="300"/>
              </a:spcAft>
              <a:defRPr sz="1150" b="1">
                <a:solidFill>
                  <a:srgbClr val="4A3B32"/>
                </a:solidFill>
                <a:latin typeface="Calibri"/>
              </a:defRPr>
            </a:pPr>
            <a:r>
              <a:t>• Capacidad del Analista (ACAP): </a:t>
            </a:r>
            <a:r>
              <a:rPr b="0">
                <a:solidFill>
                  <a:srgbClr val="C97567"/>
                </a:solidFill>
              </a:rPr>
              <a:t>Posición (1) [Muy Bajo] = 1.46</a:t>
            </a:r>
          </a:p>
          <a:p>
            <a:pPr>
              <a:spcAft>
                <a:spcPts val="300"/>
              </a:spcAft>
              <a:defRPr sz="1150" b="1">
                <a:solidFill>
                  <a:srgbClr val="4A3B32"/>
                </a:solidFill>
                <a:latin typeface="Calibri"/>
              </a:defRPr>
            </a:pPr>
            <a:r>
              <a:t>• Volatilidad Plataforma Virtual (VIRT): </a:t>
            </a:r>
            <a:r>
              <a:rPr b="0">
                <a:solidFill>
                  <a:srgbClr val="C97567"/>
                </a:solidFill>
              </a:rPr>
              <a:t>Posición (3) [Nominal] = 1.00</a:t>
            </a:r>
          </a:p>
          <a:p>
            <a:pPr>
              <a:spcBef>
                <a:spcPts val="800"/>
              </a:spcBef>
              <a:defRPr sz="1050" i="1">
                <a:solidFill>
                  <a:srgbClr val="8A7A6D"/>
                </a:solidFill>
                <a:latin typeface="Calibri"/>
              </a:defRPr>
            </a:pPr>
            <a:r>
              <a:t>Hallazgo Clave: El analista inexperto (ACAP=1.46) es el mayor factor penalizante individual (+46%), que sumado a DATA (1.16) y RELY (1.15) detona un EAF crítico.</a:t>
            </a:r>
          </a:p>
        </p:txBody>
      </p:sp>
      <p:sp>
        <p:nvSpPr>
          <p:cNvPr id="8" name="Rounded Rectangle 7"/>
          <p:cNvSpPr/>
          <p:nvPr/>
        </p:nvSpPr>
        <p:spPr>
          <a:xfrm>
            <a:off x="6080760" y="1371600"/>
            <a:ext cx="5376672" cy="4892040"/>
          </a:xfrm>
          <a:prstGeom prst="roundRect">
            <a:avLst/>
          </a:prstGeom>
          <a:solidFill>
            <a:srgbClr val="FFFDFB"/>
          </a:solidFill>
          <a:ln w="12700">
            <a:solidFill>
              <a:srgbClr val="E8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508760"/>
            <a:ext cx="4919472" cy="3291840"/>
          </a:xfrm>
          <a:prstGeom prst="rect">
            <a:avLst/>
          </a:prstGeom>
          <a:noFill/>
        </p:spPr>
        <p:txBody>
          <a:bodyPr wrap="square">
            <a:spAutoFit/>
          </a:bodyPr>
          <a:lstStyle/>
          <a:p>
            <a:pPr>
              <a:spcAft>
                <a:spcPts val="800"/>
              </a:spcAft>
              <a:defRPr sz="1300" b="1">
                <a:solidFill>
                  <a:srgbClr val="4A3B32"/>
                </a:solidFill>
                <a:latin typeface="Cambria"/>
              </a:defRPr>
            </a:pPr>
            <a:r>
              <a:t>3. MODELADO Y RESOLUCIÓN ALGORÍTMICA:</a:t>
            </a:r>
          </a:p>
          <a:p>
            <a:pPr>
              <a:spcAft>
                <a:spcPts val="600"/>
              </a:spcAft>
              <a:defRPr sz="1150" b="1">
                <a:solidFill>
                  <a:srgbClr val="4A3B32"/>
                </a:solidFill>
                <a:latin typeface="Calibri"/>
              </a:defRPr>
            </a:pPr>
            <a:r>
              <a:t>• Paso 1: Coeficientes Empotrado: </a:t>
            </a:r>
            <a:r>
              <a:rPr b="0">
                <a:solidFill>
                  <a:srgbClr val="C97567"/>
                </a:solidFill>
              </a:rPr>
              <a:t>a = 2.80, b = 1.20 | c = 2.50, d = 0.32</a:t>
            </a:r>
          </a:p>
          <a:p>
            <a:pPr>
              <a:spcAft>
                <a:spcPts val="600"/>
              </a:spcAft>
              <a:defRPr sz="1150" b="1">
                <a:solidFill>
                  <a:srgbClr val="4A3B32"/>
                </a:solidFill>
                <a:latin typeface="Calibri"/>
              </a:defRPr>
            </a:pPr>
            <a:r>
              <a:t>• Paso 2: Esfuerzo Nominal (PM_nom): </a:t>
            </a:r>
            <a:r>
              <a:rPr b="0">
                <a:solidFill>
                  <a:srgbClr val="C97567"/>
                </a:solidFill>
              </a:rPr>
              <a:t>PM_nom = 2.8 · (300)^1.20 = 2.8 · 938.7404 = 2,628.4731 PM</a:t>
            </a:r>
          </a:p>
          <a:p>
            <a:pPr>
              <a:spcAft>
                <a:spcPts val="600"/>
              </a:spcAft>
              <a:defRPr sz="1150" b="1">
                <a:solidFill>
                  <a:srgbClr val="4A3B32"/>
                </a:solidFill>
                <a:latin typeface="Calibri"/>
              </a:defRPr>
            </a:pPr>
            <a:r>
              <a:t>• Paso 3: Cálculo del EAF: </a:t>
            </a:r>
            <a:r>
              <a:rPr b="0">
                <a:solidFill>
                  <a:srgbClr val="C97567"/>
                </a:solidFill>
              </a:rPr>
              <a:t>EAF = 1.15 · 1.16 · 0.85 · 1.46 · 1.00 = 1.655494 ≈ 1.6555</a:t>
            </a:r>
          </a:p>
          <a:p>
            <a:pPr>
              <a:spcAft>
                <a:spcPts val="600"/>
              </a:spcAft>
              <a:defRPr sz="1150" b="1">
                <a:solidFill>
                  <a:srgbClr val="4A3B32"/>
                </a:solidFill>
                <a:latin typeface="Calibri"/>
              </a:defRPr>
            </a:pPr>
            <a:r>
              <a:t>• Paso 4: Esfuerzo Ajustado (PM_ajustado): </a:t>
            </a:r>
            <a:r>
              <a:rPr b="0">
                <a:solidFill>
                  <a:srgbClr val="C97567"/>
                </a:solidFill>
              </a:rPr>
              <a:t>PM = 2,628.4731 · 1.655494 = 4,351.4214 ≈ 4,351.42 PM</a:t>
            </a:r>
          </a:p>
          <a:p>
            <a:pPr>
              <a:spcAft>
                <a:spcPts val="600"/>
              </a:spcAft>
              <a:defRPr sz="1150" b="1">
                <a:solidFill>
                  <a:srgbClr val="4A3B32"/>
                </a:solidFill>
                <a:latin typeface="Calibri"/>
              </a:defRPr>
            </a:pPr>
            <a:r>
              <a:t>• Paso 5: Tiempo de Desarrollo Solicitado (TDEV): </a:t>
            </a:r>
            <a:r>
              <a:rPr b="0">
                <a:solidFill>
                  <a:srgbClr val="C97567"/>
                </a:solidFill>
              </a:rPr>
              <a:t>TDEV = 2.50 · (4,351.4214)^0.32 = 2.5 · 14.6003 = 36.50 Meses</a:t>
            </a:r>
          </a:p>
        </p:txBody>
      </p:sp>
      <p:sp>
        <p:nvSpPr>
          <p:cNvPr id="10" name="Rounded Rectangle 9"/>
          <p:cNvSpPr/>
          <p:nvPr/>
        </p:nvSpPr>
        <p:spPr>
          <a:xfrm>
            <a:off x="6309360" y="4892040"/>
            <a:ext cx="4919472" cy="1188720"/>
          </a:xfrm>
          <a:prstGeom prst="roundRect">
            <a:avLst/>
          </a:prstGeom>
          <a:solidFill>
            <a:srgbClr val="EEF1E9"/>
          </a:solidFill>
          <a:ln w="19050">
            <a:solidFill>
              <a:srgbClr val="7C94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4956048"/>
            <a:ext cx="4663440" cy="1051560"/>
          </a:xfrm>
          <a:prstGeom prst="rect">
            <a:avLst/>
          </a:prstGeom>
          <a:noFill/>
        </p:spPr>
        <p:txBody>
          <a:bodyPr wrap="square">
            <a:spAutoFit/>
          </a:bodyPr>
          <a:lstStyle/>
          <a:p>
            <a:pPr>
              <a:spcAft>
                <a:spcPts val="200"/>
              </a:spcAft>
              <a:defRPr sz="1300" b="1">
                <a:solidFill>
                  <a:srgbClr val="5F7355"/>
                </a:solidFill>
                <a:latin typeface="Cambria"/>
              </a:defRPr>
            </a:pPr>
            <a:r>
              <a:t>✔ RESPUESTA OFICIAL (TIEMPO DE DESARROLLO):</a:t>
            </a:r>
          </a:p>
          <a:p>
            <a:pPr>
              <a:defRPr sz="1400" b="1">
                <a:solidFill>
                  <a:srgbClr val="4A3B32"/>
                </a:solidFill>
                <a:latin typeface="Calibri"/>
              </a:defRPr>
            </a:pPr>
            <a:r>
              <a:t>Tiempo Estimado: 36.50 Meses (aprox. 3.04 años)</a:t>
            </a:r>
            <a:br/>
            <a:r>
              <a:t>Esfuerzo Requerido: 4,351.42 Personas-Mes (EAF = +65.55%)</a:t>
            </a:r>
          </a:p>
        </p:txBody>
      </p:sp>
      <p:sp>
        <p:nvSpPr>
          <p:cNvPr id="12" name="Rectangle 11"/>
          <p:cNvSpPr/>
          <p:nvPr/>
        </p:nvSpPr>
        <p:spPr>
          <a:xfrm>
            <a:off x="731520" y="6400800"/>
            <a:ext cx="10728655" cy="13716"/>
          </a:xfrm>
          <a:prstGeom prst="rect">
            <a:avLst/>
          </a:prstGeom>
          <a:solidFill>
            <a:srgbClr val="E8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6446520"/>
            <a:ext cx="8229600" cy="274320"/>
          </a:xfrm>
          <a:prstGeom prst="rect">
            <a:avLst/>
          </a:prstGeom>
          <a:noFill/>
        </p:spPr>
        <p:txBody>
          <a:bodyPr wrap="none" lIns="0" tIns="0" rIns="0" bIns="0">
            <a:spAutoFit/>
          </a:bodyPr>
          <a:lstStyle/>
          <a:p>
            <a:pPr>
              <a:defRPr sz="950">
                <a:solidFill>
                  <a:srgbClr val="8A7A6D"/>
                </a:solidFill>
                <a:latin typeface="Calibri"/>
              </a:defRPr>
            </a:pPr>
            <a:r>
              <a:t>Actividad 2.2: Problemas COCOMO Intermedio · Ernesto Fierro · Dr. Gabriel Navarro Salcedo</a:t>
            </a:r>
          </a:p>
        </p:txBody>
      </p:sp>
      <p:sp>
        <p:nvSpPr>
          <p:cNvPr id="14" name="TextBox 13"/>
          <p:cNvSpPr txBox="1"/>
          <p:nvPr/>
        </p:nvSpPr>
        <p:spPr>
          <a:xfrm>
            <a:off x="9144000" y="6446520"/>
            <a:ext cx="2316175" cy="274320"/>
          </a:xfrm>
          <a:prstGeom prst="rect">
            <a:avLst/>
          </a:prstGeom>
          <a:noFill/>
        </p:spPr>
        <p:txBody>
          <a:bodyPr wrap="none" lIns="0" tIns="0" rIns="0" bIns="0">
            <a:spAutoFit/>
          </a:bodyPr>
          <a:lstStyle/>
          <a:p>
            <a:pPr algn="r">
              <a:defRPr sz="950">
                <a:solidFill>
                  <a:srgbClr val="8A7A6D"/>
                </a:solidFill>
                <a:latin typeface="Calibri"/>
              </a:defRPr>
            </a:pPr>
            <a:r>
              <a:t>Diapositiva 6 de 11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274320"/>
          </a:xfrm>
          <a:prstGeom prst="rect">
            <a:avLst/>
          </a:prstGeom>
          <a:noFill/>
        </p:spPr>
        <p:txBody>
          <a:bodyPr wrap="square" lIns="0" tIns="0" rIns="0" bIns="0">
            <a:spAutoFit/>
          </a:bodyPr>
          <a:lstStyle/>
          <a:p>
            <a:pPr>
              <a:defRPr sz="1050" b="1">
                <a:solidFill>
                  <a:srgbClr val="C97567"/>
                </a:solidFill>
                <a:latin typeface="Calibri"/>
              </a:defRPr>
            </a:pPr>
            <a:r>
              <a:t>ACTIVIDAD 2.2 · MODELO COCOMO INTERMEDIO · ADMINISTRACIÓN DE PROYECTOS</a:t>
            </a:r>
          </a:p>
        </p:txBody>
      </p:sp>
      <p:sp>
        <p:nvSpPr>
          <p:cNvPr id="4" name="TextBox 3"/>
          <p:cNvSpPr txBox="1"/>
          <p:nvPr/>
        </p:nvSpPr>
        <p:spPr>
          <a:xfrm>
            <a:off x="731520" y="594360"/>
            <a:ext cx="10728655" cy="594360"/>
          </a:xfrm>
          <a:prstGeom prst="rect">
            <a:avLst/>
          </a:prstGeom>
          <a:noFill/>
        </p:spPr>
        <p:txBody>
          <a:bodyPr wrap="square" lIns="0" tIns="0" rIns="0" bIns="0">
            <a:spAutoFit/>
          </a:bodyPr>
          <a:lstStyle/>
          <a:p>
            <a:pPr>
              <a:defRPr sz="2200" b="1">
                <a:solidFill>
                  <a:srgbClr val="4A3B32"/>
                </a:solidFill>
                <a:latin typeface="Cambria"/>
              </a:defRPr>
            </a:pPr>
            <a:r>
              <a:t>Problema IV — Proyecto Orgánico (20 KLOC) y Costo Total</a:t>
            </a:r>
          </a:p>
        </p:txBody>
      </p:sp>
      <p:sp>
        <p:nvSpPr>
          <p:cNvPr id="5" name="Rectangle 4"/>
          <p:cNvSpPr/>
          <p:nvPr/>
        </p:nvSpPr>
        <p:spPr>
          <a:xfrm>
            <a:off x="731520" y="1207008"/>
            <a:ext cx="10728655" cy="32004"/>
          </a:xfrm>
          <a:prstGeom prst="rect">
            <a:avLst/>
          </a:prstGeom>
          <a:solidFill>
            <a:srgbClr val="C975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5120640" cy="4892040"/>
          </a:xfrm>
          <a:prstGeom prst="roundRect">
            <a:avLst/>
          </a:prstGeom>
          <a:solidFill>
            <a:srgbClr val="FFFDFB"/>
          </a:solidFill>
          <a:ln w="12700">
            <a:solidFill>
              <a:srgbClr val="E8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508760"/>
            <a:ext cx="4663440" cy="4526280"/>
          </a:xfrm>
          <a:prstGeom prst="rect">
            <a:avLst/>
          </a:prstGeom>
          <a:noFill/>
        </p:spPr>
        <p:txBody>
          <a:bodyPr wrap="square">
            <a:spAutoFit/>
          </a:bodyPr>
          <a:lstStyle/>
          <a:p>
            <a:pPr>
              <a:spcAft>
                <a:spcPts val="600"/>
              </a:spcAft>
              <a:defRPr sz="1300" b="1">
                <a:solidFill>
                  <a:srgbClr val="C97567"/>
                </a:solidFill>
                <a:latin typeface="Cambria"/>
              </a:defRPr>
            </a:pPr>
            <a:r>
              <a:t>1. ENUNCIADO OFICIAL (Cátedra Diapositiva 9):</a:t>
            </a:r>
          </a:p>
          <a:p>
            <a:pPr>
              <a:spcAft>
                <a:spcPts val="1000"/>
              </a:spcAft>
              <a:defRPr sz="1150" i="1">
                <a:solidFill>
                  <a:srgbClr val="4A3B32"/>
                </a:solidFill>
                <a:latin typeface="Calibri"/>
              </a:defRPr>
            </a:pPr>
            <a:r>
              <a:t>«Tienes un proyecto de software con un tamaño de 20 KLOC, y es un proyecto orgánico. Quieres saber cuánto costará completar el proyecto, asumiendo que el costo por persona-mes es de $10,000 MXN. Además, tienes las siguientes variables: Confiabilidad: 1, Tamaño base datos: 5, Complejidad: 2, Apremios Run-time: 4, Capacidad analista: 1, Volatilidad memoria virtual: 2, Uso herramientas: 3.»</a:t>
            </a:r>
          </a:p>
          <a:p>
            <a:pPr>
              <a:spcAft>
                <a:spcPts val="400"/>
              </a:spcAft>
              <a:defRPr sz="1300" b="1">
                <a:solidFill>
                  <a:srgbClr val="4A3B32"/>
                </a:solidFill>
                <a:latin typeface="Cambria"/>
              </a:defRPr>
            </a:pPr>
            <a:r>
              <a:t>2. VARIABLES DE PREDICCIÓN IDENTIFICADAS:</a:t>
            </a:r>
          </a:p>
          <a:p>
            <a:pPr>
              <a:spcAft>
                <a:spcPts val="300"/>
              </a:spcAft>
              <a:defRPr sz="1100">
                <a:solidFill>
                  <a:srgbClr val="4A3B32"/>
                </a:solidFill>
                <a:latin typeface="Calibri"/>
              </a:defRPr>
            </a:pPr>
            <a:r>
              <a:t>• RELY (1) [Muy Bajo] = 0.75  |  DATA (5) [Muy Alto] = 1.16</a:t>
            </a:r>
          </a:p>
          <a:p>
            <a:pPr>
              <a:spcAft>
                <a:spcPts val="300"/>
              </a:spcAft>
              <a:defRPr sz="1100">
                <a:solidFill>
                  <a:srgbClr val="4A3B32"/>
                </a:solidFill>
                <a:latin typeface="Calibri"/>
              </a:defRPr>
            </a:pPr>
            <a:r>
              <a:t>• CPLX (2) [Bajo] = 0.85  |  TIME (4) [Alto] = 1.11</a:t>
            </a:r>
          </a:p>
          <a:p>
            <a:pPr>
              <a:spcAft>
                <a:spcPts val="300"/>
              </a:spcAft>
              <a:defRPr sz="1100">
                <a:solidFill>
                  <a:srgbClr val="4A3B32"/>
                </a:solidFill>
                <a:latin typeface="Calibri"/>
              </a:defRPr>
            </a:pPr>
            <a:r>
              <a:t>• ACAP (1) [Muy Bajo] = 1.46  |  VIRT (2) [Bajo] = 0.87</a:t>
            </a:r>
          </a:p>
          <a:p>
            <a:pPr>
              <a:spcAft>
                <a:spcPts val="300"/>
              </a:spcAft>
              <a:defRPr sz="1100">
                <a:solidFill>
                  <a:srgbClr val="4A3B32"/>
                </a:solidFill>
                <a:latin typeface="Calibri"/>
              </a:defRPr>
            </a:pPr>
            <a:r>
              <a:t>• TOOL (3) [Nominal] = 1.00  |  Costo / PM = $10,000.00 MXN</a:t>
            </a:r>
          </a:p>
          <a:p>
            <a:pPr>
              <a:spcBef>
                <a:spcPts val="600"/>
              </a:spcBef>
              <a:defRPr sz="1050" i="1">
                <a:solidFill>
                  <a:srgbClr val="8A7A6D"/>
                </a:solidFill>
                <a:latin typeface="Calibri"/>
              </a:defRPr>
            </a:pPr>
            <a:r>
              <a:t>Compensación de Factores: Aunque ACAP (1.46), DATA (1.16) y TIME (1.11) penalizan, se compensan con RELY (0.75), CPLX (0.85) y VIRT (0.87), dejando un EAF neto moderado de 1.0426 (+4.3%).</a:t>
            </a:r>
          </a:p>
        </p:txBody>
      </p:sp>
      <p:sp>
        <p:nvSpPr>
          <p:cNvPr id="8" name="Rounded Rectangle 7"/>
          <p:cNvSpPr/>
          <p:nvPr/>
        </p:nvSpPr>
        <p:spPr>
          <a:xfrm>
            <a:off x="6080760" y="1371600"/>
            <a:ext cx="5376672" cy="4892040"/>
          </a:xfrm>
          <a:prstGeom prst="roundRect">
            <a:avLst/>
          </a:prstGeom>
          <a:solidFill>
            <a:srgbClr val="FFFDFB"/>
          </a:solidFill>
          <a:ln w="12700">
            <a:solidFill>
              <a:srgbClr val="E8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508760"/>
            <a:ext cx="4919472" cy="3291840"/>
          </a:xfrm>
          <a:prstGeom prst="rect">
            <a:avLst/>
          </a:prstGeom>
          <a:noFill/>
        </p:spPr>
        <p:txBody>
          <a:bodyPr wrap="square">
            <a:spAutoFit/>
          </a:bodyPr>
          <a:lstStyle/>
          <a:p>
            <a:pPr>
              <a:spcAft>
                <a:spcPts val="800"/>
              </a:spcAft>
              <a:defRPr sz="1300" b="1">
                <a:solidFill>
                  <a:srgbClr val="4A3B32"/>
                </a:solidFill>
                <a:latin typeface="Cambria"/>
              </a:defRPr>
            </a:pPr>
            <a:r>
              <a:t>3. MODELADO Y RESOLUCIÓN ALGORÍTMICA:</a:t>
            </a:r>
          </a:p>
          <a:p>
            <a:pPr>
              <a:spcAft>
                <a:spcPts val="500"/>
              </a:spcAft>
              <a:defRPr sz="1100" b="1">
                <a:solidFill>
                  <a:srgbClr val="4A3B32"/>
                </a:solidFill>
                <a:latin typeface="Calibri"/>
              </a:defRPr>
            </a:pPr>
            <a:r>
              <a:t>• Paso 1: Coeficientes Orgánico: </a:t>
            </a:r>
            <a:r>
              <a:rPr b="0">
                <a:solidFill>
                  <a:srgbClr val="C97567"/>
                </a:solidFill>
              </a:rPr>
              <a:t>a = 3.20, b = 1.05 | c = 2.50, d = 0.38</a:t>
            </a:r>
          </a:p>
          <a:p>
            <a:pPr>
              <a:spcAft>
                <a:spcPts val="500"/>
              </a:spcAft>
              <a:defRPr sz="1100" b="1">
                <a:solidFill>
                  <a:srgbClr val="4A3B32"/>
                </a:solidFill>
                <a:latin typeface="Calibri"/>
              </a:defRPr>
            </a:pPr>
            <a:r>
              <a:t>• Paso 2: Esfuerzo Nominal (PM_nom): </a:t>
            </a:r>
            <a:r>
              <a:rPr b="0">
                <a:solidFill>
                  <a:srgbClr val="C97567"/>
                </a:solidFill>
              </a:rPr>
              <a:t>PM_nom = 3.2 · (20)^1.05 = 3.2 · 23.2317 = 74.3415 PM</a:t>
            </a:r>
          </a:p>
          <a:p>
            <a:pPr>
              <a:spcAft>
                <a:spcPts val="500"/>
              </a:spcAft>
              <a:defRPr sz="1100" b="1">
                <a:solidFill>
                  <a:srgbClr val="4A3B32"/>
                </a:solidFill>
                <a:latin typeface="Calibri"/>
              </a:defRPr>
            </a:pPr>
            <a:r>
              <a:t>• Paso 3: Cálculo del EAF: </a:t>
            </a:r>
            <a:r>
              <a:rPr b="0">
                <a:solidFill>
                  <a:srgbClr val="C97567"/>
                </a:solidFill>
              </a:rPr>
              <a:t>EAF = 0.75·1.16·0.85·1.11·1.46·0.87·1.00 = 1.042637 ≈ 1.0426</a:t>
            </a:r>
          </a:p>
          <a:p>
            <a:pPr>
              <a:spcAft>
                <a:spcPts val="500"/>
              </a:spcAft>
              <a:defRPr sz="1100" b="1">
                <a:solidFill>
                  <a:srgbClr val="4A3B32"/>
                </a:solidFill>
                <a:latin typeface="Calibri"/>
              </a:defRPr>
            </a:pPr>
            <a:r>
              <a:t>• Paso 4: Esfuerzo Ajustado (PM_ajustado): </a:t>
            </a:r>
            <a:r>
              <a:rPr b="0">
                <a:solidFill>
                  <a:srgbClr val="C97567"/>
                </a:solidFill>
              </a:rPr>
              <a:t>PM = 74.3415 · 1.042637 = 77.51125 ≈ 77.51 PM</a:t>
            </a:r>
          </a:p>
          <a:p>
            <a:pPr>
              <a:spcAft>
                <a:spcPts val="500"/>
              </a:spcAft>
              <a:defRPr sz="1100" b="1">
                <a:solidFill>
                  <a:srgbClr val="4A3B32"/>
                </a:solidFill>
                <a:latin typeface="Calibri"/>
              </a:defRPr>
            </a:pPr>
            <a:r>
              <a:t>• Paso 5: Respaldo de Tiempo (TDEV): </a:t>
            </a:r>
            <a:r>
              <a:rPr b="0">
                <a:solidFill>
                  <a:srgbClr val="C97567"/>
                </a:solidFill>
              </a:rPr>
              <a:t>TDEV = 2.50 · (77.51125)^0.38 = 2.5 · 5.2235 = 13.06 Meses</a:t>
            </a:r>
          </a:p>
          <a:p>
            <a:pPr>
              <a:spcAft>
                <a:spcPts val="500"/>
              </a:spcAft>
              <a:defRPr sz="1100" b="1">
                <a:solidFill>
                  <a:srgbClr val="4A3B32"/>
                </a:solidFill>
                <a:latin typeface="Calibri"/>
              </a:defRPr>
            </a:pPr>
            <a:r>
              <a:t>• Paso 6: Costo Total Estimado: </a:t>
            </a:r>
            <a:r>
              <a:rPr b="0">
                <a:solidFill>
                  <a:srgbClr val="C97567"/>
                </a:solidFill>
              </a:rPr>
              <a:t>Costo = 77.51125 PM · $10,000 = $775,112.50 MXN</a:t>
            </a:r>
          </a:p>
        </p:txBody>
      </p:sp>
      <p:sp>
        <p:nvSpPr>
          <p:cNvPr id="10" name="Rounded Rectangle 9"/>
          <p:cNvSpPr/>
          <p:nvPr/>
        </p:nvSpPr>
        <p:spPr>
          <a:xfrm>
            <a:off x="6309360" y="4892040"/>
            <a:ext cx="4919472" cy="1188720"/>
          </a:xfrm>
          <a:prstGeom prst="roundRect">
            <a:avLst/>
          </a:prstGeom>
          <a:solidFill>
            <a:srgbClr val="EEF1E9"/>
          </a:solidFill>
          <a:ln w="19050">
            <a:solidFill>
              <a:srgbClr val="7C94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4956048"/>
            <a:ext cx="4663440" cy="1051560"/>
          </a:xfrm>
          <a:prstGeom prst="rect">
            <a:avLst/>
          </a:prstGeom>
          <a:noFill/>
        </p:spPr>
        <p:txBody>
          <a:bodyPr wrap="square">
            <a:spAutoFit/>
          </a:bodyPr>
          <a:lstStyle/>
          <a:p>
            <a:pPr>
              <a:spcAft>
                <a:spcPts val="200"/>
              </a:spcAft>
              <a:defRPr sz="1300" b="1">
                <a:solidFill>
                  <a:srgbClr val="5F7355"/>
                </a:solidFill>
                <a:latin typeface="Cambria"/>
              </a:defRPr>
            </a:pPr>
            <a:r>
              <a:t>✔ RESPUESTA OFICIAL (PRESUPUESTO TOTAL):</a:t>
            </a:r>
          </a:p>
          <a:p>
            <a:pPr>
              <a:defRPr sz="1350" b="1">
                <a:solidFill>
                  <a:srgbClr val="4A3B32"/>
                </a:solidFill>
                <a:latin typeface="Calibri"/>
              </a:defRPr>
            </a:pPr>
            <a:r>
              <a:t>Costo Total: $775,112.50 MXN ($775,112.00 MXN sin centavos)</a:t>
            </a:r>
            <a:br/>
            <a:r>
              <a:t>TDEV Respaldado: 13.06 Meses | Esfuerzo: 77.51 Personas-Mes</a:t>
            </a:r>
          </a:p>
        </p:txBody>
      </p:sp>
      <p:sp>
        <p:nvSpPr>
          <p:cNvPr id="12" name="Rectangle 11"/>
          <p:cNvSpPr/>
          <p:nvPr/>
        </p:nvSpPr>
        <p:spPr>
          <a:xfrm>
            <a:off x="731520" y="6400800"/>
            <a:ext cx="10728655" cy="13716"/>
          </a:xfrm>
          <a:prstGeom prst="rect">
            <a:avLst/>
          </a:prstGeom>
          <a:solidFill>
            <a:srgbClr val="E8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6446520"/>
            <a:ext cx="8229600" cy="274320"/>
          </a:xfrm>
          <a:prstGeom prst="rect">
            <a:avLst/>
          </a:prstGeom>
          <a:noFill/>
        </p:spPr>
        <p:txBody>
          <a:bodyPr wrap="none" lIns="0" tIns="0" rIns="0" bIns="0">
            <a:spAutoFit/>
          </a:bodyPr>
          <a:lstStyle/>
          <a:p>
            <a:pPr>
              <a:defRPr sz="950">
                <a:solidFill>
                  <a:srgbClr val="8A7A6D"/>
                </a:solidFill>
                <a:latin typeface="Calibri"/>
              </a:defRPr>
            </a:pPr>
            <a:r>
              <a:t>Actividad 2.2: Problemas COCOMO Intermedio · Ernesto Fierro · Dr. Gabriel Navarro Salcedo</a:t>
            </a:r>
          </a:p>
        </p:txBody>
      </p:sp>
      <p:sp>
        <p:nvSpPr>
          <p:cNvPr id="14" name="TextBox 13"/>
          <p:cNvSpPr txBox="1"/>
          <p:nvPr/>
        </p:nvSpPr>
        <p:spPr>
          <a:xfrm>
            <a:off x="9144000" y="6446520"/>
            <a:ext cx="2316175" cy="274320"/>
          </a:xfrm>
          <a:prstGeom prst="rect">
            <a:avLst/>
          </a:prstGeom>
          <a:noFill/>
        </p:spPr>
        <p:txBody>
          <a:bodyPr wrap="none" lIns="0" tIns="0" rIns="0" bIns="0">
            <a:spAutoFit/>
          </a:bodyPr>
          <a:lstStyle/>
          <a:p>
            <a:pPr algn="r">
              <a:defRPr sz="950">
                <a:solidFill>
                  <a:srgbClr val="8A7A6D"/>
                </a:solidFill>
                <a:latin typeface="Calibri"/>
              </a:defRPr>
            </a:pPr>
            <a:r>
              <a:t>Diapositiva 7 de 11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274320"/>
          </a:xfrm>
          <a:prstGeom prst="rect">
            <a:avLst/>
          </a:prstGeom>
          <a:noFill/>
        </p:spPr>
        <p:txBody>
          <a:bodyPr wrap="square" lIns="0" tIns="0" rIns="0" bIns="0">
            <a:spAutoFit/>
          </a:bodyPr>
          <a:lstStyle/>
          <a:p>
            <a:pPr>
              <a:defRPr sz="1050" b="1">
                <a:solidFill>
                  <a:srgbClr val="C97567"/>
                </a:solidFill>
                <a:latin typeface="Calibri"/>
              </a:defRPr>
            </a:pPr>
            <a:r>
              <a:t>ACTIVIDAD 2.2 · MODELO COCOMO INTERMEDIO · ADMINISTRACIÓN DE PROYECTOS</a:t>
            </a:r>
          </a:p>
        </p:txBody>
      </p:sp>
      <p:sp>
        <p:nvSpPr>
          <p:cNvPr id="4" name="TextBox 3"/>
          <p:cNvSpPr txBox="1"/>
          <p:nvPr/>
        </p:nvSpPr>
        <p:spPr>
          <a:xfrm>
            <a:off x="731520" y="594360"/>
            <a:ext cx="10728655" cy="594360"/>
          </a:xfrm>
          <a:prstGeom prst="rect">
            <a:avLst/>
          </a:prstGeom>
          <a:noFill/>
        </p:spPr>
        <p:txBody>
          <a:bodyPr wrap="square" lIns="0" tIns="0" rIns="0" bIns="0">
            <a:spAutoFit/>
          </a:bodyPr>
          <a:lstStyle/>
          <a:p>
            <a:pPr>
              <a:defRPr sz="2200" b="1">
                <a:solidFill>
                  <a:srgbClr val="4A3B32"/>
                </a:solidFill>
                <a:latin typeface="Cambria"/>
              </a:defRPr>
            </a:pPr>
            <a:r>
              <a:t>Problema V — Proyecto Empotrado de Gran Escala (311 KLOC)</a:t>
            </a:r>
          </a:p>
        </p:txBody>
      </p:sp>
      <p:sp>
        <p:nvSpPr>
          <p:cNvPr id="5" name="Rectangle 4"/>
          <p:cNvSpPr/>
          <p:nvPr/>
        </p:nvSpPr>
        <p:spPr>
          <a:xfrm>
            <a:off x="731520" y="1207008"/>
            <a:ext cx="10728655" cy="32004"/>
          </a:xfrm>
          <a:prstGeom prst="rect">
            <a:avLst/>
          </a:prstGeom>
          <a:solidFill>
            <a:srgbClr val="C975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5120640" cy="4892040"/>
          </a:xfrm>
          <a:prstGeom prst="roundRect">
            <a:avLst/>
          </a:prstGeom>
          <a:solidFill>
            <a:srgbClr val="FFFDFB"/>
          </a:solidFill>
          <a:ln w="12700">
            <a:solidFill>
              <a:srgbClr val="E8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508760"/>
            <a:ext cx="4663440" cy="4526280"/>
          </a:xfrm>
          <a:prstGeom prst="rect">
            <a:avLst/>
          </a:prstGeom>
          <a:noFill/>
        </p:spPr>
        <p:txBody>
          <a:bodyPr wrap="square">
            <a:spAutoFit/>
          </a:bodyPr>
          <a:lstStyle/>
          <a:p>
            <a:pPr>
              <a:spcAft>
                <a:spcPts val="600"/>
              </a:spcAft>
              <a:defRPr sz="1300" b="1">
                <a:solidFill>
                  <a:srgbClr val="C97567"/>
                </a:solidFill>
                <a:latin typeface="Cambria"/>
              </a:defRPr>
            </a:pPr>
            <a:r>
              <a:t>1. ENUNCIADO OFICIAL (Cátedra Diapositiva 10):</a:t>
            </a:r>
          </a:p>
          <a:p>
            <a:pPr>
              <a:spcAft>
                <a:spcPts val="1000"/>
              </a:spcAft>
              <a:defRPr sz="1150" i="1">
                <a:solidFill>
                  <a:srgbClr val="4A3B32"/>
                </a:solidFill>
                <a:latin typeface="Calibri"/>
              </a:defRPr>
            </a:pPr>
            <a:r>
              <a:t>«Tienes un proyecto de software con un tamaño de 311 KLOC, y es un proyecto empotrado. Quieres saber cuánto tiempo y el costo a la hora de completar el proyecto, asumiendo que el costo por persona-mes es de $25,000 MXN. Además, tienes las siguientes variables: Confiabilidad: 1, Tamaño base datos: 5, Complejidad: 2, Apremios Run-time: 4, Capacidad analista: 1, Volatilidad memoria virtual: 2, Uso herramientas: 3, Horario requerido: 4.»</a:t>
            </a:r>
          </a:p>
          <a:p>
            <a:pPr>
              <a:spcAft>
                <a:spcPts val="400"/>
              </a:spcAft>
              <a:defRPr sz="1300" b="1">
                <a:solidFill>
                  <a:srgbClr val="4A3B32"/>
                </a:solidFill>
                <a:latin typeface="Cambria"/>
              </a:defRPr>
            </a:pPr>
            <a:r>
              <a:t>2. VARIABLES DE PREDICCIÓN IDENTIFICADAS:</a:t>
            </a:r>
          </a:p>
          <a:p>
            <a:pPr>
              <a:spcAft>
                <a:spcPts val="300"/>
              </a:spcAft>
              <a:defRPr sz="1150" b="1">
                <a:solidFill>
                  <a:srgbClr val="4A3B32"/>
                </a:solidFill>
                <a:latin typeface="Calibri"/>
              </a:defRPr>
            </a:pPr>
            <a:r>
              <a:t>• Mismos 7 factores del Problema IV: </a:t>
            </a:r>
            <a:r>
              <a:rPr b="0">
                <a:solidFill>
                  <a:srgbClr val="C97567"/>
                </a:solidFill>
              </a:rPr>
              <a:t>EAF_base = 1.042637</a:t>
            </a:r>
          </a:p>
          <a:p>
            <a:pPr>
              <a:spcAft>
                <a:spcPts val="300"/>
              </a:spcAft>
              <a:defRPr sz="1150" b="1">
                <a:solidFill>
                  <a:srgbClr val="4A3B32"/>
                </a:solidFill>
                <a:latin typeface="Calibri"/>
              </a:defRPr>
            </a:pPr>
            <a:r>
              <a:t>• Horario Requerido / Restricciones (SCED): </a:t>
            </a:r>
            <a:r>
              <a:rPr b="0">
                <a:solidFill>
                  <a:srgbClr val="C97567"/>
                </a:solidFill>
              </a:rPr>
              <a:t>Posición (4) [Alto] = 1.04</a:t>
            </a:r>
          </a:p>
          <a:p>
            <a:pPr>
              <a:spcAft>
                <a:spcPts val="300"/>
              </a:spcAft>
              <a:defRPr sz="1150" b="1">
                <a:solidFill>
                  <a:srgbClr val="4A3B32"/>
                </a:solidFill>
                <a:latin typeface="Calibri"/>
              </a:defRPr>
            </a:pPr>
            <a:r>
              <a:t>• Tarifa por Persona-Mes: </a:t>
            </a:r>
            <a:r>
              <a:rPr b="0">
                <a:solidFill>
                  <a:srgbClr val="C97567"/>
                </a:solidFill>
              </a:rPr>
              <a:t>$25,000.00 MXN / PM</a:t>
            </a:r>
          </a:p>
          <a:p>
            <a:pPr>
              <a:spcBef>
                <a:spcPts val="600"/>
              </a:spcBef>
              <a:defRPr sz="1050" i="1">
                <a:solidFill>
                  <a:srgbClr val="8A7A6D"/>
                </a:solidFill>
                <a:latin typeface="Calibri"/>
              </a:defRPr>
            </a:pPr>
            <a:r>
              <a:t>Impacto de SCED: La compresión de cronograma (SCED=1.04) penaliza con un +4% adicional, elevando el EAF global a 1.0843.</a:t>
            </a:r>
          </a:p>
        </p:txBody>
      </p:sp>
      <p:sp>
        <p:nvSpPr>
          <p:cNvPr id="8" name="Rounded Rectangle 7"/>
          <p:cNvSpPr/>
          <p:nvPr/>
        </p:nvSpPr>
        <p:spPr>
          <a:xfrm>
            <a:off x="6080760" y="1371600"/>
            <a:ext cx="5376672" cy="4892040"/>
          </a:xfrm>
          <a:prstGeom prst="roundRect">
            <a:avLst/>
          </a:prstGeom>
          <a:solidFill>
            <a:srgbClr val="FFFDFB"/>
          </a:solidFill>
          <a:ln w="12700">
            <a:solidFill>
              <a:srgbClr val="E8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508760"/>
            <a:ext cx="4919472" cy="3291840"/>
          </a:xfrm>
          <a:prstGeom prst="rect">
            <a:avLst/>
          </a:prstGeom>
          <a:noFill/>
        </p:spPr>
        <p:txBody>
          <a:bodyPr wrap="square">
            <a:spAutoFit/>
          </a:bodyPr>
          <a:lstStyle/>
          <a:p>
            <a:pPr>
              <a:spcAft>
                <a:spcPts val="800"/>
              </a:spcAft>
              <a:defRPr sz="1300" b="1">
                <a:solidFill>
                  <a:srgbClr val="4A3B32"/>
                </a:solidFill>
                <a:latin typeface="Cambria"/>
              </a:defRPr>
            </a:pPr>
            <a:r>
              <a:t>3. MODELADO Y RESOLUCIÓN ALGORÍTMICA:</a:t>
            </a:r>
          </a:p>
          <a:p>
            <a:pPr>
              <a:spcAft>
                <a:spcPts val="500"/>
              </a:spcAft>
              <a:defRPr sz="1100" b="1">
                <a:solidFill>
                  <a:srgbClr val="4A3B32"/>
                </a:solidFill>
                <a:latin typeface="Calibri"/>
              </a:defRPr>
            </a:pPr>
            <a:r>
              <a:t>• Paso 1: Coeficientes Empotrado: </a:t>
            </a:r>
            <a:r>
              <a:rPr b="0">
                <a:solidFill>
                  <a:srgbClr val="C97567"/>
                </a:solidFill>
              </a:rPr>
              <a:t>a = 2.80, b = 1.20 | c = 2.50, d = 0.32</a:t>
            </a:r>
          </a:p>
          <a:p>
            <a:pPr>
              <a:spcAft>
                <a:spcPts val="500"/>
              </a:spcAft>
              <a:defRPr sz="1100" b="1">
                <a:solidFill>
                  <a:srgbClr val="4A3B32"/>
                </a:solidFill>
                <a:latin typeface="Calibri"/>
              </a:defRPr>
            </a:pPr>
            <a:r>
              <a:t>• Paso 2: Esfuerzo Nominal (PM_nom): </a:t>
            </a:r>
            <a:r>
              <a:rPr b="0">
                <a:solidFill>
                  <a:srgbClr val="C97567"/>
                </a:solidFill>
              </a:rPr>
              <a:t>PM_nom = 2.8 · (311)^1.20 = 2.8 · 980.1949 = 2,744.5459 PM</a:t>
            </a:r>
          </a:p>
          <a:p>
            <a:pPr>
              <a:spcAft>
                <a:spcPts val="500"/>
              </a:spcAft>
              <a:defRPr sz="1100" b="1">
                <a:solidFill>
                  <a:srgbClr val="4A3B32"/>
                </a:solidFill>
                <a:latin typeface="Calibri"/>
              </a:defRPr>
            </a:pPr>
            <a:r>
              <a:t>• Paso 3: Cálculo del EAF: </a:t>
            </a:r>
            <a:r>
              <a:rPr b="0">
                <a:solidFill>
                  <a:srgbClr val="C97567"/>
                </a:solidFill>
              </a:rPr>
              <a:t>EAF = 1.042637 · 1.04 = 1.084343 ≈ 1.0843 (+8.43%)</a:t>
            </a:r>
          </a:p>
          <a:p>
            <a:pPr>
              <a:spcAft>
                <a:spcPts val="500"/>
              </a:spcAft>
              <a:defRPr sz="1100" b="1">
                <a:solidFill>
                  <a:srgbClr val="4A3B32"/>
                </a:solidFill>
                <a:latin typeface="Calibri"/>
              </a:defRPr>
            </a:pPr>
            <a:r>
              <a:t>• Paso 4: Esfuerzo Ajustado (PM_ajustado): </a:t>
            </a:r>
            <a:r>
              <a:rPr b="0">
                <a:solidFill>
                  <a:srgbClr val="C97567"/>
                </a:solidFill>
              </a:rPr>
              <a:t>PM = 2,744.5459 · 1.084343 = 2,976.0286 ≈ 2,976.03 PM</a:t>
            </a:r>
          </a:p>
          <a:p>
            <a:pPr>
              <a:spcAft>
                <a:spcPts val="500"/>
              </a:spcAft>
              <a:defRPr sz="1100" b="1">
                <a:solidFill>
                  <a:srgbClr val="4A3B32"/>
                </a:solidFill>
                <a:latin typeface="Calibri"/>
              </a:defRPr>
            </a:pPr>
            <a:r>
              <a:t>• Paso 5: Tiempo de Desarrollo (TDEV): </a:t>
            </a:r>
            <a:r>
              <a:rPr b="0">
                <a:solidFill>
                  <a:srgbClr val="C97567"/>
                </a:solidFill>
              </a:rPr>
              <a:t>TDEV = 2.50 · (2,976.0286)^0.32 = 2.5 · 12.9289 = 32.32 Meses</a:t>
            </a:r>
          </a:p>
          <a:p>
            <a:pPr>
              <a:spcAft>
                <a:spcPts val="500"/>
              </a:spcAft>
              <a:defRPr sz="1100" b="1">
                <a:solidFill>
                  <a:srgbClr val="4A3B32"/>
                </a:solidFill>
                <a:latin typeface="Calibri"/>
              </a:defRPr>
            </a:pPr>
            <a:r>
              <a:t>• Paso 6: Costo Económico Total: </a:t>
            </a:r>
            <a:r>
              <a:rPr b="0">
                <a:solidFill>
                  <a:srgbClr val="C97567"/>
                </a:solidFill>
              </a:rPr>
              <a:t>Costo = 2,976.0286 PM · $25,000 = $74,400,715.42 MXN</a:t>
            </a:r>
          </a:p>
        </p:txBody>
      </p:sp>
      <p:sp>
        <p:nvSpPr>
          <p:cNvPr id="10" name="Rounded Rectangle 9"/>
          <p:cNvSpPr/>
          <p:nvPr/>
        </p:nvSpPr>
        <p:spPr>
          <a:xfrm>
            <a:off x="6309360" y="4892040"/>
            <a:ext cx="4919472" cy="1188720"/>
          </a:xfrm>
          <a:prstGeom prst="roundRect">
            <a:avLst/>
          </a:prstGeom>
          <a:solidFill>
            <a:srgbClr val="EEF1E9"/>
          </a:solidFill>
          <a:ln w="19050">
            <a:solidFill>
              <a:srgbClr val="7C94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4956048"/>
            <a:ext cx="4663440" cy="1051560"/>
          </a:xfrm>
          <a:prstGeom prst="rect">
            <a:avLst/>
          </a:prstGeom>
          <a:noFill/>
        </p:spPr>
        <p:txBody>
          <a:bodyPr wrap="square">
            <a:spAutoFit/>
          </a:bodyPr>
          <a:lstStyle/>
          <a:p>
            <a:pPr>
              <a:spcAft>
                <a:spcPts val="200"/>
              </a:spcAft>
              <a:defRPr sz="1300" b="1">
                <a:solidFill>
                  <a:srgbClr val="5F7355"/>
                </a:solidFill>
                <a:latin typeface="Cambria"/>
              </a:defRPr>
            </a:pPr>
            <a:r>
              <a:t>✔ RESPUESTAS OFICIALES (TIEMPO Y COSTO TOTAL):</a:t>
            </a:r>
          </a:p>
          <a:p>
            <a:pPr>
              <a:defRPr sz="1350" b="1">
                <a:solidFill>
                  <a:srgbClr val="4A3B32"/>
                </a:solidFill>
                <a:latin typeface="Calibri"/>
              </a:defRPr>
            </a:pPr>
            <a:r>
              <a:t>Tiempo Estimado: 32.32 Meses (~2.69 años)</a:t>
            </a:r>
            <a:br/>
            <a:r>
              <a:t>Costo Total: $74,400,715.42 MXN ($74,400,715.00 MXN sin centavos)</a:t>
            </a:r>
          </a:p>
        </p:txBody>
      </p:sp>
      <p:sp>
        <p:nvSpPr>
          <p:cNvPr id="12" name="Rectangle 11"/>
          <p:cNvSpPr/>
          <p:nvPr/>
        </p:nvSpPr>
        <p:spPr>
          <a:xfrm>
            <a:off x="731520" y="6400800"/>
            <a:ext cx="10728655" cy="13716"/>
          </a:xfrm>
          <a:prstGeom prst="rect">
            <a:avLst/>
          </a:prstGeom>
          <a:solidFill>
            <a:srgbClr val="E8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6446520"/>
            <a:ext cx="8229600" cy="274320"/>
          </a:xfrm>
          <a:prstGeom prst="rect">
            <a:avLst/>
          </a:prstGeom>
          <a:noFill/>
        </p:spPr>
        <p:txBody>
          <a:bodyPr wrap="none" lIns="0" tIns="0" rIns="0" bIns="0">
            <a:spAutoFit/>
          </a:bodyPr>
          <a:lstStyle/>
          <a:p>
            <a:pPr>
              <a:defRPr sz="950">
                <a:solidFill>
                  <a:srgbClr val="8A7A6D"/>
                </a:solidFill>
                <a:latin typeface="Calibri"/>
              </a:defRPr>
            </a:pPr>
            <a:r>
              <a:t>Actividad 2.2: Problemas COCOMO Intermedio · Ernesto Fierro · Dr. Gabriel Navarro Salcedo</a:t>
            </a:r>
          </a:p>
        </p:txBody>
      </p:sp>
      <p:sp>
        <p:nvSpPr>
          <p:cNvPr id="14" name="TextBox 13"/>
          <p:cNvSpPr txBox="1"/>
          <p:nvPr/>
        </p:nvSpPr>
        <p:spPr>
          <a:xfrm>
            <a:off x="9144000" y="6446520"/>
            <a:ext cx="2316175" cy="274320"/>
          </a:xfrm>
          <a:prstGeom prst="rect">
            <a:avLst/>
          </a:prstGeom>
          <a:noFill/>
        </p:spPr>
        <p:txBody>
          <a:bodyPr wrap="none" lIns="0" tIns="0" rIns="0" bIns="0">
            <a:spAutoFit/>
          </a:bodyPr>
          <a:lstStyle/>
          <a:p>
            <a:pPr algn="r">
              <a:defRPr sz="950">
                <a:solidFill>
                  <a:srgbClr val="8A7A6D"/>
                </a:solidFill>
                <a:latin typeface="Calibri"/>
              </a:defRPr>
            </a:pPr>
            <a:r>
              <a:t>Diapositiva 8 de 11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274320"/>
          </a:xfrm>
          <a:prstGeom prst="rect">
            <a:avLst/>
          </a:prstGeom>
          <a:noFill/>
        </p:spPr>
        <p:txBody>
          <a:bodyPr wrap="square" lIns="0" tIns="0" rIns="0" bIns="0">
            <a:spAutoFit/>
          </a:bodyPr>
          <a:lstStyle/>
          <a:p>
            <a:pPr>
              <a:defRPr sz="1050" b="1">
                <a:solidFill>
                  <a:srgbClr val="C97567"/>
                </a:solidFill>
                <a:latin typeface="Calibri"/>
              </a:defRPr>
            </a:pPr>
            <a:r>
              <a:t>ACTIVIDAD 2.2 · MODELO COCOMO INTERMEDIO · ADMINISTRACIÓN DE PROYECTOS</a:t>
            </a:r>
          </a:p>
        </p:txBody>
      </p:sp>
      <p:sp>
        <p:nvSpPr>
          <p:cNvPr id="4" name="TextBox 3"/>
          <p:cNvSpPr txBox="1"/>
          <p:nvPr/>
        </p:nvSpPr>
        <p:spPr>
          <a:xfrm>
            <a:off x="731520" y="594360"/>
            <a:ext cx="10728655" cy="594360"/>
          </a:xfrm>
          <a:prstGeom prst="rect">
            <a:avLst/>
          </a:prstGeom>
          <a:noFill/>
        </p:spPr>
        <p:txBody>
          <a:bodyPr wrap="square" lIns="0" tIns="0" rIns="0" bIns="0">
            <a:spAutoFit/>
          </a:bodyPr>
          <a:lstStyle/>
          <a:p>
            <a:pPr>
              <a:defRPr sz="2200" b="1">
                <a:solidFill>
                  <a:srgbClr val="4A3B32"/>
                </a:solidFill>
                <a:latin typeface="Cambria"/>
              </a:defRPr>
            </a:pPr>
            <a:r>
              <a:t>Matriz Consolidada de Resultados (Problemas I al V)</a:t>
            </a:r>
          </a:p>
        </p:txBody>
      </p:sp>
      <p:sp>
        <p:nvSpPr>
          <p:cNvPr id="5" name="Rectangle 4"/>
          <p:cNvSpPr/>
          <p:nvPr/>
        </p:nvSpPr>
        <p:spPr>
          <a:xfrm>
            <a:off x="731520" y="1207008"/>
            <a:ext cx="10728655" cy="32004"/>
          </a:xfrm>
          <a:prstGeom prst="rect">
            <a:avLst/>
          </a:prstGeom>
          <a:solidFill>
            <a:srgbClr val="C975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731520" y="1371600"/>
          <a:ext cx="10728655" cy="3931920"/>
        </p:xfrm>
        <a:graphic>
          <a:graphicData uri="http://schemas.openxmlformats.org/drawingml/2006/table">
            <a:tbl>
              <a:tblPr firstRow="1" bandRow="1">
                <a:tableStyleId>{5C22544A-7EE6-4342-B048-85BDC9FD1C3A}</a:tableStyleId>
              </a:tblPr>
              <a:tblGrid>
                <a:gridCol w="1691640"/>
                <a:gridCol w="1508760"/>
                <a:gridCol w="1051560"/>
                <a:gridCol w="1325880"/>
                <a:gridCol w="1051560"/>
                <a:gridCol w="1325880"/>
                <a:gridCol w="1234440"/>
                <a:gridCol w="1538935"/>
              </a:tblGrid>
              <a:tr h="655320">
                <a:tc>
                  <a:txBody>
                    <a:bodyPr/>
                    <a:lstStyle/>
                    <a:p>
                      <a:pPr algn="ctr">
                        <a:defRPr sz="1100" b="1">
                          <a:solidFill>
                            <a:srgbClr val="FFFFFF"/>
                          </a:solidFill>
                          <a:latin typeface="Calibri"/>
                        </a:defRPr>
                      </a:pPr>
                      <a:r>
                        <a:t>Problema</a:t>
                      </a:r>
                    </a:p>
                  </a:txBody>
                  <a:tcPr>
                    <a:solidFill>
                      <a:srgbClr val="4A3B32"/>
                    </a:solidFill>
                  </a:tcPr>
                </a:tc>
                <a:tc>
                  <a:txBody>
                    <a:bodyPr/>
                    <a:lstStyle/>
                    <a:p>
                      <a:pPr algn="ctr">
                        <a:defRPr sz="1100" b="1">
                          <a:solidFill>
                            <a:srgbClr val="FFFFFF"/>
                          </a:solidFill>
                          <a:latin typeface="Calibri"/>
                        </a:defRPr>
                      </a:pPr>
                      <a:r>
                        <a:t>Modo</a:t>
                      </a:r>
                    </a:p>
                  </a:txBody>
                  <a:tcPr>
                    <a:solidFill>
                      <a:srgbClr val="4A3B32"/>
                    </a:solidFill>
                  </a:tcPr>
                </a:tc>
                <a:tc>
                  <a:txBody>
                    <a:bodyPr/>
                    <a:lstStyle/>
                    <a:p>
                      <a:pPr algn="ctr">
                        <a:defRPr sz="1100" b="1">
                          <a:solidFill>
                            <a:srgbClr val="FFFFFF"/>
                          </a:solidFill>
                          <a:latin typeface="Calibri"/>
                        </a:defRPr>
                      </a:pPr>
                      <a:r>
                        <a:t>KLOC</a:t>
                      </a:r>
                    </a:p>
                  </a:txBody>
                  <a:tcPr>
                    <a:solidFill>
                      <a:srgbClr val="4A3B32"/>
                    </a:solidFill>
                  </a:tcPr>
                </a:tc>
                <a:tc>
                  <a:txBody>
                    <a:bodyPr/>
                    <a:lstStyle/>
                    <a:p>
                      <a:pPr algn="ctr">
                        <a:defRPr sz="1100" b="1">
                          <a:solidFill>
                            <a:srgbClr val="FFFFFF"/>
                          </a:solidFill>
                          <a:latin typeface="Calibri"/>
                        </a:defRPr>
                      </a:pPr>
                      <a:r>
                        <a:t>PM Nominal</a:t>
                      </a:r>
                    </a:p>
                  </a:txBody>
                  <a:tcPr>
                    <a:solidFill>
                      <a:srgbClr val="4A3B32"/>
                    </a:solidFill>
                  </a:tcPr>
                </a:tc>
                <a:tc>
                  <a:txBody>
                    <a:bodyPr/>
                    <a:lstStyle/>
                    <a:p>
                      <a:pPr algn="ctr">
                        <a:defRPr sz="1100" b="1">
                          <a:solidFill>
                            <a:srgbClr val="FFFFFF"/>
                          </a:solidFill>
                          <a:latin typeface="Calibri"/>
                        </a:defRPr>
                      </a:pPr>
                      <a:r>
                        <a:t>Factor EAF</a:t>
                      </a:r>
                    </a:p>
                  </a:txBody>
                  <a:tcPr>
                    <a:solidFill>
                      <a:srgbClr val="4A3B32"/>
                    </a:solidFill>
                  </a:tcPr>
                </a:tc>
                <a:tc>
                  <a:txBody>
                    <a:bodyPr/>
                    <a:lstStyle/>
                    <a:p>
                      <a:pPr algn="ctr">
                        <a:defRPr sz="1100" b="1">
                          <a:solidFill>
                            <a:srgbClr val="FFFFFF"/>
                          </a:solidFill>
                          <a:latin typeface="Calibri"/>
                        </a:defRPr>
                      </a:pPr>
                      <a:r>
                        <a:t>PM Ajustado</a:t>
                      </a:r>
                    </a:p>
                  </a:txBody>
                  <a:tcPr>
                    <a:solidFill>
                      <a:srgbClr val="4A3B32"/>
                    </a:solidFill>
                  </a:tcPr>
                </a:tc>
                <a:tc>
                  <a:txBody>
                    <a:bodyPr/>
                    <a:lstStyle/>
                    <a:p>
                      <a:pPr algn="ctr">
                        <a:defRPr sz="1100" b="1">
                          <a:solidFill>
                            <a:srgbClr val="FFFFFF"/>
                          </a:solidFill>
                          <a:latin typeface="Calibri"/>
                        </a:defRPr>
                      </a:pPr>
                      <a:r>
                        <a:t>TDEV (Meses)</a:t>
                      </a:r>
                    </a:p>
                  </a:txBody>
                  <a:tcPr>
                    <a:solidFill>
                      <a:srgbClr val="4A3B32"/>
                    </a:solidFill>
                  </a:tcPr>
                </a:tc>
                <a:tc>
                  <a:txBody>
                    <a:bodyPr/>
                    <a:lstStyle/>
                    <a:p>
                      <a:pPr algn="ctr">
                        <a:defRPr sz="1100" b="1">
                          <a:solidFill>
                            <a:srgbClr val="FFFFFF"/>
                          </a:solidFill>
                          <a:latin typeface="Calibri"/>
                        </a:defRPr>
                      </a:pPr>
                      <a:r>
                        <a:t>Costo Total (MXN)</a:t>
                      </a:r>
                    </a:p>
                  </a:txBody>
                  <a:tcPr>
                    <a:solidFill>
                      <a:srgbClr val="4A3B32"/>
                    </a:solidFill>
                  </a:tcPr>
                </a:tc>
              </a:tr>
              <a:tr h="655320">
                <a:tc>
                  <a:txBody>
                    <a:bodyPr/>
                    <a:lstStyle/>
                    <a:p>
                      <a:pPr algn="l">
                        <a:defRPr sz="1000">
                          <a:solidFill>
                            <a:srgbClr val="4A3B32"/>
                          </a:solidFill>
                          <a:latin typeface="Calibri"/>
                        </a:defRPr>
                      </a:pPr>
                      <a:r>
                        <a:t>Problema I (Ejemplo)</a:t>
                      </a:r>
                    </a:p>
                  </a:txBody>
                  <a:tcPr>
                    <a:solidFill>
                      <a:srgbClr val="F7F2EE"/>
                    </a:solidFill>
                  </a:tcPr>
                </a:tc>
                <a:tc>
                  <a:txBody>
                    <a:bodyPr/>
                    <a:lstStyle/>
                    <a:p>
                      <a:pPr algn="l">
                        <a:defRPr sz="1000">
                          <a:solidFill>
                            <a:srgbClr val="4A3B32"/>
                          </a:solidFill>
                          <a:latin typeface="Calibri"/>
                        </a:defRPr>
                      </a:pPr>
                      <a:r>
                        <a:t>Semiacoplado</a:t>
                      </a:r>
                    </a:p>
                  </a:txBody>
                  <a:tcPr>
                    <a:solidFill>
                      <a:srgbClr val="F7F2EE"/>
                    </a:solidFill>
                  </a:tcPr>
                </a:tc>
                <a:tc>
                  <a:txBody>
                    <a:bodyPr/>
                    <a:lstStyle/>
                    <a:p>
                      <a:pPr algn="ctr">
                        <a:defRPr sz="1000">
                          <a:solidFill>
                            <a:srgbClr val="4A3B32"/>
                          </a:solidFill>
                          <a:latin typeface="Calibri"/>
                        </a:defRPr>
                      </a:pPr>
                      <a:r>
                        <a:t>50.0</a:t>
                      </a:r>
                    </a:p>
                  </a:txBody>
                  <a:tcPr>
                    <a:solidFill>
                      <a:srgbClr val="F7F2EE"/>
                    </a:solidFill>
                  </a:tcPr>
                </a:tc>
                <a:tc>
                  <a:txBody>
                    <a:bodyPr/>
                    <a:lstStyle/>
                    <a:p>
                      <a:pPr algn="ctr">
                        <a:defRPr sz="1000">
                          <a:solidFill>
                            <a:srgbClr val="4A3B32"/>
                          </a:solidFill>
                          <a:latin typeface="Calibri"/>
                        </a:defRPr>
                      </a:pPr>
                      <a:r>
                        <a:t>239.87 PM</a:t>
                      </a:r>
                    </a:p>
                  </a:txBody>
                  <a:tcPr>
                    <a:solidFill>
                      <a:srgbClr val="F7F2EE"/>
                    </a:solidFill>
                  </a:tcPr>
                </a:tc>
                <a:tc>
                  <a:txBody>
                    <a:bodyPr/>
                    <a:lstStyle/>
                    <a:p>
                      <a:pPr algn="ctr">
                        <a:defRPr sz="1000">
                          <a:solidFill>
                            <a:srgbClr val="4A3B32"/>
                          </a:solidFill>
                          <a:latin typeface="Calibri"/>
                        </a:defRPr>
                      </a:pPr>
                      <a:r>
                        <a:t>1.1500</a:t>
                      </a:r>
                    </a:p>
                  </a:txBody>
                  <a:tcPr>
                    <a:solidFill>
                      <a:srgbClr val="F7F2EE"/>
                    </a:solidFill>
                  </a:tcPr>
                </a:tc>
                <a:tc>
                  <a:txBody>
                    <a:bodyPr/>
                    <a:lstStyle/>
                    <a:p>
                      <a:pPr algn="ctr">
                        <a:defRPr sz="1050" b="1">
                          <a:solidFill>
                            <a:srgbClr val="1B5E20"/>
                          </a:solidFill>
                          <a:latin typeface="Calibri"/>
                        </a:defRPr>
                      </a:pPr>
                      <a:r>
                        <a:t>275.85 PM</a:t>
                      </a:r>
                    </a:p>
                  </a:txBody>
                  <a:tcPr>
                    <a:solidFill>
                      <a:srgbClr val="DCEEDE"/>
                    </a:solidFill>
                  </a:tcPr>
                </a:tc>
                <a:tc>
                  <a:txBody>
                    <a:bodyPr/>
                    <a:lstStyle/>
                    <a:p>
                      <a:pPr algn="ctr">
                        <a:defRPr sz="1000">
                          <a:solidFill>
                            <a:srgbClr val="4A3B32"/>
                          </a:solidFill>
                          <a:latin typeface="Calibri"/>
                        </a:defRPr>
                      </a:pPr>
                      <a:r>
                        <a:t>17.87 Meses</a:t>
                      </a:r>
                    </a:p>
                  </a:txBody>
                  <a:tcPr>
                    <a:solidFill>
                      <a:srgbClr val="F7F2EE"/>
                    </a:solidFill>
                  </a:tcPr>
                </a:tc>
                <a:tc>
                  <a:txBody>
                    <a:bodyPr/>
                    <a:lstStyle/>
                    <a:p>
                      <a:pPr algn="ctr">
                        <a:defRPr sz="1000">
                          <a:solidFill>
                            <a:srgbClr val="4A3B32"/>
                          </a:solidFill>
                          <a:latin typeface="Calibri"/>
                        </a:defRPr>
                      </a:pPr>
                      <a:r>
                        <a:t>-</a:t>
                      </a:r>
                    </a:p>
                  </a:txBody>
                  <a:tcPr>
                    <a:solidFill>
                      <a:srgbClr val="F7F2EE"/>
                    </a:solidFill>
                  </a:tcPr>
                </a:tc>
              </a:tr>
              <a:tr h="655320">
                <a:tc>
                  <a:txBody>
                    <a:bodyPr/>
                    <a:lstStyle/>
                    <a:p>
                      <a:pPr algn="l">
                        <a:defRPr sz="1000">
                          <a:solidFill>
                            <a:srgbClr val="4A3B32"/>
                          </a:solidFill>
                          <a:latin typeface="Calibri"/>
                        </a:defRPr>
                      </a:pPr>
                      <a:r>
                        <a:t>Problema II</a:t>
                      </a:r>
                    </a:p>
                  </a:txBody>
                  <a:tcPr>
                    <a:solidFill>
                      <a:srgbClr val="FFFDFB"/>
                    </a:solidFill>
                  </a:tcPr>
                </a:tc>
                <a:tc>
                  <a:txBody>
                    <a:bodyPr/>
                    <a:lstStyle/>
                    <a:p>
                      <a:pPr algn="l">
                        <a:defRPr sz="1000">
                          <a:solidFill>
                            <a:srgbClr val="4A3B32"/>
                          </a:solidFill>
                          <a:latin typeface="Calibri"/>
                        </a:defRPr>
                      </a:pPr>
                      <a:r>
                        <a:t>Semiacoplado</a:t>
                      </a:r>
                    </a:p>
                  </a:txBody>
                  <a:tcPr>
                    <a:solidFill>
                      <a:srgbClr val="FFFDFB"/>
                    </a:solidFill>
                  </a:tcPr>
                </a:tc>
                <a:tc>
                  <a:txBody>
                    <a:bodyPr/>
                    <a:lstStyle/>
                    <a:p>
                      <a:pPr algn="ctr">
                        <a:defRPr sz="1000">
                          <a:solidFill>
                            <a:srgbClr val="4A3B32"/>
                          </a:solidFill>
                          <a:latin typeface="Calibri"/>
                        </a:defRPr>
                      </a:pPr>
                      <a:r>
                        <a:t>100.0</a:t>
                      </a:r>
                    </a:p>
                  </a:txBody>
                  <a:tcPr>
                    <a:solidFill>
                      <a:srgbClr val="FFFDFB"/>
                    </a:solidFill>
                  </a:tcPr>
                </a:tc>
                <a:tc>
                  <a:txBody>
                    <a:bodyPr/>
                    <a:lstStyle/>
                    <a:p>
                      <a:pPr algn="ctr">
                        <a:defRPr sz="1000">
                          <a:solidFill>
                            <a:srgbClr val="4A3B32"/>
                          </a:solidFill>
                          <a:latin typeface="Calibri"/>
                        </a:defRPr>
                      </a:pPr>
                      <a:r>
                        <a:t>521.34 PM</a:t>
                      </a:r>
                    </a:p>
                  </a:txBody>
                  <a:tcPr>
                    <a:solidFill>
                      <a:srgbClr val="FFFDFB"/>
                    </a:solidFill>
                  </a:tcPr>
                </a:tc>
                <a:tc>
                  <a:txBody>
                    <a:bodyPr/>
                    <a:lstStyle/>
                    <a:p>
                      <a:pPr algn="ctr">
                        <a:defRPr sz="1000">
                          <a:solidFill>
                            <a:srgbClr val="4A3B32"/>
                          </a:solidFill>
                          <a:latin typeface="Calibri"/>
                        </a:defRPr>
                      </a:pPr>
                      <a:r>
                        <a:t>1.4601</a:t>
                      </a:r>
                    </a:p>
                  </a:txBody>
                  <a:tcPr>
                    <a:solidFill>
                      <a:srgbClr val="FFFDFB"/>
                    </a:solidFill>
                  </a:tcPr>
                </a:tc>
                <a:tc>
                  <a:txBody>
                    <a:bodyPr/>
                    <a:lstStyle/>
                    <a:p>
                      <a:pPr algn="ctr">
                        <a:defRPr sz="1050" b="1">
                          <a:solidFill>
                            <a:srgbClr val="1B5E20"/>
                          </a:solidFill>
                          <a:latin typeface="Calibri"/>
                        </a:defRPr>
                      </a:pPr>
                      <a:r>
                        <a:t>761.23 PM</a:t>
                      </a:r>
                    </a:p>
                  </a:txBody>
                  <a:tcPr>
                    <a:solidFill>
                      <a:srgbClr val="DCEEDE"/>
                    </a:solidFill>
                  </a:tcPr>
                </a:tc>
                <a:tc>
                  <a:txBody>
                    <a:bodyPr/>
                    <a:lstStyle/>
                    <a:p>
                      <a:pPr algn="ctr">
                        <a:defRPr sz="1000">
                          <a:solidFill>
                            <a:srgbClr val="4A3B32"/>
                          </a:solidFill>
                          <a:latin typeface="Calibri"/>
                        </a:defRPr>
                      </a:pPr>
                      <a:r>
                        <a:t>25.50 Meses</a:t>
                      </a:r>
                    </a:p>
                  </a:txBody>
                  <a:tcPr>
                    <a:solidFill>
                      <a:srgbClr val="FFFDFB"/>
                    </a:solidFill>
                  </a:tcPr>
                </a:tc>
                <a:tc>
                  <a:txBody>
                    <a:bodyPr/>
                    <a:lstStyle/>
                    <a:p>
                      <a:pPr algn="ctr">
                        <a:defRPr sz="1000">
                          <a:solidFill>
                            <a:srgbClr val="4A3B32"/>
                          </a:solidFill>
                          <a:latin typeface="Calibri"/>
                        </a:defRPr>
                      </a:pPr>
                      <a:r>
                        <a:t>-</a:t>
                      </a:r>
                    </a:p>
                  </a:txBody>
                  <a:tcPr>
                    <a:solidFill>
                      <a:srgbClr val="FFFDFB"/>
                    </a:solidFill>
                  </a:tcPr>
                </a:tc>
              </a:tr>
              <a:tr h="655320">
                <a:tc>
                  <a:txBody>
                    <a:bodyPr/>
                    <a:lstStyle/>
                    <a:p>
                      <a:pPr algn="l">
                        <a:defRPr sz="1000">
                          <a:solidFill>
                            <a:srgbClr val="4A3B32"/>
                          </a:solidFill>
                          <a:latin typeface="Calibri"/>
                        </a:defRPr>
                      </a:pPr>
                      <a:r>
                        <a:t>Problema III</a:t>
                      </a:r>
                    </a:p>
                  </a:txBody>
                  <a:tcPr>
                    <a:solidFill>
                      <a:srgbClr val="F7F2EE"/>
                    </a:solidFill>
                  </a:tcPr>
                </a:tc>
                <a:tc>
                  <a:txBody>
                    <a:bodyPr/>
                    <a:lstStyle/>
                    <a:p>
                      <a:pPr algn="l">
                        <a:defRPr sz="1000">
                          <a:solidFill>
                            <a:srgbClr val="4A3B32"/>
                          </a:solidFill>
                          <a:latin typeface="Calibri"/>
                        </a:defRPr>
                      </a:pPr>
                      <a:r>
                        <a:t>Empotrado</a:t>
                      </a:r>
                    </a:p>
                  </a:txBody>
                  <a:tcPr>
                    <a:solidFill>
                      <a:srgbClr val="F7F2EE"/>
                    </a:solidFill>
                  </a:tcPr>
                </a:tc>
                <a:tc>
                  <a:txBody>
                    <a:bodyPr/>
                    <a:lstStyle/>
                    <a:p>
                      <a:pPr algn="ctr">
                        <a:defRPr sz="1000">
                          <a:solidFill>
                            <a:srgbClr val="4A3B32"/>
                          </a:solidFill>
                          <a:latin typeface="Calibri"/>
                        </a:defRPr>
                      </a:pPr>
                      <a:r>
                        <a:t>300.0</a:t>
                      </a:r>
                    </a:p>
                  </a:txBody>
                  <a:tcPr>
                    <a:solidFill>
                      <a:srgbClr val="F7F2EE"/>
                    </a:solidFill>
                  </a:tcPr>
                </a:tc>
                <a:tc>
                  <a:txBody>
                    <a:bodyPr/>
                    <a:lstStyle/>
                    <a:p>
                      <a:pPr algn="ctr">
                        <a:defRPr sz="1000">
                          <a:solidFill>
                            <a:srgbClr val="4A3B32"/>
                          </a:solidFill>
                          <a:latin typeface="Calibri"/>
                        </a:defRPr>
                      </a:pPr>
                      <a:r>
                        <a:t>2,628.47 PM</a:t>
                      </a:r>
                    </a:p>
                  </a:txBody>
                  <a:tcPr>
                    <a:solidFill>
                      <a:srgbClr val="F7F2EE"/>
                    </a:solidFill>
                  </a:tcPr>
                </a:tc>
                <a:tc>
                  <a:txBody>
                    <a:bodyPr/>
                    <a:lstStyle/>
                    <a:p>
                      <a:pPr algn="ctr">
                        <a:defRPr sz="1000">
                          <a:solidFill>
                            <a:srgbClr val="4A3B32"/>
                          </a:solidFill>
                          <a:latin typeface="Calibri"/>
                        </a:defRPr>
                      </a:pPr>
                      <a:r>
                        <a:t>1.6555</a:t>
                      </a:r>
                    </a:p>
                  </a:txBody>
                  <a:tcPr>
                    <a:solidFill>
                      <a:srgbClr val="F7F2EE"/>
                    </a:solidFill>
                  </a:tcPr>
                </a:tc>
                <a:tc>
                  <a:txBody>
                    <a:bodyPr/>
                    <a:lstStyle/>
                    <a:p>
                      <a:pPr algn="ctr">
                        <a:defRPr sz="1000">
                          <a:solidFill>
                            <a:srgbClr val="4A3B32"/>
                          </a:solidFill>
                          <a:latin typeface="Calibri"/>
                        </a:defRPr>
                      </a:pPr>
                      <a:r>
                        <a:t>4,351.42 PM</a:t>
                      </a:r>
                    </a:p>
                  </a:txBody>
                  <a:tcPr>
                    <a:solidFill>
                      <a:srgbClr val="F7F2EE"/>
                    </a:solidFill>
                  </a:tcPr>
                </a:tc>
                <a:tc>
                  <a:txBody>
                    <a:bodyPr/>
                    <a:lstStyle/>
                    <a:p>
                      <a:pPr algn="ctr">
                        <a:defRPr sz="1050" b="1">
                          <a:solidFill>
                            <a:srgbClr val="1B5E20"/>
                          </a:solidFill>
                          <a:latin typeface="Calibri"/>
                        </a:defRPr>
                      </a:pPr>
                      <a:r>
                        <a:t>36.50 Meses</a:t>
                      </a:r>
                    </a:p>
                  </a:txBody>
                  <a:tcPr>
                    <a:solidFill>
                      <a:srgbClr val="DCEEDE"/>
                    </a:solidFill>
                  </a:tcPr>
                </a:tc>
                <a:tc>
                  <a:txBody>
                    <a:bodyPr/>
                    <a:lstStyle/>
                    <a:p>
                      <a:pPr algn="ctr">
                        <a:defRPr sz="1000">
                          <a:solidFill>
                            <a:srgbClr val="4A3B32"/>
                          </a:solidFill>
                          <a:latin typeface="Calibri"/>
                        </a:defRPr>
                      </a:pPr>
                      <a:r>
                        <a:t>-</a:t>
                      </a:r>
                    </a:p>
                  </a:txBody>
                  <a:tcPr>
                    <a:solidFill>
                      <a:srgbClr val="F7F2EE"/>
                    </a:solidFill>
                  </a:tcPr>
                </a:tc>
              </a:tr>
              <a:tr h="655320">
                <a:tc>
                  <a:txBody>
                    <a:bodyPr/>
                    <a:lstStyle/>
                    <a:p>
                      <a:pPr algn="l">
                        <a:defRPr sz="1000">
                          <a:solidFill>
                            <a:srgbClr val="4A3B32"/>
                          </a:solidFill>
                          <a:latin typeface="Calibri"/>
                        </a:defRPr>
                      </a:pPr>
                      <a:r>
                        <a:t>Problema IV</a:t>
                      </a:r>
                    </a:p>
                  </a:txBody>
                  <a:tcPr>
                    <a:solidFill>
                      <a:srgbClr val="FFFDFB"/>
                    </a:solidFill>
                  </a:tcPr>
                </a:tc>
                <a:tc>
                  <a:txBody>
                    <a:bodyPr/>
                    <a:lstStyle/>
                    <a:p>
                      <a:pPr algn="l">
                        <a:defRPr sz="1000">
                          <a:solidFill>
                            <a:srgbClr val="4A3B32"/>
                          </a:solidFill>
                          <a:latin typeface="Calibri"/>
                        </a:defRPr>
                      </a:pPr>
                      <a:r>
                        <a:t>Orgánico</a:t>
                      </a:r>
                    </a:p>
                  </a:txBody>
                  <a:tcPr>
                    <a:solidFill>
                      <a:srgbClr val="FFFDFB"/>
                    </a:solidFill>
                  </a:tcPr>
                </a:tc>
                <a:tc>
                  <a:txBody>
                    <a:bodyPr/>
                    <a:lstStyle/>
                    <a:p>
                      <a:pPr algn="ctr">
                        <a:defRPr sz="1000">
                          <a:solidFill>
                            <a:srgbClr val="4A3B32"/>
                          </a:solidFill>
                          <a:latin typeface="Calibri"/>
                        </a:defRPr>
                      </a:pPr>
                      <a:r>
                        <a:t>20.0</a:t>
                      </a:r>
                    </a:p>
                  </a:txBody>
                  <a:tcPr>
                    <a:solidFill>
                      <a:srgbClr val="FFFDFB"/>
                    </a:solidFill>
                  </a:tcPr>
                </a:tc>
                <a:tc>
                  <a:txBody>
                    <a:bodyPr/>
                    <a:lstStyle/>
                    <a:p>
                      <a:pPr algn="ctr">
                        <a:defRPr sz="1000">
                          <a:solidFill>
                            <a:srgbClr val="4A3B32"/>
                          </a:solidFill>
                          <a:latin typeface="Calibri"/>
                        </a:defRPr>
                      </a:pPr>
                      <a:r>
                        <a:t>74.34 PM</a:t>
                      </a:r>
                    </a:p>
                  </a:txBody>
                  <a:tcPr>
                    <a:solidFill>
                      <a:srgbClr val="FFFDFB"/>
                    </a:solidFill>
                  </a:tcPr>
                </a:tc>
                <a:tc>
                  <a:txBody>
                    <a:bodyPr/>
                    <a:lstStyle/>
                    <a:p>
                      <a:pPr algn="ctr">
                        <a:defRPr sz="1000">
                          <a:solidFill>
                            <a:srgbClr val="4A3B32"/>
                          </a:solidFill>
                          <a:latin typeface="Calibri"/>
                        </a:defRPr>
                      </a:pPr>
                      <a:r>
                        <a:t>1.0426</a:t>
                      </a:r>
                    </a:p>
                  </a:txBody>
                  <a:tcPr>
                    <a:solidFill>
                      <a:srgbClr val="FFFDFB"/>
                    </a:solidFill>
                  </a:tcPr>
                </a:tc>
                <a:tc>
                  <a:txBody>
                    <a:bodyPr/>
                    <a:lstStyle/>
                    <a:p>
                      <a:pPr algn="ctr">
                        <a:defRPr sz="1000">
                          <a:solidFill>
                            <a:srgbClr val="4A3B32"/>
                          </a:solidFill>
                          <a:latin typeface="Calibri"/>
                        </a:defRPr>
                      </a:pPr>
                      <a:r>
                        <a:t>77.51 PM</a:t>
                      </a:r>
                    </a:p>
                  </a:txBody>
                  <a:tcPr>
                    <a:solidFill>
                      <a:srgbClr val="FFFDFB"/>
                    </a:solidFill>
                  </a:tcPr>
                </a:tc>
                <a:tc>
                  <a:txBody>
                    <a:bodyPr/>
                    <a:lstStyle/>
                    <a:p>
                      <a:pPr algn="ctr">
                        <a:defRPr sz="1000">
                          <a:solidFill>
                            <a:srgbClr val="4A3B32"/>
                          </a:solidFill>
                          <a:latin typeface="Calibri"/>
                        </a:defRPr>
                      </a:pPr>
                      <a:r>
                        <a:t>13.06 Meses</a:t>
                      </a:r>
                    </a:p>
                  </a:txBody>
                  <a:tcPr>
                    <a:solidFill>
                      <a:srgbClr val="FFFDFB"/>
                    </a:solidFill>
                  </a:tcPr>
                </a:tc>
                <a:tc>
                  <a:txBody>
                    <a:bodyPr/>
                    <a:lstStyle/>
                    <a:p>
                      <a:pPr algn="ctr">
                        <a:defRPr sz="1050" b="1">
                          <a:solidFill>
                            <a:srgbClr val="1B5E20"/>
                          </a:solidFill>
                          <a:latin typeface="Calibri"/>
                        </a:defRPr>
                      </a:pPr>
                      <a:r>
                        <a:t>$775,112.50</a:t>
                      </a:r>
                    </a:p>
                  </a:txBody>
                  <a:tcPr>
                    <a:solidFill>
                      <a:srgbClr val="DCEEDE"/>
                    </a:solidFill>
                  </a:tcPr>
                </a:tc>
              </a:tr>
              <a:tr h="655320">
                <a:tc>
                  <a:txBody>
                    <a:bodyPr/>
                    <a:lstStyle/>
                    <a:p>
                      <a:pPr algn="l">
                        <a:defRPr sz="1000">
                          <a:solidFill>
                            <a:srgbClr val="4A3B32"/>
                          </a:solidFill>
                          <a:latin typeface="Calibri"/>
                        </a:defRPr>
                      </a:pPr>
                      <a:r>
                        <a:t>Problema V</a:t>
                      </a:r>
                    </a:p>
                  </a:txBody>
                  <a:tcPr>
                    <a:solidFill>
                      <a:srgbClr val="F7F2EE"/>
                    </a:solidFill>
                  </a:tcPr>
                </a:tc>
                <a:tc>
                  <a:txBody>
                    <a:bodyPr/>
                    <a:lstStyle/>
                    <a:p>
                      <a:pPr algn="l">
                        <a:defRPr sz="1000">
                          <a:solidFill>
                            <a:srgbClr val="4A3B32"/>
                          </a:solidFill>
                          <a:latin typeface="Calibri"/>
                        </a:defRPr>
                      </a:pPr>
                      <a:r>
                        <a:t>Empotrado</a:t>
                      </a:r>
                    </a:p>
                  </a:txBody>
                  <a:tcPr>
                    <a:solidFill>
                      <a:srgbClr val="F7F2EE"/>
                    </a:solidFill>
                  </a:tcPr>
                </a:tc>
                <a:tc>
                  <a:txBody>
                    <a:bodyPr/>
                    <a:lstStyle/>
                    <a:p>
                      <a:pPr algn="ctr">
                        <a:defRPr sz="1000">
                          <a:solidFill>
                            <a:srgbClr val="4A3B32"/>
                          </a:solidFill>
                          <a:latin typeface="Calibri"/>
                        </a:defRPr>
                      </a:pPr>
                      <a:r>
                        <a:t>311.0</a:t>
                      </a:r>
                    </a:p>
                  </a:txBody>
                  <a:tcPr>
                    <a:solidFill>
                      <a:srgbClr val="F7F2EE"/>
                    </a:solidFill>
                  </a:tcPr>
                </a:tc>
                <a:tc>
                  <a:txBody>
                    <a:bodyPr/>
                    <a:lstStyle/>
                    <a:p>
                      <a:pPr algn="ctr">
                        <a:defRPr sz="1000">
                          <a:solidFill>
                            <a:srgbClr val="4A3B32"/>
                          </a:solidFill>
                          <a:latin typeface="Calibri"/>
                        </a:defRPr>
                      </a:pPr>
                      <a:r>
                        <a:t>2,744.55 PM</a:t>
                      </a:r>
                    </a:p>
                  </a:txBody>
                  <a:tcPr>
                    <a:solidFill>
                      <a:srgbClr val="F7F2EE"/>
                    </a:solidFill>
                  </a:tcPr>
                </a:tc>
                <a:tc>
                  <a:txBody>
                    <a:bodyPr/>
                    <a:lstStyle/>
                    <a:p>
                      <a:pPr algn="ctr">
                        <a:defRPr sz="1000">
                          <a:solidFill>
                            <a:srgbClr val="4A3B32"/>
                          </a:solidFill>
                          <a:latin typeface="Calibri"/>
                        </a:defRPr>
                      </a:pPr>
                      <a:r>
                        <a:t>1.0843</a:t>
                      </a:r>
                    </a:p>
                  </a:txBody>
                  <a:tcPr>
                    <a:solidFill>
                      <a:srgbClr val="F7F2EE"/>
                    </a:solidFill>
                  </a:tcPr>
                </a:tc>
                <a:tc>
                  <a:txBody>
                    <a:bodyPr/>
                    <a:lstStyle/>
                    <a:p>
                      <a:pPr algn="ctr">
                        <a:defRPr sz="1000">
                          <a:solidFill>
                            <a:srgbClr val="4A3B32"/>
                          </a:solidFill>
                          <a:latin typeface="Calibri"/>
                        </a:defRPr>
                      </a:pPr>
                      <a:r>
                        <a:t>2,976.03 PM</a:t>
                      </a:r>
                    </a:p>
                  </a:txBody>
                  <a:tcPr>
                    <a:solidFill>
                      <a:srgbClr val="F7F2EE"/>
                    </a:solidFill>
                  </a:tcPr>
                </a:tc>
                <a:tc>
                  <a:txBody>
                    <a:bodyPr/>
                    <a:lstStyle/>
                    <a:p>
                      <a:pPr algn="ctr">
                        <a:defRPr sz="1050" b="1">
                          <a:solidFill>
                            <a:srgbClr val="1B5E20"/>
                          </a:solidFill>
                          <a:latin typeface="Calibri"/>
                        </a:defRPr>
                      </a:pPr>
                      <a:r>
                        <a:t>32.32 Meses</a:t>
                      </a:r>
                    </a:p>
                  </a:txBody>
                  <a:tcPr>
                    <a:solidFill>
                      <a:srgbClr val="DCEEDE"/>
                    </a:solidFill>
                  </a:tcPr>
                </a:tc>
                <a:tc>
                  <a:txBody>
                    <a:bodyPr/>
                    <a:lstStyle/>
                    <a:p>
                      <a:pPr algn="ctr">
                        <a:defRPr sz="1050" b="1">
                          <a:solidFill>
                            <a:srgbClr val="1B5E20"/>
                          </a:solidFill>
                          <a:latin typeface="Calibri"/>
                        </a:defRPr>
                      </a:pPr>
                      <a:r>
                        <a:t>$74,400,715.42</a:t>
                      </a:r>
                    </a:p>
                  </a:txBody>
                  <a:tcPr>
                    <a:solidFill>
                      <a:srgbClr val="DCEEDE"/>
                    </a:solidFill>
                  </a:tcPr>
                </a:tc>
              </a:tr>
            </a:tbl>
          </a:graphicData>
        </a:graphic>
      </p:graphicFrame>
      <p:sp>
        <p:nvSpPr>
          <p:cNvPr id="7" name="Rounded Rectangle 6"/>
          <p:cNvSpPr/>
          <p:nvPr/>
        </p:nvSpPr>
        <p:spPr>
          <a:xfrm>
            <a:off x="731520" y="5440680"/>
            <a:ext cx="10728655" cy="822960"/>
          </a:xfrm>
          <a:prstGeom prst="roundRect">
            <a:avLst/>
          </a:prstGeom>
          <a:solidFill>
            <a:srgbClr val="FFFDFB"/>
          </a:solidFill>
          <a:ln w="12700">
            <a:solidFill>
              <a:srgbClr val="E8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5486400"/>
            <a:ext cx="10424160" cy="731520"/>
          </a:xfrm>
          <a:prstGeom prst="rect">
            <a:avLst/>
          </a:prstGeom>
          <a:noFill/>
        </p:spPr>
        <p:txBody>
          <a:bodyPr wrap="square">
            <a:spAutoFit/>
          </a:bodyPr>
          <a:lstStyle/>
          <a:p>
            <a:pPr>
              <a:spcAft>
                <a:spcPts val="200"/>
              </a:spcAft>
              <a:defRPr sz="1000" b="1">
                <a:solidFill>
                  <a:srgbClr val="4A3B32"/>
                </a:solidFill>
                <a:latin typeface="Cambria"/>
              </a:defRPr>
            </a:pPr>
            <a:r>
              <a:t>NOTAS TÉCNICAS Y REVISIÓN DE INTEGRIDAD METODOLÓGICA:</a:t>
            </a:r>
          </a:p>
          <a:p>
            <a:pPr>
              <a:defRPr sz="900">
                <a:solidFill>
                  <a:srgbClr val="4A3B32"/>
                </a:solidFill>
                <a:latin typeface="Calibri"/>
              </a:defRPr>
            </a:pPr>
            <a:r>
              <a:t>1. Consistencia de TDEV: Los tiempos de desarrollo TDEV corresponden formalmente a la ecuación c · (PM_ajustado)^d (17.87, 25.50, 36.50, 13.06 y 32.32 Meses), unificando unidades e integridad de cálculo.</a:t>
            </a:r>
            <a:br/>
            <a:r>
              <a:t>2. Formato de Costos y Moneda: Cifras en Pesos Mexicanos (MXN). Problema IV da exactamente $775,112.50 MXN ($775,112.00 sin centavos) y Problema V da $74,400,715.42 MXN ($74,400,715.00 sin centavos). Las celdas resaltadas en fondo verde destacan las incógnitas solicitadas en cada caso.</a:t>
            </a:r>
          </a:p>
        </p:txBody>
      </p:sp>
      <p:sp>
        <p:nvSpPr>
          <p:cNvPr id="9" name="Rectangle 8"/>
          <p:cNvSpPr/>
          <p:nvPr/>
        </p:nvSpPr>
        <p:spPr>
          <a:xfrm>
            <a:off x="731520" y="6400800"/>
            <a:ext cx="10728655" cy="13716"/>
          </a:xfrm>
          <a:prstGeom prst="rect">
            <a:avLst/>
          </a:prstGeom>
          <a:solidFill>
            <a:srgbClr val="E8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446520"/>
            <a:ext cx="8229600" cy="274320"/>
          </a:xfrm>
          <a:prstGeom prst="rect">
            <a:avLst/>
          </a:prstGeom>
          <a:noFill/>
        </p:spPr>
        <p:txBody>
          <a:bodyPr wrap="none" lIns="0" tIns="0" rIns="0" bIns="0">
            <a:spAutoFit/>
          </a:bodyPr>
          <a:lstStyle/>
          <a:p>
            <a:pPr>
              <a:defRPr sz="950">
                <a:solidFill>
                  <a:srgbClr val="8A7A6D"/>
                </a:solidFill>
                <a:latin typeface="Calibri"/>
              </a:defRPr>
            </a:pPr>
            <a:r>
              <a:t>Actividad 2.2: Problemas COCOMO Intermedio · Ernesto Fierro · Dr. Gabriel Navarro Salcedo</a:t>
            </a:r>
          </a:p>
        </p:txBody>
      </p:sp>
      <p:sp>
        <p:nvSpPr>
          <p:cNvPr id="11" name="TextBox 10"/>
          <p:cNvSpPr txBox="1"/>
          <p:nvPr/>
        </p:nvSpPr>
        <p:spPr>
          <a:xfrm>
            <a:off x="9144000" y="6446520"/>
            <a:ext cx="2316175" cy="274320"/>
          </a:xfrm>
          <a:prstGeom prst="rect">
            <a:avLst/>
          </a:prstGeom>
          <a:noFill/>
        </p:spPr>
        <p:txBody>
          <a:bodyPr wrap="none" lIns="0" tIns="0" rIns="0" bIns="0">
            <a:spAutoFit/>
          </a:bodyPr>
          <a:lstStyle/>
          <a:p>
            <a:pPr algn="r">
              <a:defRPr sz="950">
                <a:solidFill>
                  <a:srgbClr val="8A7A6D"/>
                </a:solidFill>
                <a:latin typeface="Calibri"/>
              </a:defRPr>
            </a:pPr>
            <a:r>
              <a:t>Diapositiva 9 de 11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274320"/>
          </a:xfrm>
          <a:prstGeom prst="rect">
            <a:avLst/>
          </a:prstGeom>
          <a:noFill/>
        </p:spPr>
        <p:txBody>
          <a:bodyPr wrap="square" lIns="0" tIns="0" rIns="0" bIns="0">
            <a:spAutoFit/>
          </a:bodyPr>
          <a:lstStyle/>
          <a:p>
            <a:pPr>
              <a:defRPr sz="1050" b="1">
                <a:solidFill>
                  <a:srgbClr val="C97567"/>
                </a:solidFill>
                <a:latin typeface="Calibri"/>
              </a:defRPr>
            </a:pPr>
            <a:r>
              <a:t>ACTIVIDAD 2.2 · MODELO COCOMO INTERMEDIO · ADMINISTRACIÓN DE PROYECTOS</a:t>
            </a:r>
          </a:p>
        </p:txBody>
      </p:sp>
      <p:sp>
        <p:nvSpPr>
          <p:cNvPr id="4" name="TextBox 3"/>
          <p:cNvSpPr txBox="1"/>
          <p:nvPr/>
        </p:nvSpPr>
        <p:spPr>
          <a:xfrm>
            <a:off x="731520" y="594360"/>
            <a:ext cx="10728655" cy="594360"/>
          </a:xfrm>
          <a:prstGeom prst="rect">
            <a:avLst/>
          </a:prstGeom>
          <a:noFill/>
        </p:spPr>
        <p:txBody>
          <a:bodyPr wrap="square" lIns="0" tIns="0" rIns="0" bIns="0">
            <a:spAutoFit/>
          </a:bodyPr>
          <a:lstStyle/>
          <a:p>
            <a:pPr>
              <a:defRPr sz="2200" b="1">
                <a:solidFill>
                  <a:srgbClr val="4A3B32"/>
                </a:solidFill>
                <a:latin typeface="Cambria"/>
              </a:defRPr>
            </a:pPr>
            <a:r>
              <a:t>Conclusiones Técnicas, Análisis de Sensibilidad y Gobernanza</a:t>
            </a:r>
          </a:p>
        </p:txBody>
      </p:sp>
      <p:sp>
        <p:nvSpPr>
          <p:cNvPr id="5" name="Rectangle 4"/>
          <p:cNvSpPr/>
          <p:nvPr/>
        </p:nvSpPr>
        <p:spPr>
          <a:xfrm>
            <a:off x="731520" y="1207008"/>
            <a:ext cx="10728655" cy="32004"/>
          </a:xfrm>
          <a:prstGeom prst="rect">
            <a:avLst/>
          </a:prstGeom>
          <a:solidFill>
            <a:srgbClr val="C975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5120640" cy="2057400"/>
          </a:xfrm>
          <a:prstGeom prst="roundRect">
            <a:avLst/>
          </a:prstGeom>
          <a:solidFill>
            <a:srgbClr val="FFFDFB"/>
          </a:solidFill>
          <a:ln w="12700">
            <a:solidFill>
              <a:srgbClr val="E8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81328"/>
            <a:ext cx="4754880" cy="1837944"/>
          </a:xfrm>
          <a:prstGeom prst="rect">
            <a:avLst/>
          </a:prstGeom>
          <a:noFill/>
        </p:spPr>
        <p:txBody>
          <a:bodyPr wrap="square">
            <a:spAutoFit/>
          </a:bodyPr>
          <a:lstStyle/>
          <a:p>
            <a:pPr>
              <a:spcAft>
                <a:spcPts val="400"/>
              </a:spcAft>
              <a:defRPr sz="1300" b="1">
                <a:solidFill>
                  <a:srgbClr val="4A3B32"/>
                </a:solidFill>
                <a:latin typeface="Cambria"/>
              </a:defRPr>
            </a:pPr>
            <a:r>
              <a:t>1. Sensibilidad y Multiplicadores Críticos del EAF</a:t>
            </a:r>
          </a:p>
          <a:p>
            <a:pPr>
              <a:defRPr sz="1050">
                <a:solidFill>
                  <a:srgbClr val="4A3B32"/>
                </a:solidFill>
                <a:latin typeface="Calibri"/>
              </a:defRPr>
            </a:pPr>
            <a:r>
              <a:t>En el Problema III, la baja capacidad del analista (ACAP=1.46) fue el multiplicador individual más costoso (+46%), que aunado a altas demandas de base de datos (DATA=1.16) y confiabilidad (RELY=1.15), incrementó el esfuerzo total un +65.5% sobre el nominal (de 2,628 a 4,351 PM), evidenciando la alta sensibilidad del modelo ante brechas en competencias analíticas.</a:t>
            </a:r>
          </a:p>
        </p:txBody>
      </p:sp>
      <p:sp>
        <p:nvSpPr>
          <p:cNvPr id="8" name="Rounded Rectangle 7"/>
          <p:cNvSpPr/>
          <p:nvPr/>
        </p:nvSpPr>
        <p:spPr>
          <a:xfrm>
            <a:off x="6080760" y="1371600"/>
            <a:ext cx="5376672" cy="2057400"/>
          </a:xfrm>
          <a:prstGeom prst="roundRect">
            <a:avLst/>
          </a:prstGeom>
          <a:solidFill>
            <a:srgbClr val="FFFDFB"/>
          </a:solidFill>
          <a:ln w="12700">
            <a:solidFill>
              <a:srgbClr val="E8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63640" y="1481328"/>
            <a:ext cx="5010912" cy="1837944"/>
          </a:xfrm>
          <a:prstGeom prst="rect">
            <a:avLst/>
          </a:prstGeom>
          <a:noFill/>
        </p:spPr>
        <p:txBody>
          <a:bodyPr wrap="square">
            <a:spAutoFit/>
          </a:bodyPr>
          <a:lstStyle/>
          <a:p>
            <a:pPr>
              <a:spcAft>
                <a:spcPts val="400"/>
              </a:spcAft>
              <a:defRPr sz="1300" b="1">
                <a:solidFill>
                  <a:srgbClr val="4A3B32"/>
                </a:solidFill>
                <a:latin typeface="Cambria"/>
              </a:defRPr>
            </a:pPr>
            <a:r>
              <a:t>2. Compensación Estratégica y Balance de Factores</a:t>
            </a:r>
          </a:p>
          <a:p>
            <a:pPr>
              <a:defRPr sz="1050">
                <a:solidFill>
                  <a:srgbClr val="4A3B32"/>
                </a:solidFill>
                <a:latin typeface="Calibri"/>
              </a:defRPr>
            </a:pPr>
            <a:r>
              <a:t>En el Problema IV, factores fuertemente desfavorables como la inexperiencia analítica (ACAP=1.46), gran volumen de datos (DATA=1.16) y apremios de CPU (TIME=1.11) fueron amortiguados eficazmente por requisitos relajados de confiabilidad (RELY=0.75), baja complejidad de software (CPLX=0.85) y ambiente virtual estable (VIRT=0.87), conteniendo el EAF neto en un moderado 1.0426 (+4.3%).</a:t>
            </a:r>
          </a:p>
        </p:txBody>
      </p:sp>
      <p:sp>
        <p:nvSpPr>
          <p:cNvPr id="10" name="Rounded Rectangle 9"/>
          <p:cNvSpPr/>
          <p:nvPr/>
        </p:nvSpPr>
        <p:spPr>
          <a:xfrm>
            <a:off x="731520" y="3566160"/>
            <a:ext cx="5120640" cy="2057400"/>
          </a:xfrm>
          <a:prstGeom prst="roundRect">
            <a:avLst/>
          </a:prstGeom>
          <a:solidFill>
            <a:srgbClr val="FFFDFB"/>
          </a:solidFill>
          <a:ln w="12700">
            <a:solidFill>
              <a:srgbClr val="E8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675888"/>
            <a:ext cx="4754880" cy="1837944"/>
          </a:xfrm>
          <a:prstGeom prst="rect">
            <a:avLst/>
          </a:prstGeom>
          <a:noFill/>
        </p:spPr>
        <p:txBody>
          <a:bodyPr wrap="square">
            <a:spAutoFit/>
          </a:bodyPr>
          <a:lstStyle/>
          <a:p>
            <a:pPr>
              <a:spcAft>
                <a:spcPts val="400"/>
              </a:spcAft>
              <a:defRPr sz="1300" b="1">
                <a:solidFill>
                  <a:srgbClr val="4A3B32"/>
                </a:solidFill>
                <a:latin typeface="Cambria"/>
              </a:defRPr>
            </a:pPr>
            <a:r>
              <a:t>3. Deseconomías de Escala en Proyectos de 300 KLOC o Más</a:t>
            </a:r>
          </a:p>
          <a:p>
            <a:pPr>
              <a:defRPr sz="1050">
                <a:solidFill>
                  <a:srgbClr val="4A3B32"/>
                </a:solidFill>
                <a:latin typeface="Calibri"/>
              </a:defRPr>
            </a:pPr>
            <a:r>
              <a:t>En proyectos de 300 KLOC o más (Problemas III y V), el exponente b=1.20 impone un crecimiento superlineal con marcadas deseconomías de escala (ley de potencias de Boehm). Esto se evidencia en el Problema III (300 KLOC) requiriendo 4,351.42 PM (36.50 meses) debido a la penalización de factores analíticos, y en el Problema V (311 KLOC) demandando 2,976.03 PM con una inversión de $74.4 M MXN (32.32 meses).</a:t>
            </a:r>
          </a:p>
        </p:txBody>
      </p:sp>
      <p:sp>
        <p:nvSpPr>
          <p:cNvPr id="12" name="Rounded Rectangle 11"/>
          <p:cNvSpPr/>
          <p:nvPr/>
        </p:nvSpPr>
        <p:spPr>
          <a:xfrm>
            <a:off x="6080760" y="3566160"/>
            <a:ext cx="5376672" cy="2057400"/>
          </a:xfrm>
          <a:prstGeom prst="roundRect">
            <a:avLst/>
          </a:prstGeom>
          <a:solidFill>
            <a:srgbClr val="FFFDFB"/>
          </a:solidFill>
          <a:ln w="12700">
            <a:solidFill>
              <a:srgbClr val="E8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63640" y="3675888"/>
            <a:ext cx="5010912" cy="1837944"/>
          </a:xfrm>
          <a:prstGeom prst="rect">
            <a:avLst/>
          </a:prstGeom>
          <a:noFill/>
        </p:spPr>
        <p:txBody>
          <a:bodyPr wrap="square">
            <a:spAutoFit/>
          </a:bodyPr>
          <a:lstStyle/>
          <a:p>
            <a:pPr>
              <a:spcAft>
                <a:spcPts val="400"/>
              </a:spcAft>
              <a:defRPr sz="1300" b="1">
                <a:solidFill>
                  <a:srgbClr val="4A3B32"/>
                </a:solidFill>
                <a:latin typeface="Cambria"/>
              </a:defRPr>
            </a:pPr>
            <a:r>
              <a:t>4. Importancia de la Automatización y Control Algorítmico</a:t>
            </a:r>
          </a:p>
          <a:p>
            <a:pPr>
              <a:defRPr sz="1050">
                <a:solidFill>
                  <a:srgbClr val="4A3B32"/>
                </a:solidFill>
                <a:latin typeface="Calibri"/>
              </a:defRPr>
            </a:pPr>
            <a:r>
              <a:t>La vinculación dinámica de celdas y tablas paramétricas en la hoja de cálculo (.xlsx) elimina el error humano en operaciones exponenciales encadenadas, garantiza trazabilidad algorítmica y permite a los líderes de proyecto evaluar escenarios 'What-If' antes de comprometer recursos y calendarios.</a:t>
            </a:r>
          </a:p>
        </p:txBody>
      </p:sp>
      <p:sp>
        <p:nvSpPr>
          <p:cNvPr id="14" name="Rounded Rectangle 13"/>
          <p:cNvSpPr/>
          <p:nvPr/>
        </p:nvSpPr>
        <p:spPr>
          <a:xfrm>
            <a:off x="731520" y="5715000"/>
            <a:ext cx="10728655" cy="594360"/>
          </a:xfrm>
          <a:prstGeom prst="roundRect">
            <a:avLst/>
          </a:prstGeom>
          <a:solidFill>
            <a:srgbClr val="F3D9D3"/>
          </a:solidFill>
          <a:ln w="12700">
            <a:solidFill>
              <a:srgbClr val="D98C7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5760720"/>
            <a:ext cx="10424160" cy="502920"/>
          </a:xfrm>
          <a:prstGeom prst="rect">
            <a:avLst/>
          </a:prstGeom>
          <a:noFill/>
        </p:spPr>
        <p:txBody>
          <a:bodyPr wrap="square">
            <a:spAutoFit/>
          </a:bodyPr>
          <a:lstStyle/>
          <a:p>
            <a:pPr>
              <a:defRPr sz="950">
                <a:solidFill>
                  <a:srgbClr val="4A3B32"/>
                </a:solidFill>
                <a:latin typeface="Calibri"/>
              </a:defRPr>
            </a:pPr>
            <a:r>
              <a:t>Referencias Normativas: Boehm, B. W. (1981). Software Engineering Economics. Prentice-Hall · Pressman, R. S. (2020). Software Engineering: A Practitioner's Approach. McGraw-Hill · Navarro Salcedo, G. (2026). Material de Cátedra de COCOMO Intermedio.</a:t>
            </a:r>
          </a:p>
        </p:txBody>
      </p:sp>
      <p:sp>
        <p:nvSpPr>
          <p:cNvPr id="16" name="Rectangle 15"/>
          <p:cNvSpPr/>
          <p:nvPr/>
        </p:nvSpPr>
        <p:spPr>
          <a:xfrm>
            <a:off x="731520" y="6400800"/>
            <a:ext cx="10728655" cy="13716"/>
          </a:xfrm>
          <a:prstGeom prst="rect">
            <a:avLst/>
          </a:prstGeom>
          <a:solidFill>
            <a:srgbClr val="E8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6446520"/>
            <a:ext cx="8229600" cy="274320"/>
          </a:xfrm>
          <a:prstGeom prst="rect">
            <a:avLst/>
          </a:prstGeom>
          <a:noFill/>
        </p:spPr>
        <p:txBody>
          <a:bodyPr wrap="none" lIns="0" tIns="0" rIns="0" bIns="0">
            <a:spAutoFit/>
          </a:bodyPr>
          <a:lstStyle/>
          <a:p>
            <a:pPr>
              <a:defRPr sz="950">
                <a:solidFill>
                  <a:srgbClr val="8A7A6D"/>
                </a:solidFill>
                <a:latin typeface="Calibri"/>
              </a:defRPr>
            </a:pPr>
            <a:r>
              <a:t>Actividad 2.2: Problemas COCOMO Intermedio · Ernesto Fierro · Dr. Gabriel Navarro Salcedo</a:t>
            </a:r>
          </a:p>
        </p:txBody>
      </p:sp>
      <p:sp>
        <p:nvSpPr>
          <p:cNvPr id="18" name="TextBox 17"/>
          <p:cNvSpPr txBox="1"/>
          <p:nvPr/>
        </p:nvSpPr>
        <p:spPr>
          <a:xfrm>
            <a:off x="9144000" y="6446520"/>
            <a:ext cx="2316175" cy="274320"/>
          </a:xfrm>
          <a:prstGeom prst="rect">
            <a:avLst/>
          </a:prstGeom>
          <a:noFill/>
        </p:spPr>
        <p:txBody>
          <a:bodyPr wrap="none" lIns="0" tIns="0" rIns="0" bIns="0">
            <a:spAutoFit/>
          </a:bodyPr>
          <a:lstStyle/>
          <a:p>
            <a:pPr algn="r">
              <a:defRPr sz="950">
                <a:solidFill>
                  <a:srgbClr val="8A7A6D"/>
                </a:solidFill>
                <a:latin typeface="Calibri"/>
              </a:defRPr>
            </a:pPr>
            <a:r>
              <a:t>Diapositiva 10 de 11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274320"/>
          </a:xfrm>
          <a:prstGeom prst="rect">
            <a:avLst/>
          </a:prstGeom>
          <a:noFill/>
        </p:spPr>
        <p:txBody>
          <a:bodyPr wrap="square" lIns="0" tIns="0" rIns="0" bIns="0">
            <a:spAutoFit/>
          </a:bodyPr>
          <a:lstStyle/>
          <a:p>
            <a:pPr>
              <a:defRPr sz="1050" b="1">
                <a:solidFill>
                  <a:srgbClr val="C97567"/>
                </a:solidFill>
                <a:latin typeface="Calibri"/>
              </a:defRPr>
            </a:pPr>
            <a:r>
              <a:t>ACTIVIDAD 2.2 · MODELO COCOMO INTERMEDIO · ADMINISTRACIÓN DE PROYECTOS</a:t>
            </a:r>
          </a:p>
        </p:txBody>
      </p:sp>
      <p:sp>
        <p:nvSpPr>
          <p:cNvPr id="4" name="TextBox 3"/>
          <p:cNvSpPr txBox="1"/>
          <p:nvPr/>
        </p:nvSpPr>
        <p:spPr>
          <a:xfrm>
            <a:off x="731520" y="594360"/>
            <a:ext cx="10728655" cy="594360"/>
          </a:xfrm>
          <a:prstGeom prst="rect">
            <a:avLst/>
          </a:prstGeom>
          <a:noFill/>
        </p:spPr>
        <p:txBody>
          <a:bodyPr wrap="square" lIns="0" tIns="0" rIns="0" bIns="0">
            <a:spAutoFit/>
          </a:bodyPr>
          <a:lstStyle/>
          <a:p>
            <a:pPr>
              <a:defRPr sz="2200" b="1">
                <a:solidFill>
                  <a:srgbClr val="4A3B32"/>
                </a:solidFill>
                <a:latin typeface="Cambria"/>
              </a:defRPr>
            </a:pPr>
            <a:r>
              <a:t>Síntesis Comparativa: COCOMO Básico (Act. 2.1) vs COCOMO Intermedio (Act. 2.2)</a:t>
            </a:r>
          </a:p>
        </p:txBody>
      </p:sp>
      <p:sp>
        <p:nvSpPr>
          <p:cNvPr id="5" name="Rectangle 4"/>
          <p:cNvSpPr/>
          <p:nvPr/>
        </p:nvSpPr>
        <p:spPr>
          <a:xfrm>
            <a:off x="731520" y="1207008"/>
            <a:ext cx="10728655" cy="32004"/>
          </a:xfrm>
          <a:prstGeom prst="rect">
            <a:avLst/>
          </a:prstGeom>
          <a:solidFill>
            <a:srgbClr val="C975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731520" y="1371600"/>
          <a:ext cx="10728655" cy="2926080"/>
        </p:xfrm>
        <a:graphic>
          <a:graphicData uri="http://schemas.openxmlformats.org/drawingml/2006/table">
            <a:tbl>
              <a:tblPr firstRow="1" bandRow="1">
                <a:tableStyleId>{5C22544A-7EE6-4342-B048-85BDC9FD1C3A}</a:tableStyleId>
              </a:tblPr>
              <a:tblGrid>
                <a:gridCol w="2133295"/>
                <a:gridCol w="2834640"/>
                <a:gridCol w="2926080"/>
                <a:gridCol w="2834640"/>
              </a:tblGrid>
              <a:tr h="585216">
                <a:tc>
                  <a:txBody>
                    <a:bodyPr/>
                    <a:lstStyle/>
                    <a:p>
                      <a:pPr algn="ctr">
                        <a:defRPr sz="1050" b="1">
                          <a:solidFill>
                            <a:srgbClr val="FFFFFF"/>
                          </a:solidFill>
                          <a:latin typeface="Calibri"/>
                        </a:defRPr>
                      </a:pPr>
                      <a:r>
                        <a:t>Dimensión de Comparación</a:t>
                      </a:r>
                    </a:p>
                  </a:txBody>
                  <a:tcPr>
                    <a:solidFill>
                      <a:srgbClr val="4A3B32"/>
                    </a:solidFill>
                  </a:tcPr>
                </a:tc>
                <a:tc>
                  <a:txBody>
                    <a:bodyPr/>
                    <a:lstStyle/>
                    <a:p>
                      <a:pPr algn="ctr">
                        <a:defRPr sz="1050" b="1">
                          <a:solidFill>
                            <a:srgbClr val="FFFFFF"/>
                          </a:solidFill>
                          <a:latin typeface="Calibri"/>
                        </a:defRPr>
                      </a:pPr>
                      <a:r>
                        <a:t>COCOMO Básico (Actividad 2.1)</a:t>
                      </a:r>
                    </a:p>
                  </a:txBody>
                  <a:tcPr>
                    <a:solidFill>
                      <a:srgbClr val="4A3B32"/>
                    </a:solidFill>
                  </a:tcPr>
                </a:tc>
                <a:tc>
                  <a:txBody>
                    <a:bodyPr/>
                    <a:lstStyle/>
                    <a:p>
                      <a:pPr algn="ctr">
                        <a:defRPr sz="1050" b="1">
                          <a:solidFill>
                            <a:srgbClr val="FFFFFF"/>
                          </a:solidFill>
                          <a:latin typeface="Calibri"/>
                        </a:defRPr>
                      </a:pPr>
                      <a:r>
                        <a:t>COCOMO Intermedio (Actividad 2.2)</a:t>
                      </a:r>
                    </a:p>
                  </a:txBody>
                  <a:tcPr>
                    <a:solidFill>
                      <a:srgbClr val="4A3B32"/>
                    </a:solidFill>
                  </a:tcPr>
                </a:tc>
                <a:tc>
                  <a:txBody>
                    <a:bodyPr/>
                    <a:lstStyle/>
                    <a:p>
                      <a:pPr algn="ctr">
                        <a:defRPr sz="1050" b="1">
                          <a:solidFill>
                            <a:srgbClr val="FFFFFF"/>
                          </a:solidFill>
                          <a:latin typeface="Calibri"/>
                        </a:defRPr>
                      </a:pPr>
                      <a:r>
                        <a:t>Impacto en la Gestión</a:t>
                      </a:r>
                    </a:p>
                  </a:txBody>
                  <a:tcPr>
                    <a:solidFill>
                      <a:srgbClr val="4A3B32"/>
                    </a:solidFill>
                  </a:tcPr>
                </a:tc>
              </a:tr>
              <a:tr h="585216">
                <a:tc>
                  <a:txBody>
                    <a:bodyPr/>
                    <a:lstStyle/>
                    <a:p>
                      <a:pPr algn="l">
                        <a:defRPr sz="1000">
                          <a:solidFill>
                            <a:srgbClr val="4A3B32"/>
                          </a:solidFill>
                          <a:latin typeface="Calibri"/>
                        </a:defRPr>
                      </a:pPr>
                      <a:r>
                        <a:t>Variables de Entrada</a:t>
                      </a:r>
                    </a:p>
                  </a:txBody>
                  <a:tcPr>
                    <a:solidFill>
                      <a:srgbClr val="F7F2EE"/>
                    </a:solidFill>
                  </a:tcPr>
                </a:tc>
                <a:tc>
                  <a:txBody>
                    <a:bodyPr/>
                    <a:lstStyle/>
                    <a:p>
                      <a:pPr algn="l">
                        <a:defRPr sz="1000">
                          <a:solidFill>
                            <a:srgbClr val="4A3B32"/>
                          </a:solidFill>
                          <a:latin typeface="Calibri"/>
                        </a:defRPr>
                      </a:pPr>
                      <a:r>
                        <a:t>Únicamente KLOC (tamaño de líneas de código fuente)</a:t>
                      </a:r>
                    </a:p>
                  </a:txBody>
                  <a:tcPr>
                    <a:solidFill>
                      <a:srgbClr val="F7F2EE"/>
                    </a:solidFill>
                  </a:tcPr>
                </a:tc>
                <a:tc>
                  <a:txBody>
                    <a:bodyPr/>
                    <a:lstStyle/>
                    <a:p>
                      <a:pPr algn="l">
                        <a:defRPr sz="1000">
                          <a:solidFill>
                            <a:srgbClr val="4A3B32"/>
                          </a:solidFill>
                          <a:latin typeface="Calibri"/>
                        </a:defRPr>
                      </a:pPr>
                      <a:r>
                        <a:t>KLOC + 15 Conductores de Coste agrupados en el EAF</a:t>
                      </a:r>
                    </a:p>
                  </a:txBody>
                  <a:tcPr>
                    <a:solidFill>
                      <a:srgbClr val="F7F2EE"/>
                    </a:solidFill>
                  </a:tcPr>
                </a:tc>
                <a:tc>
                  <a:txBody>
                    <a:bodyPr/>
                    <a:lstStyle/>
                    <a:p>
                      <a:pPr algn="l">
                        <a:defRPr sz="1000">
                          <a:solidFill>
                            <a:srgbClr val="4A3B32"/>
                          </a:solidFill>
                          <a:latin typeface="Calibri"/>
                        </a:defRPr>
                      </a:pPr>
                      <a:r>
                        <a:t>Permite modelar el contexto humano, técnico y operativo real</a:t>
                      </a:r>
                    </a:p>
                  </a:txBody>
                  <a:tcPr>
                    <a:solidFill>
                      <a:srgbClr val="F7F2EE"/>
                    </a:solidFill>
                  </a:tcPr>
                </a:tc>
              </a:tr>
              <a:tr h="585216">
                <a:tc>
                  <a:txBody>
                    <a:bodyPr/>
                    <a:lstStyle/>
                    <a:p>
                      <a:pPr algn="l">
                        <a:defRPr sz="1000">
                          <a:solidFill>
                            <a:srgbClr val="4A3B32"/>
                          </a:solidFill>
                          <a:latin typeface="Calibri"/>
                        </a:defRPr>
                      </a:pPr>
                      <a:r>
                        <a:t>Ecuación de Esfuerzo</a:t>
                      </a:r>
                    </a:p>
                  </a:txBody>
                  <a:tcPr>
                    <a:solidFill>
                      <a:srgbClr val="FFFDFB"/>
                    </a:solidFill>
                  </a:tcPr>
                </a:tc>
                <a:tc>
                  <a:txBody>
                    <a:bodyPr/>
                    <a:lstStyle/>
                    <a:p>
                      <a:pPr algn="l">
                        <a:defRPr sz="1000">
                          <a:solidFill>
                            <a:srgbClr val="4A3B32"/>
                          </a:solidFill>
                          <a:latin typeface="Calibri"/>
                        </a:defRPr>
                      </a:pPr>
                      <a:r>
                        <a:t>PM = a · (KLOC)^b</a:t>
                      </a:r>
                    </a:p>
                  </a:txBody>
                  <a:tcPr>
                    <a:solidFill>
                      <a:srgbClr val="FFFDFB"/>
                    </a:solidFill>
                  </a:tcPr>
                </a:tc>
                <a:tc>
                  <a:txBody>
                    <a:bodyPr/>
                    <a:lstStyle/>
                    <a:p>
                      <a:pPr algn="l">
                        <a:defRPr sz="1000">
                          <a:solidFill>
                            <a:srgbClr val="4A3B32"/>
                          </a:solidFill>
                          <a:latin typeface="Calibri"/>
                        </a:defRPr>
                      </a:pPr>
                      <a:r>
                        <a:t>PM = a · EAF · (KLOC)^b</a:t>
                      </a:r>
                    </a:p>
                  </a:txBody>
                  <a:tcPr>
                    <a:solidFill>
                      <a:srgbClr val="FFFDFB"/>
                    </a:solidFill>
                  </a:tcPr>
                </a:tc>
                <a:tc>
                  <a:txBody>
                    <a:bodyPr/>
                    <a:lstStyle/>
                    <a:p>
                      <a:pPr algn="l">
                        <a:defRPr sz="1000">
                          <a:solidFill>
                            <a:srgbClr val="4A3B32"/>
                          </a:solidFill>
                          <a:latin typeface="Calibri"/>
                        </a:defRPr>
                      </a:pPr>
                      <a:r>
                        <a:t>Modula el esfuerzo según conductores (en estos casos osciló entre +4% y +66%)</a:t>
                      </a:r>
                    </a:p>
                  </a:txBody>
                  <a:tcPr>
                    <a:solidFill>
                      <a:srgbClr val="FFFDFB"/>
                    </a:solidFill>
                  </a:tcPr>
                </a:tc>
              </a:tr>
              <a:tr h="585216">
                <a:tc>
                  <a:txBody>
                    <a:bodyPr/>
                    <a:lstStyle/>
                    <a:p>
                      <a:pPr algn="l">
                        <a:defRPr sz="1000">
                          <a:solidFill>
                            <a:srgbClr val="4A3B32"/>
                          </a:solidFill>
                          <a:latin typeface="Calibri"/>
                        </a:defRPr>
                      </a:pPr>
                      <a:r>
                        <a:t>Calibración de 'a'</a:t>
                      </a:r>
                    </a:p>
                  </a:txBody>
                  <a:tcPr>
                    <a:solidFill>
                      <a:srgbClr val="F7F2EE"/>
                    </a:solidFill>
                  </a:tcPr>
                </a:tc>
                <a:tc>
                  <a:txBody>
                    <a:bodyPr/>
                    <a:lstStyle/>
                    <a:p>
                      <a:pPr algn="l">
                        <a:defRPr sz="1000">
                          <a:solidFill>
                            <a:srgbClr val="4A3B32"/>
                          </a:solidFill>
                          <a:latin typeface="Calibri"/>
                        </a:defRPr>
                      </a:pPr>
                      <a:r>
                        <a:t>Orgánico: a = 2.40 | Empotrado: a = 3.60</a:t>
                      </a:r>
                    </a:p>
                  </a:txBody>
                  <a:tcPr>
                    <a:solidFill>
                      <a:srgbClr val="F7F2EE"/>
                    </a:solidFill>
                  </a:tcPr>
                </a:tc>
                <a:tc>
                  <a:txBody>
                    <a:bodyPr/>
                    <a:lstStyle/>
                    <a:p>
                      <a:pPr algn="l">
                        <a:defRPr sz="1000">
                          <a:solidFill>
                            <a:srgbClr val="4A3B32"/>
                          </a:solidFill>
                          <a:latin typeface="Calibri"/>
                        </a:defRPr>
                      </a:pPr>
                      <a:r>
                        <a:t>Orgánico: a = 3.20 | Empotrado: a = 2.80</a:t>
                      </a:r>
                    </a:p>
                  </a:txBody>
                  <a:tcPr>
                    <a:solidFill>
                      <a:srgbClr val="F7F2EE"/>
                    </a:solidFill>
                  </a:tcPr>
                </a:tc>
                <a:tc>
                  <a:txBody>
                    <a:bodyPr/>
                    <a:lstStyle/>
                    <a:p>
                      <a:pPr algn="l">
                        <a:defRPr sz="1000">
                          <a:solidFill>
                            <a:srgbClr val="4A3B32"/>
                          </a:solidFill>
                          <a:latin typeface="Calibri"/>
                        </a:defRPr>
                      </a:pPr>
                      <a:r>
                        <a:t>Boehm recalibra para permitir la modulación limpia del EAF</a:t>
                      </a:r>
                    </a:p>
                  </a:txBody>
                  <a:tcPr>
                    <a:solidFill>
                      <a:srgbClr val="F7F2EE"/>
                    </a:solidFill>
                  </a:tcPr>
                </a:tc>
              </a:tr>
              <a:tr h="585216">
                <a:tc>
                  <a:txBody>
                    <a:bodyPr/>
                    <a:lstStyle/>
                    <a:p>
                      <a:pPr algn="l">
                        <a:defRPr sz="1000">
                          <a:solidFill>
                            <a:srgbClr val="4A3B32"/>
                          </a:solidFill>
                          <a:latin typeface="Calibri"/>
                        </a:defRPr>
                      </a:pPr>
                      <a:r>
                        <a:t>Tiempo de Desarrollo</a:t>
                      </a:r>
                    </a:p>
                  </a:txBody>
                  <a:tcPr>
                    <a:solidFill>
                      <a:srgbClr val="FFFDFB"/>
                    </a:solidFill>
                  </a:tcPr>
                </a:tc>
                <a:tc>
                  <a:txBody>
                    <a:bodyPr/>
                    <a:lstStyle/>
                    <a:p>
                      <a:pPr algn="l">
                        <a:defRPr sz="1000">
                          <a:solidFill>
                            <a:srgbClr val="4A3B32"/>
                          </a:solidFill>
                          <a:latin typeface="Calibri"/>
                        </a:defRPr>
                      </a:pPr>
                      <a:r>
                        <a:t>TDEV = c · (PM)^d</a:t>
                      </a:r>
                    </a:p>
                  </a:txBody>
                  <a:tcPr>
                    <a:solidFill>
                      <a:srgbClr val="FFFDFB"/>
                    </a:solidFill>
                  </a:tcPr>
                </a:tc>
                <a:tc>
                  <a:txBody>
                    <a:bodyPr/>
                    <a:lstStyle/>
                    <a:p>
                      <a:pPr algn="l">
                        <a:defRPr sz="1000">
                          <a:solidFill>
                            <a:srgbClr val="4A3B32"/>
                          </a:solidFill>
                          <a:latin typeface="Calibri"/>
                        </a:defRPr>
                      </a:pPr>
                      <a:r>
                        <a:t>TDEV = c · (PM_ajustado)^d</a:t>
                      </a:r>
                    </a:p>
                  </a:txBody>
                  <a:tcPr>
                    <a:solidFill>
                      <a:srgbClr val="FFFDFB"/>
                    </a:solidFill>
                  </a:tcPr>
                </a:tc>
                <a:tc>
                  <a:txBody>
                    <a:bodyPr/>
                    <a:lstStyle/>
                    <a:p>
                      <a:pPr algn="l">
                        <a:defRPr sz="1000">
                          <a:solidFill>
                            <a:srgbClr val="4A3B32"/>
                          </a:solidFill>
                          <a:latin typeface="Calibri"/>
                        </a:defRPr>
                      </a:pPr>
                      <a:r>
                        <a:t>Garantiza coherencia entre personal real y duración de calendario</a:t>
                      </a:r>
                    </a:p>
                  </a:txBody>
                  <a:tcPr>
                    <a:solidFill>
                      <a:srgbClr val="FFFDFB"/>
                    </a:solidFill>
                  </a:tcPr>
                </a:tc>
              </a:tr>
            </a:tbl>
          </a:graphicData>
        </a:graphic>
      </p:graphicFrame>
      <p:sp>
        <p:nvSpPr>
          <p:cNvPr id="7" name="Rounded Rectangle 6"/>
          <p:cNvSpPr/>
          <p:nvPr/>
        </p:nvSpPr>
        <p:spPr>
          <a:xfrm>
            <a:off x="731520" y="4480560"/>
            <a:ext cx="10728655" cy="1737360"/>
          </a:xfrm>
          <a:prstGeom prst="roundRect">
            <a:avLst/>
          </a:prstGeom>
          <a:solidFill>
            <a:srgbClr val="FFFDFB"/>
          </a:solidFill>
          <a:ln w="19050">
            <a:solidFill>
              <a:srgbClr val="C975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572000"/>
            <a:ext cx="10362895" cy="1554480"/>
          </a:xfrm>
          <a:prstGeom prst="rect">
            <a:avLst/>
          </a:prstGeom>
          <a:noFill/>
        </p:spPr>
        <p:txBody>
          <a:bodyPr wrap="square">
            <a:spAutoFit/>
          </a:bodyPr>
          <a:lstStyle/>
          <a:p>
            <a:pPr>
              <a:spcAft>
                <a:spcPts val="400"/>
              </a:spcAft>
              <a:defRPr sz="1300" b="1">
                <a:solidFill>
                  <a:srgbClr val="C97567"/>
                </a:solidFill>
                <a:latin typeface="Cambria"/>
              </a:defRPr>
            </a:pPr>
            <a:r>
              <a:t>CONCLUSIÓN METODOLÓGICA FINAL:</a:t>
            </a:r>
          </a:p>
          <a:p>
            <a:pPr>
              <a:defRPr sz="1100">
                <a:solidFill>
                  <a:srgbClr val="4A3B32"/>
                </a:solidFill>
                <a:latin typeface="Calibri"/>
              </a:defRPr>
            </a:pPr>
            <a:r>
              <a:t>El Modelo COCOMO Intermedio supera con creces las limitaciones del Modelo Básico al transformar estimaciones estáticas en modelos dinámicos sensibles a la realidad del equipo de ingeniería. La automatización en hoja de cálculo desarrollada en esta actividad dota a la dirección del proyecto de una herramienta formal, auditable y calibrada para la toma de decisiones estratégicas, negociación de honorarios y cumplimiento estricto de cronogramas.</a:t>
            </a:r>
          </a:p>
        </p:txBody>
      </p:sp>
      <p:sp>
        <p:nvSpPr>
          <p:cNvPr id="9" name="Rectangle 8"/>
          <p:cNvSpPr/>
          <p:nvPr/>
        </p:nvSpPr>
        <p:spPr>
          <a:xfrm>
            <a:off x="731520" y="6400800"/>
            <a:ext cx="10728655" cy="13716"/>
          </a:xfrm>
          <a:prstGeom prst="rect">
            <a:avLst/>
          </a:prstGeom>
          <a:solidFill>
            <a:srgbClr val="E8D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446520"/>
            <a:ext cx="8229600" cy="274320"/>
          </a:xfrm>
          <a:prstGeom prst="rect">
            <a:avLst/>
          </a:prstGeom>
          <a:noFill/>
        </p:spPr>
        <p:txBody>
          <a:bodyPr wrap="none" lIns="0" tIns="0" rIns="0" bIns="0">
            <a:spAutoFit/>
          </a:bodyPr>
          <a:lstStyle/>
          <a:p>
            <a:pPr>
              <a:defRPr sz="950">
                <a:solidFill>
                  <a:srgbClr val="8A7A6D"/>
                </a:solidFill>
                <a:latin typeface="Calibri"/>
              </a:defRPr>
            </a:pPr>
            <a:r>
              <a:t>Actividad 2.2: Problemas COCOMO Intermedio · Ernesto Fierro · Dr. Gabriel Navarro Salcedo</a:t>
            </a:r>
          </a:p>
        </p:txBody>
      </p:sp>
      <p:sp>
        <p:nvSpPr>
          <p:cNvPr id="11" name="TextBox 10"/>
          <p:cNvSpPr txBox="1"/>
          <p:nvPr/>
        </p:nvSpPr>
        <p:spPr>
          <a:xfrm>
            <a:off x="9144000" y="6446520"/>
            <a:ext cx="2316175" cy="274320"/>
          </a:xfrm>
          <a:prstGeom prst="rect">
            <a:avLst/>
          </a:prstGeom>
          <a:noFill/>
        </p:spPr>
        <p:txBody>
          <a:bodyPr wrap="none" lIns="0" tIns="0" rIns="0" bIns="0">
            <a:spAutoFit/>
          </a:bodyPr>
          <a:lstStyle/>
          <a:p>
            <a:pPr algn="r">
              <a:defRPr sz="950">
                <a:solidFill>
                  <a:srgbClr val="8A7A6D"/>
                </a:solidFill>
                <a:latin typeface="Calibri"/>
              </a:defRPr>
            </a:pPr>
            <a:r>
              <a:t>Diapositiva 11 de 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