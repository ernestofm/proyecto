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0:00 - 0:45):</a:t>
            </a:r>
          </a:p>
          <a:p>
            <a:r>
              <a:t>Buenos días, profesor Gabriel Navarro y compañeros. Presento el avance del Producto Integrador titulado: 'Monchis Café: Plataforma Web Segura para Cafetería Orgánica y Comercial'. En este proyecto abordamos la ingeniería de software no solo como una solución técnica, sino como un proyecto integral de gestión, aplicando rigurosamente los marcos estratégicos, operativos, estimación formal por COCOMO y metodologías ágiles SCRUM, alineados a la Agenda 2030 de la ONU.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0:45 - 1:30):</a:t>
            </a:r>
          </a:p>
          <a:p>
            <a:r>
              <a:t>El propósito de Monchis Café es conectar la rentabilidad de una cafetería artesanal con la sustentabilidad real. No seleccionamos los ODS al azar; cada uno impacta la arquitectura: el ODS 8 agiliza el POS y formaliza el comercio justo; el ODS 9 introduce ingeniería de software verde y microservicios orientados a eventos; el ODS 12 ataca directamente el desperdicio con incentivos para vasos reutilizables; y el ODS 16 garantiza transparencia contable y ciberseguridad con autenticación sin estado.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1:30 - 2:15):</a:t>
            </a:r>
          </a:p>
          <a:p>
            <a:r>
              <a:t>Para garantizar el éxito de un proyecto de 16 semanas, delimitamos estrictamente las fronteras del sistema bajo la técnica MoSCoW. En el alcance obligatorio incluimos el POS táctil, pagos mixtos, el patrón Saga para evitar pérdidas de inventario y la trazabilidad de lotes. Dejamos formalmente fuera de esta fase elementos que introducirían riesgo innecesario, como la facturación CFDI o apps móviles nativas, enfocando el 100% de la energía en la estabilidad y adopción en el punto de venta.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2:15 - 3:00):</a:t>
            </a:r>
          </a:p>
          <a:p>
            <a:r>
              <a:t>En el posicionamiento observamos una realidad crítica: las cafeterías artesanales sufren lentitud en el cobro, descuadres contables y mermas por café vencido en bodega. Monchis Café capitaliza la oportunidad: un nicho de clientes eco-conscientes que valoran el comercio justo. Nuestra propuesta no es solo cobrar café, sino fidelizar a través del impacto ecológico y la optimización de los márgenes del negocio.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3:00 - 3:45):</a:t>
            </a:r>
          </a:p>
          <a:p>
            <a:r>
              <a:t>El plan estratégico se diseñó bajo el Cuadro de Mando Integral (Balanced Scorecard). Alineamos la causa y efecto: capacitamos al equipo en procesos internos robustos (como el patrón Saga), lo que optimiza los tiempos y la experiencia del cliente, traduciéndose directamente en rentabilidad financiera y menor huella ecológica.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3:45 - 4:10):</a:t>
            </a:r>
          </a:p>
          <a:p>
            <a:r>
              <a:t>En la matriz DOFA identificamos con realismo los 4 cuadrantes. Internamente nos fortalecen la arquitectura monorepo resiliente con el Patrón Saga y la seguridad stateless. En el entorno externo, aprovechamos la creciente conciencia de consumo responsable de café. Reconocemos la debilidad de la infraestructura distribuida y la amenaza de intermitencia de internet, lo que nos lleva directamente a formular los 4 cruces estratégicos que veremos a continuación.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4:10 - 4:40):</a:t>
            </a:r>
          </a:p>
          <a:p>
            <a:r>
              <a:t>Aquí presentamos los 4 cruces estratégicos formalizados: En FO, usamos la trazabilidad y SEO para captar clientes desde Google Maps e Instagram; en DO, compensamos la falta de experiencia del personal con una UI sumamente intuitiva; en FA, protegemos la plataforma con seguridad stateless y reCAPTCHA contra fraudes; y en DA, implementamos persistencia offline en el POS para que una caída de internet no detenga las ventas en barra.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4:20 - 5:00):</a:t>
            </a:r>
          </a:p>
          <a:p>
            <a:r>
              <a:t>El plan operativo aterriza la estrategia en 8 sprints quincenales a lo largo de 16 semanas. Cada sprint tiene un entregable verificable con criterios de aceptación cuantificables (KPIs). Desde la base de datos en el Sprint 1 hasta el despliegue serverless con Terraform en el Sprint 8, garantizamos un desarrollo disciplinado con pruebas automatizadas continuas.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5:00 - 5:40):</a:t>
            </a:r>
          </a:p>
          <a:p>
            <a:r>
              <a:t>La metodología SCRUM organiza el flujo de trabajo en ciclos cortos de entrega de valor continuo. En mi rol de Scrum Master y desarrollador líder, me aseguro de que el backlog esté priorizado bajo criterios ODS y técnicos. Realizamos ceremonias formales de planificación quincenal, seguimiento diario de impedimentos y retrospectivas para garantizar que la deuda técnica se mantenga en cero antes de pasar a la siguiente fase.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5:40 - 6:30):</a:t>
            </a:r>
          </a:p>
          <a:p>
            <a:r>
              <a:t>Para la programación formal aplicamos el Método de la Ruta Crítica (CPM) mediante el grafo PERT. Calculamos tiempos tempranos, tiempos tardíos y holguras. La ruta crítica pasa obligatoriamente por el Backend Core, el broker de RabbitMQ, el módulo POS y las pruebas de QA. Actividades como el Frontend público o el Dashboard tienen holgura positiva, lo que permite absorber cualquier contingencia sin impactar el hito final de 16 semanas.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6:30 - 7:05):</a:t>
            </a:r>
          </a:p>
          <a:p>
            <a:r>
              <a:t>El histograma de recursos asegura que no existan picos de sobreasignación que pongan en riesgo al equipo ni la calidad del software. Las áreas de arquitectura y desarrollo mantienen una carga regular constante de 40 horas semanales, mientras que QA incrementa su dedicación de manera progresiva conforme el software madura, alcanzando el 100% de dedicación en las fases finales de pruebas multicapa y auditoría de ciberseguridad.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7:05 - 7:50):</a:t>
            </a:r>
          </a:p>
          <a:p>
            <a:r>
              <a:t>Aplicamos formalmente el modelo COCOMO 81. Estimamos un tamaño de 22.5 KLOC para todo el monorepo. En modo Semiacoplado, el modelo básico arroja 97.5 personas-mes y un tiempo de desarrollo teórico de 5 meses. Sin embargo, como señala la literatura de ingeniería de software, el modelo básico ignora multiplicadores de productividad modernos. Por eso procedemos a refinarlo con el Modelo COCOMO Intermedio mediante los 15 conductores de costo.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7:50 - 8:30):</a:t>
            </a:r>
          </a:p>
          <a:p>
            <a:r>
              <a:t>En el modelo COCOMO Intermedio evaluamos con rigor los 15 conductores de costo de Boehm distribuidos en dos bloques: a la izquierda los atributos de producto y plataforma, y a la derecha los de personal y proyecto. Aunque factores como la confiabilidad financiera RELY (1.15) y la complejidad distribuida CPLX (1.15) demandan más esfuerzo, la alta capacidad del equipo (ACAP=0.86, PCAP=0.86) y el uso de prácticas modernas como TDD y monorepo (MODP=0.82, TOOL=0.91) reducen el esfuerzo en un 20.5%, arrojando un EAF de 0.795 y un tiempo realista de 4.5 meses.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8:30 - 9:00):</a:t>
            </a:r>
          </a:p>
          <a:p>
            <a:r>
              <a:t>El presupuesto integral del proyecto asciende a $418,275 pesos mexicanos. El 85% corresponde a mano de obra especializada en desarrollo y QA. Aprovechamos servicios administrados en la nube para reducir costos fijos de servidores, e incorporamos formalmente un 10% de contingencia para amortiguar cualquier imprevisto técnico o de volatilidad cambiaria.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9:00 - 9:30):</a:t>
            </a:r>
          </a:p>
          <a:p>
            <a:r>
              <a:t>En el modelado UML destacamos la cohesión del dominio: la entidad Product se vincula a CoffeeBatch para trazar altitud, finca y fecha de tueste, cumpliendo con la política PEPS. Los casos de uso separan de forma estricta los privilegios: el cajero sólo opera transacciones de mostrador, mientras que el administrador audita mermas y canales de tráfico UTM.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9:30 - 10:00):</a:t>
            </a:r>
          </a:p>
          <a:p>
            <a:r>
              <a:t>Este diagrama de secuencia es el corazón de la resiliencia del software. Al procesar una venta, el orquestador Saga coordina la reserva de inventario y el cobro. Si la transacción financiera falla, RabbitMQ no deja cabos sueltos: emite de inmediato un evento compensatorio que libera el lote de café en la base de datos y avisa a la pantalla del barista. Así cumplimos con el ODS 16, garantizando total transparencia financiera.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10:00 - 10:20):</a:t>
            </a:r>
          </a:p>
          <a:p>
            <a:r>
              <a:t>En el diseño visual del POS priorizamos la ergonomía y la velocidad. El barista puede seleccionar productos, aplicar el bono ecológico de termo en un clic y registrar pagos mixtos con cálculo automático de cambio en menos de 15 segundos. Cumplimos además con accesibilidad universal WCAG 2.1 AA y un sistema de diseño cálido pastel altamente estético.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10:20 - 10:45):</a:t>
            </a:r>
          </a:p>
          <a:p>
            <a:r>
              <a:t>En conclusión, Monchis Café es un proyecto donde la ingeniería de software, la gestión rigurosa de proyectos y la sustentabilidad convergen armónicamente. El modelo COCOMO valida nuestra productividad, la planificación PERT blinda los tiempos de entrega y los principios ODS dotan al software de un propósito ético y rentable. Quedo atento a las preguntas y retroalimentación del profesor Gabriel Navarro. Muchas gracias.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645920"/>
            <a:ext cx="10332720" cy="4114800"/>
          </a:xfrm>
          <a:prstGeom prst="rect">
            <a:avLst/>
          </a:prstGeom>
          <a:noFill/>
        </p:spPr>
        <p:txBody>
          <a:bodyPr wrap="square">
            <a:spAutoFit/>
          </a:bodyPr>
          <a:lstStyle/>
          <a:p>
            <a:pPr>
              <a:defRPr sz="1600" b="1">
                <a:solidFill>
                  <a:srgbClr val="008080"/>
                </a:solidFill>
                <a:latin typeface="Calibri"/>
              </a:defRPr>
            </a:pPr>
            <a:r>
              <a:t>PRODUCTO INTEGRADOR: AVANCE DE PROYECTO</a:t>
            </a:r>
          </a:p>
          <a:p>
            <a:pPr>
              <a:spcBef>
                <a:spcPts val="1500"/>
              </a:spcBef>
              <a:defRPr sz="3000" b="1">
                <a:solidFill>
                  <a:srgbClr val="1B365D"/>
                </a:solidFill>
                <a:latin typeface="Calibri"/>
              </a:defRPr>
            </a:pPr>
            <a:r>
              <a:t>Monchis Café: Plataforma Web Segura para Cafetería Orgánica y Comercial</a:t>
            </a:r>
          </a:p>
          <a:p>
            <a:pPr>
              <a:spcBef>
                <a:spcPts val="1000"/>
              </a:spcBef>
              <a:defRPr sz="1600">
                <a:solidFill>
                  <a:srgbClr val="6C757D"/>
                </a:solidFill>
                <a:latin typeface="Calibri"/>
              </a:defRPr>
            </a:pPr>
            <a:r>
              <a:t>Planificación Estratégica, Plan Operativo, Estimación COCOMO y Arquitectura de Software Alineada a los ODS</a:t>
            </a:r>
          </a:p>
          <a:p>
            <a:pPr>
              <a:spcBef>
                <a:spcPts val="3500"/>
              </a:spcBef>
              <a:defRPr sz="1300" b="1">
                <a:solidFill>
                  <a:srgbClr val="212529"/>
                </a:solidFill>
                <a:latin typeface="Calibri"/>
              </a:defRPr>
            </a:pPr>
            <a:r>
              <a:t>Materia: Unidad 1. Administración de Proyectos  |  Docente: Dr. Gabriel Navarro Salcedo</a:t>
            </a:r>
            <a:br/>
            <a:r>
              <a:t>Autor y Líder de Proyecto: Ernesto Fierro  |  Fecha: Septiembre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08080"/>
                </a:solidFill>
                <a:latin typeface="Calibri"/>
              </a:defRPr>
            </a:pPr>
            <a:r>
              <a:t>PRODUCTO INTEGRADOR — ADMINISTRACIÓN DE PROYECTOS</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1B365D"/>
                </a:solidFill>
                <a:latin typeface="Calibri"/>
              </a:defRPr>
            </a:pPr>
            <a:r>
              <a:t>1. Introducción: Propósito del Sistema y Marco ODS (Agenda 2030)</a:t>
            </a:r>
          </a:p>
        </p:txBody>
      </p:sp>
      <p:sp>
        <p:nvSpPr>
          <p:cNvPr id="4" name="TextBox 3"/>
          <p:cNvSpPr txBox="1"/>
          <p:nvPr/>
        </p:nvSpPr>
        <p:spPr>
          <a:xfrm>
            <a:off x="731520" y="1463040"/>
            <a:ext cx="10698480" cy="4754880"/>
          </a:xfrm>
          <a:prstGeom prst="rect">
            <a:avLst/>
          </a:prstGeom>
          <a:noFill/>
        </p:spPr>
        <p:txBody>
          <a:bodyPr wrap="square">
            <a:spAutoFit/>
          </a:bodyPr>
          <a:lstStyle/>
          <a:p>
            <a:pPr>
              <a:spcBef>
                <a:spcPts val="800"/>
              </a:spcBef>
              <a:defRPr b="1" sz="1300">
                <a:solidFill>
                  <a:srgbClr val="1B365D"/>
                </a:solidFill>
              </a:defRPr>
            </a:pPr>
            <a:r>
              <a:t>• Propósito Central del Software: </a:t>
            </a:r>
            <a:r>
              <a:rPr b="0">
                <a:solidFill>
                  <a:srgbClr val="212529"/>
                </a:solidFill>
              </a:rPr>
              <a:t>Desarrollar una plataforma integral y resiliente que resuelva los cuellos de botella operativos en mostrador (POS), garantice la trazabilidad del café orgánico de especialidad y fidelice a los clientes mediante incentivos ecológicos.</a:t>
            </a:r>
          </a:p>
          <a:p>
            <a:pPr>
              <a:spcBef>
                <a:spcPts val="800"/>
              </a:spcBef>
              <a:defRPr b="1" sz="1300">
                <a:solidFill>
                  <a:srgbClr val="1B365D"/>
                </a:solidFill>
              </a:defRPr>
            </a:pPr>
            <a:r>
              <a:t>• ODS 8: Trabajo Decente y Crecimiento Económico (Metas 8.2 y 8.3): </a:t>
            </a:r>
            <a:r>
              <a:rPr b="0">
                <a:solidFill>
                  <a:srgbClr val="212529"/>
                </a:solidFill>
              </a:rPr>
              <a:t>Formaliza las operaciones de la cafetería y cooperativas cafetaleras de Chiapas/Oaxaca, agiliza los cobros en barra reduciendo el estrés laboral del barista y elimina pérdidas por errores de caja.</a:t>
            </a:r>
          </a:p>
          <a:p>
            <a:pPr>
              <a:spcBef>
                <a:spcPts val="800"/>
              </a:spcBef>
              <a:defRPr b="1" sz="1300">
                <a:solidFill>
                  <a:srgbClr val="1B365D"/>
                </a:solidFill>
              </a:defRPr>
            </a:pPr>
            <a:r>
              <a:t>• ODS 9: Industria, Innovación e Infraestructura (Metas 9.4 y 9.c): </a:t>
            </a:r>
            <a:r>
              <a:rPr b="0">
                <a:solidFill>
                  <a:srgbClr val="212529"/>
                </a:solidFill>
              </a:rPr>
              <a:t>Infraestructura cloud basada en monorepo de alto rendimiento (Turborepo), colas RabbitMQ con patrón Saga para consistencia de transacciones y principios de Green Software Engineering (menor consumo de CPU/servidores con SSG).</a:t>
            </a:r>
          </a:p>
          <a:p>
            <a:pPr>
              <a:spcBef>
                <a:spcPts val="800"/>
              </a:spcBef>
              <a:defRPr b="1" sz="1300">
                <a:solidFill>
                  <a:srgbClr val="1B365D"/>
                </a:solidFill>
              </a:defRPr>
            </a:pPr>
            <a:r>
              <a:t>• ODS 12: Producción y Consumo Responsables (Metas 12.2, 12.5 y 12.8): </a:t>
            </a:r>
            <a:r>
              <a:rPr b="0">
                <a:solidFill>
                  <a:srgbClr val="212529"/>
                </a:solidFill>
              </a:rPr>
              <a:t>Sistema 'Monchis Rewards' que bonifica el uso de termos reutilizables (reduciendo más de 4,500 vasos desechables semestrales) y control PEPS de caducidades para evitar desperdicio de insumos.</a:t>
            </a:r>
          </a:p>
          <a:p>
            <a:pPr>
              <a:spcBef>
                <a:spcPts val="800"/>
              </a:spcBef>
              <a:defRPr b="1" sz="1300">
                <a:solidFill>
                  <a:srgbClr val="1B365D"/>
                </a:solidFill>
              </a:defRPr>
            </a:pPr>
            <a:r>
              <a:t>• ODS 16: Paz, Justicia e Instituciones Sólidas (Metas 16.5 y 16.6): </a:t>
            </a:r>
            <a:r>
              <a:rPr b="0">
                <a:solidFill>
                  <a:srgbClr val="212529"/>
                </a:solidFill>
              </a:rPr>
              <a:t>Transparencia transaccional absoluta, auditoría inmutable en base de datos y seguridad estricta stateless (JWT + reCAPTCHA) protegiendo la privacidad ciudadana sin brechas de datos.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08080"/>
                </a:solidFill>
                <a:latin typeface="Calibri"/>
              </a:defRPr>
            </a:pPr>
            <a:r>
              <a:t>PRODUCTO INTEGRADOR — ADMINISTRACIÓN DE PROYECTOS</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1B365D"/>
                </a:solidFill>
                <a:latin typeface="Calibri"/>
              </a:defRPr>
            </a:pPr>
            <a:r>
              <a:t>2. Introducción: Alcance del Sistema y Priorización MoSCoW</a:t>
            </a:r>
          </a:p>
        </p:txBody>
      </p:sp>
      <p:sp>
        <p:nvSpPr>
          <p:cNvPr id="4" name="TextBox 3"/>
          <p:cNvSpPr txBox="1"/>
          <p:nvPr/>
        </p:nvSpPr>
        <p:spPr>
          <a:xfrm>
            <a:off x="731520" y="1463040"/>
            <a:ext cx="5120640" cy="4754880"/>
          </a:xfrm>
          <a:prstGeom prst="rect">
            <a:avLst/>
          </a:prstGeom>
          <a:noFill/>
        </p:spPr>
        <p:txBody>
          <a:bodyPr wrap="square">
            <a:spAutoFit/>
          </a:bodyPr>
          <a:lstStyle/>
          <a:p>
            <a:pPr>
              <a:defRPr b="1" sz="1400">
                <a:solidFill>
                  <a:srgbClr val="1B365D"/>
                </a:solidFill>
              </a:defRPr>
            </a:pPr>
            <a:r>
              <a:t>DENTRO DEL ALCANCE (IN-SCOPE) — FASE 1</a:t>
            </a:r>
          </a:p>
          <a:p>
            <a:pPr>
              <a:spcBef>
                <a:spcPts val="600"/>
              </a:spcBef>
              <a:defRPr sz="1100">
                <a:solidFill>
                  <a:srgbClr val="212529"/>
                </a:solidFill>
              </a:defRPr>
            </a:pPr>
            <a:r>
              <a:t>✓ Arquitectura Monorepo modular (Vue 3 + Next.js API + Prisma).</a:t>
            </a:r>
          </a:p>
          <a:p>
            <a:pPr>
              <a:spcBef>
                <a:spcPts val="600"/>
              </a:spcBef>
              <a:defRPr sz="1100">
                <a:solidFill>
                  <a:srgbClr val="212529"/>
                </a:solidFill>
              </a:defRPr>
            </a:pPr>
            <a:r>
              <a:t>✓ Punto de Venta (POS) web táctil optimizado para barra.</a:t>
            </a:r>
          </a:p>
          <a:p>
            <a:pPr>
              <a:spcBef>
                <a:spcPts val="600"/>
              </a:spcBef>
              <a:defRPr sz="1100">
                <a:solidFill>
                  <a:srgbClr val="212529"/>
                </a:solidFill>
              </a:defRPr>
            </a:pPr>
            <a:r>
              <a:t>✓ Módulo de cobro mixto: Efectivo (cálculo de cambio), tarjeta, SPEI y puntos.</a:t>
            </a:r>
          </a:p>
          <a:p>
            <a:pPr>
              <a:spcBef>
                <a:spcPts val="600"/>
              </a:spcBef>
              <a:defRPr sz="1100">
                <a:solidFill>
                  <a:srgbClr val="212529"/>
                </a:solidFill>
              </a:defRPr>
            </a:pPr>
            <a:r>
              <a:t>✓ Resiliencia de transacciones: Patrón Saga con colas RabbitMQ y reversas automáticas.</a:t>
            </a:r>
          </a:p>
          <a:p>
            <a:pPr>
              <a:spcBef>
                <a:spcPts val="600"/>
              </a:spcBef>
              <a:defRPr sz="1100">
                <a:solidFill>
                  <a:srgbClr val="212529"/>
                </a:solidFill>
              </a:defRPr>
            </a:pPr>
            <a:r>
              <a:t>✓ Módulo 'Monchis Rewards' con sellos digitales y bono ecológico por termo.</a:t>
            </a:r>
          </a:p>
          <a:p>
            <a:pPr>
              <a:spcBef>
                <a:spcPts val="600"/>
              </a:spcBef>
              <a:defRPr sz="1100">
                <a:solidFill>
                  <a:srgbClr val="212529"/>
                </a:solidFill>
              </a:defRPr>
            </a:pPr>
            <a:r>
              <a:t>✓ Trazabilidad de lotes orgánicos (finca, altura, tueste y caducidad PEPS).</a:t>
            </a:r>
          </a:p>
          <a:p>
            <a:pPr>
              <a:spcBef>
                <a:spcPts val="600"/>
              </a:spcBef>
              <a:defRPr sz="1100">
                <a:solidFill>
                  <a:srgbClr val="212529"/>
                </a:solidFill>
              </a:defRPr>
            </a:pPr>
            <a:r>
              <a:t>✓ Panel de administración con atribución de marketing UTM (Google Maps vs Instagram).</a:t>
            </a:r>
          </a:p>
          <a:p>
            <a:pPr>
              <a:spcBef>
                <a:spcPts val="600"/>
              </a:spcBef>
              <a:defRPr sz="1100">
                <a:solidFill>
                  <a:srgbClr val="212529"/>
                </a:solidFill>
              </a:defRPr>
            </a:pPr>
            <a:r>
              <a:t>✓ Prerenderizado SEO con vite-ssg y esquemas estructurados Schema.org.</a:t>
            </a:r>
          </a:p>
        </p:txBody>
      </p:sp>
      <p:sp>
        <p:nvSpPr>
          <p:cNvPr id="5" name="TextBox 4"/>
          <p:cNvSpPr txBox="1"/>
          <p:nvPr/>
        </p:nvSpPr>
        <p:spPr>
          <a:xfrm>
            <a:off x="6217920" y="1463040"/>
            <a:ext cx="5212080" cy="4754880"/>
          </a:xfrm>
          <a:prstGeom prst="rect">
            <a:avLst/>
          </a:prstGeom>
          <a:noFill/>
        </p:spPr>
        <p:txBody>
          <a:bodyPr wrap="square">
            <a:spAutoFit/>
          </a:bodyPr>
          <a:lstStyle/>
          <a:p>
            <a:pPr>
              <a:defRPr b="1" sz="1400">
                <a:solidFill>
                  <a:srgbClr val="008080"/>
                </a:solidFill>
              </a:defRPr>
            </a:pPr>
            <a:r>
              <a:t>FUERA DEL ALCANCE (OUT-OF-SCOPE) — POSTERGADO</a:t>
            </a:r>
          </a:p>
          <a:p>
            <a:pPr>
              <a:spcBef>
                <a:spcPts val="600"/>
              </a:spcBef>
              <a:defRPr sz="1100">
                <a:solidFill>
                  <a:srgbClr val="6C757D"/>
                </a:solidFill>
              </a:defRPr>
            </a:pPr>
            <a:r>
              <a:t>✗ Facturación electrónica oficial ante el SAT (CFDI 4.0) — Planificada para Fase 2.</a:t>
            </a:r>
          </a:p>
          <a:p>
            <a:pPr>
              <a:spcBef>
                <a:spcPts val="600"/>
              </a:spcBef>
              <a:defRPr sz="1100">
                <a:solidFill>
                  <a:srgbClr val="6C757D"/>
                </a:solidFill>
              </a:defRPr>
            </a:pPr>
            <a:r>
              <a:t>✗ Desarrollo de aplicaciones móviles nativas iOS/Android (se opera como PWA/Web responsive).</a:t>
            </a:r>
          </a:p>
          <a:p>
            <a:pPr>
              <a:spcBef>
                <a:spcPts val="600"/>
              </a:spcBef>
              <a:defRPr sz="1100">
                <a:solidFill>
                  <a:srgbClr val="6C757D"/>
                </a:solidFill>
              </a:defRPr>
            </a:pPr>
            <a:r>
              <a:t>✗ Integración con flotillas de reparto de terceros tipo Uber Eats / Rappi.</a:t>
            </a:r>
          </a:p>
          <a:p>
            <a:pPr>
              <a:spcBef>
                <a:spcPts val="600"/>
              </a:spcBef>
              <a:defRPr sz="1100">
                <a:solidFill>
                  <a:srgbClr val="6C757D"/>
                </a:solidFill>
              </a:defRPr>
            </a:pPr>
            <a:r>
              <a:t>✗ Hardware POS propietario bespoke (se utiliza tablet comercial estándar de 10.5").</a:t>
            </a:r>
          </a:p>
          <a:p>
            <a:pPr>
              <a:spcBef>
                <a:spcPts val="600"/>
              </a:spcBef>
              <a:defRPr sz="1100">
                <a:solidFill>
                  <a:srgbClr val="6C757D"/>
                </a:solidFill>
              </a:defRPr>
            </a:pPr>
            <a:r>
              <a:t>✗ Sensores IoT integrados en tolvas de molienda en tiempo real.</a:t>
            </a:r>
          </a:p>
          <a:p>
            <a:pPr>
              <a:spcBef>
                <a:spcPts val="600"/>
              </a:spcBef>
              <a:defRPr sz="1100">
                <a:solidFill>
                  <a:srgbClr val="6C757D"/>
                </a:solidFill>
              </a:defRPr>
            </a:pPr>
            <a:r>
              <a:t>✗ Pasarelas de cobro con criptoactivos.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08080"/>
                </a:solidFill>
                <a:latin typeface="Calibri"/>
              </a:defRPr>
            </a:pPr>
            <a:r>
              <a:t>PRODUCTO INTEGRADOR — ADMINISTRACIÓN DE PROYECTOS</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1B365D"/>
                </a:solidFill>
                <a:latin typeface="Calibri"/>
              </a:defRPr>
            </a:pPr>
            <a:r>
              <a:t>3. Posicionamiento: Planteamiento del Problema y Oportunidad</a:t>
            </a:r>
          </a:p>
        </p:txBody>
      </p:sp>
      <p:sp>
        <p:nvSpPr>
          <p:cNvPr id="4" name="TextBox 3"/>
          <p:cNvSpPr txBox="1"/>
          <p:nvPr/>
        </p:nvSpPr>
        <p:spPr>
          <a:xfrm>
            <a:off x="731520" y="1463040"/>
            <a:ext cx="5120640" cy="4754880"/>
          </a:xfrm>
          <a:prstGeom prst="rect">
            <a:avLst/>
          </a:prstGeom>
          <a:noFill/>
        </p:spPr>
        <p:txBody>
          <a:bodyPr wrap="square">
            <a:spAutoFit/>
          </a:bodyPr>
          <a:lstStyle/>
          <a:p>
            <a:pPr>
              <a:defRPr b="1" sz="1400">
                <a:solidFill>
                  <a:srgbClr val="1B365D"/>
                </a:solidFill>
              </a:defRPr>
            </a:pPr>
            <a:r>
              <a:t>PLANTEAMIENTO DEL PROBLEMA</a:t>
            </a:r>
          </a:p>
          <a:p>
            <a:pPr>
              <a:spcBef>
                <a:spcPts val="800"/>
              </a:spcBef>
              <a:defRPr b="1" sz="1100">
                <a:solidFill>
                  <a:srgbClr val="212529"/>
                </a:solidFill>
              </a:defRPr>
            </a:pPr>
            <a:r>
              <a:t>• Ineficiencia y Errores en Barra: </a:t>
            </a:r>
            <a:r>
              <a:rPr b="0"/>
              <a:t>Tiempos de cobro superiores a 2.5 minutos en horas pico y descuadres continuos en arqueo de caja por falta de control de pagos mixtos.</a:t>
            </a:r>
          </a:p>
          <a:p>
            <a:pPr>
              <a:spcBef>
                <a:spcPts val="800"/>
              </a:spcBef>
              <a:defRPr b="1" sz="1100">
                <a:solidFill>
                  <a:srgbClr val="212529"/>
                </a:solidFill>
              </a:defRPr>
            </a:pPr>
            <a:r>
              <a:t>• Pérdida Económica por Mermas: </a:t>
            </a:r>
            <a:r>
              <a:rPr b="0"/>
              <a:t>El café de especialidad pierde frescura a los 21-30 días; sin trazabilidad PEPS automatizada, se generan mermas de insumos de alto costo.</a:t>
            </a:r>
          </a:p>
          <a:p>
            <a:pPr>
              <a:spcBef>
                <a:spcPts val="800"/>
              </a:spcBef>
              <a:defRPr b="1" sz="1100">
                <a:solidFill>
                  <a:srgbClr val="212529"/>
                </a:solidFill>
              </a:defRPr>
            </a:pPr>
            <a:r>
              <a:t>• Impacto Ambiental No Mitigado: </a:t>
            </a:r>
            <a:r>
              <a:rPr b="0"/>
              <a:t>Uso desmedido de vasos plásticos y cartón plastificado de un solo uso por falta de un sistema digital de incentivos al cliente.</a:t>
            </a:r>
          </a:p>
          <a:p>
            <a:pPr>
              <a:spcBef>
                <a:spcPts val="800"/>
              </a:spcBef>
              <a:defRPr b="1" sz="1100">
                <a:solidFill>
                  <a:srgbClr val="212529"/>
                </a:solidFill>
              </a:defRPr>
            </a:pPr>
            <a:r>
              <a:t>• Opacidad con Productores: </a:t>
            </a:r>
            <a:r>
              <a:rPr b="0"/>
              <a:t>Falta de visibilidad de las cooperativas agrícolas regionales de Chiapas y Oaxaca en la experiencia final del consumidor.</a:t>
            </a:r>
          </a:p>
        </p:txBody>
      </p:sp>
      <p:sp>
        <p:nvSpPr>
          <p:cNvPr id="5" name="TextBox 4"/>
          <p:cNvSpPr txBox="1"/>
          <p:nvPr/>
        </p:nvSpPr>
        <p:spPr>
          <a:xfrm>
            <a:off x="6217920" y="1463040"/>
            <a:ext cx="5212080" cy="4754880"/>
          </a:xfrm>
          <a:prstGeom prst="rect">
            <a:avLst/>
          </a:prstGeom>
          <a:noFill/>
        </p:spPr>
        <p:txBody>
          <a:bodyPr wrap="square">
            <a:spAutoFit/>
          </a:bodyPr>
          <a:lstStyle/>
          <a:p>
            <a:pPr>
              <a:defRPr b="1" sz="1400">
                <a:solidFill>
                  <a:srgbClr val="008080"/>
                </a:solidFill>
              </a:defRPr>
            </a:pPr>
            <a:r>
              <a:t>OPORTUNIDAD DE NEGOCIO Y PROPUESTA DE VALOR</a:t>
            </a:r>
          </a:p>
          <a:p>
            <a:pPr>
              <a:spcBef>
                <a:spcPts val="800"/>
              </a:spcBef>
              <a:defRPr b="1" sz="1100">
                <a:solidFill>
                  <a:srgbClr val="212529"/>
                </a:solidFill>
              </a:defRPr>
            </a:pPr>
            <a:r>
              <a:t>• Mercado de Café Consciente en Auge: </a:t>
            </a:r>
            <a:r>
              <a:rPr b="0"/>
              <a:t>Incremento anual del 18% en la preferencia de consumidores por cafeterías con trazabilidad ética y prácticas ecológicas verificables.</a:t>
            </a:r>
          </a:p>
          <a:p>
            <a:pPr>
              <a:spcBef>
                <a:spcPts val="800"/>
              </a:spcBef>
              <a:defRPr b="1" sz="1100">
                <a:solidFill>
                  <a:srgbClr val="212529"/>
                </a:solidFill>
              </a:defRPr>
            </a:pPr>
            <a:r>
              <a:t>• Digitalización Ágil y de Bajo Costo: </a:t>
            </a:r>
            <a:r>
              <a:rPr b="0"/>
              <a:t>Sustitución de costosos sistemas POS tradicionales de renta mensual por una solución web moderna, rápida y personalizada.</a:t>
            </a:r>
          </a:p>
          <a:p>
            <a:pPr>
              <a:spcBef>
                <a:spcPts val="800"/>
              </a:spcBef>
              <a:defRPr b="1" sz="1100">
                <a:solidFill>
                  <a:srgbClr val="212529"/>
                </a:solidFill>
              </a:defRPr>
            </a:pPr>
            <a:r>
              <a:t>• Fidelización Directa 'Eco-Friendly': </a:t>
            </a:r>
            <a:r>
              <a:rPr b="0"/>
              <a:t>Monchis Rewards convierte el hábito de llevar termo en descuentos automáticos y cashback digital, reteniendo al cliente local.</a:t>
            </a:r>
          </a:p>
          <a:p>
            <a:pPr>
              <a:spcBef>
                <a:spcPts val="800"/>
              </a:spcBef>
              <a:defRPr b="1" sz="1100">
                <a:solidFill>
                  <a:srgbClr val="212529"/>
                </a:solidFill>
              </a:defRPr>
            </a:pPr>
            <a:r>
              <a:t>• Atribución de Marketing Geolocalizado: </a:t>
            </a:r>
            <a:r>
              <a:rPr b="0"/>
              <a:t>Identificación de si el cliente llega por recomendación en Google Maps o Instagram para enfocar la inversión publicitaria.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08080"/>
                </a:solidFill>
                <a:latin typeface="Calibri"/>
              </a:defRPr>
            </a:pPr>
            <a:r>
              <a:t>PRODUCTO INTEGRADOR — ADMINISTRACIÓN DE PROYECTOS</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1B365D"/>
                </a:solidFill>
                <a:latin typeface="Calibri"/>
              </a:defRPr>
            </a:pPr>
            <a:r>
              <a:t>4. Planeación Estratégica: Identidad y Balanced Scorecard</a:t>
            </a:r>
          </a:p>
        </p:txBody>
      </p:sp>
      <p:sp>
        <p:nvSpPr>
          <p:cNvPr id="4" name="TextBox 3"/>
          <p:cNvSpPr txBox="1"/>
          <p:nvPr/>
        </p:nvSpPr>
        <p:spPr>
          <a:xfrm>
            <a:off x="731520" y="1463040"/>
            <a:ext cx="10698480" cy="4754880"/>
          </a:xfrm>
          <a:prstGeom prst="rect">
            <a:avLst/>
          </a:prstGeom>
          <a:noFill/>
        </p:spPr>
        <p:txBody>
          <a:bodyPr wrap="square">
            <a:spAutoFit/>
          </a:bodyPr>
          <a:lstStyle/>
          <a:p>
            <a:pPr>
              <a:defRPr sz="1100" i="1">
                <a:solidFill>
                  <a:srgbClr val="212529"/>
                </a:solidFill>
              </a:defRPr>
            </a:pPr>
            <a:r>
              <a:t>Misión: Brindar una experiencia gastronómica de café de especialidad superior, apalancada en tecnología limpia que certifique el origen ético del grano y erradique el desperdicio de insumos en beneficio de nuestra comunidad y el medio ambiente.</a:t>
            </a:r>
          </a:p>
          <a:p>
            <a:pPr>
              <a:spcBef>
                <a:spcPts val="600"/>
              </a:spcBef>
              <a:defRPr sz="1100" i="1">
                <a:solidFill>
                  <a:srgbClr val="212529"/>
                </a:solidFill>
              </a:defRPr>
            </a:pPr>
            <a:r>
              <a:t>Visión: Convertirnos para 2028 en la cadena de cafeterías artesanales líder regional en transformación digital sostenible, siendo un modelo replicable de economía circular y Green IT en el sector restaurantero.</a:t>
            </a:r>
          </a:p>
          <a:p>
            <a:pPr>
              <a:spcBef>
                <a:spcPts val="1400"/>
              </a:spcBef>
              <a:defRPr b="1" sz="1200">
                <a:solidFill>
                  <a:srgbClr val="1B365D"/>
                </a:solidFill>
              </a:defRPr>
            </a:pPr>
            <a:r>
              <a:t>MAPA ESTRATÉGICO DE CUATRO PERSPECTIVAS (BALANCED SCORECARD):</a:t>
            </a:r>
          </a:p>
          <a:p>
            <a:pPr>
              <a:spcBef>
                <a:spcPts val="600"/>
              </a:spcBef>
              <a:defRPr b="1" sz="1100">
                <a:solidFill>
                  <a:srgbClr val="008080"/>
                </a:solidFill>
              </a:defRPr>
            </a:pPr>
            <a:r>
              <a:t>• Perspectiva Financiera &amp; Sostenible (ODS 8 y 12): </a:t>
            </a:r>
            <a:r>
              <a:rPr b="0">
                <a:solidFill>
                  <a:srgbClr val="212529"/>
                </a:solidFill>
              </a:rPr>
              <a:t>Maximizar el margen bruto reduciendo mermas a &lt;1.5% y disminuyendo el costo operativo de empaques desechables.</a:t>
            </a:r>
          </a:p>
          <a:p>
            <a:pPr>
              <a:spcBef>
                <a:spcPts val="600"/>
              </a:spcBef>
              <a:defRPr b="1" sz="1100">
                <a:solidFill>
                  <a:srgbClr val="008080"/>
                </a:solidFill>
              </a:defRPr>
            </a:pPr>
            <a:r>
              <a:t>• Perspectiva del Cliente (ODS 12 y 16): </a:t>
            </a:r>
            <a:r>
              <a:rPr b="0">
                <a:solidFill>
                  <a:srgbClr val="212529"/>
                </a:solidFill>
              </a:rPr>
              <a:t>Reducir el tiempo de espera en mostrador a &lt;30 segundos y visibilizar la historia de los productores en cada ticket digital.</a:t>
            </a:r>
          </a:p>
          <a:p>
            <a:pPr>
              <a:spcBef>
                <a:spcPts val="600"/>
              </a:spcBef>
              <a:defRPr b="1" sz="1100">
                <a:solidFill>
                  <a:srgbClr val="008080"/>
                </a:solidFill>
              </a:defRPr>
            </a:pPr>
            <a:r>
              <a:t>• Perspectiva de Procesos Internos (ODS 9 y 16): </a:t>
            </a:r>
            <a:r>
              <a:rPr b="0">
                <a:solidFill>
                  <a:srgbClr val="212529"/>
                </a:solidFill>
              </a:rPr>
              <a:t>Cero discrepancias contables gracias al Patrón Saga con RabbitMQ y política PEPS automática en el inventario.</a:t>
            </a:r>
          </a:p>
          <a:p>
            <a:pPr>
              <a:spcBef>
                <a:spcPts val="600"/>
              </a:spcBef>
              <a:defRPr b="1" sz="1100">
                <a:solidFill>
                  <a:srgbClr val="008080"/>
                </a:solidFill>
              </a:defRPr>
            </a:pPr>
            <a:r>
              <a:t>• Perspectiva de Aprendizaje y Crecimiento (ODS 8 y 9): </a:t>
            </a:r>
            <a:r>
              <a:rPr b="0">
                <a:solidFill>
                  <a:srgbClr val="212529"/>
                </a:solidFill>
              </a:rPr>
              <a:t>Adopción de estándares de ingeniería de software moderna (TDD, Monorepo, CI/CD) y cultura ágil de alta eficiencia.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08080"/>
                </a:solidFill>
                <a:latin typeface="Calibri"/>
              </a:defRPr>
            </a:pPr>
            <a:r>
              <a:t>PRODUCTO INTEGRADOR — ADMINISTRACIÓN DE PROYECTOS</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1B365D"/>
                </a:solidFill>
                <a:latin typeface="Calibri"/>
              </a:defRPr>
            </a:pPr>
            <a:r>
              <a:t>5. Planeación Estratégica: Matriz DOFA (Diagnóstico Interno y Externo)</a:t>
            </a:r>
          </a:p>
        </p:txBody>
      </p:sp>
      <p:graphicFrame>
        <p:nvGraphicFramePr>
          <p:cNvPr id="4" name="Table 3"/>
          <p:cNvGraphicFramePr>
            <a:graphicFrameLocks noGrp="1"/>
          </p:cNvGraphicFramePr>
          <p:nvPr/>
        </p:nvGraphicFramePr>
        <p:xfrm>
          <a:off x="731520" y="1463040"/>
          <a:ext cx="10698480" cy="4572000"/>
        </p:xfrm>
        <a:graphic>
          <a:graphicData uri="http://schemas.openxmlformats.org/drawingml/2006/table">
            <a:tbl>
              <a:tblPr firstRow="1" bandRow="1">
                <a:tableStyleId>{5C22544A-7EE6-4342-B048-85BDC9FD1C3A}</a:tableStyleId>
              </a:tblPr>
              <a:tblGrid>
                <a:gridCol w="5303520"/>
                <a:gridCol w="5394960"/>
              </a:tblGrid>
              <a:tr h="1524000">
                <a:tc>
                  <a:txBody>
                    <a:bodyPr/>
                    <a:lstStyle/>
                    <a:p>
                      <a:pPr>
                        <a:defRPr b="1" sz="1100">
                          <a:solidFill>
                            <a:srgbClr val="FFFFFF"/>
                          </a:solidFill>
                        </a:defRPr>
                      </a:pPr>
                      <a:r>
                        <a:t>FACTORES INTERNOS</a:t>
                      </a:r>
                    </a:p>
                  </a:txBody>
                  <a:tcPr>
                    <a:solidFill>
                      <a:srgbClr val="1B365D"/>
                    </a:solidFill>
                  </a:tcPr>
                </a:tc>
                <a:tc>
                  <a:txBody>
                    <a:bodyPr/>
                    <a:lstStyle/>
                    <a:p>
                      <a:pPr>
                        <a:defRPr b="1" sz="1100">
                          <a:solidFill>
                            <a:srgbClr val="FFFFFF"/>
                          </a:solidFill>
                        </a:defRPr>
                      </a:pPr>
                      <a:r>
                        <a:t>FACTORES EXTERNOS</a:t>
                      </a:r>
                    </a:p>
                  </a:txBody>
                  <a:tcPr>
                    <a:solidFill>
                      <a:srgbClr val="1B365D"/>
                    </a:solidFill>
                  </a:tcPr>
                </a:tc>
              </a:tr>
              <a:tr h="1524000">
                <a:tc>
                  <a:txBody>
                    <a:bodyPr/>
                    <a:lstStyle/>
                    <a:p>
                      <a:pPr>
                        <a:defRPr sz="950">
                          <a:solidFill>
                            <a:srgbClr val="212529"/>
                          </a:solidFill>
                        </a:defRPr>
                      </a:pPr>
                      <a:r>
                        <a:t>FORTALEZAS (F)</a:t>
                      </a:r>
                    </a:p>
                    <a:p>
                      <a:pPr>
                        <a:defRPr sz="950">
                          <a:solidFill>
                            <a:srgbClr val="212529"/>
                          </a:solidFill>
                        </a:defRPr>
                      </a:pPr>
                      <a:r>
                        <a:t>• F1: Arquitectura desacoplada (Monorepo Turborepo + Vue 3 + Next.js).</a:t>
                      </a:r>
                    </a:p>
                    <a:p>
                      <a:pPr>
                        <a:defRPr sz="950">
                          <a:solidFill>
                            <a:srgbClr val="212529"/>
                          </a:solidFill>
                        </a:defRPr>
                      </a:pPr>
                      <a:r>
                        <a:t>• F2: Resiliencia transaccional con Patrón Saga y colas RabbitMQ.</a:t>
                      </a:r>
                    </a:p>
                    <a:p>
                      <a:pPr>
                        <a:defRPr sz="950">
                          <a:solidFill>
                            <a:srgbClr val="212529"/>
                          </a:solidFill>
                        </a:defRPr>
                      </a:pPr>
                      <a:r>
                        <a:t>• F3: Propuesta ODS diferenciada (trazabilidad y bono ecológico).</a:t>
                      </a:r>
                    </a:p>
                    <a:p>
                      <a:pPr>
                        <a:defRPr sz="950">
                          <a:solidFill>
                            <a:srgbClr val="212529"/>
                          </a:solidFill>
                        </a:defRPr>
                      </a:pPr>
                      <a:r>
                        <a:t>• F4: Ciberseguridad por diseño (autenticación stateless JWT + reCAPTCHA).</a:t>
                      </a:r>
                    </a:p>
                  </a:txBody>
                  <a:tcPr>
                    <a:solidFill>
                      <a:srgbClr val="F5F7FA"/>
                    </a:solidFill>
                  </a:tcPr>
                </a:tc>
                <a:tc>
                  <a:txBody>
                    <a:bodyPr/>
                    <a:lstStyle/>
                    <a:p>
                      <a:pPr>
                        <a:defRPr sz="950">
                          <a:solidFill>
                            <a:srgbClr val="212529"/>
                          </a:solidFill>
                        </a:defRPr>
                      </a:pPr>
                      <a:r>
                        <a:t>OPORTUNIDADES (O)</a:t>
                      </a:r>
                    </a:p>
                    <a:p>
                      <a:pPr>
                        <a:defRPr sz="950">
                          <a:solidFill>
                            <a:srgbClr val="212529"/>
                          </a:solidFill>
                        </a:defRPr>
                      </a:pPr>
                      <a:r>
                        <a:t>• O1: Creciente demanda comunitaria de café sustentable y comercio justo.</a:t>
                      </a:r>
                    </a:p>
                    <a:p>
                      <a:pPr>
                        <a:defRPr sz="950">
                          <a:solidFill>
                            <a:srgbClr val="212529"/>
                          </a:solidFill>
                        </a:defRPr>
                      </a:pPr>
                      <a:r>
                        <a:t>• O2: Vacío tecnológico en soluciones accesibles para cafeterías artesanales.</a:t>
                      </a:r>
                    </a:p>
                    <a:p>
                      <a:pPr>
                        <a:defRPr sz="950">
                          <a:solidFill>
                            <a:srgbClr val="212529"/>
                          </a:solidFill>
                        </a:defRPr>
                      </a:pPr>
                      <a:r>
                        <a:t>• O3: Canales de captación geolocalizados gratuitos (Google Maps / Instagram).</a:t>
                      </a:r>
                    </a:p>
                    <a:p>
                      <a:pPr>
                        <a:defRPr sz="950">
                          <a:solidFill>
                            <a:srgbClr val="212529"/>
                          </a:solidFill>
                        </a:defRPr>
                      </a:pPr>
                      <a:r>
                        <a:t>• O4: Acceso a estímulos de emprendimiento verde y sustentabilidad.</a:t>
                      </a:r>
                    </a:p>
                  </a:txBody>
                  <a:tcPr>
                    <a:solidFill>
                      <a:srgbClr val="F5F7FA"/>
                    </a:solidFill>
                  </a:tcPr>
                </a:tc>
              </a:tr>
              <a:tr h="1524000">
                <a:tc>
                  <a:txBody>
                    <a:bodyPr/>
                    <a:lstStyle/>
                    <a:p>
                      <a:pPr>
                        <a:defRPr sz="950">
                          <a:solidFill>
                            <a:srgbClr val="212529"/>
                          </a:solidFill>
                        </a:defRPr>
                      </a:pPr>
                      <a:r>
                        <a:t>DEBILIDADES (D)</a:t>
                      </a:r>
                    </a:p>
                    <a:p>
                      <a:pPr>
                        <a:defRPr sz="950">
                          <a:solidFill>
                            <a:srgbClr val="212529"/>
                          </a:solidFill>
                        </a:defRPr>
                      </a:pPr>
                      <a:r>
                        <a:t>• D1: Complejidad técnica inicial en infraestructura distribuida.</a:t>
                      </a:r>
                    </a:p>
                    <a:p>
                      <a:pPr>
                        <a:defRPr sz="950">
                          <a:solidFill>
                            <a:srgbClr val="212529"/>
                          </a:solidFill>
                        </a:defRPr>
                      </a:pPr>
                      <a:r>
                        <a:t>• D2: Curva de aprendizaje del personal de barra en lectura de códigos y POS.</a:t>
                      </a:r>
                    </a:p>
                    <a:p>
                      <a:pPr>
                        <a:defRPr sz="950">
                          <a:solidFill>
                            <a:srgbClr val="212529"/>
                          </a:solidFill>
                        </a:defRPr>
                      </a:pPr>
                      <a:r>
                        <a:t>• D3: Equipo de desarrollo compacto que exige priorización rigurosa.</a:t>
                      </a:r>
                    </a:p>
                  </a:txBody>
                  <a:tcPr>
                    <a:solidFill>
                      <a:srgbClr val="F5F7FA"/>
                    </a:solidFill>
                  </a:tcPr>
                </a:tc>
                <a:tc>
                  <a:txBody>
                    <a:bodyPr/>
                    <a:lstStyle/>
                    <a:p>
                      <a:pPr>
                        <a:defRPr sz="950">
                          <a:solidFill>
                            <a:srgbClr val="212529"/>
                          </a:solidFill>
                        </a:defRPr>
                      </a:pPr>
                      <a:r>
                        <a:t>AMENAZAS (A)</a:t>
                      </a:r>
                    </a:p>
                    <a:p>
                      <a:pPr>
                        <a:defRPr sz="950">
                          <a:solidFill>
                            <a:srgbClr val="212529"/>
                          </a:solidFill>
                        </a:defRPr>
                      </a:pPr>
                      <a:r>
                        <a:t>• A1: Intermitencia de conectividad a internet en la zona de la cafetería.</a:t>
                      </a:r>
                    </a:p>
                    <a:p>
                      <a:pPr>
                        <a:defRPr sz="950">
                          <a:solidFill>
                            <a:srgbClr val="212529"/>
                          </a:solidFill>
                        </a:defRPr>
                      </a:pPr>
                      <a:r>
                        <a:t>• A2: Competencia de franquicias corporativas con apps y monederos masivos.</a:t>
                      </a:r>
                    </a:p>
                    <a:p>
                      <a:pPr>
                        <a:defRPr sz="950">
                          <a:solidFill>
                            <a:srgbClr val="212529"/>
                          </a:solidFill>
                        </a:defRPr>
                      </a:pPr>
                      <a:r>
                        <a:t>• A3: Inflación en precios de insumos agrícolas y grano de especialidad.</a:t>
                      </a:r>
                    </a:p>
                    <a:p>
                      <a:pPr>
                        <a:defRPr sz="950">
                          <a:solidFill>
                            <a:srgbClr val="212529"/>
                          </a:solidFill>
                        </a:defRPr>
                      </a:pPr>
                      <a:r>
                        <a:t>• A4: Ataques automatizados y fraude transaccional en pasarelas web.</a:t>
                      </a:r>
                    </a:p>
                  </a:txBody>
                  <a:tcPr>
                    <a:solidFill>
                      <a:srgbClr val="F5F7FA"/>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08080"/>
                </a:solidFill>
                <a:latin typeface="Calibri"/>
              </a:defRPr>
            </a:pPr>
            <a:r>
              <a:t>PRODUCTO INTEGRADOR — ADMINISTRACIÓN DE PROYECTOS</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1B365D"/>
                </a:solidFill>
                <a:latin typeface="Calibri"/>
              </a:defRPr>
            </a:pPr>
            <a:r>
              <a:t>6. Planeación Estratégica: Matriz de Cruces Estratégicos (FO, DO, FA, DA)</a:t>
            </a:r>
          </a:p>
        </p:txBody>
      </p:sp>
      <p:graphicFrame>
        <p:nvGraphicFramePr>
          <p:cNvPr id="4" name="Table 3"/>
          <p:cNvGraphicFramePr>
            <a:graphicFrameLocks noGrp="1"/>
          </p:cNvGraphicFramePr>
          <p:nvPr/>
        </p:nvGraphicFramePr>
        <p:xfrm>
          <a:off x="731520" y="1463040"/>
          <a:ext cx="10698480" cy="4754880"/>
        </p:xfrm>
        <a:graphic>
          <a:graphicData uri="http://schemas.openxmlformats.org/drawingml/2006/table">
            <a:tbl>
              <a:tblPr firstRow="1" bandRow="1">
                <a:tableStyleId>{5C22544A-7EE6-4342-B048-85BDC9FD1C3A}</a:tableStyleId>
              </a:tblPr>
              <a:tblGrid>
                <a:gridCol w="5303520"/>
                <a:gridCol w="5394960"/>
              </a:tblGrid>
              <a:tr h="2377440">
                <a:tc>
                  <a:txBody>
                    <a:bodyPr wrap="square"/>
                    <a:lstStyle/>
                    <a:p>
                      <a:pPr>
                        <a:defRPr b="1" sz="1100">
                          <a:solidFill>
                            <a:srgbClr val="1B365D"/>
                          </a:solidFill>
                        </a:defRPr>
                      </a:pPr>
                      <a:r>
                        <a:t>ESTRATEGIAS FO (Maxi-Maxi): Usar Fortalezas para aprovechar Oportunidades</a:t>
                      </a:r>
                    </a:p>
                    <a:p>
                      <a:pPr>
                        <a:spcBef>
                          <a:spcPts val="400"/>
                        </a:spcBef>
                        <a:defRPr sz="950">
                          <a:solidFill>
                            <a:srgbClr val="212529"/>
                          </a:solidFill>
                        </a:defRPr>
                      </a:pPr>
                      <a:r>
                        <a:t>• E-FO1 (F3, F5 + O1, O3): Campañas de Marketing Geolocalizado con Trazabilidad ODS.</a:t>
                      </a:r>
                      <a:br/>
                      <a:r>
                        <a:t>Lanzar campañas en Instagram y Google Maps destacando el origen de las fincas regionales y el bono de -$5.00 por termo ecológico, midiendo la conversión directa con el panel de atribución UTM.</a:t>
                      </a:r>
                    </a:p>
                  </a:txBody>
                  <a:tcPr>
                    <a:solidFill>
                      <a:srgbClr val="F5F7FA"/>
                    </a:solidFill>
                  </a:tcPr>
                </a:tc>
                <a:tc>
                  <a:txBody>
                    <a:bodyPr wrap="square"/>
                    <a:lstStyle/>
                    <a:p>
                      <a:pPr>
                        <a:defRPr b="1" sz="1100">
                          <a:solidFill>
                            <a:srgbClr val="008080"/>
                          </a:solidFill>
                        </a:defRPr>
                      </a:pPr>
                      <a:r>
                        <a:t>ESTRATEGIAS DO (Mini-Maxi): Superar Debilidades aprovechando Oportunidades</a:t>
                      </a:r>
                    </a:p>
                    <a:p>
                      <a:pPr>
                        <a:spcBef>
                          <a:spcPts val="400"/>
                        </a:spcBef>
                        <a:defRPr sz="950">
                          <a:solidFill>
                            <a:srgbClr val="212529"/>
                          </a:solidFill>
                        </a:defRPr>
                      </a:pPr>
                      <a:r>
                        <a:t>• E-DO1 (D2 + O2): Capacitación Acelerada mediante UI Táctil Intuitiva.</a:t>
                      </a:r>
                      <a:br/>
                      <a:r>
                        <a:t>Diseñar interfaces táctiles minimalistas con flujos asistidos en el POS para capacitar a los baristas en menos de 2 horas, posicionando a la cafetería como líder en modernización tecnológica accesible.</a:t>
                      </a:r>
                    </a:p>
                  </a:txBody>
                  <a:tcPr>
                    <a:solidFill>
                      <a:srgbClr val="F5F7FA"/>
                    </a:solidFill>
                  </a:tcPr>
                </a:tc>
              </a:tr>
              <a:tr h="2377440">
                <a:tc>
                  <a:txBody>
                    <a:bodyPr wrap="square"/>
                    <a:lstStyle/>
                    <a:p>
                      <a:pPr>
                        <a:defRPr b="1" sz="1100">
                          <a:solidFill>
                            <a:srgbClr val="008080"/>
                          </a:solidFill>
                        </a:defRPr>
                      </a:pPr>
                      <a:r>
                        <a:t>ESTRATEGIAS FA (Maxi-Mini): Usar Fortalezas para neutralizar Amenazas</a:t>
                      </a:r>
                    </a:p>
                    <a:p>
                      <a:pPr>
                        <a:spcBef>
                          <a:spcPts val="400"/>
                        </a:spcBef>
                        <a:defRPr sz="950">
                          <a:solidFill>
                            <a:srgbClr val="212529"/>
                          </a:solidFill>
                        </a:defRPr>
                      </a:pPr>
                      <a:r>
                        <a:t>• E-FA1 (F4 + A4): Blindaje de Ciberseguridad Stateless y Anti-Fraude.</a:t>
                      </a:r>
                      <a:br/>
                      <a:r>
                        <a:t>Neutralizar ataques automatizados y fraudes en pasarelas mediante rate limiting en Redis, reCAPTCHA v2/v3 y tokens JWT sin estado, protegiendo las transacciones sin elevar costos de licenciamiento.</a:t>
                      </a:r>
                    </a:p>
                  </a:txBody>
                  <a:tcPr>
                    <a:solidFill>
                      <a:srgbClr val="F5F7FA"/>
                    </a:solidFill>
                  </a:tcPr>
                </a:tc>
                <a:tc>
                  <a:txBody>
                    <a:bodyPr wrap="square"/>
                    <a:lstStyle/>
                    <a:p>
                      <a:pPr>
                        <a:defRPr b="1" sz="1100">
                          <a:solidFill>
                            <a:srgbClr val="B40000"/>
                          </a:solidFill>
                        </a:defRPr>
                      </a:pPr>
                      <a:r>
                        <a:t>ESTRATEGIAS DA (Mini-Mini): Minimizar Debilidades y eludir Amenazas</a:t>
                      </a:r>
                    </a:p>
                    <a:p>
                      <a:pPr>
                        <a:spcBef>
                          <a:spcPts val="400"/>
                        </a:spcBef>
                        <a:defRPr sz="950">
                          <a:solidFill>
                            <a:srgbClr val="212529"/>
                          </a:solidFill>
                        </a:defRPr>
                      </a:pPr>
                      <a:r>
                        <a:t>• E-DA1 (D1 + A1): Resiliencia Offline en POS con Almacenamiento Local.</a:t>
                      </a:r>
                      <a:br/>
                      <a:r>
                        <a:t>Implementar cola de transacciones en caché del navegador (Pinia / LocalStorage) para que interrupciones momentáneas del internet local no impidan continuar cobrando órdenes en mostrador.</a:t>
                      </a:r>
                    </a:p>
                  </a:txBody>
                  <a:tcPr>
                    <a:solidFill>
                      <a:srgbClr val="F5F7FA"/>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08080"/>
                </a:solidFill>
                <a:latin typeface="Calibri"/>
              </a:defRPr>
            </a:pPr>
            <a:r>
              <a:t>PRODUCTO INTEGRADOR — ADMINISTRACIÓN DE PROYECTOS</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1B365D"/>
                </a:solidFill>
                <a:latin typeface="Calibri"/>
              </a:defRPr>
            </a:pPr>
            <a:r>
              <a:t>7. Planeación Operativa: Estructura de Sprints (16 Semanas)</a:t>
            </a:r>
          </a:p>
        </p:txBody>
      </p:sp>
      <p:graphicFrame>
        <p:nvGraphicFramePr>
          <p:cNvPr id="4" name="Table 3"/>
          <p:cNvGraphicFramePr>
            <a:graphicFrameLocks noGrp="1"/>
          </p:cNvGraphicFramePr>
          <p:nvPr/>
        </p:nvGraphicFramePr>
        <p:xfrm>
          <a:off x="731520" y="1463040"/>
          <a:ext cx="10698480" cy="4754880"/>
        </p:xfrm>
        <a:graphic>
          <a:graphicData uri="http://schemas.openxmlformats.org/drawingml/2006/table">
            <a:tbl>
              <a:tblPr firstRow="1" bandRow="1">
                <a:tableStyleId>{5C22544A-7EE6-4342-B048-85BDC9FD1C3A}</a:tableStyleId>
              </a:tblPr>
              <a:tblGrid>
                <a:gridCol w="1371600"/>
                <a:gridCol w="2011680"/>
                <a:gridCol w="5120640"/>
                <a:gridCol w="2194560"/>
              </a:tblGrid>
              <a:tr h="528320">
                <a:tc>
                  <a:txBody>
                    <a:bodyPr/>
                    <a:lstStyle/>
                    <a:p>
                      <a:pPr>
                        <a:defRPr b="1" sz="1000">
                          <a:solidFill>
                            <a:srgbClr val="FFFFFF"/>
                          </a:solidFill>
                        </a:defRPr>
                      </a:pPr>
                      <a:r>
                        <a:t>SPRINT / TIEMPO</a:t>
                      </a:r>
                    </a:p>
                  </a:txBody>
                  <a:tcPr>
                    <a:solidFill>
                      <a:srgbClr val="1B365D"/>
                    </a:solidFill>
                  </a:tcPr>
                </a:tc>
                <a:tc>
                  <a:txBody>
                    <a:bodyPr/>
                    <a:lstStyle/>
                    <a:p>
                      <a:pPr>
                        <a:defRPr b="1" sz="1000">
                          <a:solidFill>
                            <a:srgbClr val="FFFFFF"/>
                          </a:solidFill>
                        </a:defRPr>
                      </a:pPr>
                      <a:r>
                        <a:t>FASE DEL PROYECTO</a:t>
                      </a:r>
                    </a:p>
                  </a:txBody>
                  <a:tcPr>
                    <a:solidFill>
                      <a:srgbClr val="1B365D"/>
                    </a:solidFill>
                  </a:tcPr>
                </a:tc>
                <a:tc>
                  <a:txBody>
                    <a:bodyPr/>
                    <a:lstStyle/>
                    <a:p>
                      <a:pPr>
                        <a:defRPr b="1" sz="1000">
                          <a:solidFill>
                            <a:srgbClr val="FFFFFF"/>
                          </a:solidFill>
                        </a:defRPr>
                      </a:pPr>
                      <a:r>
                        <a:t>OBJETIVO OPERATIVO Y ENTREGABLE CLAVE</a:t>
                      </a:r>
                    </a:p>
                  </a:txBody>
                  <a:tcPr>
                    <a:solidFill>
                      <a:srgbClr val="1B365D"/>
                    </a:solidFill>
                  </a:tcPr>
                </a:tc>
                <a:tc>
                  <a:txBody>
                    <a:bodyPr/>
                    <a:lstStyle/>
                    <a:p>
                      <a:pPr>
                        <a:defRPr b="1" sz="1000">
                          <a:solidFill>
                            <a:srgbClr val="FFFFFF"/>
                          </a:solidFill>
                        </a:defRPr>
                      </a:pPr>
                      <a:r>
                        <a:t>CRITERIO DE ÉXITO</a:t>
                      </a:r>
                    </a:p>
                  </a:txBody>
                  <a:tcPr>
                    <a:solidFill>
                      <a:srgbClr val="1B365D"/>
                    </a:solidFill>
                  </a:tcPr>
                </a:tc>
              </a:tr>
              <a:tr h="528320">
                <a:tc>
                  <a:txBody>
                    <a:bodyPr/>
                    <a:lstStyle/>
                    <a:p>
                      <a:pPr>
                        <a:defRPr sz="900">
                          <a:solidFill>
                            <a:srgbClr val="212529"/>
                          </a:solidFill>
                        </a:defRPr>
                      </a:pPr>
                      <a:r>
                        <a:t>Sprint 1 (Sem 1-2)</a:t>
                      </a:r>
                    </a:p>
                  </a:txBody>
                  <a:tcPr>
                    <a:solidFill>
                      <a:srgbClr val="FFFFFF"/>
                    </a:solidFill>
                  </a:tcPr>
                </a:tc>
                <a:tc>
                  <a:txBody>
                    <a:bodyPr/>
                    <a:lstStyle/>
                    <a:p>
                      <a:pPr>
                        <a:defRPr sz="900">
                          <a:solidFill>
                            <a:srgbClr val="212529"/>
                          </a:solidFill>
                        </a:defRPr>
                      </a:pPr>
                      <a:r>
                        <a:t>Fase 1: Infraestructura</a:t>
                      </a:r>
                    </a:p>
                  </a:txBody>
                  <a:tcPr>
                    <a:solidFill>
                      <a:srgbClr val="FFFFFF"/>
                    </a:solidFill>
                  </a:tcPr>
                </a:tc>
                <a:tc>
                  <a:txBody>
                    <a:bodyPr/>
                    <a:lstStyle/>
                    <a:p>
                      <a:pPr>
                        <a:defRPr sz="900">
                          <a:solidFill>
                            <a:srgbClr val="212529"/>
                          </a:solidFill>
                        </a:defRPr>
                      </a:pPr>
                      <a:r>
                        <a:t>Monorepo Turborepo, esquema Prisma PostgreSQL y Docker local.</a:t>
                      </a:r>
                    </a:p>
                  </a:txBody>
                  <a:tcPr>
                    <a:solidFill>
                      <a:srgbClr val="FFFFFF"/>
                    </a:solidFill>
                  </a:tcPr>
                </a:tc>
                <a:tc>
                  <a:txBody>
                    <a:bodyPr/>
                    <a:lstStyle/>
                    <a:p>
                      <a:pPr>
                        <a:defRPr sz="900">
                          <a:solidFill>
                            <a:srgbClr val="212529"/>
                          </a:solidFill>
                        </a:defRPr>
                      </a:pPr>
                      <a:r>
                        <a:t>Build en &lt;45s, 0 errores.</a:t>
                      </a:r>
                    </a:p>
                  </a:txBody>
                  <a:tcPr>
                    <a:solidFill>
                      <a:srgbClr val="FFFFFF"/>
                    </a:solidFill>
                  </a:tcPr>
                </a:tc>
              </a:tr>
              <a:tr h="528320">
                <a:tc>
                  <a:txBody>
                    <a:bodyPr/>
                    <a:lstStyle/>
                    <a:p>
                      <a:pPr>
                        <a:defRPr sz="900">
                          <a:solidFill>
                            <a:srgbClr val="212529"/>
                          </a:solidFill>
                        </a:defRPr>
                      </a:pPr>
                      <a:r>
                        <a:t>Sprint 2 (Sem 3-4)</a:t>
                      </a:r>
                    </a:p>
                  </a:txBody>
                  <a:tcPr>
                    <a:solidFill>
                      <a:srgbClr val="F5F7FA"/>
                    </a:solidFill>
                  </a:tcPr>
                </a:tc>
                <a:tc>
                  <a:txBody>
                    <a:bodyPr/>
                    <a:lstStyle/>
                    <a:p>
                      <a:pPr>
                        <a:defRPr sz="900">
                          <a:solidFill>
                            <a:srgbClr val="212529"/>
                          </a:solidFill>
                        </a:defRPr>
                      </a:pPr>
                      <a:r>
                        <a:t>Fase 2: Seguridad Core</a:t>
                      </a:r>
                    </a:p>
                  </a:txBody>
                  <a:tcPr>
                    <a:solidFill>
                      <a:srgbClr val="F5F7FA"/>
                    </a:solidFill>
                  </a:tcPr>
                </a:tc>
                <a:tc>
                  <a:txBody>
                    <a:bodyPr/>
                    <a:lstStyle/>
                    <a:p>
                      <a:pPr>
                        <a:defRPr sz="900">
                          <a:solidFill>
                            <a:srgbClr val="212529"/>
                          </a:solidFill>
                        </a:defRPr>
                      </a:pPr>
                      <a:r>
                        <a:t>Auth stateless JWT rotativo, RBAC y Google reCAPTCHA v2/v3.</a:t>
                      </a:r>
                    </a:p>
                  </a:txBody>
                  <a:tcPr>
                    <a:solidFill>
                      <a:srgbClr val="F5F7FA"/>
                    </a:solidFill>
                  </a:tcPr>
                </a:tc>
                <a:tc>
                  <a:txBody>
                    <a:bodyPr/>
                    <a:lstStyle/>
                    <a:p>
                      <a:pPr>
                        <a:defRPr sz="900">
                          <a:solidFill>
                            <a:srgbClr val="212529"/>
                          </a:solidFill>
                        </a:defRPr>
                      </a:pPr>
                      <a:r>
                        <a:t>100% tests unitarios auth.</a:t>
                      </a:r>
                    </a:p>
                  </a:txBody>
                  <a:tcPr>
                    <a:solidFill>
                      <a:srgbClr val="F5F7FA"/>
                    </a:solidFill>
                  </a:tcPr>
                </a:tc>
              </a:tr>
              <a:tr h="528320">
                <a:tc>
                  <a:txBody>
                    <a:bodyPr/>
                    <a:lstStyle/>
                    <a:p>
                      <a:pPr>
                        <a:defRPr sz="900">
                          <a:solidFill>
                            <a:srgbClr val="212529"/>
                          </a:solidFill>
                        </a:defRPr>
                      </a:pPr>
                      <a:r>
                        <a:t>Sprint 3 (Sem 5-6)</a:t>
                      </a:r>
                    </a:p>
                  </a:txBody>
                  <a:tcPr>
                    <a:solidFill>
                      <a:srgbClr val="FFFFFF"/>
                    </a:solidFill>
                  </a:tcPr>
                </a:tc>
                <a:tc>
                  <a:txBody>
                    <a:bodyPr/>
                    <a:lstStyle/>
                    <a:p>
                      <a:pPr>
                        <a:defRPr sz="900">
                          <a:solidFill>
                            <a:srgbClr val="212529"/>
                          </a:solidFill>
                        </a:defRPr>
                      </a:pPr>
                      <a:r>
                        <a:t>Fase 2: Broker &amp; Saga</a:t>
                      </a:r>
                    </a:p>
                  </a:txBody>
                  <a:tcPr>
                    <a:solidFill>
                      <a:srgbClr val="FFFFFF"/>
                    </a:solidFill>
                  </a:tcPr>
                </a:tc>
                <a:tc>
                  <a:txBody>
                    <a:bodyPr/>
                    <a:lstStyle/>
                    <a:p>
                      <a:pPr>
                        <a:defRPr sz="900">
                          <a:solidFill>
                            <a:srgbClr val="212529"/>
                          </a:solidFill>
                        </a:defRPr>
                      </a:pPr>
                      <a:r>
                        <a:t>Topic Exchange RabbitMQ, colas de retardo y reversas automáticas.</a:t>
                      </a:r>
                    </a:p>
                  </a:txBody>
                  <a:tcPr>
                    <a:solidFill>
                      <a:srgbClr val="FFFFFF"/>
                    </a:solidFill>
                  </a:tcPr>
                </a:tc>
                <a:tc>
                  <a:txBody>
                    <a:bodyPr/>
                    <a:lstStyle/>
                    <a:p>
                      <a:pPr>
                        <a:defRPr sz="900">
                          <a:solidFill>
                            <a:srgbClr val="212529"/>
                          </a:solidFill>
                        </a:defRPr>
                      </a:pPr>
                      <a:r>
                        <a:t>Compensación en &lt;500ms.</a:t>
                      </a:r>
                    </a:p>
                  </a:txBody>
                  <a:tcPr>
                    <a:solidFill>
                      <a:srgbClr val="FFFFFF"/>
                    </a:solidFill>
                  </a:tcPr>
                </a:tc>
              </a:tr>
              <a:tr h="528320">
                <a:tc>
                  <a:txBody>
                    <a:bodyPr/>
                    <a:lstStyle/>
                    <a:p>
                      <a:pPr>
                        <a:defRPr sz="900">
                          <a:solidFill>
                            <a:srgbClr val="212529"/>
                          </a:solidFill>
                        </a:defRPr>
                      </a:pPr>
                      <a:r>
                        <a:t>Sprint 4 (Sem 7-8)</a:t>
                      </a:r>
                    </a:p>
                  </a:txBody>
                  <a:tcPr>
                    <a:solidFill>
                      <a:srgbClr val="F5F7FA"/>
                    </a:solidFill>
                  </a:tcPr>
                </a:tc>
                <a:tc>
                  <a:txBody>
                    <a:bodyPr/>
                    <a:lstStyle/>
                    <a:p>
                      <a:pPr>
                        <a:defRPr sz="900">
                          <a:solidFill>
                            <a:srgbClr val="212529"/>
                          </a:solidFill>
                        </a:defRPr>
                      </a:pPr>
                      <a:r>
                        <a:t>Fase 3: Frontend &amp; SEO</a:t>
                      </a:r>
                    </a:p>
                  </a:txBody>
                  <a:tcPr>
                    <a:solidFill>
                      <a:srgbClr val="F5F7FA"/>
                    </a:solidFill>
                  </a:tcPr>
                </a:tc>
                <a:tc>
                  <a:txBody>
                    <a:bodyPr/>
                    <a:lstStyle/>
                    <a:p>
                      <a:pPr>
                        <a:defRPr sz="900">
                          <a:solidFill>
                            <a:srgbClr val="212529"/>
                          </a:solidFill>
                        </a:defRPr>
                      </a:pPr>
                      <a:r>
                        <a:t>Vistas públicas Vue 3, tokens pastel y prerender con vite-ssg.</a:t>
                      </a:r>
                    </a:p>
                  </a:txBody>
                  <a:tcPr>
                    <a:solidFill>
                      <a:srgbClr val="F5F7FA"/>
                    </a:solidFill>
                  </a:tcPr>
                </a:tc>
                <a:tc>
                  <a:txBody>
                    <a:bodyPr/>
                    <a:lstStyle/>
                    <a:p>
                      <a:pPr>
                        <a:defRPr sz="900">
                          <a:solidFill>
                            <a:srgbClr val="212529"/>
                          </a:solidFill>
                        </a:defRPr>
                      </a:pPr>
                      <a:r>
                        <a:t>Lighthouse SEO = 100/100.</a:t>
                      </a:r>
                    </a:p>
                  </a:txBody>
                  <a:tcPr>
                    <a:solidFill>
                      <a:srgbClr val="F5F7FA"/>
                    </a:solidFill>
                  </a:tcPr>
                </a:tc>
              </a:tr>
              <a:tr h="528320">
                <a:tc>
                  <a:txBody>
                    <a:bodyPr/>
                    <a:lstStyle/>
                    <a:p>
                      <a:pPr>
                        <a:defRPr sz="900">
                          <a:solidFill>
                            <a:srgbClr val="212529"/>
                          </a:solidFill>
                        </a:defRPr>
                      </a:pPr>
                      <a:r>
                        <a:t>Sprint 5 (Sem 9-10)</a:t>
                      </a:r>
                    </a:p>
                  </a:txBody>
                  <a:tcPr>
                    <a:solidFill>
                      <a:srgbClr val="FFFFFF"/>
                    </a:solidFill>
                  </a:tcPr>
                </a:tc>
                <a:tc>
                  <a:txBody>
                    <a:bodyPr/>
                    <a:lstStyle/>
                    <a:p>
                      <a:pPr>
                        <a:defRPr sz="900">
                          <a:solidFill>
                            <a:srgbClr val="212529"/>
                          </a:solidFill>
                        </a:defRPr>
                      </a:pPr>
                      <a:r>
                        <a:t>Fase 4: POS &amp; Cobro</a:t>
                      </a:r>
                    </a:p>
                  </a:txBody>
                  <a:tcPr>
                    <a:solidFill>
                      <a:srgbClr val="FFFFFF"/>
                    </a:solidFill>
                  </a:tcPr>
                </a:tc>
                <a:tc>
                  <a:txBody>
                    <a:bodyPr/>
                    <a:lstStyle/>
                    <a:p>
                      <a:pPr>
                        <a:defRPr sz="900">
                          <a:solidFill>
                            <a:srgbClr val="212529"/>
                          </a:solidFill>
                        </a:defRPr>
                      </a:pPr>
                      <a:r>
                        <a:t>Interfaz táctil de barra, escaneo QR y soporte de pagos mixtos.</a:t>
                      </a:r>
                    </a:p>
                  </a:txBody>
                  <a:tcPr>
                    <a:solidFill>
                      <a:srgbClr val="FFFFFF"/>
                    </a:solidFill>
                  </a:tcPr>
                </a:tc>
                <a:tc>
                  <a:txBody>
                    <a:bodyPr/>
                    <a:lstStyle/>
                    <a:p>
                      <a:pPr>
                        <a:defRPr sz="900">
                          <a:solidFill>
                            <a:srgbClr val="212529"/>
                          </a:solidFill>
                        </a:defRPr>
                      </a:pPr>
                      <a:r>
                        <a:t>Registro de venta &lt;15s.</a:t>
                      </a:r>
                    </a:p>
                  </a:txBody>
                  <a:tcPr>
                    <a:solidFill>
                      <a:srgbClr val="FFFFFF"/>
                    </a:solidFill>
                  </a:tcPr>
                </a:tc>
              </a:tr>
              <a:tr h="528320">
                <a:tc>
                  <a:txBody>
                    <a:bodyPr/>
                    <a:lstStyle/>
                    <a:p>
                      <a:pPr>
                        <a:defRPr sz="900">
                          <a:solidFill>
                            <a:srgbClr val="212529"/>
                          </a:solidFill>
                        </a:defRPr>
                      </a:pPr>
                      <a:r>
                        <a:t>Sprint 6 (Sem 11-12)</a:t>
                      </a:r>
                    </a:p>
                  </a:txBody>
                  <a:tcPr>
                    <a:solidFill>
                      <a:srgbClr val="F5F7FA"/>
                    </a:solidFill>
                  </a:tcPr>
                </a:tc>
                <a:tc>
                  <a:txBody>
                    <a:bodyPr/>
                    <a:lstStyle/>
                    <a:p>
                      <a:pPr>
                        <a:defRPr sz="900">
                          <a:solidFill>
                            <a:srgbClr val="212529"/>
                          </a:solidFill>
                        </a:defRPr>
                      </a:pPr>
                      <a:r>
                        <a:t>Fase 4: ODS &amp; Rewards</a:t>
                      </a:r>
                    </a:p>
                  </a:txBody>
                  <a:tcPr>
                    <a:solidFill>
                      <a:srgbClr val="F5F7FA"/>
                    </a:solidFill>
                  </a:tcPr>
                </a:tc>
                <a:tc>
                  <a:txBody>
                    <a:bodyPr/>
                    <a:lstStyle/>
                    <a:p>
                      <a:pPr>
                        <a:defRPr sz="900">
                          <a:solidFill>
                            <a:srgbClr val="212529"/>
                          </a:solidFill>
                        </a:defRPr>
                      </a:pPr>
                      <a:r>
                        <a:t>Trazabilidad de lotes orgánicos y motor de bonos por termo.</a:t>
                      </a:r>
                    </a:p>
                  </a:txBody>
                  <a:tcPr>
                    <a:solidFill>
                      <a:srgbClr val="F5F7FA"/>
                    </a:solidFill>
                  </a:tcPr>
                </a:tc>
                <a:tc>
                  <a:txBody>
                    <a:bodyPr/>
                    <a:lstStyle/>
                    <a:p>
                      <a:pPr>
                        <a:defRPr sz="900">
                          <a:solidFill>
                            <a:srgbClr val="212529"/>
                          </a:solidFill>
                        </a:defRPr>
                      </a:pPr>
                      <a:r>
                        <a:t>100% lotes con origen.</a:t>
                      </a:r>
                    </a:p>
                  </a:txBody>
                  <a:tcPr>
                    <a:solidFill>
                      <a:srgbClr val="F5F7FA"/>
                    </a:solidFill>
                  </a:tcPr>
                </a:tc>
              </a:tr>
              <a:tr h="528320">
                <a:tc>
                  <a:txBody>
                    <a:bodyPr/>
                    <a:lstStyle/>
                    <a:p>
                      <a:pPr>
                        <a:defRPr sz="900">
                          <a:solidFill>
                            <a:srgbClr val="212529"/>
                          </a:solidFill>
                        </a:defRPr>
                      </a:pPr>
                      <a:r>
                        <a:t>Sprint 7 (Sem 13-14)</a:t>
                      </a:r>
                    </a:p>
                  </a:txBody>
                  <a:tcPr>
                    <a:solidFill>
                      <a:srgbClr val="FFFFFF"/>
                    </a:solidFill>
                  </a:tcPr>
                </a:tc>
                <a:tc>
                  <a:txBody>
                    <a:bodyPr/>
                    <a:lstStyle/>
                    <a:p>
                      <a:pPr>
                        <a:defRPr sz="900">
                          <a:solidFill>
                            <a:srgbClr val="212529"/>
                          </a:solidFill>
                        </a:defRPr>
                      </a:pPr>
                      <a:r>
                        <a:t>Fase 5 y 6: Admin &amp; QA</a:t>
                      </a:r>
                    </a:p>
                  </a:txBody>
                  <a:tcPr>
                    <a:solidFill>
                      <a:srgbClr val="FFFFFF"/>
                    </a:solidFill>
                  </a:tcPr>
                </a:tc>
                <a:tc>
                  <a:txBody>
                    <a:bodyPr/>
                    <a:lstStyle/>
                    <a:p>
                      <a:pPr>
                        <a:defRPr sz="900">
                          <a:solidFill>
                            <a:srgbClr val="212529"/>
                          </a:solidFill>
                        </a:defRPr>
                      </a:pPr>
                      <a:r>
                        <a:t>Dashboard analítico UTM, auditoría DLQ y testing Playwright.</a:t>
                      </a:r>
                    </a:p>
                  </a:txBody>
                  <a:tcPr>
                    <a:solidFill>
                      <a:srgbClr val="FFFFFF"/>
                    </a:solidFill>
                  </a:tcPr>
                </a:tc>
                <a:tc>
                  <a:txBody>
                    <a:bodyPr/>
                    <a:lstStyle/>
                    <a:p>
                      <a:pPr>
                        <a:defRPr sz="900">
                          <a:solidFill>
                            <a:srgbClr val="212529"/>
                          </a:solidFill>
                        </a:defRPr>
                      </a:pPr>
                      <a:r>
                        <a:t>Cobertura de código &gt;85%.</a:t>
                      </a:r>
                    </a:p>
                  </a:txBody>
                  <a:tcPr>
                    <a:solidFill>
                      <a:srgbClr val="FFFFFF"/>
                    </a:solidFill>
                  </a:tcPr>
                </a:tc>
              </a:tr>
              <a:tr h="528320">
                <a:tc>
                  <a:txBody>
                    <a:bodyPr/>
                    <a:lstStyle/>
                    <a:p>
                      <a:pPr>
                        <a:defRPr sz="900">
                          <a:solidFill>
                            <a:srgbClr val="212529"/>
                          </a:solidFill>
                        </a:defRPr>
                      </a:pPr>
                      <a:r>
                        <a:t>Sprint 8 (Sem 15-16)</a:t>
                      </a:r>
                    </a:p>
                  </a:txBody>
                  <a:tcPr>
                    <a:solidFill>
                      <a:srgbClr val="F5F7FA"/>
                    </a:solidFill>
                  </a:tcPr>
                </a:tc>
                <a:tc>
                  <a:txBody>
                    <a:bodyPr/>
                    <a:lstStyle/>
                    <a:p>
                      <a:pPr>
                        <a:defRPr sz="900">
                          <a:solidFill>
                            <a:srgbClr val="212529"/>
                          </a:solidFill>
                        </a:defRPr>
                      </a:pPr>
                      <a:r>
                        <a:t>Fase 7: Cloud &amp; Release</a:t>
                      </a:r>
                    </a:p>
                  </a:txBody>
                  <a:tcPr>
                    <a:solidFill>
                      <a:srgbClr val="F5F7FA"/>
                    </a:solidFill>
                  </a:tcPr>
                </a:tc>
                <a:tc>
                  <a:txBody>
                    <a:bodyPr/>
                    <a:lstStyle/>
                    <a:p>
                      <a:pPr>
                        <a:defRPr sz="900">
                          <a:solidFill>
                            <a:srgbClr val="212529"/>
                          </a:solidFill>
                        </a:defRPr>
                      </a:pPr>
                      <a:r>
                        <a:t>Despliegue en GCP Cloud Run con Terraform y auditoría OWASP.</a:t>
                      </a:r>
                    </a:p>
                  </a:txBody>
                  <a:tcPr>
                    <a:solidFill>
                      <a:srgbClr val="F5F7FA"/>
                    </a:solidFill>
                  </a:tcPr>
                </a:tc>
                <a:tc>
                  <a:txBody>
                    <a:bodyPr/>
                    <a:lstStyle/>
                    <a:p>
                      <a:pPr>
                        <a:defRPr sz="900">
                          <a:solidFill>
                            <a:srgbClr val="212529"/>
                          </a:solidFill>
                        </a:defRPr>
                      </a:pPr>
                      <a:r>
                        <a:t>Uptime &gt;99.5%, p95 &lt;250ms.</a:t>
                      </a:r>
                    </a:p>
                  </a:txBody>
                  <a:tcPr>
                    <a:solidFill>
                      <a:srgbClr val="F5F7FA"/>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08080"/>
                </a:solidFill>
                <a:latin typeface="Calibri"/>
              </a:defRPr>
            </a:pPr>
            <a:r>
              <a:t>PRODUCTO INTEGRADOR — ADMINISTRACIÓN DE PROYECTOS</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1B365D"/>
                </a:solidFill>
                <a:latin typeface="Calibri"/>
              </a:defRPr>
            </a:pPr>
            <a:r>
              <a:t>8. Organización: Marco Ágil SCRUM y Asignación de Roles</a:t>
            </a:r>
          </a:p>
        </p:txBody>
      </p:sp>
      <p:sp>
        <p:nvSpPr>
          <p:cNvPr id="4" name="TextBox 3"/>
          <p:cNvSpPr txBox="1"/>
          <p:nvPr/>
        </p:nvSpPr>
        <p:spPr>
          <a:xfrm>
            <a:off x="731520" y="1463040"/>
            <a:ext cx="5120640" cy="4754880"/>
          </a:xfrm>
          <a:prstGeom prst="rect">
            <a:avLst/>
          </a:prstGeom>
          <a:noFill/>
        </p:spPr>
        <p:txBody>
          <a:bodyPr wrap="square">
            <a:spAutoFit/>
          </a:bodyPr>
          <a:lstStyle/>
          <a:p>
            <a:pPr>
              <a:defRPr b="1" sz="1300">
                <a:solidFill>
                  <a:srgbClr val="1B365D"/>
                </a:solidFill>
              </a:defRPr>
            </a:pPr>
            <a:r>
              <a:t>ROLES DEL EQUIPO SCRUM (ALINEADOS A ODS)</a:t>
            </a:r>
          </a:p>
          <a:p>
            <a:pPr>
              <a:spcBef>
                <a:spcPts val="800"/>
              </a:spcBef>
              <a:defRPr b="1" sz="1050">
                <a:solidFill>
                  <a:srgbClr val="212529"/>
                </a:solidFill>
              </a:defRPr>
            </a:pPr>
            <a:r>
              <a:t>• Product Owner / Stakeholder: </a:t>
            </a:r>
            <a:r>
              <a:rPr b="0"/>
              <a:t>Define historias de usuario, prioriza el Product Backlog según el retorno de inversión y valida la conformidad con los lineamientos de sustentabilidad ODS.</a:t>
            </a:r>
          </a:p>
          <a:p>
            <a:pPr>
              <a:spcBef>
                <a:spcPts val="800"/>
              </a:spcBef>
              <a:defRPr b="1" sz="1050">
                <a:solidFill>
                  <a:srgbClr val="212529"/>
                </a:solidFill>
              </a:defRPr>
            </a:pPr>
            <a:r>
              <a:t>• Scrum Master (Ernesto Fierro): </a:t>
            </a:r>
            <a:r>
              <a:rPr b="0"/>
              <a:t>Facilita la disciplina ágil, remueve impedimentos técnicos de CI/CD, vela por un ritmo sostenible de trabajo (ODS 8) y administra el presupuesto.</a:t>
            </a:r>
          </a:p>
          <a:p>
            <a:pPr>
              <a:spcBef>
                <a:spcPts val="800"/>
              </a:spcBef>
              <a:defRPr b="1" sz="1050">
                <a:solidFill>
                  <a:srgbClr val="212529"/>
                </a:solidFill>
              </a:defRPr>
            </a:pPr>
            <a:r>
              <a:t>• Development Team (Full-Stack &amp; DevOps): </a:t>
            </a:r>
            <a:r>
              <a:rPr b="0"/>
              <a:t>Responsables del incremento de software funcional: arquitectura en contenedores, APIs tipadas en TypeScript, frontend reactivo y orquestación Saga.</a:t>
            </a:r>
          </a:p>
          <a:p>
            <a:pPr>
              <a:spcBef>
                <a:spcPts val="800"/>
              </a:spcBef>
              <a:defRPr b="1" sz="1050">
                <a:solidFill>
                  <a:srgbClr val="212529"/>
                </a:solidFill>
              </a:defRPr>
            </a:pPr>
            <a:r>
              <a:t>• QA &amp; Security Champion: </a:t>
            </a:r>
            <a:r>
              <a:rPr b="0"/>
              <a:t>Valida la cobertura de pruebas Vitest/Playwright, audita la accesibilidad WCAG y mitiga riesgos del OWASP Top 10 (ODS 16).</a:t>
            </a:r>
          </a:p>
        </p:txBody>
      </p:sp>
      <p:sp>
        <p:nvSpPr>
          <p:cNvPr id="5" name="TextBox 4"/>
          <p:cNvSpPr txBox="1"/>
          <p:nvPr/>
        </p:nvSpPr>
        <p:spPr>
          <a:xfrm>
            <a:off x="6217920" y="1463040"/>
            <a:ext cx="5212080" cy="4754880"/>
          </a:xfrm>
          <a:prstGeom prst="rect">
            <a:avLst/>
          </a:prstGeom>
          <a:noFill/>
        </p:spPr>
        <p:txBody>
          <a:bodyPr wrap="square">
            <a:spAutoFit/>
          </a:bodyPr>
          <a:lstStyle/>
          <a:p>
            <a:pPr>
              <a:defRPr b="1" sz="1300">
                <a:solidFill>
                  <a:srgbClr val="008080"/>
                </a:solidFill>
              </a:defRPr>
            </a:pPr>
            <a:r>
              <a:t>¿CÓMO APLICAMOS SCRUM AL PROYECTO?</a:t>
            </a:r>
          </a:p>
          <a:p>
            <a:pPr>
              <a:spcBef>
                <a:spcPts val="800"/>
              </a:spcBef>
              <a:defRPr b="1" sz="1050">
                <a:solidFill>
                  <a:srgbClr val="212529"/>
                </a:solidFill>
              </a:defRPr>
            </a:pPr>
            <a:r>
              <a:t>• Sprint Planning (Cada 2 semanas): </a:t>
            </a:r>
            <a:r>
              <a:rPr b="0"/>
              <a:t>Descomposición del Product Backlog en tareas técnicas medibles estimadas con Planning Poker y asignación al Sprint Backlog.</a:t>
            </a:r>
          </a:p>
          <a:p>
            <a:pPr>
              <a:spcBef>
                <a:spcPts val="800"/>
              </a:spcBef>
              <a:defRPr b="1" sz="1050">
                <a:solidFill>
                  <a:srgbClr val="212529"/>
                </a:solidFill>
              </a:defRPr>
            </a:pPr>
            <a:r>
              <a:t>• Daily Standups (15 minutos): </a:t>
            </a:r>
            <a:r>
              <a:rPr b="0"/>
              <a:t>Sincronización de avances: ¿Qué se logró ayer? ¿Qué se hará hoy? ¿Qué impedimentos técnicos (bloqueos de dependencias/APIs) existen?</a:t>
            </a:r>
          </a:p>
          <a:p>
            <a:pPr>
              <a:spcBef>
                <a:spcPts val="800"/>
              </a:spcBef>
              <a:defRPr b="1" sz="1050">
                <a:solidFill>
                  <a:srgbClr val="212529"/>
                </a:solidFill>
              </a:defRPr>
            </a:pPr>
            <a:r>
              <a:t>• Sprint Review &amp; Demostración: </a:t>
            </a:r>
            <a:r>
              <a:rPr b="0"/>
              <a:t>Demostración en vivo del software desplegado en entorno de Staging al final de cada quincena para feedback inmediato.</a:t>
            </a:r>
          </a:p>
          <a:p>
            <a:pPr>
              <a:spcBef>
                <a:spcPts val="800"/>
              </a:spcBef>
              <a:defRPr b="1" sz="1050">
                <a:solidFill>
                  <a:srgbClr val="212529"/>
                </a:solidFill>
              </a:defRPr>
            </a:pPr>
            <a:r>
              <a:t>• Sprint Retrospective: </a:t>
            </a:r>
            <a:r>
              <a:rPr b="0"/>
              <a:t>Análisis de lecciones aprendidas sobre velocidad de desarrollo, deuda técnica acumulada y mejoras en el pipeline de GitHub Actions.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08080"/>
                </a:solidFill>
                <a:latin typeface="Calibri"/>
              </a:defRPr>
            </a:pPr>
            <a:r>
              <a:t>PRODUCTO INTEGRADOR — ADMINISTRACIÓN DE PROYECTOS</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1B365D"/>
                </a:solidFill>
                <a:latin typeface="Calibri"/>
              </a:defRPr>
            </a:pPr>
            <a:r>
              <a:t>9. Programación del Proyecto: Diagramas de Gantt y PERT (Ruta Crítica)</a:t>
            </a:r>
          </a:p>
        </p:txBody>
      </p:sp>
      <p:sp>
        <p:nvSpPr>
          <p:cNvPr id="4" name="TextBox 3"/>
          <p:cNvSpPr txBox="1"/>
          <p:nvPr/>
        </p:nvSpPr>
        <p:spPr>
          <a:xfrm>
            <a:off x="731520" y="1463040"/>
            <a:ext cx="5120640" cy="4754880"/>
          </a:xfrm>
          <a:prstGeom prst="rect">
            <a:avLst/>
          </a:prstGeom>
          <a:noFill/>
        </p:spPr>
        <p:txBody>
          <a:bodyPr wrap="square">
            <a:spAutoFit/>
          </a:bodyPr>
          <a:lstStyle/>
          <a:p>
            <a:pPr>
              <a:defRPr b="1" sz="1300">
                <a:solidFill>
                  <a:srgbClr val="1B365D"/>
                </a:solidFill>
              </a:defRPr>
            </a:pPr>
            <a:r>
              <a:t>DESGLOSE DE ACTIVIDADES PERT / CPM</a:t>
            </a:r>
          </a:p>
          <a:p>
            <a:pPr>
              <a:spcBef>
                <a:spcPts val="300"/>
              </a:spcBef>
              <a:defRPr b="1" sz="950">
                <a:solidFill>
                  <a:srgbClr val="212529"/>
                </a:solidFill>
              </a:defRPr>
            </a:pPr>
            <a:r>
              <a:t>• A: Requerimientos y ODS (Sem 1-2): </a:t>
            </a:r>
            <a:r>
              <a:rPr b="0"/>
              <a:t>Duración: 2 sem | Predecesora: Ninguna</a:t>
            </a:r>
          </a:p>
          <a:p>
            <a:pPr>
              <a:spcBef>
                <a:spcPts val="300"/>
              </a:spcBef>
              <a:defRPr b="1" sz="950">
                <a:solidFill>
                  <a:srgbClr val="212529"/>
                </a:solidFill>
              </a:defRPr>
            </a:pPr>
            <a:r>
              <a:t>• B: Arquitectura Monorepo y BD (Sem 2-3): </a:t>
            </a:r>
            <a:r>
              <a:rPr b="0"/>
              <a:t>Duración: 2 sem | Predecesora: A</a:t>
            </a:r>
          </a:p>
          <a:p>
            <a:pPr>
              <a:spcBef>
                <a:spcPts val="300"/>
              </a:spcBef>
              <a:defRPr b="1" sz="950">
                <a:solidFill>
                  <a:srgbClr val="212529"/>
                </a:solidFill>
              </a:defRPr>
            </a:pPr>
            <a:r>
              <a:t>• C: Backend Core y Auth JWT (Sem 4-5): </a:t>
            </a:r>
            <a:r>
              <a:rPr b="1">
                <a:solidFill>
                  <a:srgbClr val="B40000"/>
                </a:solidFill>
              </a:rPr>
              <a:t>Duración: 2 sem | Predecesora: B [RUTA CRÍTICA]</a:t>
            </a:r>
          </a:p>
          <a:p>
            <a:pPr>
              <a:spcBef>
                <a:spcPts val="300"/>
              </a:spcBef>
              <a:defRPr b="1" sz="950">
                <a:solidFill>
                  <a:srgbClr val="212529"/>
                </a:solidFill>
              </a:defRPr>
            </a:pPr>
            <a:r>
              <a:t>• D: Broker RabbitMQ y Saga (Sem 6-7): </a:t>
            </a:r>
            <a:r>
              <a:rPr b="1">
                <a:solidFill>
                  <a:srgbClr val="B40000"/>
                </a:solidFill>
              </a:rPr>
              <a:t>Duración: 2 sem | Predecesora: C [RUTA CRÍTICA]</a:t>
            </a:r>
          </a:p>
          <a:p>
            <a:pPr>
              <a:spcBef>
                <a:spcPts val="300"/>
              </a:spcBef>
              <a:defRPr b="1" sz="950">
                <a:solidFill>
                  <a:srgbClr val="212529"/>
                </a:solidFill>
              </a:defRPr>
            </a:pPr>
            <a:r>
              <a:t>• E: Frontend Core y vite-ssg (Sem 6-7): </a:t>
            </a:r>
            <a:r>
              <a:rPr b="0"/>
              <a:t>Duración: 2 sem | Predecesora: B (Holgura: 2 sem)</a:t>
            </a:r>
          </a:p>
          <a:p>
            <a:pPr>
              <a:spcBef>
                <a:spcPts val="300"/>
              </a:spcBef>
              <a:defRPr b="1" sz="950">
                <a:solidFill>
                  <a:srgbClr val="212529"/>
                </a:solidFill>
              </a:defRPr>
            </a:pPr>
            <a:r>
              <a:t>• F: Módulo POS y Cobro Mixto (Sem 8-10): </a:t>
            </a:r>
            <a:r>
              <a:rPr b="1">
                <a:solidFill>
                  <a:srgbClr val="B40000"/>
                </a:solidFill>
              </a:rPr>
              <a:t>Duración: 3 sem | Predecesora: D, E [RUTA CRÍTICA]</a:t>
            </a:r>
          </a:p>
          <a:p>
            <a:pPr>
              <a:spcBef>
                <a:spcPts val="300"/>
              </a:spcBef>
              <a:defRPr b="1" sz="950">
                <a:solidFill>
                  <a:srgbClr val="212529"/>
                </a:solidFill>
              </a:defRPr>
            </a:pPr>
            <a:r>
              <a:t>• G: Trazabilidad y Fidelización Eco (Sem 11-12): </a:t>
            </a:r>
            <a:r>
              <a:rPr b="1">
                <a:solidFill>
                  <a:srgbClr val="B40000"/>
                </a:solidFill>
              </a:rPr>
              <a:t>Duración: 2 sem | Predecesora: F [RUTA CRÍTICA]</a:t>
            </a:r>
          </a:p>
          <a:p>
            <a:pPr>
              <a:spcBef>
                <a:spcPts val="300"/>
              </a:spcBef>
              <a:defRPr b="1" sz="950">
                <a:solidFill>
                  <a:srgbClr val="212529"/>
                </a:solidFill>
              </a:defRPr>
            </a:pPr>
            <a:r>
              <a:t>• H: Dashboard y Analítica UTM (Sem 12-13): </a:t>
            </a:r>
            <a:r>
              <a:rPr b="0"/>
              <a:t>Duración: 2 sem | Predecesora: F (Holgura: 1 sem)</a:t>
            </a:r>
          </a:p>
          <a:p>
            <a:pPr>
              <a:spcBef>
                <a:spcPts val="300"/>
              </a:spcBef>
              <a:defRPr b="1" sz="950">
                <a:solidFill>
                  <a:srgbClr val="212529"/>
                </a:solidFill>
              </a:defRPr>
            </a:pPr>
            <a:r>
              <a:t>• I: Testing Multicapa &amp; QA (Sem 13-14): </a:t>
            </a:r>
            <a:r>
              <a:rPr b="1">
                <a:solidFill>
                  <a:srgbClr val="B40000"/>
                </a:solidFill>
              </a:rPr>
              <a:t>Duración: 2 sem | Predecesora: G, H [RUTA CRÍTICA]</a:t>
            </a:r>
          </a:p>
          <a:p>
            <a:pPr>
              <a:spcBef>
                <a:spcPts val="300"/>
              </a:spcBef>
              <a:defRPr b="1" sz="950">
                <a:solidFill>
                  <a:srgbClr val="212529"/>
                </a:solidFill>
              </a:defRPr>
            </a:pPr>
            <a:r>
              <a:t>• J: Despliegue Cloud en GCP (Sem 15-16): </a:t>
            </a:r>
            <a:r>
              <a:rPr b="1">
                <a:solidFill>
                  <a:srgbClr val="B40000"/>
                </a:solidFill>
              </a:rPr>
              <a:t>Duración: 2 sem | Predecesora: I [RUTA CRÍTICA]</a:t>
            </a:r>
          </a:p>
        </p:txBody>
      </p:sp>
      <p:sp>
        <p:nvSpPr>
          <p:cNvPr id="5" name="TextBox 4"/>
          <p:cNvSpPr txBox="1"/>
          <p:nvPr/>
        </p:nvSpPr>
        <p:spPr>
          <a:xfrm>
            <a:off x="6217920" y="1463040"/>
            <a:ext cx="5212080" cy="4754880"/>
          </a:xfrm>
          <a:prstGeom prst="rect">
            <a:avLst/>
          </a:prstGeom>
          <a:noFill/>
        </p:spPr>
        <p:txBody>
          <a:bodyPr wrap="square">
            <a:spAutoFit/>
          </a:bodyPr>
          <a:lstStyle/>
          <a:p>
            <a:pPr>
              <a:defRPr b="1" sz="1300">
                <a:solidFill>
                  <a:srgbClr val="008080"/>
                </a:solidFill>
              </a:defRPr>
            </a:pPr>
            <a:r>
              <a:t>DIAGRAMA DE RED PERT &amp; RUTA CRÍTICA</a:t>
            </a:r>
          </a:p>
          <a:p>
            <a:pPr>
              <a:defRPr sz="900">
                <a:solidFill>
                  <a:srgbClr val="212529"/>
                </a:solidFill>
                <a:latin typeface="Consolas"/>
              </a:defRPr>
            </a:pPr>
            <a:r>
              <a:t>Secuencia de la Ruta Crítica (Duración Total: 16 semanas):</a:t>
            </a:r>
            <a:br/>
            <a:br/>
            <a:r>
              <a:t>  [Nodo Inicio]</a:t>
            </a:r>
            <a:br/>
            <a:r>
              <a:t>        │</a:t>
            </a:r>
            <a:br/>
            <a:r>
              <a:t>        ▼</a:t>
            </a:r>
            <a:br/>
            <a:r>
              <a:t>     (A: Reqs) ──► (B: Monorepo) ──► (C: Backend Core) ──► (D: RabbitMQ Saga)</a:t>
            </a:r>
            <a:br/>
            <a:r>
              <a:t>                                                                │</a:t>
            </a:r>
            <a:br/>
            <a:r>
              <a:t>  ┌─────────────────────────────────────────────────────────────┘</a:t>
            </a:r>
            <a:br/>
            <a:r>
              <a:t>  ▼</a:t>
            </a:r>
            <a:br/>
            <a:r>
              <a:t>(F: POS &amp; Pagos Mixtos) ──► (G: Trazabilidad Eco) ──► (I: Testing QA) ──► (J: GCP Release)</a:t>
            </a:r>
            <a:br/>
            <a:r>
              <a:t>                                                                               │</a:t>
            </a:r>
            <a:br/>
            <a:r>
              <a:t>                                                                               ▼</a:t>
            </a:r>
            <a:br/>
            <a:r>
              <a:t>                                                                          [Proyecto Fin]</a:t>
            </a:r>
            <a:br/>
            <a:br/>
            <a:r>
              <a:t>• Holguras Identificadas: La actividad E (Frontend Landing) y H (Dashboard Admin) cuentan con 2 y 1 semana de holgura respectivamente.</a:t>
            </a:r>
            <a:br/>
            <a:r>
              <a:t>• Cualquier retraso en las actividades de la Ruta Crítica (C, D, F, G, I, J) compromete directamente la fecha de liberación del 22 de Septiembre.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08080"/>
                </a:solidFill>
                <a:latin typeface="Calibri"/>
              </a:defRPr>
            </a:pPr>
            <a:r>
              <a:t>PRODUCTO INTEGRADOR — ADMINISTRACIÓN DE PROYECTOS</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1B365D"/>
                </a:solidFill>
                <a:latin typeface="Calibri"/>
              </a:defRPr>
            </a:pPr>
            <a:r>
              <a:t>10. Programación del Proyecto: Histograma y Distribución de Recursos</a:t>
            </a:r>
          </a:p>
        </p:txBody>
      </p:sp>
      <p:sp>
        <p:nvSpPr>
          <p:cNvPr id="4" name="TextBox 3"/>
          <p:cNvSpPr txBox="1"/>
          <p:nvPr/>
        </p:nvSpPr>
        <p:spPr>
          <a:xfrm>
            <a:off x="731520" y="1463040"/>
            <a:ext cx="10698480" cy="4754880"/>
          </a:xfrm>
          <a:prstGeom prst="rect">
            <a:avLst/>
          </a:prstGeom>
          <a:noFill/>
        </p:spPr>
        <p:txBody>
          <a:bodyPr wrap="square">
            <a:spAutoFit/>
          </a:bodyPr>
          <a:lstStyle/>
          <a:p>
            <a:pPr>
              <a:defRPr b="1" sz="1300">
                <a:solidFill>
                  <a:srgbClr val="1B365D"/>
                </a:solidFill>
              </a:defRPr>
            </a:pPr>
            <a:r>
              <a:t>DISTRIBUCIÓN DE ESFUERZO SEMANAL POR PERFIL (TOTAL: 2,720 HORAS / PROYECTO)</a:t>
            </a:r>
          </a:p>
        </p:txBody>
      </p:sp>
      <p:graphicFrame>
        <p:nvGraphicFramePr>
          <p:cNvPr id="5" name="Table 4"/>
          <p:cNvGraphicFramePr>
            <a:graphicFrameLocks noGrp="1"/>
          </p:cNvGraphicFramePr>
          <p:nvPr/>
        </p:nvGraphicFramePr>
        <p:xfrm>
          <a:off x="731520" y="2011680"/>
          <a:ext cx="10698480" cy="4114800"/>
        </p:xfrm>
        <a:graphic>
          <a:graphicData uri="http://schemas.openxmlformats.org/drawingml/2006/table">
            <a:tbl>
              <a:tblPr firstRow="1" bandRow="1">
                <a:tableStyleId>{5C22544A-7EE6-4342-B048-85BDC9FD1C3A}</a:tableStyleId>
              </a:tblPr>
              <a:tblGrid>
                <a:gridCol w="2468880"/>
                <a:gridCol w="1645920"/>
                <a:gridCol w="1645920"/>
                <a:gridCol w="1645920"/>
                <a:gridCol w="1645920"/>
                <a:gridCol w="1645920"/>
              </a:tblGrid>
              <a:tr h="685800">
                <a:tc>
                  <a:txBody>
                    <a:bodyPr/>
                    <a:lstStyle/>
                    <a:p>
                      <a:pPr>
                        <a:defRPr b="1" sz="950">
                          <a:solidFill>
                            <a:srgbClr val="FFFFFF"/>
                          </a:solidFill>
                        </a:defRPr>
                      </a:pPr>
                      <a:r>
                        <a:t>ROL DEL PROYECTO</a:t>
                      </a:r>
                    </a:p>
                  </a:txBody>
                  <a:tcPr>
                    <a:solidFill>
                      <a:srgbClr val="1B365D"/>
                    </a:solidFill>
                  </a:tcPr>
                </a:tc>
                <a:tc>
                  <a:txBody>
                    <a:bodyPr/>
                    <a:lstStyle/>
                    <a:p>
                      <a:pPr>
                        <a:defRPr b="1" sz="950">
                          <a:solidFill>
                            <a:srgbClr val="FFFFFF"/>
                          </a:solidFill>
                        </a:defRPr>
                      </a:pPr>
                      <a:r>
                        <a:t>SEM 1 - 4 (INICIO)</a:t>
                      </a:r>
                    </a:p>
                  </a:txBody>
                  <a:tcPr>
                    <a:solidFill>
                      <a:srgbClr val="1B365D"/>
                    </a:solidFill>
                  </a:tcPr>
                </a:tc>
                <a:tc>
                  <a:txBody>
                    <a:bodyPr/>
                    <a:lstStyle/>
                    <a:p>
                      <a:pPr>
                        <a:defRPr b="1" sz="950">
                          <a:solidFill>
                            <a:srgbClr val="FFFFFF"/>
                          </a:solidFill>
                        </a:defRPr>
                      </a:pPr>
                      <a:r>
                        <a:t>SEM 5 - 8 (CORE)</a:t>
                      </a:r>
                    </a:p>
                  </a:txBody>
                  <a:tcPr>
                    <a:solidFill>
                      <a:srgbClr val="1B365D"/>
                    </a:solidFill>
                  </a:tcPr>
                </a:tc>
                <a:tc>
                  <a:txBody>
                    <a:bodyPr/>
                    <a:lstStyle/>
                    <a:p>
                      <a:pPr>
                        <a:defRPr b="1" sz="950">
                          <a:solidFill>
                            <a:srgbClr val="FFFFFF"/>
                          </a:solidFill>
                        </a:defRPr>
                      </a:pPr>
                      <a:r>
                        <a:t>SEM 9 - 12 (POS)</a:t>
                      </a:r>
                    </a:p>
                  </a:txBody>
                  <a:tcPr>
                    <a:solidFill>
                      <a:srgbClr val="1B365D"/>
                    </a:solidFill>
                  </a:tcPr>
                </a:tc>
                <a:tc>
                  <a:txBody>
                    <a:bodyPr/>
                    <a:lstStyle/>
                    <a:p>
                      <a:pPr>
                        <a:defRPr b="1" sz="950">
                          <a:solidFill>
                            <a:srgbClr val="FFFFFF"/>
                          </a:solidFill>
                        </a:defRPr>
                      </a:pPr>
                      <a:r>
                        <a:t>SEM 13 - 16 (QA/PROD)</a:t>
                      </a:r>
                    </a:p>
                  </a:txBody>
                  <a:tcPr>
                    <a:solidFill>
                      <a:srgbClr val="1B365D"/>
                    </a:solidFill>
                  </a:tcPr>
                </a:tc>
                <a:tc>
                  <a:txBody>
                    <a:bodyPr/>
                    <a:lstStyle/>
                    <a:p>
                      <a:pPr>
                        <a:defRPr b="1" sz="950">
                          <a:solidFill>
                            <a:srgbClr val="FFFFFF"/>
                          </a:solidFill>
                        </a:defRPr>
                      </a:pPr>
                      <a:r>
                        <a:t>TOTAL HORAS</a:t>
                      </a:r>
                    </a:p>
                  </a:txBody>
                  <a:tcPr>
                    <a:solidFill>
                      <a:srgbClr val="1B365D"/>
                    </a:solidFill>
                  </a:tcPr>
                </a:tc>
              </a:tr>
              <a:tr h="685800">
                <a:tc>
                  <a:txBody>
                    <a:bodyPr/>
                    <a:lstStyle/>
                    <a:p>
                      <a:pPr>
                        <a:defRPr sz="900">
                          <a:solidFill>
                            <a:srgbClr val="212529"/>
                          </a:solidFill>
                        </a:defRPr>
                      </a:pPr>
                      <a:r>
                        <a:t>Líder de Proyecto / Scrum Master</a:t>
                      </a:r>
                    </a:p>
                  </a:txBody>
                  <a:tcPr>
                    <a:solidFill>
                      <a:srgbClr val="FFFFFF"/>
                    </a:solidFill>
                  </a:tcPr>
                </a:tc>
                <a:tc>
                  <a:txBody>
                    <a:bodyPr/>
                    <a:lstStyle/>
                    <a:p>
                      <a:pPr>
                        <a:defRPr sz="900">
                          <a:solidFill>
                            <a:srgbClr val="212529"/>
                          </a:solidFill>
                        </a:defRPr>
                      </a:pPr>
                      <a:r>
                        <a:t>80 hrs (20h/sem)</a:t>
                      </a:r>
                    </a:p>
                  </a:txBody>
                  <a:tcPr>
                    <a:solidFill>
                      <a:srgbClr val="FFFFFF"/>
                    </a:solidFill>
                  </a:tcPr>
                </a:tc>
                <a:tc>
                  <a:txBody>
                    <a:bodyPr/>
                    <a:lstStyle/>
                    <a:p>
                      <a:pPr>
                        <a:defRPr sz="900">
                          <a:solidFill>
                            <a:srgbClr val="212529"/>
                          </a:solidFill>
                        </a:defRPr>
                      </a:pPr>
                      <a:r>
                        <a:t>80 hrs (20h/sem)</a:t>
                      </a:r>
                    </a:p>
                  </a:txBody>
                  <a:tcPr>
                    <a:solidFill>
                      <a:srgbClr val="FFFFFF"/>
                    </a:solidFill>
                  </a:tcPr>
                </a:tc>
                <a:tc>
                  <a:txBody>
                    <a:bodyPr/>
                    <a:lstStyle/>
                    <a:p>
                      <a:pPr>
                        <a:defRPr sz="900">
                          <a:solidFill>
                            <a:srgbClr val="212529"/>
                          </a:solidFill>
                        </a:defRPr>
                      </a:pPr>
                      <a:r>
                        <a:t>80 hrs (20h/sem)</a:t>
                      </a:r>
                    </a:p>
                  </a:txBody>
                  <a:tcPr>
                    <a:solidFill>
                      <a:srgbClr val="FFFFFF"/>
                    </a:solidFill>
                  </a:tcPr>
                </a:tc>
                <a:tc>
                  <a:txBody>
                    <a:bodyPr/>
                    <a:lstStyle/>
                    <a:p>
                      <a:pPr>
                        <a:defRPr sz="900">
                          <a:solidFill>
                            <a:srgbClr val="212529"/>
                          </a:solidFill>
                        </a:defRPr>
                      </a:pPr>
                      <a:r>
                        <a:t>80 hrs (20h/sem)</a:t>
                      </a:r>
                    </a:p>
                  </a:txBody>
                  <a:tcPr>
                    <a:solidFill>
                      <a:srgbClr val="FFFFFF"/>
                    </a:solidFill>
                  </a:tcPr>
                </a:tc>
                <a:tc>
                  <a:txBody>
                    <a:bodyPr/>
                    <a:lstStyle/>
                    <a:p>
                      <a:pPr>
                        <a:defRPr sz="900">
                          <a:solidFill>
                            <a:srgbClr val="212529"/>
                          </a:solidFill>
                        </a:defRPr>
                      </a:pPr>
                      <a:r>
                        <a:t>320 hrs</a:t>
                      </a:r>
                    </a:p>
                  </a:txBody>
                  <a:tcPr>
                    <a:solidFill>
                      <a:srgbClr val="FFFFFF"/>
                    </a:solidFill>
                  </a:tcPr>
                </a:tc>
              </a:tr>
              <a:tr h="685800">
                <a:tc>
                  <a:txBody>
                    <a:bodyPr/>
                    <a:lstStyle/>
                    <a:p>
                      <a:pPr>
                        <a:defRPr sz="900">
                          <a:solidFill>
                            <a:srgbClr val="212529"/>
                          </a:solidFill>
                        </a:defRPr>
                      </a:pPr>
                      <a:r>
                        <a:t>Arquitecto de Software &amp; DevOps</a:t>
                      </a:r>
                    </a:p>
                  </a:txBody>
                  <a:tcPr>
                    <a:solidFill>
                      <a:srgbClr val="F5F7FA"/>
                    </a:solidFill>
                  </a:tcPr>
                </a:tc>
                <a:tc>
                  <a:txBody>
                    <a:bodyPr/>
                    <a:lstStyle/>
                    <a:p>
                      <a:pPr>
                        <a:defRPr sz="900">
                          <a:solidFill>
                            <a:srgbClr val="212529"/>
                          </a:solidFill>
                        </a:defRPr>
                      </a:pPr>
                      <a:r>
                        <a:t>160 hrs (40h/sem)</a:t>
                      </a:r>
                    </a:p>
                  </a:txBody>
                  <a:tcPr>
                    <a:solidFill>
                      <a:srgbClr val="F5F7FA"/>
                    </a:solidFill>
                  </a:tcPr>
                </a:tc>
                <a:tc>
                  <a:txBody>
                    <a:bodyPr/>
                    <a:lstStyle/>
                    <a:p>
                      <a:pPr>
                        <a:defRPr sz="900">
                          <a:solidFill>
                            <a:srgbClr val="212529"/>
                          </a:solidFill>
                        </a:defRPr>
                      </a:pPr>
                      <a:r>
                        <a:t>160 hrs (40h/sem)</a:t>
                      </a:r>
                    </a:p>
                  </a:txBody>
                  <a:tcPr>
                    <a:solidFill>
                      <a:srgbClr val="F5F7FA"/>
                    </a:solidFill>
                  </a:tcPr>
                </a:tc>
                <a:tc>
                  <a:txBody>
                    <a:bodyPr/>
                    <a:lstStyle/>
                    <a:p>
                      <a:pPr>
                        <a:defRPr sz="900">
                          <a:solidFill>
                            <a:srgbClr val="212529"/>
                          </a:solidFill>
                        </a:defRPr>
                      </a:pPr>
                      <a:r>
                        <a:t>160 hrs (40h/sem)</a:t>
                      </a:r>
                    </a:p>
                  </a:txBody>
                  <a:tcPr>
                    <a:solidFill>
                      <a:srgbClr val="F5F7FA"/>
                    </a:solidFill>
                  </a:tcPr>
                </a:tc>
                <a:tc>
                  <a:txBody>
                    <a:bodyPr/>
                    <a:lstStyle/>
                    <a:p>
                      <a:pPr>
                        <a:defRPr sz="900">
                          <a:solidFill>
                            <a:srgbClr val="212529"/>
                          </a:solidFill>
                        </a:defRPr>
                      </a:pPr>
                      <a:r>
                        <a:t>160 hrs (40h/sem)</a:t>
                      </a:r>
                    </a:p>
                  </a:txBody>
                  <a:tcPr>
                    <a:solidFill>
                      <a:srgbClr val="F5F7FA"/>
                    </a:solidFill>
                  </a:tcPr>
                </a:tc>
                <a:tc>
                  <a:txBody>
                    <a:bodyPr/>
                    <a:lstStyle/>
                    <a:p>
                      <a:pPr>
                        <a:defRPr sz="900">
                          <a:solidFill>
                            <a:srgbClr val="212529"/>
                          </a:solidFill>
                        </a:defRPr>
                      </a:pPr>
                      <a:r>
                        <a:t>640 hrs</a:t>
                      </a:r>
                    </a:p>
                  </a:txBody>
                  <a:tcPr>
                    <a:solidFill>
                      <a:srgbClr val="F5F7FA"/>
                    </a:solidFill>
                  </a:tcPr>
                </a:tc>
              </a:tr>
              <a:tr h="685800">
                <a:tc>
                  <a:txBody>
                    <a:bodyPr/>
                    <a:lstStyle/>
                    <a:p>
                      <a:pPr>
                        <a:defRPr sz="900">
                          <a:solidFill>
                            <a:srgbClr val="212529"/>
                          </a:solidFill>
                        </a:defRPr>
                      </a:pPr>
                      <a:r>
                        <a:t>Desarrollador Full-Stack Backend</a:t>
                      </a:r>
                    </a:p>
                  </a:txBody>
                  <a:tcPr>
                    <a:solidFill>
                      <a:srgbClr val="FFFFFF"/>
                    </a:solidFill>
                  </a:tcPr>
                </a:tc>
                <a:tc>
                  <a:txBody>
                    <a:bodyPr/>
                    <a:lstStyle/>
                    <a:p>
                      <a:pPr>
                        <a:defRPr sz="900">
                          <a:solidFill>
                            <a:srgbClr val="212529"/>
                          </a:solidFill>
                        </a:defRPr>
                      </a:pPr>
                      <a:r>
                        <a:t>160 hrs (40h/sem)</a:t>
                      </a:r>
                    </a:p>
                  </a:txBody>
                  <a:tcPr>
                    <a:solidFill>
                      <a:srgbClr val="FFFFFF"/>
                    </a:solidFill>
                  </a:tcPr>
                </a:tc>
                <a:tc>
                  <a:txBody>
                    <a:bodyPr/>
                    <a:lstStyle/>
                    <a:p>
                      <a:pPr>
                        <a:defRPr sz="900">
                          <a:solidFill>
                            <a:srgbClr val="212529"/>
                          </a:solidFill>
                        </a:defRPr>
                      </a:pPr>
                      <a:r>
                        <a:t>160 hrs (40h/sem)</a:t>
                      </a:r>
                    </a:p>
                  </a:txBody>
                  <a:tcPr>
                    <a:solidFill>
                      <a:srgbClr val="FFFFFF"/>
                    </a:solidFill>
                  </a:tcPr>
                </a:tc>
                <a:tc>
                  <a:txBody>
                    <a:bodyPr/>
                    <a:lstStyle/>
                    <a:p>
                      <a:pPr>
                        <a:defRPr sz="900">
                          <a:solidFill>
                            <a:srgbClr val="212529"/>
                          </a:solidFill>
                        </a:defRPr>
                      </a:pPr>
                      <a:r>
                        <a:t>160 hrs (40h/sem)</a:t>
                      </a:r>
                    </a:p>
                  </a:txBody>
                  <a:tcPr>
                    <a:solidFill>
                      <a:srgbClr val="FFFFFF"/>
                    </a:solidFill>
                  </a:tcPr>
                </a:tc>
                <a:tc>
                  <a:txBody>
                    <a:bodyPr/>
                    <a:lstStyle/>
                    <a:p>
                      <a:pPr>
                        <a:defRPr sz="900">
                          <a:solidFill>
                            <a:srgbClr val="212529"/>
                          </a:solidFill>
                        </a:defRPr>
                      </a:pPr>
                      <a:r>
                        <a:t>160 hrs (40h/sem)</a:t>
                      </a:r>
                    </a:p>
                  </a:txBody>
                  <a:tcPr>
                    <a:solidFill>
                      <a:srgbClr val="FFFFFF"/>
                    </a:solidFill>
                  </a:tcPr>
                </a:tc>
                <a:tc>
                  <a:txBody>
                    <a:bodyPr/>
                    <a:lstStyle/>
                    <a:p>
                      <a:pPr>
                        <a:defRPr sz="900">
                          <a:solidFill>
                            <a:srgbClr val="212529"/>
                          </a:solidFill>
                        </a:defRPr>
                      </a:pPr>
                      <a:r>
                        <a:t>640 hrs</a:t>
                      </a:r>
                    </a:p>
                  </a:txBody>
                  <a:tcPr>
                    <a:solidFill>
                      <a:srgbClr val="FFFFFF"/>
                    </a:solidFill>
                  </a:tcPr>
                </a:tc>
              </a:tr>
              <a:tr h="685800">
                <a:tc>
                  <a:txBody>
                    <a:bodyPr/>
                    <a:lstStyle/>
                    <a:p>
                      <a:pPr>
                        <a:defRPr sz="900">
                          <a:solidFill>
                            <a:srgbClr val="212529"/>
                          </a:solidFill>
                        </a:defRPr>
                      </a:pPr>
                      <a:r>
                        <a:t>Desarrollador Full-Stack Frontend</a:t>
                      </a:r>
                    </a:p>
                  </a:txBody>
                  <a:tcPr>
                    <a:solidFill>
                      <a:srgbClr val="F5F7FA"/>
                    </a:solidFill>
                  </a:tcPr>
                </a:tc>
                <a:tc>
                  <a:txBody>
                    <a:bodyPr/>
                    <a:lstStyle/>
                    <a:p>
                      <a:pPr>
                        <a:defRPr sz="900">
                          <a:solidFill>
                            <a:srgbClr val="212529"/>
                          </a:solidFill>
                        </a:defRPr>
                      </a:pPr>
                      <a:r>
                        <a:t>160 hrs (40h/sem)</a:t>
                      </a:r>
                    </a:p>
                  </a:txBody>
                  <a:tcPr>
                    <a:solidFill>
                      <a:srgbClr val="F5F7FA"/>
                    </a:solidFill>
                  </a:tcPr>
                </a:tc>
                <a:tc>
                  <a:txBody>
                    <a:bodyPr/>
                    <a:lstStyle/>
                    <a:p>
                      <a:pPr>
                        <a:defRPr sz="900">
                          <a:solidFill>
                            <a:srgbClr val="212529"/>
                          </a:solidFill>
                        </a:defRPr>
                      </a:pPr>
                      <a:r>
                        <a:t>160 hrs (40h/sem)</a:t>
                      </a:r>
                    </a:p>
                  </a:txBody>
                  <a:tcPr>
                    <a:solidFill>
                      <a:srgbClr val="F5F7FA"/>
                    </a:solidFill>
                  </a:tcPr>
                </a:tc>
                <a:tc>
                  <a:txBody>
                    <a:bodyPr/>
                    <a:lstStyle/>
                    <a:p>
                      <a:pPr>
                        <a:defRPr sz="900">
                          <a:solidFill>
                            <a:srgbClr val="212529"/>
                          </a:solidFill>
                        </a:defRPr>
                      </a:pPr>
                      <a:r>
                        <a:t>160 hrs (40h/sem)</a:t>
                      </a:r>
                    </a:p>
                  </a:txBody>
                  <a:tcPr>
                    <a:solidFill>
                      <a:srgbClr val="F5F7FA"/>
                    </a:solidFill>
                  </a:tcPr>
                </a:tc>
                <a:tc>
                  <a:txBody>
                    <a:bodyPr/>
                    <a:lstStyle/>
                    <a:p>
                      <a:pPr>
                        <a:defRPr sz="900">
                          <a:solidFill>
                            <a:srgbClr val="212529"/>
                          </a:solidFill>
                        </a:defRPr>
                      </a:pPr>
                      <a:r>
                        <a:t>160 hrs (40h/sem)</a:t>
                      </a:r>
                    </a:p>
                  </a:txBody>
                  <a:tcPr>
                    <a:solidFill>
                      <a:srgbClr val="F5F7FA"/>
                    </a:solidFill>
                  </a:tcPr>
                </a:tc>
                <a:tc>
                  <a:txBody>
                    <a:bodyPr/>
                    <a:lstStyle/>
                    <a:p>
                      <a:pPr>
                        <a:defRPr sz="900">
                          <a:solidFill>
                            <a:srgbClr val="212529"/>
                          </a:solidFill>
                        </a:defRPr>
                      </a:pPr>
                      <a:r>
                        <a:t>640 hrs</a:t>
                      </a:r>
                    </a:p>
                  </a:txBody>
                  <a:tcPr>
                    <a:solidFill>
                      <a:srgbClr val="F5F7FA"/>
                    </a:solidFill>
                  </a:tcPr>
                </a:tc>
              </a:tr>
              <a:tr h="685800">
                <a:tc>
                  <a:txBody>
                    <a:bodyPr/>
                    <a:lstStyle/>
                    <a:p>
                      <a:pPr>
                        <a:defRPr sz="900">
                          <a:solidFill>
                            <a:srgbClr val="212529"/>
                          </a:solidFill>
                        </a:defRPr>
                      </a:pPr>
                      <a:r>
                        <a:t>Especialista en QA &amp; Seguridad</a:t>
                      </a:r>
                    </a:p>
                  </a:txBody>
                  <a:tcPr>
                    <a:solidFill>
                      <a:srgbClr val="FFFFFF"/>
                    </a:solidFill>
                  </a:tcPr>
                </a:tc>
                <a:tc>
                  <a:txBody>
                    <a:bodyPr/>
                    <a:lstStyle/>
                    <a:p>
                      <a:pPr>
                        <a:defRPr sz="900">
                          <a:solidFill>
                            <a:srgbClr val="212529"/>
                          </a:solidFill>
                        </a:defRPr>
                      </a:pPr>
                      <a:r>
                        <a:t>40 hrs (10h/sem)</a:t>
                      </a:r>
                    </a:p>
                  </a:txBody>
                  <a:tcPr>
                    <a:solidFill>
                      <a:srgbClr val="FFFFFF"/>
                    </a:solidFill>
                  </a:tcPr>
                </a:tc>
                <a:tc>
                  <a:txBody>
                    <a:bodyPr/>
                    <a:lstStyle/>
                    <a:p>
                      <a:pPr>
                        <a:defRPr sz="900">
                          <a:solidFill>
                            <a:srgbClr val="212529"/>
                          </a:solidFill>
                        </a:defRPr>
                      </a:pPr>
                      <a:r>
                        <a:t>120 hrs (30h/sem)</a:t>
                      </a:r>
                    </a:p>
                  </a:txBody>
                  <a:tcPr>
                    <a:solidFill>
                      <a:srgbClr val="FFFFFF"/>
                    </a:solidFill>
                  </a:tcPr>
                </a:tc>
                <a:tc>
                  <a:txBody>
                    <a:bodyPr/>
                    <a:lstStyle/>
                    <a:p>
                      <a:pPr>
                        <a:defRPr sz="900">
                          <a:solidFill>
                            <a:srgbClr val="212529"/>
                          </a:solidFill>
                        </a:defRPr>
                      </a:pPr>
                      <a:r>
                        <a:t>160 hrs (40h/sem)</a:t>
                      </a:r>
                    </a:p>
                  </a:txBody>
                  <a:tcPr>
                    <a:solidFill>
                      <a:srgbClr val="FFFFFF"/>
                    </a:solidFill>
                  </a:tcPr>
                </a:tc>
                <a:tc>
                  <a:txBody>
                    <a:bodyPr/>
                    <a:lstStyle/>
                    <a:p>
                      <a:pPr>
                        <a:defRPr sz="900">
                          <a:solidFill>
                            <a:srgbClr val="212529"/>
                          </a:solidFill>
                        </a:defRPr>
                      </a:pPr>
                      <a:r>
                        <a:t>160 hrs (40h/sem)</a:t>
                      </a:r>
                    </a:p>
                  </a:txBody>
                  <a:tcPr>
                    <a:solidFill>
                      <a:srgbClr val="FFFFFF"/>
                    </a:solidFill>
                  </a:tcPr>
                </a:tc>
                <a:tc>
                  <a:txBody>
                    <a:bodyPr/>
                    <a:lstStyle/>
                    <a:p>
                      <a:pPr>
                        <a:defRPr sz="900">
                          <a:solidFill>
                            <a:srgbClr val="212529"/>
                          </a:solidFill>
                        </a:defRPr>
                      </a:pPr>
                      <a:r>
                        <a:t>480 hrs</a:t>
                      </a:r>
                    </a:p>
                  </a:txBody>
                  <a:tcP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08080"/>
                </a:solidFill>
                <a:latin typeface="Calibri"/>
              </a:defRPr>
            </a:pPr>
            <a:r>
              <a:t>PRODUCTO INTEGRADOR — ADMINISTRACIÓN DE PROYECTOS</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1B365D"/>
                </a:solidFill>
                <a:latin typeface="Calibri"/>
              </a:defRPr>
            </a:pPr>
            <a:r>
              <a:t>11. Estimación de Software: Modelo COCOMO Básico</a:t>
            </a:r>
          </a:p>
        </p:txBody>
      </p:sp>
      <p:sp>
        <p:nvSpPr>
          <p:cNvPr id="4" name="TextBox 3"/>
          <p:cNvSpPr txBox="1"/>
          <p:nvPr/>
        </p:nvSpPr>
        <p:spPr>
          <a:xfrm>
            <a:off x="731520" y="1463040"/>
            <a:ext cx="5120640" cy="4754880"/>
          </a:xfrm>
          <a:prstGeom prst="rect">
            <a:avLst/>
          </a:prstGeom>
          <a:noFill/>
        </p:spPr>
        <p:txBody>
          <a:bodyPr wrap="square">
            <a:spAutoFit/>
          </a:bodyPr>
          <a:lstStyle/>
          <a:p>
            <a:pPr>
              <a:defRPr b="1" sz="1300">
                <a:solidFill>
                  <a:srgbClr val="1B365D"/>
                </a:solidFill>
              </a:defRPr>
            </a:pPr>
            <a:r>
              <a:t>PARÁMETROS Y CLASIFICACIÓN DEL PROYECTO</a:t>
            </a:r>
          </a:p>
          <a:p>
            <a:pPr>
              <a:spcBef>
                <a:spcPts val="600"/>
              </a:spcBef>
              <a:defRPr sz="1100">
                <a:solidFill>
                  <a:srgbClr val="212529"/>
                </a:solidFill>
              </a:defRPr>
            </a:pPr>
            <a:r>
              <a:t>Tamaño Estimado del Software (SLOC): 22.5 KLOC (22,500 líneas de código fuente en TypeScript, SQL y templates).</a:t>
            </a:r>
          </a:p>
          <a:p>
            <a:pPr>
              <a:spcBef>
                <a:spcPts val="600"/>
              </a:spcBef>
              <a:defRPr sz="1100">
                <a:solidFill>
                  <a:srgbClr val="212529"/>
                </a:solidFill>
              </a:defRPr>
            </a:pPr>
            <a:r>
              <a:t>Modo de Desarrollo Seleccionado: Semiacoplado (Semidetached). Justificación: Es una aplicación web empresarial con restricciones medias de seguridad, colas RabbitMQ y pasarelas de pago mixtas.</a:t>
            </a:r>
          </a:p>
          <a:p>
            <a:pPr>
              <a:spcBef>
                <a:spcPts val="600"/>
              </a:spcBef>
              <a:defRPr sz="1100">
                <a:solidFill>
                  <a:srgbClr val="212529"/>
                </a:solidFill>
              </a:defRPr>
            </a:pPr>
            <a:r>
              <a:t>Ecuaciones del Modelo Básico (COCOMO 81): </a:t>
            </a:r>
          </a:p>
          <a:p>
            <a:pPr>
              <a:spcBef>
                <a:spcPts val="600"/>
              </a:spcBef>
              <a:defRPr sz="1100">
                <a:solidFill>
                  <a:srgbClr val="212529"/>
                </a:solidFill>
              </a:defRPr>
            </a:pPr>
            <a:r>
              <a:t>• Esfuerzo (Personas-Mes): E = a × (KLOC)^b</a:t>
            </a:r>
          </a:p>
          <a:p>
            <a:pPr>
              <a:spcBef>
                <a:spcPts val="600"/>
              </a:spcBef>
              <a:defRPr sz="1100">
                <a:solidFill>
                  <a:srgbClr val="212529"/>
                </a:solidFill>
              </a:defRPr>
            </a:pPr>
            <a:r>
              <a:t>• Tiempo de Desarrollo (Meses): TDEV = c × (E)^d</a:t>
            </a:r>
          </a:p>
          <a:p>
            <a:pPr>
              <a:spcBef>
                <a:spcPts val="600"/>
              </a:spcBef>
              <a:defRPr sz="1100">
                <a:solidFill>
                  <a:srgbClr val="212529"/>
                </a:solidFill>
              </a:defRPr>
            </a:pPr>
            <a:r>
              <a:t>• Coeficientes Semiacoplado: a = 3.0 | b = 1.12 | c = 2.5 | d = 0.35</a:t>
            </a:r>
          </a:p>
        </p:txBody>
      </p:sp>
      <p:sp>
        <p:nvSpPr>
          <p:cNvPr id="5" name="TextBox 4"/>
          <p:cNvSpPr txBox="1"/>
          <p:nvPr/>
        </p:nvSpPr>
        <p:spPr>
          <a:xfrm>
            <a:off x="6217920" y="1463040"/>
            <a:ext cx="5212080" cy="4754880"/>
          </a:xfrm>
          <a:prstGeom prst="rect">
            <a:avLst/>
          </a:prstGeom>
          <a:noFill/>
        </p:spPr>
        <p:txBody>
          <a:bodyPr wrap="square">
            <a:spAutoFit/>
          </a:bodyPr>
          <a:lstStyle/>
          <a:p>
            <a:pPr>
              <a:defRPr b="1" sz="1300">
                <a:solidFill>
                  <a:srgbClr val="008080"/>
                </a:solidFill>
              </a:defRPr>
            </a:pPr>
            <a:r>
              <a:t>CÁLCULO MATEMÁTICO DEL MODELO BÁSICO</a:t>
            </a:r>
          </a:p>
          <a:p>
            <a:pPr>
              <a:defRPr sz="950">
                <a:solidFill>
                  <a:srgbClr val="212529"/>
                </a:solidFill>
                <a:latin typeface="Consolas"/>
              </a:defRPr>
            </a:pPr>
            <a:r>
              <a:t>Paso 1: Cálculo del Esfuerzo Nominal</a:t>
            </a:r>
            <a:br/>
            <a:r>
              <a:t>  E = 3.0 × (22.5)^1.12</a:t>
            </a:r>
            <a:br/>
            <a:r>
              <a:t>  (22.5)^1.12 ≈ 32.511</a:t>
            </a:r>
            <a:br/>
            <a:r>
              <a:t>  E = 3.0 × 32.511 = 97.53 Personas-Mes (PM)</a:t>
            </a:r>
            <a:br/>
            <a:br/>
            <a:r>
              <a:t>Paso 2: Cálculo del Tiempo de Desarrollo Estimado</a:t>
            </a:r>
            <a:br/>
            <a:r>
              <a:t>  TDEV = 2.5 × (97.53)^0.35</a:t>
            </a:r>
            <a:br/>
            <a:r>
              <a:t>  (97.53)^0.35 ≈ 4.97 meses</a:t>
            </a:r>
            <a:br/>
            <a:r>
              <a:t>  TDEV ≈ 5.0 Meses (aprox. 20 semanas nominales)</a:t>
            </a:r>
            <a:br/>
            <a:br/>
            <a:r>
              <a:t>Paso 3: Personal Promedio Requerido</a:t>
            </a:r>
            <a:br/>
            <a:r>
              <a:t>  N = E / TDEV = 97.53 / 4.97 ≈ 19.6 Personas nominales</a:t>
            </a:r>
            <a:br/>
            <a:br/>
            <a:r>
              <a:t>Paso 4: Productividad Nominal Básica</a:t>
            </a:r>
            <a:br/>
            <a:r>
              <a:t>  Prod = KLOC / E = 22,500 / 97.53 ≈ 230 LOC / Persona-Mes</a:t>
            </a:r>
            <a:br/>
            <a:br/>
            <a:r>
              <a:t>Observación Crítica: El modelo básico sobrestima el esfuerzo al no considerar el impacto de herramientas modernas (Next.js, Prisma, Turborepo) ni la alta capacidad técnica del equipo. Por ello es indispensable el Modelo Intermedio.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08080"/>
                </a:solidFill>
                <a:latin typeface="Calibri"/>
              </a:defRPr>
            </a:pPr>
            <a:r>
              <a:t>PRODUCTO INTEGRADOR — ADMINISTRACIÓN DE PROYECTOS</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1B365D"/>
                </a:solidFill>
                <a:latin typeface="Calibri"/>
              </a:defRPr>
            </a:pPr>
            <a:r>
              <a:t>12. Estimación de Software: Modelo COCOMO Intermedio (15 Cost Drivers)</a:t>
            </a:r>
          </a:p>
        </p:txBody>
      </p:sp>
      <p:graphicFrame>
        <p:nvGraphicFramePr>
          <p:cNvPr id="4" name="Table 3"/>
          <p:cNvGraphicFramePr>
            <a:graphicFrameLocks noGrp="1"/>
          </p:cNvGraphicFramePr>
          <p:nvPr/>
        </p:nvGraphicFramePr>
        <p:xfrm>
          <a:off x="731520" y="1371600"/>
          <a:ext cx="5212080" cy="2743200"/>
        </p:xfrm>
        <a:graphic>
          <a:graphicData uri="http://schemas.openxmlformats.org/drawingml/2006/table">
            <a:tbl>
              <a:tblPr firstRow="1" bandRow="1">
                <a:tableStyleId>{5C22544A-7EE6-4342-B048-85BDC9FD1C3A}</a:tableStyleId>
              </a:tblPr>
              <a:tblGrid>
                <a:gridCol w="2926080"/>
                <a:gridCol w="1188720"/>
                <a:gridCol w="1097280"/>
              </a:tblGrid>
              <a:tr h="342900">
                <a:tc>
                  <a:txBody>
                    <a:bodyPr/>
                    <a:lstStyle/>
                    <a:p>
                      <a:pPr>
                        <a:defRPr b="1" sz="900">
                          <a:solidFill>
                            <a:srgbClr val="FFFFFF"/>
                          </a:solidFill>
                        </a:defRPr>
                      </a:pPr>
                      <a:r>
                        <a:t>PRODUCTO &amp; PLATAFORMA</a:t>
                      </a:r>
                    </a:p>
                  </a:txBody>
                  <a:tcPr>
                    <a:solidFill>
                      <a:srgbClr val="1B365D"/>
                    </a:solidFill>
                  </a:tcPr>
                </a:tc>
                <a:tc>
                  <a:txBody>
                    <a:bodyPr/>
                    <a:lstStyle/>
                    <a:p>
                      <a:pPr>
                        <a:defRPr b="1" sz="900">
                          <a:solidFill>
                            <a:srgbClr val="FFFFFF"/>
                          </a:solidFill>
                        </a:defRPr>
                      </a:pPr>
                      <a:r>
                        <a:t>NIVEL</a:t>
                      </a:r>
                    </a:p>
                  </a:txBody>
                  <a:tcPr>
                    <a:solidFill>
                      <a:srgbClr val="1B365D"/>
                    </a:solidFill>
                  </a:tcPr>
                </a:tc>
                <a:tc>
                  <a:txBody>
                    <a:bodyPr/>
                    <a:lstStyle/>
                    <a:p>
                      <a:pPr>
                        <a:defRPr b="1" sz="900">
                          <a:solidFill>
                            <a:srgbClr val="FFFFFF"/>
                          </a:solidFill>
                        </a:defRPr>
                      </a:pPr>
                      <a:r>
                        <a:t>VALOR</a:t>
                      </a:r>
                    </a:p>
                  </a:txBody>
                  <a:tcPr>
                    <a:solidFill>
                      <a:srgbClr val="1B365D"/>
                    </a:solidFill>
                  </a:tcPr>
                </a:tc>
              </a:tr>
              <a:tr h="342900">
                <a:tc>
                  <a:txBody>
                    <a:bodyPr/>
                    <a:lstStyle/>
                    <a:p>
                      <a:pPr>
                        <a:defRPr sz="850"/>
                      </a:pPr>
                      <a:r>
                        <a:t>1. RELY (Confiabilidad requerida)</a:t>
                      </a:r>
                    </a:p>
                  </a:txBody>
                  <a:tcPr>
                    <a:solidFill>
                      <a:srgbClr val="FFFFFF"/>
                    </a:solidFill>
                  </a:tcPr>
                </a:tc>
                <a:tc>
                  <a:txBody>
                    <a:bodyPr/>
                    <a:lstStyle/>
                    <a:p>
                      <a:pPr>
                        <a:defRPr sz="850"/>
                      </a:pPr>
                      <a:r>
                        <a:t>Alto</a:t>
                      </a:r>
                    </a:p>
                  </a:txBody>
                  <a:tcPr>
                    <a:solidFill>
                      <a:srgbClr val="FFFFFF"/>
                    </a:solidFill>
                  </a:tcPr>
                </a:tc>
                <a:tc>
                  <a:txBody>
                    <a:bodyPr/>
                    <a:lstStyle/>
                    <a:p>
                      <a:pPr>
                        <a:defRPr sz="850" b="1"/>
                      </a:pPr>
                      <a:r>
                        <a:t>1.15</a:t>
                      </a:r>
                    </a:p>
                  </a:txBody>
                  <a:tcPr>
                    <a:solidFill>
                      <a:srgbClr val="FFFFFF"/>
                    </a:solidFill>
                  </a:tcPr>
                </a:tc>
              </a:tr>
              <a:tr h="342900">
                <a:tc>
                  <a:txBody>
                    <a:bodyPr/>
                    <a:lstStyle/>
                    <a:p>
                      <a:pPr>
                        <a:defRPr sz="850"/>
                      </a:pPr>
                      <a:r>
                        <a:t>2. DATA (Tamaño base de datos)</a:t>
                      </a:r>
                    </a:p>
                  </a:txBody>
                  <a:tcPr>
                    <a:solidFill>
                      <a:srgbClr val="F5F7FA"/>
                    </a:solidFill>
                  </a:tcPr>
                </a:tc>
                <a:tc>
                  <a:txBody>
                    <a:bodyPr/>
                    <a:lstStyle/>
                    <a:p>
                      <a:pPr>
                        <a:defRPr sz="850"/>
                      </a:pPr>
                      <a:r>
                        <a:t>Nominal</a:t>
                      </a:r>
                    </a:p>
                  </a:txBody>
                  <a:tcPr>
                    <a:solidFill>
                      <a:srgbClr val="F5F7FA"/>
                    </a:solidFill>
                  </a:tcPr>
                </a:tc>
                <a:tc>
                  <a:txBody>
                    <a:bodyPr/>
                    <a:lstStyle/>
                    <a:p>
                      <a:pPr>
                        <a:defRPr sz="850"/>
                      </a:pPr>
                      <a:r>
                        <a:t>1.00</a:t>
                      </a:r>
                    </a:p>
                  </a:txBody>
                  <a:tcPr>
                    <a:solidFill>
                      <a:srgbClr val="F5F7FA"/>
                    </a:solidFill>
                  </a:tcPr>
                </a:tc>
              </a:tr>
              <a:tr h="342900">
                <a:tc>
                  <a:txBody>
                    <a:bodyPr/>
                    <a:lstStyle/>
                    <a:p>
                      <a:pPr>
                        <a:defRPr sz="850"/>
                      </a:pPr>
                      <a:r>
                        <a:t>3. CPLX (Complejidad de software)</a:t>
                      </a:r>
                    </a:p>
                  </a:txBody>
                  <a:tcPr>
                    <a:solidFill>
                      <a:srgbClr val="FFFFFF"/>
                    </a:solidFill>
                  </a:tcPr>
                </a:tc>
                <a:tc>
                  <a:txBody>
                    <a:bodyPr/>
                    <a:lstStyle/>
                    <a:p>
                      <a:pPr>
                        <a:defRPr sz="850"/>
                      </a:pPr>
                      <a:r>
                        <a:t>Alto</a:t>
                      </a:r>
                    </a:p>
                  </a:txBody>
                  <a:tcPr>
                    <a:solidFill>
                      <a:srgbClr val="FFFFFF"/>
                    </a:solidFill>
                  </a:tcPr>
                </a:tc>
                <a:tc>
                  <a:txBody>
                    <a:bodyPr/>
                    <a:lstStyle/>
                    <a:p>
                      <a:pPr>
                        <a:defRPr sz="850" b="1"/>
                      </a:pPr>
                      <a:r>
                        <a:t>1.15</a:t>
                      </a:r>
                    </a:p>
                  </a:txBody>
                  <a:tcPr>
                    <a:solidFill>
                      <a:srgbClr val="FFFFFF"/>
                    </a:solidFill>
                  </a:tcPr>
                </a:tc>
              </a:tr>
              <a:tr h="342900">
                <a:tc>
                  <a:txBody>
                    <a:bodyPr/>
                    <a:lstStyle/>
                    <a:p>
                      <a:pPr>
                        <a:defRPr sz="850"/>
                      </a:pPr>
                      <a:r>
                        <a:t>4. TIME (Restricción tiempo CPU)</a:t>
                      </a:r>
                    </a:p>
                  </a:txBody>
                  <a:tcPr>
                    <a:solidFill>
                      <a:srgbClr val="F5F7FA"/>
                    </a:solidFill>
                  </a:tcPr>
                </a:tc>
                <a:tc>
                  <a:txBody>
                    <a:bodyPr/>
                    <a:lstStyle/>
                    <a:p>
                      <a:pPr>
                        <a:defRPr sz="850"/>
                      </a:pPr>
                      <a:r>
                        <a:t>Nominal</a:t>
                      </a:r>
                    </a:p>
                  </a:txBody>
                  <a:tcPr>
                    <a:solidFill>
                      <a:srgbClr val="F5F7FA"/>
                    </a:solidFill>
                  </a:tcPr>
                </a:tc>
                <a:tc>
                  <a:txBody>
                    <a:bodyPr/>
                    <a:lstStyle/>
                    <a:p>
                      <a:pPr>
                        <a:defRPr sz="850"/>
                      </a:pPr>
                      <a:r>
                        <a:t>1.00</a:t>
                      </a:r>
                    </a:p>
                  </a:txBody>
                  <a:tcPr>
                    <a:solidFill>
                      <a:srgbClr val="F5F7FA"/>
                    </a:solidFill>
                  </a:tcPr>
                </a:tc>
              </a:tr>
              <a:tr h="342900">
                <a:tc>
                  <a:txBody>
                    <a:bodyPr/>
                    <a:lstStyle/>
                    <a:p>
                      <a:pPr>
                        <a:defRPr sz="850"/>
                      </a:pPr>
                      <a:r>
                        <a:t>5. STOR (Restricción de memoria)</a:t>
                      </a:r>
                    </a:p>
                  </a:txBody>
                  <a:tcPr>
                    <a:solidFill>
                      <a:srgbClr val="FFFFFF"/>
                    </a:solidFill>
                  </a:tcPr>
                </a:tc>
                <a:tc>
                  <a:txBody>
                    <a:bodyPr/>
                    <a:lstStyle/>
                    <a:p>
                      <a:pPr>
                        <a:defRPr sz="850"/>
                      </a:pPr>
                      <a:r>
                        <a:t>Nominal</a:t>
                      </a:r>
                    </a:p>
                  </a:txBody>
                  <a:tcPr>
                    <a:solidFill>
                      <a:srgbClr val="FFFFFF"/>
                    </a:solidFill>
                  </a:tcPr>
                </a:tc>
                <a:tc>
                  <a:txBody>
                    <a:bodyPr/>
                    <a:lstStyle/>
                    <a:p>
                      <a:pPr>
                        <a:defRPr sz="850"/>
                      </a:pPr>
                      <a:r>
                        <a:t>1.00</a:t>
                      </a:r>
                    </a:p>
                  </a:txBody>
                  <a:tcPr>
                    <a:solidFill>
                      <a:srgbClr val="FFFFFF"/>
                    </a:solidFill>
                  </a:tcPr>
                </a:tc>
              </a:tr>
              <a:tr h="342900">
                <a:tc>
                  <a:txBody>
                    <a:bodyPr/>
                    <a:lstStyle/>
                    <a:p>
                      <a:pPr>
                        <a:defRPr sz="850"/>
                      </a:pPr>
                      <a:r>
                        <a:t>6. VIRT (Volatilidad máquina virtual)</a:t>
                      </a:r>
                    </a:p>
                  </a:txBody>
                  <a:tcPr>
                    <a:solidFill>
                      <a:srgbClr val="F5F7FA"/>
                    </a:solidFill>
                  </a:tcPr>
                </a:tc>
                <a:tc>
                  <a:txBody>
                    <a:bodyPr/>
                    <a:lstStyle/>
                    <a:p>
                      <a:pPr>
                        <a:defRPr sz="850"/>
                      </a:pPr>
                      <a:r>
                        <a:t>Bajo</a:t>
                      </a:r>
                    </a:p>
                  </a:txBody>
                  <a:tcPr>
                    <a:solidFill>
                      <a:srgbClr val="F5F7FA"/>
                    </a:solidFill>
                  </a:tcPr>
                </a:tc>
                <a:tc>
                  <a:txBody>
                    <a:bodyPr/>
                    <a:lstStyle/>
                    <a:p>
                      <a:pPr>
                        <a:defRPr sz="850" b="1"/>
                      </a:pPr>
                      <a:r>
                        <a:t>0.87</a:t>
                      </a:r>
                    </a:p>
                  </a:txBody>
                  <a:tcPr>
                    <a:solidFill>
                      <a:srgbClr val="F5F7FA"/>
                    </a:solidFill>
                  </a:tcPr>
                </a:tc>
              </a:tr>
              <a:tr h="342900">
                <a:tc>
                  <a:txBody>
                    <a:bodyPr/>
                    <a:lstStyle/>
                    <a:p>
                      <a:pPr>
                        <a:defRPr sz="850"/>
                      </a:pPr>
                      <a:r>
                        <a:t>7. TURN (Tiempo de respuesta comp.)</a:t>
                      </a:r>
                    </a:p>
                  </a:txBody>
                  <a:tcPr>
                    <a:solidFill>
                      <a:srgbClr val="FFFFFF"/>
                    </a:solidFill>
                  </a:tcPr>
                </a:tc>
                <a:tc>
                  <a:txBody>
                    <a:bodyPr/>
                    <a:lstStyle/>
                    <a:p>
                      <a:pPr>
                        <a:defRPr sz="850"/>
                      </a:pPr>
                      <a:r>
                        <a:t>Nominal</a:t>
                      </a:r>
                    </a:p>
                  </a:txBody>
                  <a:tcPr>
                    <a:solidFill>
                      <a:srgbClr val="FFFFFF"/>
                    </a:solidFill>
                  </a:tcPr>
                </a:tc>
                <a:tc>
                  <a:txBody>
                    <a:bodyPr/>
                    <a:lstStyle/>
                    <a:p>
                      <a:pPr>
                        <a:defRPr sz="850"/>
                      </a:pPr>
                      <a:r>
                        <a:t>1.00</a:t>
                      </a:r>
                    </a:p>
                  </a:txBody>
                  <a:tcPr>
                    <a:solidFill>
                      <a:srgbClr val="FFFFFF"/>
                    </a:solidFill>
                  </a:tcPr>
                </a:tc>
              </a:tr>
            </a:tbl>
          </a:graphicData>
        </a:graphic>
      </p:graphicFrame>
      <p:graphicFrame>
        <p:nvGraphicFramePr>
          <p:cNvPr id="5" name="Table 4"/>
          <p:cNvGraphicFramePr>
            <a:graphicFrameLocks noGrp="1"/>
          </p:cNvGraphicFramePr>
          <p:nvPr/>
        </p:nvGraphicFramePr>
        <p:xfrm>
          <a:off x="6217920" y="1371600"/>
          <a:ext cx="5212080" cy="3017520"/>
        </p:xfrm>
        <a:graphic>
          <a:graphicData uri="http://schemas.openxmlformats.org/drawingml/2006/table">
            <a:tbl>
              <a:tblPr firstRow="1" bandRow="1">
                <a:tableStyleId>{5C22544A-7EE6-4342-B048-85BDC9FD1C3A}</a:tableStyleId>
              </a:tblPr>
              <a:tblGrid>
                <a:gridCol w="2926080"/>
                <a:gridCol w="1188720"/>
                <a:gridCol w="1097280"/>
              </a:tblGrid>
              <a:tr h="335280">
                <a:tc>
                  <a:txBody>
                    <a:bodyPr/>
                    <a:lstStyle/>
                    <a:p>
                      <a:pPr>
                        <a:defRPr b="1" sz="900">
                          <a:solidFill>
                            <a:srgbClr val="FFFFFF"/>
                          </a:solidFill>
                        </a:defRPr>
                      </a:pPr>
                      <a:r>
                        <a:t>PERSONAL &amp; PROYECTO</a:t>
                      </a:r>
                    </a:p>
                  </a:txBody>
                  <a:tcPr>
                    <a:solidFill>
                      <a:srgbClr val="008080"/>
                    </a:solidFill>
                  </a:tcPr>
                </a:tc>
                <a:tc>
                  <a:txBody>
                    <a:bodyPr/>
                    <a:lstStyle/>
                    <a:p>
                      <a:pPr>
                        <a:defRPr b="1" sz="900">
                          <a:solidFill>
                            <a:srgbClr val="FFFFFF"/>
                          </a:solidFill>
                        </a:defRPr>
                      </a:pPr>
                      <a:r>
                        <a:t>NIVEL</a:t>
                      </a:r>
                    </a:p>
                  </a:txBody>
                  <a:tcPr>
                    <a:solidFill>
                      <a:srgbClr val="008080"/>
                    </a:solidFill>
                  </a:tcPr>
                </a:tc>
                <a:tc>
                  <a:txBody>
                    <a:bodyPr/>
                    <a:lstStyle/>
                    <a:p>
                      <a:pPr>
                        <a:defRPr b="1" sz="900">
                          <a:solidFill>
                            <a:srgbClr val="FFFFFF"/>
                          </a:solidFill>
                        </a:defRPr>
                      </a:pPr>
                      <a:r>
                        <a:t>VALOR</a:t>
                      </a:r>
                    </a:p>
                  </a:txBody>
                  <a:tcPr>
                    <a:solidFill>
                      <a:srgbClr val="008080"/>
                    </a:solidFill>
                  </a:tcPr>
                </a:tc>
              </a:tr>
              <a:tr h="335280">
                <a:tc>
                  <a:txBody>
                    <a:bodyPr/>
                    <a:lstStyle/>
                    <a:p>
                      <a:pPr>
                        <a:defRPr sz="850"/>
                      </a:pPr>
                      <a:r>
                        <a:t>8. ACAP (Capacidad del analista)</a:t>
                      </a:r>
                    </a:p>
                  </a:txBody>
                  <a:tcPr>
                    <a:solidFill>
                      <a:srgbClr val="FFFFFF"/>
                    </a:solidFill>
                  </a:tcPr>
                </a:tc>
                <a:tc>
                  <a:txBody>
                    <a:bodyPr/>
                    <a:lstStyle/>
                    <a:p>
                      <a:pPr>
                        <a:defRPr sz="850"/>
                      </a:pPr>
                      <a:r>
                        <a:t>Alto</a:t>
                      </a:r>
                    </a:p>
                  </a:txBody>
                  <a:tcPr>
                    <a:solidFill>
                      <a:srgbClr val="FFFFFF"/>
                    </a:solidFill>
                  </a:tcPr>
                </a:tc>
                <a:tc>
                  <a:txBody>
                    <a:bodyPr/>
                    <a:lstStyle/>
                    <a:p>
                      <a:pPr>
                        <a:defRPr sz="850" b="1"/>
                      </a:pPr>
                      <a:r>
                        <a:t>0.86</a:t>
                      </a:r>
                    </a:p>
                  </a:txBody>
                  <a:tcPr>
                    <a:solidFill>
                      <a:srgbClr val="FFFFFF"/>
                    </a:solidFill>
                  </a:tcPr>
                </a:tc>
              </a:tr>
              <a:tr h="335280">
                <a:tc>
                  <a:txBody>
                    <a:bodyPr/>
                    <a:lstStyle/>
                    <a:p>
                      <a:pPr>
                        <a:defRPr sz="850"/>
                      </a:pPr>
                      <a:r>
                        <a:t>9. AEXP (Experiencia en aplicación)</a:t>
                      </a:r>
                    </a:p>
                  </a:txBody>
                  <a:tcPr>
                    <a:solidFill>
                      <a:srgbClr val="F5F7FA"/>
                    </a:solidFill>
                  </a:tcPr>
                </a:tc>
                <a:tc>
                  <a:txBody>
                    <a:bodyPr/>
                    <a:lstStyle/>
                    <a:p>
                      <a:pPr>
                        <a:defRPr sz="850"/>
                      </a:pPr>
                      <a:r>
                        <a:t>Nominal</a:t>
                      </a:r>
                    </a:p>
                  </a:txBody>
                  <a:tcPr>
                    <a:solidFill>
                      <a:srgbClr val="F5F7FA"/>
                    </a:solidFill>
                  </a:tcPr>
                </a:tc>
                <a:tc>
                  <a:txBody>
                    <a:bodyPr/>
                    <a:lstStyle/>
                    <a:p>
                      <a:pPr>
                        <a:defRPr sz="850"/>
                      </a:pPr>
                      <a:r>
                        <a:t>1.00</a:t>
                      </a:r>
                    </a:p>
                  </a:txBody>
                  <a:tcPr>
                    <a:solidFill>
                      <a:srgbClr val="F5F7FA"/>
                    </a:solidFill>
                  </a:tcPr>
                </a:tc>
              </a:tr>
              <a:tr h="335280">
                <a:tc>
                  <a:txBody>
                    <a:bodyPr/>
                    <a:lstStyle/>
                    <a:p>
                      <a:pPr>
                        <a:defRPr sz="850"/>
                      </a:pPr>
                      <a:r>
                        <a:t>10. PCAP (Capacidad programadores)</a:t>
                      </a:r>
                    </a:p>
                  </a:txBody>
                  <a:tcPr>
                    <a:solidFill>
                      <a:srgbClr val="FFFFFF"/>
                    </a:solidFill>
                  </a:tcPr>
                </a:tc>
                <a:tc>
                  <a:txBody>
                    <a:bodyPr/>
                    <a:lstStyle/>
                    <a:p>
                      <a:pPr>
                        <a:defRPr sz="850"/>
                      </a:pPr>
                      <a:r>
                        <a:t>Alto</a:t>
                      </a:r>
                    </a:p>
                  </a:txBody>
                  <a:tcPr>
                    <a:solidFill>
                      <a:srgbClr val="FFFFFF"/>
                    </a:solidFill>
                  </a:tcPr>
                </a:tc>
                <a:tc>
                  <a:txBody>
                    <a:bodyPr/>
                    <a:lstStyle/>
                    <a:p>
                      <a:pPr>
                        <a:defRPr sz="850" b="1"/>
                      </a:pPr>
                      <a:r>
                        <a:t>0.86</a:t>
                      </a:r>
                    </a:p>
                  </a:txBody>
                  <a:tcPr>
                    <a:solidFill>
                      <a:srgbClr val="FFFFFF"/>
                    </a:solidFill>
                  </a:tcPr>
                </a:tc>
              </a:tr>
              <a:tr h="335280">
                <a:tc>
                  <a:txBody>
                    <a:bodyPr/>
                    <a:lstStyle/>
                    <a:p>
                      <a:pPr>
                        <a:defRPr sz="850"/>
                      </a:pPr>
                      <a:r>
                        <a:t>11. VEXP (Experiencia en plataforma)</a:t>
                      </a:r>
                    </a:p>
                  </a:txBody>
                  <a:tcPr>
                    <a:solidFill>
                      <a:srgbClr val="F5F7FA"/>
                    </a:solidFill>
                  </a:tcPr>
                </a:tc>
                <a:tc>
                  <a:txBody>
                    <a:bodyPr/>
                    <a:lstStyle/>
                    <a:p>
                      <a:pPr>
                        <a:defRPr sz="850"/>
                      </a:pPr>
                      <a:r>
                        <a:t>Nominal</a:t>
                      </a:r>
                    </a:p>
                  </a:txBody>
                  <a:tcPr>
                    <a:solidFill>
                      <a:srgbClr val="F5F7FA"/>
                    </a:solidFill>
                  </a:tcPr>
                </a:tc>
                <a:tc>
                  <a:txBody>
                    <a:bodyPr/>
                    <a:lstStyle/>
                    <a:p>
                      <a:pPr>
                        <a:defRPr sz="850"/>
                      </a:pPr>
                      <a:r>
                        <a:t>1.00</a:t>
                      </a:r>
                    </a:p>
                  </a:txBody>
                  <a:tcPr>
                    <a:solidFill>
                      <a:srgbClr val="F5F7FA"/>
                    </a:solidFill>
                  </a:tcPr>
                </a:tc>
              </a:tr>
              <a:tr h="335280">
                <a:tc>
                  <a:txBody>
                    <a:bodyPr/>
                    <a:lstStyle/>
                    <a:p>
                      <a:pPr>
                        <a:defRPr sz="850"/>
                      </a:pPr>
                      <a:r>
                        <a:t>12. LEXP (Experiencia en lenguajes)</a:t>
                      </a:r>
                    </a:p>
                  </a:txBody>
                  <a:tcPr>
                    <a:solidFill>
                      <a:srgbClr val="FFFFFF"/>
                    </a:solidFill>
                  </a:tcPr>
                </a:tc>
                <a:tc>
                  <a:txBody>
                    <a:bodyPr/>
                    <a:lstStyle/>
                    <a:p>
                      <a:pPr>
                        <a:defRPr sz="850"/>
                      </a:pPr>
                      <a:r>
                        <a:t>Alto</a:t>
                      </a:r>
                    </a:p>
                  </a:txBody>
                  <a:tcPr>
                    <a:solidFill>
                      <a:srgbClr val="FFFFFF"/>
                    </a:solidFill>
                  </a:tcPr>
                </a:tc>
                <a:tc>
                  <a:txBody>
                    <a:bodyPr/>
                    <a:lstStyle/>
                    <a:p>
                      <a:pPr>
                        <a:defRPr sz="850" b="1"/>
                      </a:pPr>
                      <a:r>
                        <a:t>0.95</a:t>
                      </a:r>
                    </a:p>
                  </a:txBody>
                  <a:tcPr>
                    <a:solidFill>
                      <a:srgbClr val="FFFFFF"/>
                    </a:solidFill>
                  </a:tcPr>
                </a:tc>
              </a:tr>
              <a:tr h="335280">
                <a:tc>
                  <a:txBody>
                    <a:bodyPr/>
                    <a:lstStyle/>
                    <a:p>
                      <a:pPr>
                        <a:defRPr sz="850"/>
                      </a:pPr>
                      <a:r>
                        <a:t>13. MODP (Prácticas modernas prog.)</a:t>
                      </a:r>
                    </a:p>
                  </a:txBody>
                  <a:tcPr>
                    <a:solidFill>
                      <a:srgbClr val="F5F7FA"/>
                    </a:solidFill>
                  </a:tcPr>
                </a:tc>
                <a:tc>
                  <a:txBody>
                    <a:bodyPr/>
                    <a:lstStyle/>
                    <a:p>
                      <a:pPr>
                        <a:defRPr sz="850"/>
                      </a:pPr>
                      <a:r>
                        <a:t>Muy Alto</a:t>
                      </a:r>
                    </a:p>
                  </a:txBody>
                  <a:tcPr>
                    <a:solidFill>
                      <a:srgbClr val="F5F7FA"/>
                    </a:solidFill>
                  </a:tcPr>
                </a:tc>
                <a:tc>
                  <a:txBody>
                    <a:bodyPr/>
                    <a:lstStyle/>
                    <a:p>
                      <a:pPr>
                        <a:defRPr sz="850" b="1"/>
                      </a:pPr>
                      <a:r>
                        <a:t>0.82</a:t>
                      </a:r>
                    </a:p>
                  </a:txBody>
                  <a:tcPr>
                    <a:solidFill>
                      <a:srgbClr val="F5F7FA"/>
                    </a:solidFill>
                  </a:tcPr>
                </a:tc>
              </a:tr>
              <a:tr h="335280">
                <a:tc>
                  <a:txBody>
                    <a:bodyPr/>
                    <a:lstStyle/>
                    <a:p>
                      <a:pPr>
                        <a:defRPr sz="850"/>
                      </a:pPr>
                      <a:r>
                        <a:t>14. TOOL (Herramientas software)</a:t>
                      </a:r>
                    </a:p>
                  </a:txBody>
                  <a:tcPr>
                    <a:solidFill>
                      <a:srgbClr val="FFFFFF"/>
                    </a:solidFill>
                  </a:tcPr>
                </a:tc>
                <a:tc>
                  <a:txBody>
                    <a:bodyPr/>
                    <a:lstStyle/>
                    <a:p>
                      <a:pPr>
                        <a:defRPr sz="850"/>
                      </a:pPr>
                      <a:r>
                        <a:t>Alto</a:t>
                      </a:r>
                    </a:p>
                  </a:txBody>
                  <a:tcPr>
                    <a:solidFill>
                      <a:srgbClr val="FFFFFF"/>
                    </a:solidFill>
                  </a:tcPr>
                </a:tc>
                <a:tc>
                  <a:txBody>
                    <a:bodyPr/>
                    <a:lstStyle/>
                    <a:p>
                      <a:pPr>
                        <a:defRPr sz="850" b="1"/>
                      </a:pPr>
                      <a:r>
                        <a:t>0.91</a:t>
                      </a:r>
                    </a:p>
                  </a:txBody>
                  <a:tcPr>
                    <a:solidFill>
                      <a:srgbClr val="FFFFFF"/>
                    </a:solidFill>
                  </a:tcPr>
                </a:tc>
              </a:tr>
              <a:tr h="335280">
                <a:tc>
                  <a:txBody>
                    <a:bodyPr/>
                    <a:lstStyle/>
                    <a:p>
                      <a:pPr>
                        <a:defRPr sz="850"/>
                      </a:pPr>
                      <a:r>
                        <a:t>15. SCED (Cronograma requerido)</a:t>
                      </a:r>
                    </a:p>
                  </a:txBody>
                  <a:tcPr>
                    <a:solidFill>
                      <a:srgbClr val="F5F7FA"/>
                    </a:solidFill>
                  </a:tcPr>
                </a:tc>
                <a:tc>
                  <a:txBody>
                    <a:bodyPr/>
                    <a:lstStyle/>
                    <a:p>
                      <a:pPr>
                        <a:defRPr sz="850"/>
                      </a:pPr>
                      <a:r>
                        <a:t>Nominal</a:t>
                      </a:r>
                    </a:p>
                  </a:txBody>
                  <a:tcPr>
                    <a:solidFill>
                      <a:srgbClr val="F5F7FA"/>
                    </a:solidFill>
                  </a:tcPr>
                </a:tc>
                <a:tc>
                  <a:txBody>
                    <a:bodyPr/>
                    <a:lstStyle/>
                    <a:p>
                      <a:pPr>
                        <a:defRPr sz="850"/>
                      </a:pPr>
                      <a:r>
                        <a:t>1.00</a:t>
                      </a:r>
                    </a:p>
                  </a:txBody>
                  <a:tcPr>
                    <a:solidFill>
                      <a:srgbClr val="F5F7FA"/>
                    </a:solidFill>
                  </a:tcPr>
                </a:tc>
              </a:tr>
            </a:tbl>
          </a:graphicData>
        </a:graphic>
      </p:graphicFrame>
      <p:sp>
        <p:nvSpPr>
          <p:cNvPr id="6" name="TextBox 5"/>
          <p:cNvSpPr txBox="1"/>
          <p:nvPr/>
        </p:nvSpPr>
        <p:spPr>
          <a:xfrm>
            <a:off x="731520" y="4480560"/>
            <a:ext cx="10698480" cy="2011680"/>
          </a:xfrm>
          <a:prstGeom prst="rect">
            <a:avLst/>
          </a:prstGeom>
          <a:noFill/>
        </p:spPr>
        <p:txBody>
          <a:bodyPr wrap="square">
            <a:spAutoFit/>
          </a:bodyPr>
          <a:lstStyle/>
          <a:p>
            <a:pPr>
              <a:defRPr b="1" sz="1100">
                <a:solidFill>
                  <a:srgbClr val="1B365D"/>
                </a:solidFill>
              </a:defRPr>
            </a:pPr>
            <a:r>
              <a:t>CÁLCULO DEL FACTOR DE AJUSTE (EAF) Y ESFUERZO REFINADO:</a:t>
            </a:r>
          </a:p>
          <a:p>
            <a:pPr>
              <a:defRPr sz="950">
                <a:solidFill>
                  <a:srgbClr val="212529"/>
                </a:solidFill>
              </a:defRPr>
            </a:pPr>
            <a:r>
              <a:t>• EAF (Multiplicador de los 15 Cost Drivers): 1.15 × 1.00 × 1.15 × 1.00 × 1.00 × 0.87 × 1.00 × 0.86 × 1.00 × 0.86 × 1.00 × 0.95 × 0.82 × 0.91 × 1.00 = 0.795.</a:t>
            </a:r>
            <a:br/>
            <a:r>
              <a:t>• Esfuerzo Ajustado (E_intermedio): EAF × E_básico = 0.795 × 97.53 PM = 77.54 Personas-Mes (Ahorro del 20.5% en esfuerzo).</a:t>
            </a:r>
            <a:br/>
            <a:r>
              <a:t>• Tiempo de Desarrollo Estimado (TDEV): 2.5 × (77.54)^0.35 = 4.59 Meses (≈ 18.3 semanas de calendario).</a:t>
            </a:r>
            <a:br/>
            <a:r>
              <a:t>• Conclusión: Las altas calificaciones en capital humano (ACAP=0.86, PCAP=0.86), prácticas modernas (MODP=0.82) y herramientas (TOOL=0.91) compensan la complejidad del Patrón Saga (CPLX=1.15) y los requisitos de dinero real (RELY=1.15), validando la entrega en 16 semanas.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08080"/>
                </a:solidFill>
                <a:latin typeface="Calibri"/>
              </a:defRPr>
            </a:pPr>
            <a:r>
              <a:t>PRODUCTO INTEGRADOR — ADMINISTRACIÓN DE PROYECTOS</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1B365D"/>
                </a:solidFill>
                <a:latin typeface="Calibri"/>
              </a:defRPr>
            </a:pPr>
            <a:r>
              <a:t>13. Estimación Presupuestal: Resumen del Presupuesto Integral</a:t>
            </a:r>
          </a:p>
        </p:txBody>
      </p:sp>
      <p:graphicFrame>
        <p:nvGraphicFramePr>
          <p:cNvPr id="4" name="Table 3"/>
          <p:cNvGraphicFramePr>
            <a:graphicFrameLocks noGrp="1"/>
          </p:cNvGraphicFramePr>
          <p:nvPr/>
        </p:nvGraphicFramePr>
        <p:xfrm>
          <a:off x="731520" y="1463040"/>
          <a:ext cx="10698480" cy="4114800"/>
        </p:xfrm>
        <a:graphic>
          <a:graphicData uri="http://schemas.openxmlformats.org/drawingml/2006/table">
            <a:tbl>
              <a:tblPr firstRow="1" bandRow="1">
                <a:tableStyleId>{5C22544A-7EE6-4342-B048-85BDC9FD1C3A}</a:tableStyleId>
              </a:tblPr>
              <a:tblGrid>
                <a:gridCol w="1097280"/>
                <a:gridCol w="4114800"/>
                <a:gridCol w="2926080"/>
                <a:gridCol w="2560320"/>
              </a:tblGrid>
              <a:tr h="685800">
                <a:tc>
                  <a:txBody>
                    <a:bodyPr/>
                    <a:lstStyle/>
                    <a:p>
                      <a:pPr>
                        <a:defRPr b="1" sz="1000">
                          <a:solidFill>
                            <a:srgbClr val="FFFFFF"/>
                          </a:solidFill>
                        </a:defRPr>
                      </a:pPr>
                      <a:r>
                        <a:t>WBS</a:t>
                      </a:r>
                    </a:p>
                  </a:txBody>
                  <a:tcPr>
                    <a:solidFill>
                      <a:srgbClr val="1B365D"/>
                    </a:solidFill>
                  </a:tcPr>
                </a:tc>
                <a:tc>
                  <a:txBody>
                    <a:bodyPr/>
                    <a:lstStyle/>
                    <a:p>
                      <a:pPr>
                        <a:defRPr b="1" sz="1000">
                          <a:solidFill>
                            <a:srgbClr val="FFFFFF"/>
                          </a:solidFill>
                        </a:defRPr>
                      </a:pPr>
                      <a:r>
                        <a:t>CATEGORÍA DEL PRESUPUESTO</a:t>
                      </a:r>
                    </a:p>
                  </a:txBody>
                  <a:tcPr>
                    <a:solidFill>
                      <a:srgbClr val="1B365D"/>
                    </a:solidFill>
                  </a:tcPr>
                </a:tc>
                <a:tc>
                  <a:txBody>
                    <a:bodyPr/>
                    <a:lstStyle/>
                    <a:p>
                      <a:pPr>
                        <a:defRPr b="1" sz="1000">
                          <a:solidFill>
                            <a:srgbClr val="FFFFFF"/>
                          </a:solidFill>
                        </a:defRPr>
                      </a:pPr>
                      <a:r>
                        <a:t>DESCRIPCIÓN DE PARTIDAS</a:t>
                      </a:r>
                    </a:p>
                  </a:txBody>
                  <a:tcPr>
                    <a:solidFill>
                      <a:srgbClr val="1B365D"/>
                    </a:solidFill>
                  </a:tcPr>
                </a:tc>
                <a:tc>
                  <a:txBody>
                    <a:bodyPr/>
                    <a:lstStyle/>
                    <a:p>
                      <a:pPr>
                        <a:defRPr b="1" sz="1000">
                          <a:solidFill>
                            <a:srgbClr val="FFFFFF"/>
                          </a:solidFill>
                        </a:defRPr>
                      </a:pPr>
                      <a:r>
                        <a:t>MONTO TOTAL (MXN)</a:t>
                      </a:r>
                    </a:p>
                  </a:txBody>
                  <a:tcPr>
                    <a:solidFill>
                      <a:srgbClr val="1B365D"/>
                    </a:solidFill>
                  </a:tcPr>
                </a:tc>
              </a:tr>
              <a:tr h="685800">
                <a:tc>
                  <a:txBody>
                    <a:bodyPr/>
                    <a:lstStyle/>
                    <a:p>
                      <a:pPr>
                        <a:defRPr sz="1000">
                          <a:solidFill>
                            <a:srgbClr val="212529"/>
                          </a:solidFill>
                        </a:defRPr>
                      </a:pPr>
                      <a:r>
                        <a:t>1.0</a:t>
                      </a:r>
                    </a:p>
                  </a:txBody>
                  <a:tcPr>
                    <a:solidFill>
                      <a:srgbClr val="FFFFFF"/>
                    </a:solidFill>
                  </a:tcPr>
                </a:tc>
                <a:tc>
                  <a:txBody>
                    <a:bodyPr/>
                    <a:lstStyle/>
                    <a:p>
                      <a:pPr>
                        <a:defRPr sz="1000">
                          <a:solidFill>
                            <a:srgbClr val="212529"/>
                          </a:solidFill>
                        </a:defRPr>
                      </a:pPr>
                      <a:r>
                        <a:t>Recursos Humanos (Labor)</a:t>
                      </a:r>
                    </a:p>
                  </a:txBody>
                  <a:tcPr>
                    <a:solidFill>
                      <a:srgbClr val="FFFFFF"/>
                    </a:solidFill>
                  </a:tcPr>
                </a:tc>
                <a:tc>
                  <a:txBody>
                    <a:bodyPr/>
                    <a:lstStyle/>
                    <a:p>
                      <a:pPr>
                        <a:defRPr sz="1000">
                          <a:solidFill>
                            <a:srgbClr val="212529"/>
                          </a:solidFill>
                        </a:defRPr>
                      </a:pPr>
                      <a:r>
                        <a:t>5 Roles técnicos (Scrum Master, Arquitecto, Devs, QA) - 2,720 horas.</a:t>
                      </a:r>
                    </a:p>
                  </a:txBody>
                  <a:tcPr>
                    <a:solidFill>
                      <a:srgbClr val="FFFFFF"/>
                    </a:solidFill>
                  </a:tcPr>
                </a:tc>
                <a:tc>
                  <a:txBody>
                    <a:bodyPr/>
                    <a:lstStyle/>
                    <a:p>
                      <a:pPr>
                        <a:defRPr sz="1000">
                          <a:solidFill>
                            <a:srgbClr val="212529"/>
                          </a:solidFill>
                        </a:defRPr>
                      </a:pPr>
                      <a:r>
                        <a:t>$358,000.00 MXN</a:t>
                      </a:r>
                    </a:p>
                  </a:txBody>
                  <a:tcPr>
                    <a:solidFill>
                      <a:srgbClr val="FFFFFF"/>
                    </a:solidFill>
                  </a:tcPr>
                </a:tc>
              </a:tr>
              <a:tr h="685800">
                <a:tc>
                  <a:txBody>
                    <a:bodyPr/>
                    <a:lstStyle/>
                    <a:p>
                      <a:pPr>
                        <a:defRPr sz="1000">
                          <a:solidFill>
                            <a:srgbClr val="212529"/>
                          </a:solidFill>
                        </a:defRPr>
                      </a:pPr>
                      <a:r>
                        <a:t>2.0</a:t>
                      </a:r>
                    </a:p>
                  </a:txBody>
                  <a:tcPr>
                    <a:solidFill>
                      <a:srgbClr val="F5F7FA"/>
                    </a:solidFill>
                  </a:tcPr>
                </a:tc>
                <a:tc>
                  <a:txBody>
                    <a:bodyPr/>
                    <a:lstStyle/>
                    <a:p>
                      <a:pPr>
                        <a:defRPr sz="1000">
                          <a:solidFill>
                            <a:srgbClr val="212529"/>
                          </a:solidFill>
                        </a:defRPr>
                      </a:pPr>
                      <a:r>
                        <a:t>Recursos Materiales y Equipos</a:t>
                      </a:r>
                    </a:p>
                  </a:txBody>
                  <a:tcPr>
                    <a:solidFill>
                      <a:srgbClr val="F5F7FA"/>
                    </a:solidFill>
                  </a:tcPr>
                </a:tc>
                <a:tc>
                  <a:txBody>
                    <a:bodyPr/>
                    <a:lstStyle/>
                    <a:p>
                      <a:pPr>
                        <a:defRPr sz="1000">
                          <a:solidFill>
                            <a:srgbClr val="212529"/>
                          </a:solidFill>
                        </a:defRPr>
                      </a:pPr>
                      <a:r>
                        <a:t>Tablet mostrador POS 10.5", Impresora térmica 80mm y Lector QR 2D.</a:t>
                      </a:r>
                    </a:p>
                  </a:txBody>
                  <a:tcPr>
                    <a:solidFill>
                      <a:srgbClr val="F5F7FA"/>
                    </a:solidFill>
                  </a:tcPr>
                </a:tc>
                <a:tc>
                  <a:txBody>
                    <a:bodyPr/>
                    <a:lstStyle/>
                    <a:p>
                      <a:pPr>
                        <a:defRPr sz="1000">
                          <a:solidFill>
                            <a:srgbClr val="212529"/>
                          </a:solidFill>
                        </a:defRPr>
                      </a:pPr>
                      <a:r>
                        <a:t>$9,500.00 MXN</a:t>
                      </a:r>
                    </a:p>
                  </a:txBody>
                  <a:tcPr>
                    <a:solidFill>
                      <a:srgbClr val="F5F7FA"/>
                    </a:solidFill>
                  </a:tcPr>
                </a:tc>
              </a:tr>
              <a:tr h="685800">
                <a:tc>
                  <a:txBody>
                    <a:bodyPr/>
                    <a:lstStyle/>
                    <a:p>
                      <a:pPr>
                        <a:defRPr sz="1000">
                          <a:solidFill>
                            <a:srgbClr val="212529"/>
                          </a:solidFill>
                        </a:defRPr>
                      </a:pPr>
                      <a:r>
                        <a:t>3.0</a:t>
                      </a:r>
                    </a:p>
                  </a:txBody>
                  <a:tcPr>
                    <a:solidFill>
                      <a:srgbClr val="FFFFFF"/>
                    </a:solidFill>
                  </a:tcPr>
                </a:tc>
                <a:tc>
                  <a:txBody>
                    <a:bodyPr/>
                    <a:lstStyle/>
                    <a:p>
                      <a:pPr>
                        <a:defRPr sz="1000">
                          <a:solidFill>
                            <a:srgbClr val="212529"/>
                          </a:solidFill>
                        </a:defRPr>
                      </a:pPr>
                      <a:r>
                        <a:t>Servicios Cloud y Licenciamiento</a:t>
                      </a:r>
                    </a:p>
                  </a:txBody>
                  <a:tcPr>
                    <a:solidFill>
                      <a:srgbClr val="FFFFFF"/>
                    </a:solidFill>
                  </a:tcPr>
                </a:tc>
                <a:tc>
                  <a:txBody>
                    <a:bodyPr/>
                    <a:lstStyle/>
                    <a:p>
                      <a:pPr>
                        <a:defRPr sz="1000">
                          <a:solidFill>
                            <a:srgbClr val="212529"/>
                          </a:solidFill>
                        </a:defRPr>
                      </a:pPr>
                      <a:r>
                        <a:t>Google Cloud Platform (Cloud Run, SQL), RabbitMQ, Dominio y GitHub.</a:t>
                      </a:r>
                    </a:p>
                  </a:txBody>
                  <a:tcPr>
                    <a:solidFill>
                      <a:srgbClr val="FFFFFF"/>
                    </a:solidFill>
                  </a:tcPr>
                </a:tc>
                <a:tc>
                  <a:txBody>
                    <a:bodyPr/>
                    <a:lstStyle/>
                    <a:p>
                      <a:pPr>
                        <a:defRPr sz="1000">
                          <a:solidFill>
                            <a:srgbClr val="212529"/>
                          </a:solidFill>
                        </a:defRPr>
                      </a:pPr>
                      <a:r>
                        <a:t>$12,750.00 MXN</a:t>
                      </a:r>
                    </a:p>
                  </a:txBody>
                  <a:tcPr>
                    <a:solidFill>
                      <a:srgbClr val="FFFFFF"/>
                    </a:solidFill>
                  </a:tcPr>
                </a:tc>
              </a:tr>
              <a:tr h="685800">
                <a:tc>
                  <a:txBody>
                    <a:bodyPr/>
                    <a:lstStyle/>
                    <a:p>
                      <a:pPr>
                        <a:defRPr sz="1000">
                          <a:solidFill>
                            <a:srgbClr val="212529"/>
                          </a:solidFill>
                        </a:defRPr>
                      </a:pPr>
                      <a:r>
                        <a:t>4.0</a:t>
                      </a:r>
                    </a:p>
                  </a:txBody>
                  <a:tcPr>
                    <a:solidFill>
                      <a:srgbClr val="F5F7FA"/>
                    </a:solidFill>
                  </a:tcPr>
                </a:tc>
                <a:tc>
                  <a:txBody>
                    <a:bodyPr/>
                    <a:lstStyle/>
                    <a:p>
                      <a:pPr>
                        <a:defRPr sz="1000">
                          <a:solidFill>
                            <a:srgbClr val="212529"/>
                          </a:solidFill>
                        </a:defRPr>
                      </a:pPr>
                      <a:r>
                        <a:t>Fondo de Contingencia y Riesgos</a:t>
                      </a:r>
                    </a:p>
                  </a:txBody>
                  <a:tcPr>
                    <a:solidFill>
                      <a:srgbClr val="F5F7FA"/>
                    </a:solidFill>
                  </a:tcPr>
                </a:tc>
                <a:tc>
                  <a:txBody>
                    <a:bodyPr/>
                    <a:lstStyle/>
                    <a:p>
                      <a:pPr>
                        <a:defRPr sz="1000">
                          <a:solidFill>
                            <a:srgbClr val="212529"/>
                          </a:solidFill>
                        </a:defRPr>
                      </a:pPr>
                      <a:r>
                        <a:t>Reserva preventiva calculada al 10% de los costos directos.</a:t>
                      </a:r>
                    </a:p>
                  </a:txBody>
                  <a:tcPr>
                    <a:solidFill>
                      <a:srgbClr val="F5F7FA"/>
                    </a:solidFill>
                  </a:tcPr>
                </a:tc>
                <a:tc>
                  <a:txBody>
                    <a:bodyPr/>
                    <a:lstStyle/>
                    <a:p>
                      <a:pPr>
                        <a:defRPr sz="1000">
                          <a:solidFill>
                            <a:srgbClr val="212529"/>
                          </a:solidFill>
                        </a:defRPr>
                      </a:pPr>
                      <a:r>
                        <a:t>$38,025.00 MXN</a:t>
                      </a:r>
                    </a:p>
                  </a:txBody>
                  <a:tcPr>
                    <a:solidFill>
                      <a:srgbClr val="F5F7FA"/>
                    </a:solidFill>
                  </a:tcPr>
                </a:tc>
              </a:tr>
              <a:tr h="685800">
                <a:tc>
                  <a:txBody>
                    <a:bodyPr/>
                    <a:lstStyle/>
                    <a:p>
                      <a:pPr>
                        <a:defRPr sz="1100" b="1">
                          <a:solidFill>
                            <a:srgbClr val="FFFFFF"/>
                          </a:solidFill>
                        </a:defRPr>
                      </a:pPr>
                      <a:r>
                        <a:t>TOTAL</a:t>
                      </a:r>
                    </a:p>
                  </a:txBody>
                  <a:tcPr>
                    <a:solidFill>
                      <a:srgbClr val="1B365D"/>
                    </a:solidFill>
                  </a:tcPr>
                </a:tc>
                <a:tc>
                  <a:txBody>
                    <a:bodyPr/>
                    <a:lstStyle/>
                    <a:p>
                      <a:pPr>
                        <a:defRPr sz="1100" b="1">
                          <a:solidFill>
                            <a:srgbClr val="FFFFFF"/>
                          </a:solidFill>
                        </a:defRPr>
                      </a:pPr>
                      <a:r>
                        <a:t>PRESUPUESTO TOTAL DEL PROYECTO</a:t>
                      </a:r>
                    </a:p>
                  </a:txBody>
                  <a:tcPr>
                    <a:solidFill>
                      <a:srgbClr val="1B365D"/>
                    </a:solidFill>
                  </a:tcPr>
                </a:tc>
                <a:tc>
                  <a:txBody>
                    <a:bodyPr/>
                    <a:lstStyle/>
                    <a:p>
                      <a:pPr>
                        <a:defRPr sz="1100" b="1">
                          <a:solidFill>
                            <a:srgbClr val="FFFFFF"/>
                          </a:solidFill>
                        </a:defRPr>
                      </a:pPr>
                      <a:r>
                        <a:t>Inversión integral calculada a 16 semanas (4 meses)</a:t>
                      </a:r>
                    </a:p>
                  </a:txBody>
                  <a:tcPr>
                    <a:solidFill>
                      <a:srgbClr val="1B365D"/>
                    </a:solidFill>
                  </a:tcPr>
                </a:tc>
                <a:tc>
                  <a:txBody>
                    <a:bodyPr/>
                    <a:lstStyle/>
                    <a:p>
                      <a:pPr>
                        <a:defRPr sz="1100" b="1">
                          <a:solidFill>
                            <a:srgbClr val="FFFFFF"/>
                          </a:solidFill>
                        </a:defRPr>
                      </a:pPr>
                      <a:r>
                        <a:t>$418,275.00 MXN</a:t>
                      </a:r>
                    </a:p>
                  </a:txBody>
                  <a:tcPr>
                    <a:solidFill>
                      <a:srgbClr val="1B365D"/>
                    </a:solidFill>
                  </a:tcPr>
                </a:tc>
              </a:tr>
            </a:tbl>
          </a:graphicData>
        </a:graphic>
      </p:graphicFrame>
      <p:sp>
        <p:nvSpPr>
          <p:cNvPr id="5" name="TextBox 4"/>
          <p:cNvSpPr txBox="1"/>
          <p:nvPr/>
        </p:nvSpPr>
        <p:spPr>
          <a:xfrm>
            <a:off x="731520" y="5669280"/>
            <a:ext cx="10698480" cy="731520"/>
          </a:xfrm>
          <a:prstGeom prst="rect">
            <a:avLst/>
          </a:prstGeom>
          <a:noFill/>
        </p:spPr>
        <p:txBody>
          <a:bodyPr wrap="none">
            <a:spAutoFit/>
          </a:bodyPr>
          <a:lstStyle/>
          <a:p>
            <a:pPr>
              <a:defRPr sz="1050" i="1">
                <a:solidFill>
                  <a:srgbClr val="6C757D"/>
                </a:solidFill>
              </a:defRPr>
            </a:pPr>
            <a:r>
              <a:t>Nota: El desglose detallado con tarifas horarias y fórmulas automáticas se encuentra formalizado en la plantilla oficial de Smartsheet generada en el proyecto (Presupuesto_Monchis_Cafe.xlsx).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08080"/>
                </a:solidFill>
                <a:latin typeface="Calibri"/>
              </a:defRPr>
            </a:pPr>
            <a:r>
              <a:t>PRODUCTO INTEGRADOR — ADMINISTRACIÓN DE PROYECTOS</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1B365D"/>
                </a:solidFill>
                <a:latin typeface="Calibri"/>
              </a:defRPr>
            </a:pPr>
            <a:r>
              <a:t>14. Modelado y Diseño: Diagramas UML (Casos de Uso y Clases)</a:t>
            </a:r>
          </a:p>
        </p:txBody>
      </p:sp>
      <p:sp>
        <p:nvSpPr>
          <p:cNvPr id="4" name="TextBox 3"/>
          <p:cNvSpPr txBox="1"/>
          <p:nvPr/>
        </p:nvSpPr>
        <p:spPr>
          <a:xfrm>
            <a:off x="731520" y="1463040"/>
            <a:ext cx="5120640" cy="4754880"/>
          </a:xfrm>
          <a:prstGeom prst="rect">
            <a:avLst/>
          </a:prstGeom>
          <a:noFill/>
        </p:spPr>
        <p:txBody>
          <a:bodyPr wrap="square">
            <a:spAutoFit/>
          </a:bodyPr>
          <a:lstStyle/>
          <a:p>
            <a:pPr>
              <a:defRPr b="1" sz="1300">
                <a:solidFill>
                  <a:srgbClr val="1B365D"/>
                </a:solidFill>
              </a:defRPr>
            </a:pPr>
            <a:r>
              <a:t>CASOS DE USO PRINCIPALES DEL SISTEMA</a:t>
            </a:r>
          </a:p>
          <a:p>
            <a:pPr>
              <a:spcBef>
                <a:spcPts val="600"/>
              </a:spcBef>
              <a:defRPr b="1" sz="1050">
                <a:solidFill>
                  <a:srgbClr val="008080"/>
                </a:solidFill>
              </a:defRPr>
            </a:pPr>
            <a:r>
              <a:t>• Actor: Barista / Cajero (POS):</a:t>
            </a:r>
            <a:r>
              <a:rPr b="0">
                <a:solidFill>
                  <a:srgbClr val="212529"/>
                </a:solidFill>
              </a:rPr>
              <a:t>
• Registrar orden con escaneo de código de barras.
• Aplicar pagos mixtos (Efectivo, Tarjeta, Puntos Monchis).
• Asignar bono ecológico si el cliente presenta termo reutilizable.
• Emisión de ticket digital con QR de trazabilidad de finca.</a:t>
            </a:r>
          </a:p>
          <a:p>
            <a:pPr>
              <a:spcBef>
                <a:spcPts val="600"/>
              </a:spcBef>
              <a:defRPr b="1" sz="1050">
                <a:solidFill>
                  <a:srgbClr val="008080"/>
                </a:solidFill>
              </a:defRPr>
            </a:pPr>
            <a:r>
              <a:t>• Actor: Administrador / Dueño:</a:t>
            </a:r>
            <a:r>
              <a:rPr b="0">
                <a:solidFill>
                  <a:srgbClr val="212529"/>
                </a:solidFill>
              </a:rPr>
              <a:t>
• Dar de alta lotes de café con fecha de tueste y origen.
• Consultar panel de ventas con atribución UTM (Maps vs Instagram).
• Supervisar mermas y auditoría de transacciones fallidas en DLQ.</a:t>
            </a:r>
          </a:p>
          <a:p>
            <a:pPr>
              <a:spcBef>
                <a:spcPts val="600"/>
              </a:spcBef>
              <a:defRPr b="1" sz="1050">
                <a:solidFill>
                  <a:srgbClr val="008080"/>
                </a:solidFill>
              </a:defRPr>
            </a:pPr>
            <a:r>
              <a:t>• Actor: Cliente Eco-Consciente:</a:t>
            </a:r>
            <a:r>
              <a:rPr b="0">
                <a:solidFill>
                  <a:srgbClr val="212529"/>
                </a:solidFill>
              </a:rPr>
              <a:t>
• Acumular sellos digitales y canjear cashback Monchis Rewards.
• Consultar catálogo público prerenderizado con historia de fincas.</a:t>
            </a:r>
          </a:p>
        </p:txBody>
      </p:sp>
      <p:sp>
        <p:nvSpPr>
          <p:cNvPr id="5" name="TextBox 4"/>
          <p:cNvSpPr txBox="1"/>
          <p:nvPr/>
        </p:nvSpPr>
        <p:spPr>
          <a:xfrm>
            <a:off x="6217920" y="1463040"/>
            <a:ext cx="5212080" cy="4754880"/>
          </a:xfrm>
          <a:prstGeom prst="rect">
            <a:avLst/>
          </a:prstGeom>
          <a:noFill/>
        </p:spPr>
        <p:txBody>
          <a:bodyPr wrap="square">
            <a:spAutoFit/>
          </a:bodyPr>
          <a:lstStyle/>
          <a:p>
            <a:pPr>
              <a:defRPr b="1" sz="1300">
                <a:solidFill>
                  <a:srgbClr val="008080"/>
                </a:solidFill>
              </a:defRPr>
            </a:pPr>
            <a:r>
              <a:t>DIAGRAMA DE CLASES DEL DOMINIO (PRISMA)</a:t>
            </a:r>
          </a:p>
          <a:p>
            <a:pPr>
              <a:defRPr sz="950">
                <a:solidFill>
                  <a:srgbClr val="212529"/>
                </a:solidFill>
                <a:latin typeface="Consolas"/>
              </a:defRPr>
            </a:pPr>
            <a:r>
              <a:t>┌──────────────────────────┐       ┌──────────────────────────┐</a:t>
            </a:r>
            <a:br/>
            <a:r>
              <a:t>│         Product          │ 1   * │        CoffeeBatch       │</a:t>
            </a:r>
            <a:br/>
            <a:r>
              <a:t>├──────────────────────────┼───────┼──────────────────────────┤</a:t>
            </a:r>
            <a:br/>
            <a:r>
              <a:t>│ id: String (UUID)        │       │ id: String               │</a:t>
            </a:r>
            <a:br/>
            <a:r>
              <a:t>│ name: String             │       │ farmName: String         │</a:t>
            </a:r>
            <a:br/>
            <a:r>
              <a:t>│ price: Decimal           │       │ altitudeMeters: Int      │</a:t>
            </a:r>
            <a:br/>
            <a:r>
              <a:t>│ category: CategoryEnum   │       │ roastDate: DateTime      │</a:t>
            </a:r>
            <a:br/>
            <a:r>
              <a:t>└────────────┬─────────────┘       │ expiryDate: DateTime     │</a:t>
            </a:r>
            <a:br/>
            <a:r>
              <a:t>             │ 1                   └──────────────────────────┘</a:t>
            </a:r>
            <a:br/>
            <a:r>
              <a:t>             │ *</a:t>
            </a:r>
            <a:br/>
            <a:r>
              <a:t>┌────────────▼─────────────┐       ┌──────────────────────────┐</a:t>
            </a:r>
            <a:br/>
            <a:r>
              <a:t>│        OrderItem         │ *   1 │          Order           │</a:t>
            </a:r>
            <a:br/>
            <a:r>
              <a:t>├──────────────────────────┼───────┼──────────────────────────┤</a:t>
            </a:r>
            <a:br/>
            <a:r>
              <a:t>│ quantity: Int            │       │ totalAmount: Decimal     │</a:t>
            </a:r>
            <a:br/>
            <a:r>
              <a:t>│ unitPrice: Decimal       │       │ ecoBonusDiscount: Decimal│</a:t>
            </a:r>
            <a:br/>
            <a:r>
              <a:t>│ subtotal: Decimal        │       │ paymentStatus: StatusEnum│</a:t>
            </a:r>
            <a:br/>
            <a:r>
              <a:t>└──────────────────────────┘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08080"/>
                </a:solidFill>
                <a:latin typeface="Calibri"/>
              </a:defRPr>
            </a:pPr>
            <a:r>
              <a:t>PRODUCTO INTEGRADOR — ADMINISTRACIÓN DE PROYECTOS</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1B365D"/>
                </a:solidFill>
                <a:latin typeface="Calibri"/>
              </a:defRPr>
            </a:pPr>
            <a:r>
              <a:t>15. Modelado y Diseño: Diagrama de Secuencia (Patrón Saga y Reversas)</a:t>
            </a:r>
          </a:p>
        </p:txBody>
      </p:sp>
      <p:sp>
        <p:nvSpPr>
          <p:cNvPr id="4" name="TextBox 3"/>
          <p:cNvSpPr txBox="1"/>
          <p:nvPr/>
        </p:nvSpPr>
        <p:spPr>
          <a:xfrm>
            <a:off x="731520" y="1463040"/>
            <a:ext cx="10698480" cy="4754880"/>
          </a:xfrm>
          <a:prstGeom prst="rect">
            <a:avLst/>
          </a:prstGeom>
          <a:noFill/>
        </p:spPr>
        <p:txBody>
          <a:bodyPr wrap="square">
            <a:spAutoFit/>
          </a:bodyPr>
          <a:lstStyle/>
          <a:p>
            <a:pPr>
              <a:defRPr b="1" sz="1300">
                <a:solidFill>
                  <a:srgbClr val="1B365D"/>
                </a:solidFill>
              </a:defRPr>
            </a:pPr>
            <a:r>
              <a:t>FLUJO TRANSACCIONAL RESILIENTE CON RABBITMQ (CONSISTENCIA EVENTUAL)</a:t>
            </a:r>
          </a:p>
          <a:p>
            <a:pPr>
              <a:defRPr sz="950">
                <a:solidFill>
                  <a:srgbClr val="212529"/>
                </a:solidFill>
                <a:latin typeface="Consolas"/>
              </a:defRPr>
            </a:pPr>
            <a:r>
              <a:t> [Barista / POS]          [API Gateway]             [RabbitMQ Bus]           [Saga Orchestrator]      [Inventory / DB]</a:t>
            </a:r>
            <a:br/>
            <a:r>
              <a:t>        │                        │                         │                          │                       │</a:t>
            </a:r>
            <a:br/>
            <a:r>
              <a:t>        │── 1. Enviar Venta ────►│                         │                          │                       │</a:t>
            </a:r>
            <a:br/>
            <a:r>
              <a:t>        │   (Items + Pagos)      │── 2. Emitir Evento ────►│                          │                       │</a:t>
            </a:r>
            <a:br/>
            <a:r>
              <a:t>        │                        │      'OrderPlaced'      │── 3. Consumir Evento ───►│                       │</a:t>
            </a:r>
            <a:br/>
            <a:r>
              <a:t>        │                        │                         │                          │── 4. Bloquear Stock ─►│</a:t>
            </a:r>
            <a:br/>
            <a:r>
              <a:t>        │                        │                         │                          │   (Valida Lote PEPS)  │</a:t>
            </a:r>
            <a:br/>
            <a:r>
              <a:t>        │                        │                         │                          │◄── Stock OK ──────────│</a:t>
            </a:r>
            <a:br/>
            <a:r>
              <a:t>        │                        │                         │                          │                       │</a:t>
            </a:r>
            <a:br/>
            <a:r>
              <a:t>        │                        │                         │   [ESCENARIO DE FALLO EN PASARELA DE COBRO]      │</a:t>
            </a:r>
            <a:br/>
            <a:r>
              <a:t>        │                        │                         │                          │                       │</a:t>
            </a:r>
            <a:br/>
            <a:r>
              <a:t>        │                        │                         │◄── 5. Emitir Compensac. ─│ (PaymentFailed)       │</a:t>
            </a:r>
            <a:br/>
            <a:r>
              <a:t>        │                        │                         │   'RevertStockEvent'     │                       │</a:t>
            </a:r>
            <a:br/>
            <a:r>
              <a:t>        │                        │                         │                          │── 6. Desbloquea Stock►│</a:t>
            </a:r>
            <a:br/>
            <a:r>
              <a:t>        │◄── 7. Alerta POS ──────│◄── 7. Notificar ────────│                          │    (Reversa Saga)     │</a:t>
            </a:r>
            <a:br/>
            <a:r>
              <a:t>        │    'Venta Revertida'   │    WebSocket/SSE        │                          │                       │</a:t>
            </a:r>
            <a:br/>
            <a:br/>
            <a:r>
              <a:t>Garantía de Negocio: Erradica discrepancias entre inventario físico y contable aun si se pierde conexión con la pasarela bancaria.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08080"/>
                </a:solidFill>
                <a:latin typeface="Calibri"/>
              </a:defRPr>
            </a:pPr>
            <a:r>
              <a:t>PRODUCTO INTEGRADOR — ADMINISTRACIÓN DE PROYECTOS</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1B365D"/>
                </a:solidFill>
                <a:latin typeface="Calibri"/>
              </a:defRPr>
            </a:pPr>
            <a:r>
              <a:t>16. Modelado y Diseño: Wireframes y Arquitectura de Pantallas</a:t>
            </a:r>
          </a:p>
        </p:txBody>
      </p:sp>
      <p:sp>
        <p:nvSpPr>
          <p:cNvPr id="4" name="TextBox 3"/>
          <p:cNvSpPr txBox="1"/>
          <p:nvPr/>
        </p:nvSpPr>
        <p:spPr>
          <a:xfrm>
            <a:off x="731520" y="1463040"/>
            <a:ext cx="5120640" cy="4754880"/>
          </a:xfrm>
          <a:prstGeom prst="rect">
            <a:avLst/>
          </a:prstGeom>
          <a:noFill/>
        </p:spPr>
        <p:txBody>
          <a:bodyPr wrap="square">
            <a:spAutoFit/>
          </a:bodyPr>
          <a:lstStyle/>
          <a:p>
            <a:pPr>
              <a:defRPr b="1" sz="1300">
                <a:solidFill>
                  <a:srgbClr val="1B365D"/>
                </a:solidFill>
              </a:defRPr>
            </a:pPr>
            <a:r>
              <a:t>WIREFRAME ESQUEMÁTICO: PUNTO DE VENTA (POS)</a:t>
            </a:r>
          </a:p>
          <a:p>
            <a:pPr>
              <a:defRPr sz="850">
                <a:solidFill>
                  <a:srgbClr val="212529"/>
                </a:solidFill>
                <a:latin typeface="Consolas"/>
              </a:defRPr>
            </a:pPr>
            <a:r>
              <a:t>┌────────────────────────────────────────────────────────┐</a:t>
            </a:r>
            <a:br/>
            <a:r>
              <a:t>│ MONCHIS CAFÉ POS     [Barista: Ernesto]     [14:35 PM] │</a:t>
            </a:r>
            <a:br/>
            <a:r>
              <a:t>├──────────────────────────┬─────────────────────────────┤</a:t>
            </a:r>
            <a:br/>
            <a:r>
              <a:t>│ [Categorías de Café]     │ ORDEN ACTUAL (#1042)        │</a:t>
            </a:r>
            <a:br/>
            <a:r>
              <a:t>│ [Espresso] [Latte] [Cold]│ • 1x Latte Orgánico Chiapas │</a:t>
            </a:r>
            <a:br/>
            <a:r>
              <a:t>│                          │   Lote #A-24 (Tueste 3d)    │</a:t>
            </a:r>
            <a:br/>
            <a:r>
              <a:t>│ ┌────────┐  ┌────────┐   │   $65.00                    │</a:t>
            </a:r>
            <a:br/>
            <a:r>
              <a:t>│ │American│  │FlatWhie│   │ ─────────────────────────── │</a:t>
            </a:r>
            <a:br/>
            <a:r>
              <a:t>│ │ $45.00 │  │ $60.00 │   │ Subtotal:           $65.00  │</a:t>
            </a:r>
            <a:br/>
            <a:r>
              <a:t>│ └────────┘  └────────┘   │ [✓] Bono Termo Eco: -$5.00  │</a:t>
            </a:r>
            <a:br/>
            <a:r>
              <a:t>│                          │ Total a Cobrar:     $60.00  │</a:t>
            </a:r>
            <a:br/>
            <a:r>
              <a:t>│ ┌────────┐  ┌────────┐   │ ─────────────────────────── │</a:t>
            </a:r>
            <a:br/>
            <a:r>
              <a:t>│ │Mocha   │  │PourOver│   │ [ EFECTIVO ]  [ TARJETA ]   │</a:t>
            </a:r>
            <a:br/>
            <a:r>
              <a:t>│ │ $68.00 │  │ $75.00 │   │ [ SPEI QR  ]  [ PUNTOS  ]   │</a:t>
            </a:r>
            <a:br/>
            <a:r>
              <a:t>│ └────────┘  └────────┘   │ [ PAGO MIXTO: Cambio: $0.00]│</a:t>
            </a:r>
            <a:br/>
            <a:r>
              <a:t>│ [Escanear Lote/Finca QR] │ [ COBRAR E IMPRIMIR TICKET] │</a:t>
            </a:r>
            <a:br/>
            <a:r>
              <a:t>└──────────────────────────┴─────────────────────────────┘</a:t>
            </a:r>
          </a:p>
        </p:txBody>
      </p:sp>
      <p:sp>
        <p:nvSpPr>
          <p:cNvPr id="5" name="TextBox 4"/>
          <p:cNvSpPr txBox="1"/>
          <p:nvPr/>
        </p:nvSpPr>
        <p:spPr>
          <a:xfrm>
            <a:off x="6217920" y="1463040"/>
            <a:ext cx="5212080" cy="4754880"/>
          </a:xfrm>
          <a:prstGeom prst="rect">
            <a:avLst/>
          </a:prstGeom>
          <a:noFill/>
        </p:spPr>
        <p:txBody>
          <a:bodyPr wrap="square">
            <a:spAutoFit/>
          </a:bodyPr>
          <a:lstStyle/>
          <a:p>
            <a:pPr>
              <a:defRPr b="1" sz="1300">
                <a:solidFill>
                  <a:srgbClr val="008080"/>
                </a:solidFill>
              </a:defRPr>
            </a:pPr>
            <a:r>
              <a:t>PRINCIPIOS DE DISEÑO UI/UX IMPLEMENTADOS</a:t>
            </a:r>
          </a:p>
          <a:p>
            <a:pPr>
              <a:spcBef>
                <a:spcPts val="800"/>
              </a:spcBef>
              <a:defRPr b="1" sz="1100">
                <a:solidFill>
                  <a:srgbClr val="212529"/>
                </a:solidFill>
              </a:defRPr>
            </a:pPr>
            <a:r>
              <a:t>• Optimización Táctil en Mostrador: </a:t>
            </a:r>
            <a:r>
              <a:rPr b="0"/>
              <a:t>Botones con área mínima de impacto de 48x48px y soporte de teclado numérico para cálculo instantáneo de cambio.</a:t>
            </a:r>
          </a:p>
          <a:p>
            <a:pPr>
              <a:spcBef>
                <a:spcPts val="800"/>
              </a:spcBef>
              <a:defRPr b="1" sz="1100">
                <a:solidFill>
                  <a:srgbClr val="212529"/>
                </a:solidFill>
              </a:defRPr>
            </a:pPr>
            <a:r>
              <a:t>• Paleta de Color Pastel Cálida: </a:t>
            </a:r>
            <a:r>
              <a:rPr b="0"/>
              <a:t>Uso de tonos café suaves, crema y menta que reducen la fatiga visual de los baristas durante jornadas prolongadas.</a:t>
            </a:r>
          </a:p>
          <a:p>
            <a:pPr>
              <a:spcBef>
                <a:spcPts val="800"/>
              </a:spcBef>
              <a:defRPr b="1" sz="1100">
                <a:solidFill>
                  <a:srgbClr val="212529"/>
                </a:solidFill>
              </a:defRPr>
            </a:pPr>
            <a:r>
              <a:t>• Accesibilidad Web WCAG 2.1 AA: </a:t>
            </a:r>
            <a:r>
              <a:rPr b="0"/>
              <a:t>Contraste de color superior a 4.5:1, etiquetas semánticas para lectores de pantalla y compatibilidad con prefers-reduced-motion.</a:t>
            </a:r>
          </a:p>
          <a:p>
            <a:pPr>
              <a:spcBef>
                <a:spcPts val="800"/>
              </a:spcBef>
              <a:defRPr b="1" sz="1100">
                <a:solidFill>
                  <a:srgbClr val="212529"/>
                </a:solidFill>
              </a:defRPr>
            </a:pPr>
            <a:r>
              <a:t>• Transparencia en Pantalla: </a:t>
            </a:r>
            <a:r>
              <a:rPr b="0"/>
              <a:t>Visualización inmediata del descuento por termo ecológico (-$5.00) y el origen del lote antes de confirmar la transacción.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08080"/>
                </a:solidFill>
                <a:latin typeface="Calibri"/>
              </a:defRPr>
            </a:pPr>
            <a:r>
              <a:t>PRODUCTO INTEGRADOR — ADMINISTRACIÓN DE PROYECTOS</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1B365D"/>
                </a:solidFill>
                <a:latin typeface="Calibri"/>
              </a:defRPr>
            </a:pPr>
            <a:r>
              <a:t>17. Conclusiones y Defensa del Proyecto</a:t>
            </a:r>
          </a:p>
        </p:txBody>
      </p:sp>
      <p:sp>
        <p:nvSpPr>
          <p:cNvPr id="4" name="TextBox 3"/>
          <p:cNvSpPr txBox="1"/>
          <p:nvPr/>
        </p:nvSpPr>
        <p:spPr>
          <a:xfrm>
            <a:off x="731520" y="1463040"/>
            <a:ext cx="10698480" cy="4754880"/>
          </a:xfrm>
          <a:prstGeom prst="rect">
            <a:avLst/>
          </a:prstGeom>
          <a:noFill/>
        </p:spPr>
        <p:txBody>
          <a:bodyPr wrap="square">
            <a:spAutoFit/>
          </a:bodyPr>
          <a:lstStyle/>
          <a:p>
            <a:pPr>
              <a:spcBef>
                <a:spcPts val="1000"/>
              </a:spcBef>
              <a:defRPr b="1" sz="1300">
                <a:solidFill>
                  <a:srgbClr val="1B365D"/>
                </a:solidFill>
              </a:defRPr>
            </a:pPr>
            <a:r>
              <a:t>✔ Viabilidad Técnica y Operativa: </a:t>
            </a:r>
            <a:r>
              <a:rPr b="0">
                <a:solidFill>
                  <a:srgbClr val="212529"/>
                </a:solidFill>
              </a:rPr>
              <a:t>El proyecto integra metodologías ágiles SCRUM y modelos formales de estimación COCOMO Intermedio (EAF: 0.795), garantizando la entrega de los 8 Sprints en el plazo estipulado de 16 semanas con alta disciplina arquitectónica.</a:t>
            </a:r>
          </a:p>
          <a:p>
            <a:pPr>
              <a:spcBef>
                <a:spcPts val="1000"/>
              </a:spcBef>
              <a:defRPr b="1" sz="1300">
                <a:solidFill>
                  <a:srgbClr val="1B365D"/>
                </a:solidFill>
              </a:defRPr>
            </a:pPr>
            <a:r>
              <a:t>✔ Alineación con la Agenda 2030 (ODS): </a:t>
            </a:r>
            <a:r>
              <a:rPr b="0">
                <a:solidFill>
                  <a:srgbClr val="212529"/>
                </a:solidFill>
              </a:rPr>
              <a:t>Monchis Café demuestra que el desarrollo de software sustentable (Green Software) no es teórico: desvía más de 4,500 vasos plásticos semestrales (ODS 12), agiliza la microeconomía de especialidad (ODS 8) y protege datos con arquitectura Zero Trust (ODS 16).</a:t>
            </a:r>
          </a:p>
          <a:p>
            <a:pPr>
              <a:spcBef>
                <a:spcPts val="1000"/>
              </a:spcBef>
              <a:defRPr b="1" sz="1300">
                <a:solidFill>
                  <a:srgbClr val="1B365D"/>
                </a:solidFill>
              </a:defRPr>
            </a:pPr>
            <a:r>
              <a:t>✔ Resiliencia Transaccional y Financiera: </a:t>
            </a:r>
            <a:r>
              <a:rPr b="0">
                <a:solidFill>
                  <a:srgbClr val="212529"/>
                </a:solidFill>
              </a:rPr>
              <a:t>La implementación del Patrón Saga con RabbitMQ elimina pérdidas de inventario por caídas de pasarela, protegiendo la inversión integral presupuestada de $418,275 MXN.</a:t>
            </a:r>
          </a:p>
          <a:p>
            <a:pPr>
              <a:spcBef>
                <a:spcPts val="1000"/>
              </a:spcBef>
              <a:defRPr b="1" sz="1300">
                <a:solidFill>
                  <a:srgbClr val="1B365D"/>
                </a:solidFill>
              </a:defRPr>
            </a:pPr>
            <a:r>
              <a:t>✔ Estado Actual y Próximos Pasos: </a:t>
            </a:r>
            <a:r>
              <a:rPr b="0">
                <a:solidFill>
                  <a:srgbClr val="212529"/>
                </a:solidFill>
              </a:rPr>
              <a:t>Monorepo configurado, especificaciones y requerimientos formalizados bajo normas APA 7, listos para la fase de pruebas automatizadas multicapa y despliegue en Google Cloud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